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60" r:id="rId5"/>
    <p:sldId id="259" r:id="rId6"/>
    <p:sldId id="261" r:id="rId7"/>
    <p:sldId id="262" r:id="rId8"/>
    <p:sldId id="263" r:id="rId9"/>
    <p:sldId id="282" r:id="rId10"/>
    <p:sldId id="264" r:id="rId11"/>
    <p:sldId id="265" r:id="rId12"/>
    <p:sldId id="266" r:id="rId13"/>
    <p:sldId id="278" r:id="rId14"/>
    <p:sldId id="280" r:id="rId15"/>
    <p:sldId id="277" r:id="rId16"/>
    <p:sldId id="267" r:id="rId17"/>
    <p:sldId id="268" r:id="rId18"/>
    <p:sldId id="269" r:id="rId19"/>
    <p:sldId id="270" r:id="rId20"/>
    <p:sldId id="273" r:id="rId21"/>
    <p:sldId id="274" r:id="rId22"/>
    <p:sldId id="271" r:id="rId23"/>
    <p:sldId id="272" r:id="rId24"/>
    <p:sldId id="281"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5433527-4BC8-B2CC-378C-4479DD322429}" name="Moustapha Diouf" initials="MD" userId="a72b42ab654a8fcc"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1E2DBE"/>
    <a:srgbClr val="F8F9FC"/>
    <a:srgbClr val="FF5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8C4AD7-DA4A-4C8A-8405-F44CF19FDA02}" v="148" dt="2026-05-20T12:21:48.0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58838" autoAdjust="0"/>
  </p:normalViewPr>
  <p:slideViewPr>
    <p:cSldViewPr snapToGrid="0" snapToObjects="1">
      <p:cViewPr varScale="1">
        <p:scale>
          <a:sx n="48" d="100"/>
          <a:sy n="48" d="100"/>
        </p:scale>
        <p:origin x="2030"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ustapha Diouf" userId="a72b42ab654a8fcc" providerId="LiveId" clId="{22F667E4-E243-4F5A-84DD-87011A6E11D5}"/>
    <pc:docChg chg="undo redo custSel addSld delSld modSld sldOrd">
      <pc:chgData name="Moustapha Diouf" userId="a72b42ab654a8fcc" providerId="LiveId" clId="{22F667E4-E243-4F5A-84DD-87011A6E11D5}" dt="2026-05-20T12:25:56.974" v="2842" actId="6549"/>
      <pc:docMkLst>
        <pc:docMk/>
      </pc:docMkLst>
      <pc:sldChg chg="addSp delSp modSp mod modNotes modNotesTx">
        <pc:chgData name="Moustapha Diouf" userId="a72b42ab654a8fcc" providerId="LiveId" clId="{22F667E4-E243-4F5A-84DD-87011A6E11D5}" dt="2026-05-20T12:25:56.974" v="2842" actId="6549"/>
        <pc:sldMkLst>
          <pc:docMk/>
          <pc:sldMk cId="0" sldId="256"/>
        </pc:sldMkLst>
        <pc:spChg chg="mod">
          <ac:chgData name="Moustapha Diouf" userId="a72b42ab654a8fcc" providerId="LiveId" clId="{22F667E4-E243-4F5A-84DD-87011A6E11D5}" dt="2026-05-13T11:17:29.915" v="128" actId="790"/>
          <ac:spMkLst>
            <pc:docMk/>
            <pc:sldMk cId="0" sldId="256"/>
            <ac:spMk id="2" creationId="{00000000-0000-0000-0000-000000000000}"/>
          </ac:spMkLst>
        </pc:spChg>
        <pc:spChg chg="mod">
          <ac:chgData name="Moustapha Diouf" userId="a72b42ab654a8fcc" providerId="LiveId" clId="{22F667E4-E243-4F5A-84DD-87011A6E11D5}" dt="2026-05-20T12:25:56.974" v="2842" actId="6549"/>
          <ac:spMkLst>
            <pc:docMk/>
            <pc:sldMk cId="0" sldId="256"/>
            <ac:spMk id="4" creationId="{00000000-0000-0000-0000-000000000000}"/>
          </ac:spMkLst>
        </pc:spChg>
        <pc:spChg chg="mod">
          <ac:chgData name="Moustapha Diouf" userId="a72b42ab654a8fcc" providerId="LiveId" clId="{22F667E4-E243-4F5A-84DD-87011A6E11D5}" dt="2026-05-13T11:17:29.915" v="128" actId="790"/>
          <ac:spMkLst>
            <pc:docMk/>
            <pc:sldMk cId="0" sldId="256"/>
            <ac:spMk id="5" creationId="{00000000-0000-0000-0000-000000000000}"/>
          </ac:spMkLst>
        </pc:spChg>
        <pc:spChg chg="mod">
          <ac:chgData name="Moustapha Diouf" userId="a72b42ab654a8fcc" providerId="LiveId" clId="{22F667E4-E243-4F5A-84DD-87011A6E11D5}" dt="2026-05-13T11:17:29.915" v="128" actId="790"/>
          <ac:spMkLst>
            <pc:docMk/>
            <pc:sldMk cId="0" sldId="256"/>
            <ac:spMk id="6" creationId="{00000000-0000-0000-0000-000000000000}"/>
          </ac:spMkLst>
        </pc:spChg>
        <pc:spChg chg="mod">
          <ac:chgData name="Moustapha Diouf" userId="a72b42ab654a8fcc" providerId="LiveId" clId="{22F667E4-E243-4F5A-84DD-87011A6E11D5}" dt="2026-05-13T11:17:29.915" v="128" actId="790"/>
          <ac:spMkLst>
            <pc:docMk/>
            <pc:sldMk cId="0" sldId="256"/>
            <ac:spMk id="8" creationId="{00000000-0000-0000-0000-000000000000}"/>
          </ac:spMkLst>
        </pc:spChg>
        <pc:spChg chg="mod">
          <ac:chgData name="Moustapha Diouf" userId="a72b42ab654a8fcc" providerId="LiveId" clId="{22F667E4-E243-4F5A-84DD-87011A6E11D5}" dt="2026-05-13T12:32:54.703" v="1620" actId="14100"/>
          <ac:spMkLst>
            <pc:docMk/>
            <pc:sldMk cId="0" sldId="256"/>
            <ac:spMk id="9" creationId="{00000000-0000-0000-0000-000000000000}"/>
          </ac:spMkLst>
        </pc:spChg>
        <pc:spChg chg="mod">
          <ac:chgData name="Moustapha Diouf" userId="a72b42ab654a8fcc" providerId="LiveId" clId="{22F667E4-E243-4F5A-84DD-87011A6E11D5}" dt="2026-05-13T12:32:57.967" v="1622" actId="27636"/>
          <ac:spMkLst>
            <pc:docMk/>
            <pc:sldMk cId="0" sldId="256"/>
            <ac:spMk id="10" creationId="{00000000-0000-0000-0000-000000000000}"/>
          </ac:spMkLst>
        </pc:spChg>
        <pc:spChg chg="mod">
          <ac:chgData name="Moustapha Diouf" userId="a72b42ab654a8fcc" providerId="LiveId" clId="{22F667E4-E243-4F5A-84DD-87011A6E11D5}" dt="2026-05-13T11:17:29.915" v="128" actId="790"/>
          <ac:spMkLst>
            <pc:docMk/>
            <pc:sldMk cId="0" sldId="256"/>
            <ac:spMk id="11" creationId="{00000000-0000-0000-0000-000000000000}"/>
          </ac:spMkLst>
        </pc:spChg>
        <pc:spChg chg="mod">
          <ac:chgData name="Moustapha Diouf" userId="a72b42ab654a8fcc" providerId="LiveId" clId="{22F667E4-E243-4F5A-84DD-87011A6E11D5}" dt="2026-05-13T11:17:29.915" v="128" actId="790"/>
          <ac:spMkLst>
            <pc:docMk/>
            <pc:sldMk cId="0" sldId="256"/>
            <ac:spMk id="12" creationId="{00000000-0000-0000-0000-000000000000}"/>
          </ac:spMkLst>
        </pc:spChg>
        <pc:spChg chg="mod">
          <ac:chgData name="Moustapha Diouf" userId="a72b42ab654a8fcc" providerId="LiveId" clId="{22F667E4-E243-4F5A-84DD-87011A6E11D5}" dt="2026-05-13T11:17:29.915" v="128" actId="790"/>
          <ac:spMkLst>
            <pc:docMk/>
            <pc:sldMk cId="0" sldId="256"/>
            <ac:spMk id="13" creationId="{00000000-0000-0000-0000-000000000000}"/>
          </ac:spMkLst>
        </pc:spChg>
        <pc:picChg chg="del">
          <ac:chgData name="Moustapha Diouf" userId="a72b42ab654a8fcc" providerId="LiveId" clId="{22F667E4-E243-4F5A-84DD-87011A6E11D5}" dt="2026-05-20T12:00:20.644" v="2620" actId="478"/>
          <ac:picMkLst>
            <pc:docMk/>
            <pc:sldMk cId="0" sldId="256"/>
            <ac:picMk id="3" creationId="{00000000-0000-0000-0000-000000000000}"/>
          </ac:picMkLst>
        </pc:picChg>
        <pc:picChg chg="add mod">
          <ac:chgData name="Moustapha Diouf" userId="a72b42ab654a8fcc" providerId="LiveId" clId="{22F667E4-E243-4F5A-84DD-87011A6E11D5}" dt="2026-05-20T12:00:18.399" v="2619"/>
          <ac:picMkLst>
            <pc:docMk/>
            <pc:sldMk cId="0" sldId="256"/>
            <ac:picMk id="14" creationId="{60286BC8-30DB-B25C-2ED2-951867D180B1}"/>
          </ac:picMkLst>
        </pc:picChg>
      </pc:sldChg>
      <pc:sldChg chg="addSp delSp modSp mod modNotes modNotesTx">
        <pc:chgData name="Moustapha Diouf" userId="a72b42ab654a8fcc" providerId="LiveId" clId="{22F667E4-E243-4F5A-84DD-87011A6E11D5}" dt="2026-05-20T12:14:38.336" v="2700" actId="6549"/>
        <pc:sldMkLst>
          <pc:docMk/>
          <pc:sldMk cId="0" sldId="257"/>
        </pc:sldMkLst>
        <pc:spChg chg="mod">
          <ac:chgData name="Moustapha Diouf" userId="a72b42ab654a8fcc" providerId="LiveId" clId="{22F667E4-E243-4F5A-84DD-87011A6E11D5}" dt="2026-05-13T11:17:29.915" v="128" actId="790"/>
          <ac:spMkLst>
            <pc:docMk/>
            <pc:sldMk cId="0" sldId="257"/>
            <ac:spMk id="2" creationId="{00000000-0000-0000-0000-000000000000}"/>
          </ac:spMkLst>
        </pc:spChg>
        <pc:spChg chg="mod">
          <ac:chgData name="Moustapha Diouf" userId="a72b42ab654a8fcc" providerId="LiveId" clId="{22F667E4-E243-4F5A-84DD-87011A6E11D5}" dt="2026-05-14T05:46:48.043" v="1623" actId="20577"/>
          <ac:spMkLst>
            <pc:docMk/>
            <pc:sldMk cId="0" sldId="257"/>
            <ac:spMk id="3" creationId="{00000000-0000-0000-0000-000000000000}"/>
          </ac:spMkLst>
        </pc:spChg>
        <pc:spChg chg="mod">
          <ac:chgData name="Moustapha Diouf" userId="a72b42ab654a8fcc" providerId="LiveId" clId="{22F667E4-E243-4F5A-84DD-87011A6E11D5}" dt="2026-05-13T11:17:29.915" v="128" actId="790"/>
          <ac:spMkLst>
            <pc:docMk/>
            <pc:sldMk cId="0" sldId="257"/>
            <ac:spMk id="4" creationId="{00000000-0000-0000-0000-000000000000}"/>
          </ac:spMkLst>
        </pc:spChg>
        <pc:spChg chg="mod">
          <ac:chgData name="Moustapha Diouf" userId="a72b42ab654a8fcc" providerId="LiveId" clId="{22F667E4-E243-4F5A-84DD-87011A6E11D5}" dt="2026-05-13T11:17:29.915" v="128" actId="790"/>
          <ac:spMkLst>
            <pc:docMk/>
            <pc:sldMk cId="0" sldId="257"/>
            <ac:spMk id="6" creationId="{00000000-0000-0000-0000-000000000000}"/>
          </ac:spMkLst>
        </pc:spChg>
        <pc:spChg chg="mod">
          <ac:chgData name="Moustapha Diouf" userId="a72b42ab654a8fcc" providerId="LiveId" clId="{22F667E4-E243-4F5A-84DD-87011A6E11D5}" dt="2026-05-13T11:17:29.915" v="128" actId="790"/>
          <ac:spMkLst>
            <pc:docMk/>
            <pc:sldMk cId="0" sldId="257"/>
            <ac:spMk id="7" creationId="{00000000-0000-0000-0000-000000000000}"/>
          </ac:spMkLst>
        </pc:spChg>
        <pc:spChg chg="mod">
          <ac:chgData name="Moustapha Diouf" userId="a72b42ab654a8fcc" providerId="LiveId" clId="{22F667E4-E243-4F5A-84DD-87011A6E11D5}" dt="2026-05-13T11:17:29.915" v="128" actId="790"/>
          <ac:spMkLst>
            <pc:docMk/>
            <pc:sldMk cId="0" sldId="257"/>
            <ac:spMk id="8" creationId="{00000000-0000-0000-0000-000000000000}"/>
          </ac:spMkLst>
        </pc:spChg>
        <pc:spChg chg="mod">
          <ac:chgData name="Moustapha Diouf" userId="a72b42ab654a8fcc" providerId="LiveId" clId="{22F667E4-E243-4F5A-84DD-87011A6E11D5}" dt="2026-05-13T11:17:29.915" v="128" actId="790"/>
          <ac:spMkLst>
            <pc:docMk/>
            <pc:sldMk cId="0" sldId="257"/>
            <ac:spMk id="9" creationId="{00000000-0000-0000-0000-000000000000}"/>
          </ac:spMkLst>
        </pc:spChg>
        <pc:graphicFrameChg chg="modGraphic">
          <ac:chgData name="Moustapha Diouf" userId="a72b42ab654a8fcc" providerId="LiveId" clId="{22F667E4-E243-4F5A-84DD-87011A6E11D5}" dt="2026-05-13T11:17:29.915" v="128" actId="790"/>
          <ac:graphicFrameMkLst>
            <pc:docMk/>
            <pc:sldMk cId="0" sldId="257"/>
            <ac:graphicFrameMk id="10" creationId="{00000000-0000-0000-0000-000000000000}"/>
          </ac:graphicFrameMkLst>
        </pc:graphicFrameChg>
        <pc:picChg chg="del">
          <ac:chgData name="Moustapha Diouf" userId="a72b42ab654a8fcc" providerId="LiveId" clId="{22F667E4-E243-4F5A-84DD-87011A6E11D5}" dt="2026-05-20T12:00:25.740" v="2621" actId="478"/>
          <ac:picMkLst>
            <pc:docMk/>
            <pc:sldMk cId="0" sldId="257"/>
            <ac:picMk id="5" creationId="{00000000-0000-0000-0000-000000000000}"/>
          </ac:picMkLst>
        </pc:picChg>
        <pc:picChg chg="add mod">
          <ac:chgData name="Moustapha Diouf" userId="a72b42ab654a8fcc" providerId="LiveId" clId="{22F667E4-E243-4F5A-84DD-87011A6E11D5}" dt="2026-05-20T12:00:32.449" v="2623" actId="1076"/>
          <ac:picMkLst>
            <pc:docMk/>
            <pc:sldMk cId="0" sldId="257"/>
            <ac:picMk id="11" creationId="{139A183B-16CC-A545-63C1-0BF310C32171}"/>
          </ac:picMkLst>
        </pc:picChg>
      </pc:sldChg>
      <pc:sldChg chg="addSp delSp modSp mod modNotes modNotesTx">
        <pc:chgData name="Moustapha Diouf" userId="a72b42ab654a8fcc" providerId="LiveId" clId="{22F667E4-E243-4F5A-84DD-87011A6E11D5}" dt="2026-05-20T12:14:41.035" v="2701" actId="6549"/>
        <pc:sldMkLst>
          <pc:docMk/>
          <pc:sldMk cId="0" sldId="258"/>
        </pc:sldMkLst>
        <pc:spChg chg="mod">
          <ac:chgData name="Moustapha Diouf" userId="a72b42ab654a8fcc" providerId="LiveId" clId="{22F667E4-E243-4F5A-84DD-87011A6E11D5}" dt="2026-05-13T11:17:29.915" v="128" actId="790"/>
          <ac:spMkLst>
            <pc:docMk/>
            <pc:sldMk cId="0" sldId="258"/>
            <ac:spMk id="2" creationId="{00000000-0000-0000-0000-000000000000}"/>
          </ac:spMkLst>
        </pc:spChg>
        <pc:spChg chg="mod">
          <ac:chgData name="Moustapha Diouf" userId="a72b42ab654a8fcc" providerId="LiveId" clId="{22F667E4-E243-4F5A-84DD-87011A6E11D5}" dt="2026-05-13T11:17:30.074" v="163" actId="27636"/>
          <ac:spMkLst>
            <pc:docMk/>
            <pc:sldMk cId="0" sldId="258"/>
            <ac:spMk id="3" creationId="{00000000-0000-0000-0000-000000000000}"/>
          </ac:spMkLst>
        </pc:spChg>
        <pc:spChg chg="mod">
          <ac:chgData name="Moustapha Diouf" userId="a72b42ab654a8fcc" providerId="LiveId" clId="{22F667E4-E243-4F5A-84DD-87011A6E11D5}" dt="2026-05-13T11:17:29.915" v="128" actId="790"/>
          <ac:spMkLst>
            <pc:docMk/>
            <pc:sldMk cId="0" sldId="258"/>
            <ac:spMk id="8" creationId="{00000000-0000-0000-0000-000000000000}"/>
          </ac:spMkLst>
        </pc:spChg>
        <pc:spChg chg="mod">
          <ac:chgData name="Moustapha Diouf" userId="a72b42ab654a8fcc" providerId="LiveId" clId="{22F667E4-E243-4F5A-84DD-87011A6E11D5}" dt="2026-05-13T11:17:30.058" v="162" actId="27636"/>
          <ac:spMkLst>
            <pc:docMk/>
            <pc:sldMk cId="0" sldId="258"/>
            <ac:spMk id="13" creationId="{00000000-0000-0000-0000-000000000000}"/>
          </ac:spMkLst>
        </pc:spChg>
        <pc:spChg chg="mod">
          <ac:chgData name="Moustapha Diouf" userId="a72b42ab654a8fcc" providerId="LiveId" clId="{22F667E4-E243-4F5A-84DD-87011A6E11D5}" dt="2026-05-13T11:17:29.915" v="128" actId="790"/>
          <ac:spMkLst>
            <pc:docMk/>
            <pc:sldMk cId="0" sldId="258"/>
            <ac:spMk id="15" creationId="{00000000-0000-0000-0000-000000000000}"/>
          </ac:spMkLst>
        </pc:spChg>
        <pc:spChg chg="mod">
          <ac:chgData name="Moustapha Diouf" userId="a72b42ab654a8fcc" providerId="LiveId" clId="{22F667E4-E243-4F5A-84DD-87011A6E11D5}" dt="2026-05-13T11:17:29.915" v="128" actId="790"/>
          <ac:spMkLst>
            <pc:docMk/>
            <pc:sldMk cId="0" sldId="258"/>
            <ac:spMk id="20" creationId="{00000000-0000-0000-0000-000000000000}"/>
          </ac:spMkLst>
        </pc:spChg>
        <pc:spChg chg="mod">
          <ac:chgData name="Moustapha Diouf" userId="a72b42ab654a8fcc" providerId="LiveId" clId="{22F667E4-E243-4F5A-84DD-87011A6E11D5}" dt="2026-05-13T11:17:30.074" v="164" actId="27636"/>
          <ac:spMkLst>
            <pc:docMk/>
            <pc:sldMk cId="0" sldId="258"/>
            <ac:spMk id="22" creationId="{00000000-0000-0000-0000-000000000000}"/>
          </ac:spMkLst>
        </pc:spChg>
        <pc:spChg chg="mod">
          <ac:chgData name="Moustapha Diouf" userId="a72b42ab654a8fcc" providerId="LiveId" clId="{22F667E4-E243-4F5A-84DD-87011A6E11D5}" dt="2026-05-13T11:17:29.915" v="128" actId="790"/>
          <ac:spMkLst>
            <pc:docMk/>
            <pc:sldMk cId="0" sldId="258"/>
            <ac:spMk id="23" creationId="{00000000-0000-0000-0000-000000000000}"/>
          </ac:spMkLst>
        </pc:spChg>
        <pc:spChg chg="mod">
          <ac:chgData name="Moustapha Diouf" userId="a72b42ab654a8fcc" providerId="LiveId" clId="{22F667E4-E243-4F5A-84DD-87011A6E11D5}" dt="2026-05-13T11:17:29.915" v="128" actId="790"/>
          <ac:spMkLst>
            <pc:docMk/>
            <pc:sldMk cId="0" sldId="258"/>
            <ac:spMk id="25" creationId="{00000000-0000-0000-0000-000000000000}"/>
          </ac:spMkLst>
        </pc:spChg>
        <pc:spChg chg="mod">
          <ac:chgData name="Moustapha Diouf" userId="a72b42ab654a8fcc" providerId="LiveId" clId="{22F667E4-E243-4F5A-84DD-87011A6E11D5}" dt="2026-05-13T11:17:30.058" v="161" actId="27636"/>
          <ac:spMkLst>
            <pc:docMk/>
            <pc:sldMk cId="0" sldId="258"/>
            <ac:spMk id="31" creationId="{00000000-0000-0000-0000-000000000000}"/>
          </ac:spMkLst>
        </pc:spChg>
        <pc:spChg chg="mod">
          <ac:chgData name="Moustapha Diouf" userId="a72b42ab654a8fcc" providerId="LiveId" clId="{22F667E4-E243-4F5A-84DD-87011A6E11D5}" dt="2026-05-13T11:17:29.915" v="128" actId="790"/>
          <ac:spMkLst>
            <pc:docMk/>
            <pc:sldMk cId="0" sldId="258"/>
            <ac:spMk id="33" creationId="{00000000-0000-0000-0000-000000000000}"/>
          </ac:spMkLst>
        </pc:spChg>
        <pc:spChg chg="mod">
          <ac:chgData name="Moustapha Diouf" userId="a72b42ab654a8fcc" providerId="LiveId" clId="{22F667E4-E243-4F5A-84DD-87011A6E11D5}" dt="2026-05-13T11:17:29.915" v="128" actId="790"/>
          <ac:spMkLst>
            <pc:docMk/>
            <pc:sldMk cId="0" sldId="258"/>
            <ac:spMk id="36" creationId="{00000000-0000-0000-0000-000000000000}"/>
          </ac:spMkLst>
        </pc:spChg>
        <pc:spChg chg="mod">
          <ac:chgData name="Moustapha Diouf" userId="a72b42ab654a8fcc" providerId="LiveId" clId="{22F667E4-E243-4F5A-84DD-87011A6E11D5}" dt="2026-05-13T11:17:30.074" v="166" actId="27636"/>
          <ac:spMkLst>
            <pc:docMk/>
            <pc:sldMk cId="0" sldId="258"/>
            <ac:spMk id="40" creationId="{00000000-0000-0000-0000-000000000000}"/>
          </ac:spMkLst>
        </pc:spChg>
        <pc:spChg chg="mod">
          <ac:chgData name="Moustapha Diouf" userId="a72b42ab654a8fcc" providerId="LiveId" clId="{22F667E4-E243-4F5A-84DD-87011A6E11D5}" dt="2026-05-13T11:17:29.915" v="128" actId="790"/>
          <ac:spMkLst>
            <pc:docMk/>
            <pc:sldMk cId="0" sldId="258"/>
            <ac:spMk id="43" creationId="{00000000-0000-0000-0000-000000000000}"/>
          </ac:spMkLst>
        </pc:spChg>
        <pc:spChg chg="mod">
          <ac:chgData name="Moustapha Diouf" userId="a72b42ab654a8fcc" providerId="LiveId" clId="{22F667E4-E243-4F5A-84DD-87011A6E11D5}" dt="2026-05-20T10:30:39.087" v="1806" actId="1076"/>
          <ac:spMkLst>
            <pc:docMk/>
            <pc:sldMk cId="0" sldId="258"/>
            <ac:spMk id="47" creationId="{00000000-0000-0000-0000-000000000000}"/>
          </ac:spMkLst>
        </pc:spChg>
        <pc:spChg chg="mod">
          <ac:chgData name="Moustapha Diouf" userId="a72b42ab654a8fcc" providerId="LiveId" clId="{22F667E4-E243-4F5A-84DD-87011A6E11D5}" dt="2026-05-13T11:17:30.074" v="165" actId="27636"/>
          <ac:spMkLst>
            <pc:docMk/>
            <pc:sldMk cId="0" sldId="258"/>
            <ac:spMk id="49" creationId="{00000000-0000-0000-0000-000000000000}"/>
          </ac:spMkLst>
        </pc:spChg>
        <pc:spChg chg="mod">
          <ac:chgData name="Moustapha Diouf" userId="a72b42ab654a8fcc" providerId="LiveId" clId="{22F667E4-E243-4F5A-84DD-87011A6E11D5}" dt="2026-05-13T11:17:29.915" v="128" actId="790"/>
          <ac:spMkLst>
            <pc:docMk/>
            <pc:sldMk cId="0" sldId="258"/>
            <ac:spMk id="53" creationId="{00000000-0000-0000-0000-000000000000}"/>
          </ac:spMkLst>
        </pc:spChg>
        <pc:spChg chg="mod">
          <ac:chgData name="Moustapha Diouf" userId="a72b42ab654a8fcc" providerId="LiveId" clId="{22F667E4-E243-4F5A-84DD-87011A6E11D5}" dt="2026-05-20T10:31:01.917" v="1809" actId="1076"/>
          <ac:spMkLst>
            <pc:docMk/>
            <pc:sldMk cId="0" sldId="258"/>
            <ac:spMk id="55" creationId="{00000000-0000-0000-0000-000000000000}"/>
          </ac:spMkLst>
        </pc:spChg>
        <pc:spChg chg="mod">
          <ac:chgData name="Moustapha Diouf" userId="a72b42ab654a8fcc" providerId="LiveId" clId="{22F667E4-E243-4F5A-84DD-87011A6E11D5}" dt="2026-05-13T11:17:30.058" v="160" actId="27636"/>
          <ac:spMkLst>
            <pc:docMk/>
            <pc:sldMk cId="0" sldId="258"/>
            <ac:spMk id="57" creationId="{00000000-0000-0000-0000-000000000000}"/>
          </ac:spMkLst>
        </pc:spChg>
        <pc:picChg chg="del">
          <ac:chgData name="Moustapha Diouf" userId="a72b42ab654a8fcc" providerId="LiveId" clId="{22F667E4-E243-4F5A-84DD-87011A6E11D5}" dt="2026-05-20T12:00:38.344" v="2624" actId="478"/>
          <ac:picMkLst>
            <pc:docMk/>
            <pc:sldMk cId="0" sldId="258"/>
            <ac:picMk id="5" creationId="{00000000-0000-0000-0000-000000000000}"/>
          </ac:picMkLst>
        </pc:picChg>
        <pc:picChg chg="add mod">
          <ac:chgData name="Moustapha Diouf" userId="a72b42ab654a8fcc" providerId="LiveId" clId="{22F667E4-E243-4F5A-84DD-87011A6E11D5}" dt="2026-05-20T12:01:42.838" v="2638" actId="1076"/>
          <ac:picMkLst>
            <pc:docMk/>
            <pc:sldMk cId="0" sldId="258"/>
            <ac:picMk id="58" creationId="{288AEA8F-93D7-E4BE-3EAF-355FE32852D6}"/>
          </ac:picMkLst>
        </pc:picChg>
      </pc:sldChg>
      <pc:sldChg chg="addSp delSp modSp mod modNotes modNotesTx">
        <pc:chgData name="Moustapha Diouf" userId="a72b42ab654a8fcc" providerId="LiveId" clId="{22F667E4-E243-4F5A-84DD-87011A6E11D5}" dt="2026-05-20T12:14:45.274" v="2703" actId="6549"/>
        <pc:sldMkLst>
          <pc:docMk/>
          <pc:sldMk cId="0" sldId="259"/>
        </pc:sldMkLst>
        <pc:spChg chg="mod">
          <ac:chgData name="Moustapha Diouf" userId="a72b42ab654a8fcc" providerId="LiveId" clId="{22F667E4-E243-4F5A-84DD-87011A6E11D5}" dt="2026-05-20T10:31:29.881" v="1810" actId="20577"/>
          <ac:spMkLst>
            <pc:docMk/>
            <pc:sldMk cId="0" sldId="259"/>
            <ac:spMk id="3" creationId="{00000000-0000-0000-0000-000000000000}"/>
          </ac:spMkLst>
        </pc:spChg>
        <pc:spChg chg="mod">
          <ac:chgData name="Moustapha Diouf" userId="a72b42ab654a8fcc" providerId="LiveId" clId="{22F667E4-E243-4F5A-84DD-87011A6E11D5}" dt="2026-05-13T11:17:29.915" v="128" actId="790"/>
          <ac:spMkLst>
            <pc:docMk/>
            <pc:sldMk cId="0" sldId="259"/>
            <ac:spMk id="7" creationId="{00000000-0000-0000-0000-000000000000}"/>
          </ac:spMkLst>
        </pc:spChg>
        <pc:spChg chg="mod">
          <ac:chgData name="Moustapha Diouf" userId="a72b42ab654a8fcc" providerId="LiveId" clId="{22F667E4-E243-4F5A-84DD-87011A6E11D5}" dt="2026-05-14T06:13:14.659" v="1733" actId="20577"/>
          <ac:spMkLst>
            <pc:docMk/>
            <pc:sldMk cId="0" sldId="259"/>
            <ac:spMk id="13" creationId="{00000000-0000-0000-0000-000000000000}"/>
          </ac:spMkLst>
        </pc:spChg>
        <pc:spChg chg="mod">
          <ac:chgData name="Moustapha Diouf" userId="a72b42ab654a8fcc" providerId="LiveId" clId="{22F667E4-E243-4F5A-84DD-87011A6E11D5}" dt="2026-05-14T06:15:00.923" v="1780" actId="1076"/>
          <ac:spMkLst>
            <pc:docMk/>
            <pc:sldMk cId="0" sldId="259"/>
            <ac:spMk id="15" creationId="{00000000-0000-0000-0000-000000000000}"/>
          </ac:spMkLst>
        </pc:spChg>
        <pc:spChg chg="mod">
          <ac:chgData name="Moustapha Diouf" userId="a72b42ab654a8fcc" providerId="LiveId" clId="{22F667E4-E243-4F5A-84DD-87011A6E11D5}" dt="2026-05-14T06:08:12.659" v="1638" actId="21"/>
          <ac:spMkLst>
            <pc:docMk/>
            <pc:sldMk cId="0" sldId="259"/>
            <ac:spMk id="21" creationId="{00000000-0000-0000-0000-000000000000}"/>
          </ac:spMkLst>
        </pc:spChg>
        <pc:spChg chg="mod">
          <ac:chgData name="Moustapha Diouf" userId="a72b42ab654a8fcc" providerId="LiveId" clId="{22F667E4-E243-4F5A-84DD-87011A6E11D5}" dt="2026-05-14T06:08:23.215" v="1642" actId="21"/>
          <ac:spMkLst>
            <pc:docMk/>
            <pc:sldMk cId="0" sldId="259"/>
            <ac:spMk id="23" creationId="{00000000-0000-0000-0000-000000000000}"/>
          </ac:spMkLst>
        </pc:spChg>
        <pc:spChg chg="mod">
          <ac:chgData name="Moustapha Diouf" userId="a72b42ab654a8fcc" providerId="LiveId" clId="{22F667E4-E243-4F5A-84DD-87011A6E11D5}" dt="2026-05-14T06:08:33.138" v="1646" actId="21"/>
          <ac:spMkLst>
            <pc:docMk/>
            <pc:sldMk cId="0" sldId="259"/>
            <ac:spMk id="25" creationId="{00000000-0000-0000-0000-000000000000}"/>
          </ac:spMkLst>
        </pc:spChg>
        <pc:spChg chg="mod">
          <ac:chgData name="Moustapha Diouf" userId="a72b42ab654a8fcc" providerId="LiveId" clId="{22F667E4-E243-4F5A-84DD-87011A6E11D5}" dt="2026-05-13T11:17:29.915" v="128" actId="790"/>
          <ac:spMkLst>
            <pc:docMk/>
            <pc:sldMk cId="0" sldId="259"/>
            <ac:spMk id="26" creationId="{00000000-0000-0000-0000-000000000000}"/>
          </ac:spMkLst>
        </pc:spChg>
        <pc:spChg chg="mod">
          <ac:chgData name="Moustapha Diouf" userId="a72b42ab654a8fcc" providerId="LiveId" clId="{22F667E4-E243-4F5A-84DD-87011A6E11D5}" dt="2026-05-14T06:13:57.191" v="1739" actId="255"/>
          <ac:spMkLst>
            <pc:docMk/>
            <pc:sldMk cId="0" sldId="259"/>
            <ac:spMk id="28" creationId="{00000000-0000-0000-0000-000000000000}"/>
          </ac:spMkLst>
        </pc:spChg>
        <pc:spChg chg="mod">
          <ac:chgData name="Moustapha Diouf" userId="a72b42ab654a8fcc" providerId="LiveId" clId="{22F667E4-E243-4F5A-84DD-87011A6E11D5}" dt="2026-05-14T06:14:52.342" v="1778" actId="1076"/>
          <ac:spMkLst>
            <pc:docMk/>
            <pc:sldMk cId="0" sldId="259"/>
            <ac:spMk id="30" creationId="{00000000-0000-0000-0000-000000000000}"/>
          </ac:spMkLst>
        </pc:spChg>
        <pc:spChg chg="mod">
          <ac:chgData name="Moustapha Diouf" userId="a72b42ab654a8fcc" providerId="LiveId" clId="{22F667E4-E243-4F5A-84DD-87011A6E11D5}" dt="2026-05-14T06:09:59.989" v="1677" actId="21"/>
          <ac:spMkLst>
            <pc:docMk/>
            <pc:sldMk cId="0" sldId="259"/>
            <ac:spMk id="32" creationId="{00000000-0000-0000-0000-000000000000}"/>
          </ac:spMkLst>
        </pc:spChg>
        <pc:spChg chg="mod">
          <ac:chgData name="Moustapha Diouf" userId="a72b42ab654a8fcc" providerId="LiveId" clId="{22F667E4-E243-4F5A-84DD-87011A6E11D5}" dt="2026-05-14T06:10:11.741" v="1681" actId="21"/>
          <ac:spMkLst>
            <pc:docMk/>
            <pc:sldMk cId="0" sldId="259"/>
            <ac:spMk id="34" creationId="{00000000-0000-0000-0000-000000000000}"/>
          </ac:spMkLst>
        </pc:spChg>
        <pc:spChg chg="mod">
          <ac:chgData name="Moustapha Diouf" userId="a72b42ab654a8fcc" providerId="LiveId" clId="{22F667E4-E243-4F5A-84DD-87011A6E11D5}" dt="2026-05-14T06:12:55.025" v="1717" actId="207"/>
          <ac:spMkLst>
            <pc:docMk/>
            <pc:sldMk cId="0" sldId="259"/>
            <ac:spMk id="35" creationId="{00000000-0000-0000-0000-000000000000}"/>
          </ac:spMkLst>
        </pc:spChg>
        <pc:spChg chg="add mod ord">
          <ac:chgData name="Moustapha Diouf" userId="a72b42ab654a8fcc" providerId="LiveId" clId="{22F667E4-E243-4F5A-84DD-87011A6E11D5}" dt="2026-05-14T06:12:42.883" v="1715" actId="167"/>
          <ac:spMkLst>
            <pc:docMk/>
            <pc:sldMk cId="0" sldId="259"/>
            <ac:spMk id="36" creationId="{327CCA5F-8D27-806C-C714-77C45112C89B}"/>
          </ac:spMkLst>
        </pc:spChg>
        <pc:picChg chg="del">
          <ac:chgData name="Moustapha Diouf" userId="a72b42ab654a8fcc" providerId="LiveId" clId="{22F667E4-E243-4F5A-84DD-87011A6E11D5}" dt="2026-05-20T12:00:53.839" v="2630" actId="478"/>
          <ac:picMkLst>
            <pc:docMk/>
            <pc:sldMk cId="0" sldId="259"/>
            <ac:picMk id="5" creationId="{00000000-0000-0000-0000-000000000000}"/>
          </ac:picMkLst>
        </pc:picChg>
        <pc:picChg chg="add del mod">
          <ac:chgData name="Moustapha Diouf" userId="a72b42ab654a8fcc" providerId="LiveId" clId="{22F667E4-E243-4F5A-84DD-87011A6E11D5}" dt="2026-05-20T12:01:48.260" v="2639" actId="478"/>
          <ac:picMkLst>
            <pc:docMk/>
            <pc:sldMk cId="0" sldId="259"/>
            <ac:picMk id="14" creationId="{65DB9467-574E-B0C3-FECB-4189F6994A1A}"/>
          </ac:picMkLst>
        </pc:picChg>
        <pc:picChg chg="add del mod">
          <ac:chgData name="Moustapha Diouf" userId="a72b42ab654a8fcc" providerId="LiveId" clId="{22F667E4-E243-4F5A-84DD-87011A6E11D5}" dt="2026-05-20T12:01:50.965" v="2641" actId="478"/>
          <ac:picMkLst>
            <pc:docMk/>
            <pc:sldMk cId="0" sldId="259"/>
            <ac:picMk id="16" creationId="{A5D71BC4-835E-9789-3392-3C541A3CF5EF}"/>
          </ac:picMkLst>
        </pc:picChg>
        <pc:picChg chg="add mod">
          <ac:chgData name="Moustapha Diouf" userId="a72b42ab654a8fcc" providerId="LiveId" clId="{22F667E4-E243-4F5A-84DD-87011A6E11D5}" dt="2026-05-20T12:01:56.069" v="2642"/>
          <ac:picMkLst>
            <pc:docMk/>
            <pc:sldMk cId="0" sldId="259"/>
            <ac:picMk id="17" creationId="{9C74F2F1-C897-78AA-34AF-84B4D13942F5}"/>
          </ac:picMkLst>
        </pc:picChg>
      </pc:sldChg>
      <pc:sldChg chg="addSp delSp modSp mod ord modNotes modNotesTx">
        <pc:chgData name="Moustapha Diouf" userId="a72b42ab654a8fcc" providerId="LiveId" clId="{22F667E4-E243-4F5A-84DD-87011A6E11D5}" dt="2026-05-20T12:14:43.105" v="2702" actId="6549"/>
        <pc:sldMkLst>
          <pc:docMk/>
          <pc:sldMk cId="0" sldId="260"/>
        </pc:sldMkLst>
        <pc:spChg chg="mod">
          <ac:chgData name="Moustapha Diouf" userId="a72b42ab654a8fcc" providerId="LiveId" clId="{22F667E4-E243-4F5A-84DD-87011A6E11D5}" dt="2026-05-13T11:17:29.915" v="128" actId="790"/>
          <ac:spMkLst>
            <pc:docMk/>
            <pc:sldMk cId="0" sldId="260"/>
            <ac:spMk id="2" creationId="{00000000-0000-0000-0000-000000000000}"/>
          </ac:spMkLst>
        </pc:spChg>
        <pc:spChg chg="mod">
          <ac:chgData name="Moustapha Diouf" userId="a72b42ab654a8fcc" providerId="LiveId" clId="{22F667E4-E243-4F5A-84DD-87011A6E11D5}" dt="2026-05-13T11:17:30.090" v="171" actId="27636"/>
          <ac:spMkLst>
            <pc:docMk/>
            <pc:sldMk cId="0" sldId="260"/>
            <ac:spMk id="3" creationId="{00000000-0000-0000-0000-000000000000}"/>
          </ac:spMkLst>
        </pc:spChg>
        <pc:spChg chg="mod">
          <ac:chgData name="Moustapha Diouf" userId="a72b42ab654a8fcc" providerId="LiveId" clId="{22F667E4-E243-4F5A-84DD-87011A6E11D5}" dt="2026-05-13T11:17:29.915" v="128" actId="790"/>
          <ac:spMkLst>
            <pc:docMk/>
            <pc:sldMk cId="0" sldId="260"/>
            <ac:spMk id="4" creationId="{00000000-0000-0000-0000-000000000000}"/>
          </ac:spMkLst>
        </pc:spChg>
        <pc:spChg chg="mod">
          <ac:chgData name="Moustapha Diouf" userId="a72b42ab654a8fcc" providerId="LiveId" clId="{22F667E4-E243-4F5A-84DD-87011A6E11D5}" dt="2026-05-13T11:17:29.915" v="128" actId="790"/>
          <ac:spMkLst>
            <pc:docMk/>
            <pc:sldMk cId="0" sldId="260"/>
            <ac:spMk id="6" creationId="{00000000-0000-0000-0000-000000000000}"/>
          </ac:spMkLst>
        </pc:spChg>
        <pc:spChg chg="mod">
          <ac:chgData name="Moustapha Diouf" userId="a72b42ab654a8fcc" providerId="LiveId" clId="{22F667E4-E243-4F5A-84DD-87011A6E11D5}" dt="2026-05-13T11:17:29.915" v="128" actId="790"/>
          <ac:spMkLst>
            <pc:docMk/>
            <pc:sldMk cId="0" sldId="260"/>
            <ac:spMk id="7" creationId="{00000000-0000-0000-0000-000000000000}"/>
          </ac:spMkLst>
        </pc:spChg>
        <pc:spChg chg="mod">
          <ac:chgData name="Moustapha Diouf" userId="a72b42ab654a8fcc" providerId="LiveId" clId="{22F667E4-E243-4F5A-84DD-87011A6E11D5}" dt="2026-05-13T11:17:29.915" v="128" actId="790"/>
          <ac:spMkLst>
            <pc:docMk/>
            <pc:sldMk cId="0" sldId="260"/>
            <ac:spMk id="8" creationId="{00000000-0000-0000-0000-000000000000}"/>
          </ac:spMkLst>
        </pc:spChg>
        <pc:spChg chg="mod">
          <ac:chgData name="Moustapha Diouf" userId="a72b42ab654a8fcc" providerId="LiveId" clId="{22F667E4-E243-4F5A-84DD-87011A6E11D5}" dt="2026-05-13T11:17:29.915" v="128" actId="790"/>
          <ac:spMkLst>
            <pc:docMk/>
            <pc:sldMk cId="0" sldId="260"/>
            <ac:spMk id="9" creationId="{00000000-0000-0000-0000-000000000000}"/>
          </ac:spMkLst>
        </pc:spChg>
        <pc:spChg chg="mod">
          <ac:chgData name="Moustapha Diouf" userId="a72b42ab654a8fcc" providerId="LiveId" clId="{22F667E4-E243-4F5A-84DD-87011A6E11D5}" dt="2026-05-14T06:15:37.997" v="1781" actId="1076"/>
          <ac:spMkLst>
            <pc:docMk/>
            <pc:sldMk cId="0" sldId="260"/>
            <ac:spMk id="11" creationId="{00000000-0000-0000-0000-000000000000}"/>
          </ac:spMkLst>
        </pc:spChg>
        <pc:spChg chg="mod">
          <ac:chgData name="Moustapha Diouf" userId="a72b42ab654a8fcc" providerId="LiveId" clId="{22F667E4-E243-4F5A-84DD-87011A6E11D5}" dt="2026-05-14T06:15:41.334" v="1782" actId="1076"/>
          <ac:spMkLst>
            <pc:docMk/>
            <pc:sldMk cId="0" sldId="260"/>
            <ac:spMk id="12" creationId="{00000000-0000-0000-0000-000000000000}"/>
          </ac:spMkLst>
        </pc:spChg>
        <pc:spChg chg="mod">
          <ac:chgData name="Moustapha Diouf" userId="a72b42ab654a8fcc" providerId="LiveId" clId="{22F667E4-E243-4F5A-84DD-87011A6E11D5}" dt="2026-05-14T06:15:44.664" v="1784" actId="1076"/>
          <ac:spMkLst>
            <pc:docMk/>
            <pc:sldMk cId="0" sldId="260"/>
            <ac:spMk id="13" creationId="{00000000-0000-0000-0000-000000000000}"/>
          </ac:spMkLst>
        </pc:spChg>
        <pc:graphicFrameChg chg="modGraphic">
          <ac:chgData name="Moustapha Diouf" userId="a72b42ab654a8fcc" providerId="LiveId" clId="{22F667E4-E243-4F5A-84DD-87011A6E11D5}" dt="2026-05-13T11:12:29.948" v="58" actId="20577"/>
          <ac:graphicFrameMkLst>
            <pc:docMk/>
            <pc:sldMk cId="0" sldId="260"/>
            <ac:graphicFrameMk id="10" creationId="{00000000-0000-0000-0000-000000000000}"/>
          </ac:graphicFrameMkLst>
        </pc:graphicFrameChg>
        <pc:picChg chg="del">
          <ac:chgData name="Moustapha Diouf" userId="a72b42ab654a8fcc" providerId="LiveId" clId="{22F667E4-E243-4F5A-84DD-87011A6E11D5}" dt="2026-05-20T12:00:47.252" v="2627" actId="478"/>
          <ac:picMkLst>
            <pc:docMk/>
            <pc:sldMk cId="0" sldId="260"/>
            <ac:picMk id="5" creationId="{00000000-0000-0000-0000-000000000000}"/>
          </ac:picMkLst>
        </pc:picChg>
        <pc:picChg chg="add del mod">
          <ac:chgData name="Moustapha Diouf" userId="a72b42ab654a8fcc" providerId="LiveId" clId="{22F667E4-E243-4F5A-84DD-87011A6E11D5}" dt="2026-05-20T12:02:17.007" v="2646" actId="478"/>
          <ac:picMkLst>
            <pc:docMk/>
            <pc:sldMk cId="0" sldId="260"/>
            <ac:picMk id="14" creationId="{FE678F9C-F6F9-80C5-02C6-78ABC332A6BD}"/>
          </ac:picMkLst>
        </pc:picChg>
        <pc:picChg chg="add mod">
          <ac:chgData name="Moustapha Diouf" userId="a72b42ab654a8fcc" providerId="LiveId" clId="{22F667E4-E243-4F5A-84DD-87011A6E11D5}" dt="2026-05-20T12:02:13.764" v="2645"/>
          <ac:picMkLst>
            <pc:docMk/>
            <pc:sldMk cId="0" sldId="260"/>
            <ac:picMk id="15" creationId="{C1489B72-1376-3027-E602-FF4D0B01ECE2}"/>
          </ac:picMkLst>
        </pc:picChg>
      </pc:sldChg>
      <pc:sldChg chg="addSp delSp modSp mod modNotes modNotesTx">
        <pc:chgData name="Moustapha Diouf" userId="a72b42ab654a8fcc" providerId="LiveId" clId="{22F667E4-E243-4F5A-84DD-87011A6E11D5}" dt="2026-05-20T12:14:48.849" v="2704" actId="6549"/>
        <pc:sldMkLst>
          <pc:docMk/>
          <pc:sldMk cId="0" sldId="261"/>
        </pc:sldMkLst>
        <pc:spChg chg="mod">
          <ac:chgData name="Moustapha Diouf" userId="a72b42ab654a8fcc" providerId="LiveId" clId="{22F667E4-E243-4F5A-84DD-87011A6E11D5}" dt="2026-05-13T11:17:30.090" v="172" actId="27636"/>
          <ac:spMkLst>
            <pc:docMk/>
            <pc:sldMk cId="0" sldId="261"/>
            <ac:spMk id="3" creationId="{00000000-0000-0000-0000-000000000000}"/>
          </ac:spMkLst>
        </pc:spChg>
        <pc:spChg chg="mod">
          <ac:chgData name="Moustapha Diouf" userId="a72b42ab654a8fcc" providerId="LiveId" clId="{22F667E4-E243-4F5A-84DD-87011A6E11D5}" dt="2026-05-13T11:17:29.915" v="128" actId="790"/>
          <ac:spMkLst>
            <pc:docMk/>
            <pc:sldMk cId="0" sldId="261"/>
            <ac:spMk id="6" creationId="{00000000-0000-0000-0000-000000000000}"/>
          </ac:spMkLst>
        </pc:spChg>
        <pc:spChg chg="mod">
          <ac:chgData name="Moustapha Diouf" userId="a72b42ab654a8fcc" providerId="LiveId" clId="{22F667E4-E243-4F5A-84DD-87011A6E11D5}" dt="2026-05-13T11:17:29.915" v="128" actId="790"/>
          <ac:spMkLst>
            <pc:docMk/>
            <pc:sldMk cId="0" sldId="261"/>
            <ac:spMk id="7" creationId="{00000000-0000-0000-0000-000000000000}"/>
          </ac:spMkLst>
        </pc:spChg>
        <pc:spChg chg="mod">
          <ac:chgData name="Moustapha Diouf" userId="a72b42ab654a8fcc" providerId="LiveId" clId="{22F667E4-E243-4F5A-84DD-87011A6E11D5}" dt="2026-05-13T11:17:29.915" v="128" actId="790"/>
          <ac:spMkLst>
            <pc:docMk/>
            <pc:sldMk cId="0" sldId="261"/>
            <ac:spMk id="8" creationId="{00000000-0000-0000-0000-000000000000}"/>
          </ac:spMkLst>
        </pc:spChg>
        <pc:spChg chg="mod">
          <ac:chgData name="Moustapha Diouf" userId="a72b42ab654a8fcc" providerId="LiveId" clId="{22F667E4-E243-4F5A-84DD-87011A6E11D5}" dt="2026-05-13T11:17:29.915" v="128" actId="790"/>
          <ac:spMkLst>
            <pc:docMk/>
            <pc:sldMk cId="0" sldId="261"/>
            <ac:spMk id="13" creationId="{00000000-0000-0000-0000-000000000000}"/>
          </ac:spMkLst>
        </pc:spChg>
        <pc:spChg chg="mod">
          <ac:chgData name="Moustapha Diouf" userId="a72b42ab654a8fcc" providerId="LiveId" clId="{22F667E4-E243-4F5A-84DD-87011A6E11D5}" dt="2026-05-13T11:17:29.915" v="128" actId="790"/>
          <ac:spMkLst>
            <pc:docMk/>
            <pc:sldMk cId="0" sldId="261"/>
            <ac:spMk id="14" creationId="{00000000-0000-0000-0000-000000000000}"/>
          </ac:spMkLst>
        </pc:spChg>
        <pc:spChg chg="mod">
          <ac:chgData name="Moustapha Diouf" userId="a72b42ab654a8fcc" providerId="LiveId" clId="{22F667E4-E243-4F5A-84DD-87011A6E11D5}" dt="2026-05-14T06:17:41.943" v="1788" actId="255"/>
          <ac:spMkLst>
            <pc:docMk/>
            <pc:sldMk cId="0" sldId="261"/>
            <ac:spMk id="15" creationId="{00000000-0000-0000-0000-000000000000}"/>
          </ac:spMkLst>
        </pc:spChg>
        <pc:spChg chg="mod">
          <ac:chgData name="Moustapha Diouf" userId="a72b42ab654a8fcc" providerId="LiveId" clId="{22F667E4-E243-4F5A-84DD-87011A6E11D5}" dt="2026-05-14T06:17:52.193" v="1789" actId="255"/>
          <ac:spMkLst>
            <pc:docMk/>
            <pc:sldMk cId="0" sldId="261"/>
            <ac:spMk id="17" creationId="{00000000-0000-0000-0000-000000000000}"/>
          </ac:spMkLst>
        </pc:spChg>
        <pc:spChg chg="mod">
          <ac:chgData name="Moustapha Diouf" userId="a72b42ab654a8fcc" providerId="LiveId" clId="{22F667E4-E243-4F5A-84DD-87011A6E11D5}" dt="2026-05-14T06:17:59.054" v="1790" actId="255"/>
          <ac:spMkLst>
            <pc:docMk/>
            <pc:sldMk cId="0" sldId="261"/>
            <ac:spMk id="19" creationId="{00000000-0000-0000-0000-000000000000}"/>
          </ac:spMkLst>
        </pc:spChg>
        <pc:spChg chg="mod">
          <ac:chgData name="Moustapha Diouf" userId="a72b42ab654a8fcc" providerId="LiveId" clId="{22F667E4-E243-4F5A-84DD-87011A6E11D5}" dt="2026-05-13T11:17:29.915" v="128" actId="790"/>
          <ac:spMkLst>
            <pc:docMk/>
            <pc:sldMk cId="0" sldId="261"/>
            <ac:spMk id="20" creationId="{00000000-0000-0000-0000-000000000000}"/>
          </ac:spMkLst>
        </pc:spChg>
        <pc:spChg chg="mod">
          <ac:chgData name="Moustapha Diouf" userId="a72b42ab654a8fcc" providerId="LiveId" clId="{22F667E4-E243-4F5A-84DD-87011A6E11D5}" dt="2026-05-14T06:17:20.328" v="1787" actId="255"/>
          <ac:spMkLst>
            <pc:docMk/>
            <pc:sldMk cId="0" sldId="261"/>
            <ac:spMk id="21" creationId="{00000000-0000-0000-0000-000000000000}"/>
          </ac:spMkLst>
        </pc:spChg>
        <pc:spChg chg="mod">
          <ac:chgData name="Moustapha Diouf" userId="a72b42ab654a8fcc" providerId="LiveId" clId="{22F667E4-E243-4F5A-84DD-87011A6E11D5}" dt="2026-05-13T11:17:29.915" v="128" actId="790"/>
          <ac:spMkLst>
            <pc:docMk/>
            <pc:sldMk cId="0" sldId="261"/>
            <ac:spMk id="22" creationId="{00000000-0000-0000-0000-000000000000}"/>
          </ac:spMkLst>
        </pc:spChg>
        <pc:spChg chg="mod">
          <ac:chgData name="Moustapha Diouf" userId="a72b42ab654a8fcc" providerId="LiveId" clId="{22F667E4-E243-4F5A-84DD-87011A6E11D5}" dt="2026-05-14T06:17:09.513" v="1785" actId="255"/>
          <ac:spMkLst>
            <pc:docMk/>
            <pc:sldMk cId="0" sldId="261"/>
            <ac:spMk id="23" creationId="{00000000-0000-0000-0000-000000000000}"/>
          </ac:spMkLst>
        </pc:spChg>
        <pc:graphicFrameChg chg="mod modGraphic">
          <ac:chgData name="Moustapha Diouf" userId="a72b42ab654a8fcc" providerId="LiveId" clId="{22F667E4-E243-4F5A-84DD-87011A6E11D5}" dt="2026-05-20T10:37:31.982" v="2039" actId="242"/>
          <ac:graphicFrameMkLst>
            <pc:docMk/>
            <pc:sldMk cId="0" sldId="261"/>
            <ac:graphicFrameMk id="10" creationId="{00000000-0000-0000-0000-000000000000}"/>
          </ac:graphicFrameMkLst>
        </pc:graphicFrameChg>
        <pc:picChg chg="del">
          <ac:chgData name="Moustapha Diouf" userId="a72b42ab654a8fcc" providerId="LiveId" clId="{22F667E4-E243-4F5A-84DD-87011A6E11D5}" dt="2026-05-20T12:01:13.853" v="2633" actId="478"/>
          <ac:picMkLst>
            <pc:docMk/>
            <pc:sldMk cId="0" sldId="261"/>
            <ac:picMk id="5" creationId="{00000000-0000-0000-0000-000000000000}"/>
          </ac:picMkLst>
        </pc:picChg>
        <pc:picChg chg="add del mod">
          <ac:chgData name="Moustapha Diouf" userId="a72b42ab654a8fcc" providerId="LiveId" clId="{22F667E4-E243-4F5A-84DD-87011A6E11D5}" dt="2026-05-20T12:02:00.334" v="2643" actId="478"/>
          <ac:picMkLst>
            <pc:docMk/>
            <pc:sldMk cId="0" sldId="261"/>
            <ac:picMk id="24" creationId="{80764459-0CFC-65BF-CCB3-6901151095C7}"/>
          </ac:picMkLst>
        </pc:picChg>
        <pc:picChg chg="add del mod">
          <ac:chgData name="Moustapha Diouf" userId="a72b42ab654a8fcc" providerId="LiveId" clId="{22F667E4-E243-4F5A-84DD-87011A6E11D5}" dt="2026-05-20T12:02:22.286" v="2648" actId="478"/>
          <ac:picMkLst>
            <pc:docMk/>
            <pc:sldMk cId="0" sldId="261"/>
            <ac:picMk id="25" creationId="{F99E7A39-D000-2E8E-785F-FF2475651134}"/>
          </ac:picMkLst>
        </pc:picChg>
        <pc:picChg chg="add mod">
          <ac:chgData name="Moustapha Diouf" userId="a72b42ab654a8fcc" providerId="LiveId" clId="{22F667E4-E243-4F5A-84DD-87011A6E11D5}" dt="2026-05-20T12:02:20.714" v="2647"/>
          <ac:picMkLst>
            <pc:docMk/>
            <pc:sldMk cId="0" sldId="261"/>
            <ac:picMk id="26" creationId="{41133914-CDF3-59CF-FE4B-F2403081337E}"/>
          </ac:picMkLst>
        </pc:picChg>
      </pc:sldChg>
      <pc:sldChg chg="addSp delSp modSp mod modNotes modNotesTx">
        <pc:chgData name="Moustapha Diouf" userId="a72b42ab654a8fcc" providerId="LiveId" clId="{22F667E4-E243-4F5A-84DD-87011A6E11D5}" dt="2026-05-20T12:16:58.875" v="2732" actId="6549"/>
        <pc:sldMkLst>
          <pc:docMk/>
          <pc:sldMk cId="0" sldId="262"/>
        </pc:sldMkLst>
        <pc:spChg chg="mod">
          <ac:chgData name="Moustapha Diouf" userId="a72b42ab654a8fcc" providerId="LiveId" clId="{22F667E4-E243-4F5A-84DD-87011A6E11D5}" dt="2026-05-13T11:17:29.915" v="128" actId="790"/>
          <ac:spMkLst>
            <pc:docMk/>
            <pc:sldMk cId="0" sldId="262"/>
            <ac:spMk id="2" creationId="{00000000-0000-0000-0000-000000000000}"/>
          </ac:spMkLst>
        </pc:spChg>
        <pc:spChg chg="mod">
          <ac:chgData name="Moustapha Diouf" userId="a72b42ab654a8fcc" providerId="LiveId" clId="{22F667E4-E243-4F5A-84DD-87011A6E11D5}" dt="2026-05-13T11:17:30.105" v="173" actId="27636"/>
          <ac:spMkLst>
            <pc:docMk/>
            <pc:sldMk cId="0" sldId="262"/>
            <ac:spMk id="3" creationId="{00000000-0000-0000-0000-000000000000}"/>
          </ac:spMkLst>
        </pc:spChg>
        <pc:spChg chg="mod">
          <ac:chgData name="Moustapha Diouf" userId="a72b42ab654a8fcc" providerId="LiveId" clId="{22F667E4-E243-4F5A-84DD-87011A6E11D5}" dt="2026-05-13T11:17:29.915" v="128" actId="790"/>
          <ac:spMkLst>
            <pc:docMk/>
            <pc:sldMk cId="0" sldId="262"/>
            <ac:spMk id="4" creationId="{00000000-0000-0000-0000-000000000000}"/>
          </ac:spMkLst>
        </pc:spChg>
        <pc:spChg chg="mod">
          <ac:chgData name="Moustapha Diouf" userId="a72b42ab654a8fcc" providerId="LiveId" clId="{22F667E4-E243-4F5A-84DD-87011A6E11D5}" dt="2026-05-13T11:17:29.915" v="128" actId="790"/>
          <ac:spMkLst>
            <pc:docMk/>
            <pc:sldMk cId="0" sldId="262"/>
            <ac:spMk id="6" creationId="{00000000-0000-0000-0000-000000000000}"/>
          </ac:spMkLst>
        </pc:spChg>
        <pc:spChg chg="mod">
          <ac:chgData name="Moustapha Diouf" userId="a72b42ab654a8fcc" providerId="LiveId" clId="{22F667E4-E243-4F5A-84DD-87011A6E11D5}" dt="2026-05-13T11:17:29.915" v="128" actId="790"/>
          <ac:spMkLst>
            <pc:docMk/>
            <pc:sldMk cId="0" sldId="262"/>
            <ac:spMk id="7" creationId="{00000000-0000-0000-0000-000000000000}"/>
          </ac:spMkLst>
        </pc:spChg>
        <pc:spChg chg="mod">
          <ac:chgData name="Moustapha Diouf" userId="a72b42ab654a8fcc" providerId="LiveId" clId="{22F667E4-E243-4F5A-84DD-87011A6E11D5}" dt="2026-05-13T11:17:29.915" v="128" actId="790"/>
          <ac:spMkLst>
            <pc:docMk/>
            <pc:sldMk cId="0" sldId="262"/>
            <ac:spMk id="8" creationId="{00000000-0000-0000-0000-000000000000}"/>
          </ac:spMkLst>
        </pc:spChg>
        <pc:spChg chg="mod">
          <ac:chgData name="Moustapha Diouf" userId="a72b42ab654a8fcc" providerId="LiveId" clId="{22F667E4-E243-4F5A-84DD-87011A6E11D5}" dt="2026-05-13T11:17:29.915" v="128" actId="790"/>
          <ac:spMkLst>
            <pc:docMk/>
            <pc:sldMk cId="0" sldId="262"/>
            <ac:spMk id="9" creationId="{00000000-0000-0000-0000-000000000000}"/>
          </ac:spMkLst>
        </pc:spChg>
        <pc:spChg chg="mod">
          <ac:chgData name="Moustapha Diouf" userId="a72b42ab654a8fcc" providerId="LiveId" clId="{22F667E4-E243-4F5A-84DD-87011A6E11D5}" dt="2026-05-20T10:34:22.636" v="1857" actId="404"/>
          <ac:spMkLst>
            <pc:docMk/>
            <pc:sldMk cId="0" sldId="262"/>
            <ac:spMk id="11" creationId="{00000000-0000-0000-0000-000000000000}"/>
          </ac:spMkLst>
        </pc:spChg>
        <pc:spChg chg="add mod ord">
          <ac:chgData name="Moustapha Diouf" userId="a72b42ab654a8fcc" providerId="LiveId" clId="{22F667E4-E243-4F5A-84DD-87011A6E11D5}" dt="2026-05-20T10:34:17.086" v="1856" actId="167"/>
          <ac:spMkLst>
            <pc:docMk/>
            <pc:sldMk cId="0" sldId="262"/>
            <ac:spMk id="12" creationId="{D22B2487-B60B-2E67-AD22-C712323720FB}"/>
          </ac:spMkLst>
        </pc:spChg>
        <pc:graphicFrameChg chg="modGraphic">
          <ac:chgData name="Moustapha Diouf" userId="a72b42ab654a8fcc" providerId="LiveId" clId="{22F667E4-E243-4F5A-84DD-87011A6E11D5}" dt="2026-05-20T10:33:48.412" v="1852" actId="20577"/>
          <ac:graphicFrameMkLst>
            <pc:docMk/>
            <pc:sldMk cId="0" sldId="262"/>
            <ac:graphicFrameMk id="10" creationId="{00000000-0000-0000-0000-000000000000}"/>
          </ac:graphicFrameMkLst>
        </pc:graphicFrameChg>
        <pc:picChg chg="del">
          <ac:chgData name="Moustapha Diouf" userId="a72b42ab654a8fcc" providerId="LiveId" clId="{22F667E4-E243-4F5A-84DD-87011A6E11D5}" dt="2026-05-20T12:02:25.673" v="2649" actId="478"/>
          <ac:picMkLst>
            <pc:docMk/>
            <pc:sldMk cId="0" sldId="262"/>
            <ac:picMk id="5" creationId="{00000000-0000-0000-0000-000000000000}"/>
          </ac:picMkLst>
        </pc:picChg>
        <pc:picChg chg="add mod">
          <ac:chgData name="Moustapha Diouf" userId="a72b42ab654a8fcc" providerId="LiveId" clId="{22F667E4-E243-4F5A-84DD-87011A6E11D5}" dt="2026-05-20T12:02:25.984" v="2650"/>
          <ac:picMkLst>
            <pc:docMk/>
            <pc:sldMk cId="0" sldId="262"/>
            <ac:picMk id="13" creationId="{93F7FA10-DC89-1982-8FC2-77C81BF83BE5}"/>
          </ac:picMkLst>
        </pc:picChg>
      </pc:sldChg>
      <pc:sldChg chg="addSp delSp modSp mod modNotes modNotesTx">
        <pc:chgData name="Moustapha Diouf" userId="a72b42ab654a8fcc" providerId="LiveId" clId="{22F667E4-E243-4F5A-84DD-87011A6E11D5}" dt="2026-05-20T12:22:21.539" v="2831" actId="6549"/>
        <pc:sldMkLst>
          <pc:docMk/>
          <pc:sldMk cId="0" sldId="263"/>
        </pc:sldMkLst>
        <pc:spChg chg="mod">
          <ac:chgData name="Moustapha Diouf" userId="a72b42ab654a8fcc" providerId="LiveId" clId="{22F667E4-E243-4F5A-84DD-87011A6E11D5}" dt="2026-05-13T11:17:29.915" v="128" actId="790"/>
          <ac:spMkLst>
            <pc:docMk/>
            <pc:sldMk cId="0" sldId="263"/>
            <ac:spMk id="2" creationId="{00000000-0000-0000-0000-000000000000}"/>
          </ac:spMkLst>
        </pc:spChg>
        <pc:spChg chg="mod">
          <ac:chgData name="Moustapha Diouf" userId="a72b42ab654a8fcc" providerId="LiveId" clId="{22F667E4-E243-4F5A-84DD-87011A6E11D5}" dt="2026-05-20T12:22:21.539" v="2831" actId="6549"/>
          <ac:spMkLst>
            <pc:docMk/>
            <pc:sldMk cId="0" sldId="263"/>
            <ac:spMk id="3" creationId="{00000000-0000-0000-0000-000000000000}"/>
          </ac:spMkLst>
        </pc:spChg>
        <pc:spChg chg="mod">
          <ac:chgData name="Moustapha Diouf" userId="a72b42ab654a8fcc" providerId="LiveId" clId="{22F667E4-E243-4F5A-84DD-87011A6E11D5}" dt="2026-05-13T11:17:29.915" v="128" actId="790"/>
          <ac:spMkLst>
            <pc:docMk/>
            <pc:sldMk cId="0" sldId="263"/>
            <ac:spMk id="4" creationId="{00000000-0000-0000-0000-000000000000}"/>
          </ac:spMkLst>
        </pc:spChg>
        <pc:spChg chg="mod">
          <ac:chgData name="Moustapha Diouf" userId="a72b42ab654a8fcc" providerId="LiveId" clId="{22F667E4-E243-4F5A-84DD-87011A6E11D5}" dt="2026-05-13T11:17:29.915" v="128" actId="790"/>
          <ac:spMkLst>
            <pc:docMk/>
            <pc:sldMk cId="0" sldId="263"/>
            <ac:spMk id="6" creationId="{00000000-0000-0000-0000-000000000000}"/>
          </ac:spMkLst>
        </pc:spChg>
        <pc:spChg chg="mod">
          <ac:chgData name="Moustapha Diouf" userId="a72b42ab654a8fcc" providerId="LiveId" clId="{22F667E4-E243-4F5A-84DD-87011A6E11D5}" dt="2026-05-13T11:17:29.915" v="128" actId="790"/>
          <ac:spMkLst>
            <pc:docMk/>
            <pc:sldMk cId="0" sldId="263"/>
            <ac:spMk id="7" creationId="{00000000-0000-0000-0000-000000000000}"/>
          </ac:spMkLst>
        </pc:spChg>
        <pc:spChg chg="mod">
          <ac:chgData name="Moustapha Diouf" userId="a72b42ab654a8fcc" providerId="LiveId" clId="{22F667E4-E243-4F5A-84DD-87011A6E11D5}" dt="2026-05-13T11:17:29.915" v="128" actId="790"/>
          <ac:spMkLst>
            <pc:docMk/>
            <pc:sldMk cId="0" sldId="263"/>
            <ac:spMk id="8" creationId="{00000000-0000-0000-0000-000000000000}"/>
          </ac:spMkLst>
        </pc:spChg>
        <pc:spChg chg="mod">
          <ac:chgData name="Moustapha Diouf" userId="a72b42ab654a8fcc" providerId="LiveId" clId="{22F667E4-E243-4F5A-84DD-87011A6E11D5}" dt="2026-05-13T11:17:29.915" v="128" actId="790"/>
          <ac:spMkLst>
            <pc:docMk/>
            <pc:sldMk cId="0" sldId="263"/>
            <ac:spMk id="9" creationId="{00000000-0000-0000-0000-000000000000}"/>
          </ac:spMkLst>
        </pc:spChg>
        <pc:spChg chg="mod">
          <ac:chgData name="Moustapha Diouf" userId="a72b42ab654a8fcc" providerId="LiveId" clId="{22F667E4-E243-4F5A-84DD-87011A6E11D5}" dt="2026-05-13T11:17:29.915" v="128" actId="790"/>
          <ac:spMkLst>
            <pc:docMk/>
            <pc:sldMk cId="0" sldId="263"/>
            <ac:spMk id="11" creationId="{00000000-0000-0000-0000-000000000000}"/>
          </ac:spMkLst>
        </pc:spChg>
        <pc:spChg chg="mod">
          <ac:chgData name="Moustapha Diouf" userId="a72b42ab654a8fcc" providerId="LiveId" clId="{22F667E4-E243-4F5A-84DD-87011A6E11D5}" dt="2026-05-20T10:36:53.935" v="2037" actId="6549"/>
          <ac:spMkLst>
            <pc:docMk/>
            <pc:sldMk cId="0" sldId="263"/>
            <ac:spMk id="12" creationId="{00000000-0000-0000-0000-000000000000}"/>
          </ac:spMkLst>
        </pc:spChg>
        <pc:graphicFrameChg chg="modGraphic">
          <ac:chgData name="Moustapha Diouf" userId="a72b42ab654a8fcc" providerId="LiveId" clId="{22F667E4-E243-4F5A-84DD-87011A6E11D5}" dt="2026-05-20T10:37:22.436" v="2038" actId="242"/>
          <ac:graphicFrameMkLst>
            <pc:docMk/>
            <pc:sldMk cId="0" sldId="263"/>
            <ac:graphicFrameMk id="10" creationId="{00000000-0000-0000-0000-000000000000}"/>
          </ac:graphicFrameMkLst>
        </pc:graphicFrameChg>
        <pc:picChg chg="del">
          <ac:chgData name="Moustapha Diouf" userId="a72b42ab654a8fcc" providerId="LiveId" clId="{22F667E4-E243-4F5A-84DD-87011A6E11D5}" dt="2026-05-20T12:02:31.379" v="2651" actId="478"/>
          <ac:picMkLst>
            <pc:docMk/>
            <pc:sldMk cId="0" sldId="263"/>
            <ac:picMk id="5" creationId="{00000000-0000-0000-0000-000000000000}"/>
          </ac:picMkLst>
        </pc:picChg>
        <pc:picChg chg="add mod">
          <ac:chgData name="Moustapha Diouf" userId="a72b42ab654a8fcc" providerId="LiveId" clId="{22F667E4-E243-4F5A-84DD-87011A6E11D5}" dt="2026-05-20T12:02:31.621" v="2652"/>
          <ac:picMkLst>
            <pc:docMk/>
            <pc:sldMk cId="0" sldId="263"/>
            <ac:picMk id="13" creationId="{3816D199-B6BC-1963-E061-D0E24E289EA2}"/>
          </ac:picMkLst>
        </pc:picChg>
      </pc:sldChg>
      <pc:sldChg chg="addSp delSp modSp mod modNotes modNotesTx">
        <pc:chgData name="Moustapha Diouf" userId="a72b42ab654a8fcc" providerId="LiveId" clId="{22F667E4-E243-4F5A-84DD-87011A6E11D5}" dt="2026-05-20T12:14:55.313" v="2706" actId="6549"/>
        <pc:sldMkLst>
          <pc:docMk/>
          <pc:sldMk cId="0" sldId="264"/>
        </pc:sldMkLst>
        <pc:spChg chg="mod">
          <ac:chgData name="Moustapha Diouf" userId="a72b42ab654a8fcc" providerId="LiveId" clId="{22F667E4-E243-4F5A-84DD-87011A6E11D5}" dt="2026-05-13T11:17:29.915" v="128" actId="790"/>
          <ac:spMkLst>
            <pc:docMk/>
            <pc:sldMk cId="0" sldId="264"/>
            <ac:spMk id="2" creationId="{00000000-0000-0000-0000-000000000000}"/>
          </ac:spMkLst>
        </pc:spChg>
        <pc:spChg chg="mod">
          <ac:chgData name="Moustapha Diouf" userId="a72b42ab654a8fcc" providerId="LiveId" clId="{22F667E4-E243-4F5A-84DD-87011A6E11D5}" dt="2026-05-13T11:17:30.121" v="175" actId="27636"/>
          <ac:spMkLst>
            <pc:docMk/>
            <pc:sldMk cId="0" sldId="264"/>
            <ac:spMk id="3" creationId="{00000000-0000-0000-0000-000000000000}"/>
          </ac:spMkLst>
        </pc:spChg>
        <pc:spChg chg="mod">
          <ac:chgData name="Moustapha Diouf" userId="a72b42ab654a8fcc" providerId="LiveId" clId="{22F667E4-E243-4F5A-84DD-87011A6E11D5}" dt="2026-05-13T11:17:29.915" v="128" actId="790"/>
          <ac:spMkLst>
            <pc:docMk/>
            <pc:sldMk cId="0" sldId="264"/>
            <ac:spMk id="4" creationId="{00000000-0000-0000-0000-000000000000}"/>
          </ac:spMkLst>
        </pc:spChg>
        <pc:spChg chg="mod">
          <ac:chgData name="Moustapha Diouf" userId="a72b42ab654a8fcc" providerId="LiveId" clId="{22F667E4-E243-4F5A-84DD-87011A6E11D5}" dt="2026-05-13T11:17:29.915" v="128" actId="790"/>
          <ac:spMkLst>
            <pc:docMk/>
            <pc:sldMk cId="0" sldId="264"/>
            <ac:spMk id="6" creationId="{00000000-0000-0000-0000-000000000000}"/>
          </ac:spMkLst>
        </pc:spChg>
        <pc:spChg chg="mod">
          <ac:chgData name="Moustapha Diouf" userId="a72b42ab654a8fcc" providerId="LiveId" clId="{22F667E4-E243-4F5A-84DD-87011A6E11D5}" dt="2026-05-13T11:17:29.915" v="128" actId="790"/>
          <ac:spMkLst>
            <pc:docMk/>
            <pc:sldMk cId="0" sldId="264"/>
            <ac:spMk id="7" creationId="{00000000-0000-0000-0000-000000000000}"/>
          </ac:spMkLst>
        </pc:spChg>
        <pc:spChg chg="mod">
          <ac:chgData name="Moustapha Diouf" userId="a72b42ab654a8fcc" providerId="LiveId" clId="{22F667E4-E243-4F5A-84DD-87011A6E11D5}" dt="2026-05-13T11:17:29.915" v="128" actId="790"/>
          <ac:spMkLst>
            <pc:docMk/>
            <pc:sldMk cId="0" sldId="264"/>
            <ac:spMk id="8" creationId="{00000000-0000-0000-0000-000000000000}"/>
          </ac:spMkLst>
        </pc:spChg>
        <pc:spChg chg="mod">
          <ac:chgData name="Moustapha Diouf" userId="a72b42ab654a8fcc" providerId="LiveId" clId="{22F667E4-E243-4F5A-84DD-87011A6E11D5}" dt="2026-05-13T11:17:29.915" v="128" actId="790"/>
          <ac:spMkLst>
            <pc:docMk/>
            <pc:sldMk cId="0" sldId="264"/>
            <ac:spMk id="9" creationId="{00000000-0000-0000-0000-000000000000}"/>
          </ac:spMkLst>
        </pc:spChg>
        <pc:spChg chg="mod">
          <ac:chgData name="Moustapha Diouf" userId="a72b42ab654a8fcc" providerId="LiveId" clId="{22F667E4-E243-4F5A-84DD-87011A6E11D5}" dt="2026-05-13T11:17:29.915" v="128" actId="790"/>
          <ac:spMkLst>
            <pc:docMk/>
            <pc:sldMk cId="0" sldId="264"/>
            <ac:spMk id="11" creationId="{00000000-0000-0000-0000-000000000000}"/>
          </ac:spMkLst>
        </pc:spChg>
        <pc:spChg chg="mod">
          <ac:chgData name="Moustapha Diouf" userId="a72b42ab654a8fcc" providerId="LiveId" clId="{22F667E4-E243-4F5A-84DD-87011A6E11D5}" dt="2026-05-13T11:17:29.915" v="128" actId="790"/>
          <ac:spMkLst>
            <pc:docMk/>
            <pc:sldMk cId="0" sldId="264"/>
            <ac:spMk id="12" creationId="{00000000-0000-0000-0000-000000000000}"/>
          </ac:spMkLst>
        </pc:spChg>
        <pc:graphicFrameChg chg="modGraphic">
          <ac:chgData name="Moustapha Diouf" userId="a72b42ab654a8fcc" providerId="LiveId" clId="{22F667E4-E243-4F5A-84DD-87011A6E11D5}" dt="2026-05-20T10:37:48.932" v="2040" actId="242"/>
          <ac:graphicFrameMkLst>
            <pc:docMk/>
            <pc:sldMk cId="0" sldId="264"/>
            <ac:graphicFrameMk id="10" creationId="{00000000-0000-0000-0000-000000000000}"/>
          </ac:graphicFrameMkLst>
        </pc:graphicFrameChg>
        <pc:picChg chg="del">
          <ac:chgData name="Moustapha Diouf" userId="a72b42ab654a8fcc" providerId="LiveId" clId="{22F667E4-E243-4F5A-84DD-87011A6E11D5}" dt="2026-05-20T12:02:35.308" v="2653" actId="478"/>
          <ac:picMkLst>
            <pc:docMk/>
            <pc:sldMk cId="0" sldId="264"/>
            <ac:picMk id="5" creationId="{00000000-0000-0000-0000-000000000000}"/>
          </ac:picMkLst>
        </pc:picChg>
        <pc:picChg chg="add mod">
          <ac:chgData name="Moustapha Diouf" userId="a72b42ab654a8fcc" providerId="LiveId" clId="{22F667E4-E243-4F5A-84DD-87011A6E11D5}" dt="2026-05-20T12:02:35.560" v="2654"/>
          <ac:picMkLst>
            <pc:docMk/>
            <pc:sldMk cId="0" sldId="264"/>
            <ac:picMk id="13" creationId="{2AC2B436-98D4-8E02-03AD-F8C085FB8383}"/>
          </ac:picMkLst>
        </pc:picChg>
      </pc:sldChg>
      <pc:sldChg chg="addSp delSp modSp mod modNotes modNotesTx">
        <pc:chgData name="Moustapha Diouf" userId="a72b42ab654a8fcc" providerId="LiveId" clId="{22F667E4-E243-4F5A-84DD-87011A6E11D5}" dt="2026-05-20T12:16:49.099" v="2730" actId="6549"/>
        <pc:sldMkLst>
          <pc:docMk/>
          <pc:sldMk cId="0" sldId="265"/>
        </pc:sldMkLst>
        <pc:spChg chg="mod">
          <ac:chgData name="Moustapha Diouf" userId="a72b42ab654a8fcc" providerId="LiveId" clId="{22F667E4-E243-4F5A-84DD-87011A6E11D5}" dt="2026-05-13T11:17:30.121" v="176" actId="27636"/>
          <ac:spMkLst>
            <pc:docMk/>
            <pc:sldMk cId="0" sldId="265"/>
            <ac:spMk id="3" creationId="{00000000-0000-0000-0000-000000000000}"/>
          </ac:spMkLst>
        </pc:spChg>
        <pc:spChg chg="mod">
          <ac:chgData name="Moustapha Diouf" userId="a72b42ab654a8fcc" providerId="LiveId" clId="{22F667E4-E243-4F5A-84DD-87011A6E11D5}" dt="2026-05-13T11:17:29.915" v="128" actId="790"/>
          <ac:spMkLst>
            <pc:docMk/>
            <pc:sldMk cId="0" sldId="265"/>
            <ac:spMk id="7" creationId="{00000000-0000-0000-0000-000000000000}"/>
          </ac:spMkLst>
        </pc:spChg>
        <pc:spChg chg="mod">
          <ac:chgData name="Moustapha Diouf" userId="a72b42ab654a8fcc" providerId="LiveId" clId="{22F667E4-E243-4F5A-84DD-87011A6E11D5}" dt="2026-05-13T11:17:29.915" v="128" actId="790"/>
          <ac:spMkLst>
            <pc:docMk/>
            <pc:sldMk cId="0" sldId="265"/>
            <ac:spMk id="10" creationId="{00000000-0000-0000-0000-000000000000}"/>
          </ac:spMkLst>
        </pc:spChg>
        <pc:spChg chg="mod">
          <ac:chgData name="Moustapha Diouf" userId="a72b42ab654a8fcc" providerId="LiveId" clId="{22F667E4-E243-4F5A-84DD-87011A6E11D5}" dt="2026-05-13T11:17:29.915" v="128" actId="790"/>
          <ac:spMkLst>
            <pc:docMk/>
            <pc:sldMk cId="0" sldId="265"/>
            <ac:spMk id="11" creationId="{00000000-0000-0000-0000-000000000000}"/>
          </ac:spMkLst>
        </pc:spChg>
        <pc:spChg chg="mod">
          <ac:chgData name="Moustapha Diouf" userId="a72b42ab654a8fcc" providerId="LiveId" clId="{22F667E4-E243-4F5A-84DD-87011A6E11D5}" dt="2026-05-20T12:12:12.295" v="2697" actId="207"/>
          <ac:spMkLst>
            <pc:docMk/>
            <pc:sldMk cId="0" sldId="265"/>
            <ac:spMk id="14" creationId="{00000000-0000-0000-0000-000000000000}"/>
          </ac:spMkLst>
        </pc:spChg>
        <pc:spChg chg="mod">
          <ac:chgData name="Moustapha Diouf" userId="a72b42ab654a8fcc" providerId="LiveId" clId="{22F667E4-E243-4F5A-84DD-87011A6E11D5}" dt="2026-05-20T12:11:27.374" v="2693" actId="20577"/>
          <ac:spMkLst>
            <pc:docMk/>
            <pc:sldMk cId="0" sldId="265"/>
            <ac:spMk id="15" creationId="{00000000-0000-0000-0000-000000000000}"/>
          </ac:spMkLst>
        </pc:spChg>
        <pc:spChg chg="mod">
          <ac:chgData name="Moustapha Diouf" userId="a72b42ab654a8fcc" providerId="LiveId" clId="{22F667E4-E243-4F5A-84DD-87011A6E11D5}" dt="2026-05-13T11:17:29.915" v="128" actId="790"/>
          <ac:spMkLst>
            <pc:docMk/>
            <pc:sldMk cId="0" sldId="265"/>
            <ac:spMk id="16" creationId="{00000000-0000-0000-0000-000000000000}"/>
          </ac:spMkLst>
        </pc:spChg>
        <pc:spChg chg="mod">
          <ac:chgData name="Moustapha Diouf" userId="a72b42ab654a8fcc" providerId="LiveId" clId="{22F667E4-E243-4F5A-84DD-87011A6E11D5}" dt="2026-05-20T12:10:44.610" v="2689" actId="20577"/>
          <ac:spMkLst>
            <pc:docMk/>
            <pc:sldMk cId="0" sldId="265"/>
            <ac:spMk id="18" creationId="{00000000-0000-0000-0000-000000000000}"/>
          </ac:spMkLst>
        </pc:spChg>
        <pc:spChg chg="mod">
          <ac:chgData name="Moustapha Diouf" userId="a72b42ab654a8fcc" providerId="LiveId" clId="{22F667E4-E243-4F5A-84DD-87011A6E11D5}" dt="2026-05-13T11:17:29.915" v="128" actId="790"/>
          <ac:spMkLst>
            <pc:docMk/>
            <pc:sldMk cId="0" sldId="265"/>
            <ac:spMk id="19" creationId="{00000000-0000-0000-0000-000000000000}"/>
          </ac:spMkLst>
        </pc:spChg>
        <pc:spChg chg="mod">
          <ac:chgData name="Moustapha Diouf" userId="a72b42ab654a8fcc" providerId="LiveId" clId="{22F667E4-E243-4F5A-84DD-87011A6E11D5}" dt="2026-05-13T11:17:29.915" v="128" actId="790"/>
          <ac:spMkLst>
            <pc:docMk/>
            <pc:sldMk cId="0" sldId="265"/>
            <ac:spMk id="28" creationId="{00000000-0000-0000-0000-000000000000}"/>
          </ac:spMkLst>
        </pc:spChg>
        <pc:spChg chg="mod">
          <ac:chgData name="Moustapha Diouf" userId="a72b42ab654a8fcc" providerId="LiveId" clId="{22F667E4-E243-4F5A-84DD-87011A6E11D5}" dt="2026-05-13T11:17:29.915" v="128" actId="790"/>
          <ac:spMkLst>
            <pc:docMk/>
            <pc:sldMk cId="0" sldId="265"/>
            <ac:spMk id="31" creationId="{00000000-0000-0000-0000-000000000000}"/>
          </ac:spMkLst>
        </pc:spChg>
        <pc:spChg chg="mod">
          <ac:chgData name="Moustapha Diouf" userId="a72b42ab654a8fcc" providerId="LiveId" clId="{22F667E4-E243-4F5A-84DD-87011A6E11D5}" dt="2026-05-13T11:17:29.915" v="128" actId="790"/>
          <ac:spMkLst>
            <pc:docMk/>
            <pc:sldMk cId="0" sldId="265"/>
            <ac:spMk id="32" creationId="{00000000-0000-0000-0000-000000000000}"/>
          </ac:spMkLst>
        </pc:spChg>
        <pc:spChg chg="mod">
          <ac:chgData name="Moustapha Diouf" userId="a72b42ab654a8fcc" providerId="LiveId" clId="{22F667E4-E243-4F5A-84DD-87011A6E11D5}" dt="2026-05-13T11:15:35.597" v="109" actId="1076"/>
          <ac:spMkLst>
            <pc:docMk/>
            <pc:sldMk cId="0" sldId="265"/>
            <ac:spMk id="33" creationId="{00000000-0000-0000-0000-000000000000}"/>
          </ac:spMkLst>
        </pc:spChg>
        <pc:spChg chg="mod">
          <ac:chgData name="Moustapha Diouf" userId="a72b42ab654a8fcc" providerId="LiveId" clId="{22F667E4-E243-4F5A-84DD-87011A6E11D5}" dt="2026-05-13T11:17:29.915" v="128" actId="790"/>
          <ac:spMkLst>
            <pc:docMk/>
            <pc:sldMk cId="0" sldId="265"/>
            <ac:spMk id="37" creationId="{00000000-0000-0000-0000-000000000000}"/>
          </ac:spMkLst>
        </pc:spChg>
        <pc:spChg chg="mod">
          <ac:chgData name="Moustapha Diouf" userId="a72b42ab654a8fcc" providerId="LiveId" clId="{22F667E4-E243-4F5A-84DD-87011A6E11D5}" dt="2026-05-20T12:11:43.167" v="2694" actId="207"/>
          <ac:spMkLst>
            <pc:docMk/>
            <pc:sldMk cId="0" sldId="265"/>
            <ac:spMk id="40" creationId="{00000000-0000-0000-0000-000000000000}"/>
          </ac:spMkLst>
        </pc:spChg>
        <pc:picChg chg="del mod">
          <ac:chgData name="Moustapha Diouf" userId="a72b42ab654a8fcc" providerId="LiveId" clId="{22F667E4-E243-4F5A-84DD-87011A6E11D5}" dt="2026-05-20T12:02:39.154" v="2656" actId="478"/>
          <ac:picMkLst>
            <pc:docMk/>
            <pc:sldMk cId="0" sldId="265"/>
            <ac:picMk id="5" creationId="{00000000-0000-0000-0000-000000000000}"/>
          </ac:picMkLst>
        </pc:picChg>
        <pc:picChg chg="add mod">
          <ac:chgData name="Moustapha Diouf" userId="a72b42ab654a8fcc" providerId="LiveId" clId="{22F667E4-E243-4F5A-84DD-87011A6E11D5}" dt="2026-05-20T12:02:39.434" v="2657"/>
          <ac:picMkLst>
            <pc:docMk/>
            <pc:sldMk cId="0" sldId="265"/>
            <ac:picMk id="41" creationId="{078BB042-95DD-DCBA-7069-5C38AA20BFCB}"/>
          </ac:picMkLst>
        </pc:picChg>
      </pc:sldChg>
      <pc:sldChg chg="addSp delSp modSp mod modNotes modNotesTx">
        <pc:chgData name="Moustapha Diouf" userId="a72b42ab654a8fcc" providerId="LiveId" clId="{22F667E4-E243-4F5A-84DD-87011A6E11D5}" dt="2026-05-20T12:16:23.243" v="2727" actId="6549"/>
        <pc:sldMkLst>
          <pc:docMk/>
          <pc:sldMk cId="0" sldId="266"/>
        </pc:sldMkLst>
        <pc:spChg chg="mod">
          <ac:chgData name="Moustapha Diouf" userId="a72b42ab654a8fcc" providerId="LiveId" clId="{22F667E4-E243-4F5A-84DD-87011A6E11D5}" dt="2026-05-13T11:17:29.915" v="128" actId="790"/>
          <ac:spMkLst>
            <pc:docMk/>
            <pc:sldMk cId="0" sldId="266"/>
            <ac:spMk id="2" creationId="{00000000-0000-0000-0000-000000000000}"/>
          </ac:spMkLst>
        </pc:spChg>
        <pc:spChg chg="mod">
          <ac:chgData name="Moustapha Diouf" userId="a72b42ab654a8fcc" providerId="LiveId" clId="{22F667E4-E243-4F5A-84DD-87011A6E11D5}" dt="2026-05-13T11:17:29.947" v="129" actId="27636"/>
          <ac:spMkLst>
            <pc:docMk/>
            <pc:sldMk cId="0" sldId="266"/>
            <ac:spMk id="3" creationId="{00000000-0000-0000-0000-000000000000}"/>
          </ac:spMkLst>
        </pc:spChg>
        <pc:spChg chg="mod">
          <ac:chgData name="Moustapha Diouf" userId="a72b42ab654a8fcc" providerId="LiveId" clId="{22F667E4-E243-4F5A-84DD-87011A6E11D5}" dt="2026-05-13T11:17:29.915" v="128" actId="790"/>
          <ac:spMkLst>
            <pc:docMk/>
            <pc:sldMk cId="0" sldId="266"/>
            <ac:spMk id="4" creationId="{00000000-0000-0000-0000-000000000000}"/>
          </ac:spMkLst>
        </pc:spChg>
        <pc:spChg chg="mod">
          <ac:chgData name="Moustapha Diouf" userId="a72b42ab654a8fcc" providerId="LiveId" clId="{22F667E4-E243-4F5A-84DD-87011A6E11D5}" dt="2026-05-13T11:17:29.915" v="128" actId="790"/>
          <ac:spMkLst>
            <pc:docMk/>
            <pc:sldMk cId="0" sldId="266"/>
            <ac:spMk id="6" creationId="{00000000-0000-0000-0000-000000000000}"/>
          </ac:spMkLst>
        </pc:spChg>
        <pc:spChg chg="mod">
          <ac:chgData name="Moustapha Diouf" userId="a72b42ab654a8fcc" providerId="LiveId" clId="{22F667E4-E243-4F5A-84DD-87011A6E11D5}" dt="2026-05-13T11:17:29.915" v="128" actId="790"/>
          <ac:spMkLst>
            <pc:docMk/>
            <pc:sldMk cId="0" sldId="266"/>
            <ac:spMk id="7" creationId="{00000000-0000-0000-0000-000000000000}"/>
          </ac:spMkLst>
        </pc:spChg>
        <pc:spChg chg="mod">
          <ac:chgData name="Moustapha Diouf" userId="a72b42ab654a8fcc" providerId="LiveId" clId="{22F667E4-E243-4F5A-84DD-87011A6E11D5}" dt="2026-05-13T11:17:29.915" v="128" actId="790"/>
          <ac:spMkLst>
            <pc:docMk/>
            <pc:sldMk cId="0" sldId="266"/>
            <ac:spMk id="8" creationId="{00000000-0000-0000-0000-000000000000}"/>
          </ac:spMkLst>
        </pc:spChg>
        <pc:spChg chg="mod">
          <ac:chgData name="Moustapha Diouf" userId="a72b42ab654a8fcc" providerId="LiveId" clId="{22F667E4-E243-4F5A-84DD-87011A6E11D5}" dt="2026-05-13T11:17:29.915" v="128" actId="790"/>
          <ac:spMkLst>
            <pc:docMk/>
            <pc:sldMk cId="0" sldId="266"/>
            <ac:spMk id="9" creationId="{00000000-0000-0000-0000-000000000000}"/>
          </ac:spMkLst>
        </pc:spChg>
        <pc:spChg chg="mod">
          <ac:chgData name="Moustapha Diouf" userId="a72b42ab654a8fcc" providerId="LiveId" clId="{22F667E4-E243-4F5A-84DD-87011A6E11D5}" dt="2026-05-13T11:28:09.104" v="261" actId="1076"/>
          <ac:spMkLst>
            <pc:docMk/>
            <pc:sldMk cId="0" sldId="266"/>
            <ac:spMk id="11" creationId="{00000000-0000-0000-0000-000000000000}"/>
          </ac:spMkLst>
        </pc:spChg>
        <pc:graphicFrameChg chg="mod modGraphic">
          <ac:chgData name="Moustapha Diouf" userId="a72b42ab654a8fcc" providerId="LiveId" clId="{22F667E4-E243-4F5A-84DD-87011A6E11D5}" dt="2026-05-20T11:19:10.219" v="2416" actId="6549"/>
          <ac:graphicFrameMkLst>
            <pc:docMk/>
            <pc:sldMk cId="0" sldId="266"/>
            <ac:graphicFrameMk id="10" creationId="{00000000-0000-0000-0000-000000000000}"/>
          </ac:graphicFrameMkLst>
        </pc:graphicFrameChg>
        <pc:picChg chg="del">
          <ac:chgData name="Moustapha Diouf" userId="a72b42ab654a8fcc" providerId="LiveId" clId="{22F667E4-E243-4F5A-84DD-87011A6E11D5}" dt="2026-05-20T12:02:42.500" v="2658" actId="478"/>
          <ac:picMkLst>
            <pc:docMk/>
            <pc:sldMk cId="0" sldId="266"/>
            <ac:picMk id="5" creationId="{00000000-0000-0000-0000-000000000000}"/>
          </ac:picMkLst>
        </pc:picChg>
        <pc:picChg chg="add mod">
          <ac:chgData name="Moustapha Diouf" userId="a72b42ab654a8fcc" providerId="LiveId" clId="{22F667E4-E243-4F5A-84DD-87011A6E11D5}" dt="2026-05-20T12:02:42.770" v="2659"/>
          <ac:picMkLst>
            <pc:docMk/>
            <pc:sldMk cId="0" sldId="266"/>
            <ac:picMk id="12" creationId="{C1D86856-B903-D0B7-AB35-88451BC2C273}"/>
          </ac:picMkLst>
        </pc:picChg>
      </pc:sldChg>
      <pc:sldChg chg="addSp delSp modSp mod modNotes modNotesTx">
        <pc:chgData name="Moustapha Diouf" userId="a72b42ab654a8fcc" providerId="LiveId" clId="{22F667E4-E243-4F5A-84DD-87011A6E11D5}" dt="2026-05-20T12:15:19.937" v="2711" actId="20577"/>
        <pc:sldMkLst>
          <pc:docMk/>
          <pc:sldMk cId="0" sldId="267"/>
        </pc:sldMkLst>
        <pc:spChg chg="mod">
          <ac:chgData name="Moustapha Diouf" userId="a72b42ab654a8fcc" providerId="LiveId" clId="{22F667E4-E243-4F5A-84DD-87011A6E11D5}" dt="2026-05-13T11:17:29.915" v="128" actId="790"/>
          <ac:spMkLst>
            <pc:docMk/>
            <pc:sldMk cId="0" sldId="267"/>
            <ac:spMk id="2" creationId="{00000000-0000-0000-0000-000000000000}"/>
          </ac:spMkLst>
        </pc:spChg>
        <pc:spChg chg="mod">
          <ac:chgData name="Moustapha Diouf" userId="a72b42ab654a8fcc" providerId="LiveId" clId="{22F667E4-E243-4F5A-84DD-87011A6E11D5}" dt="2026-05-13T11:17:29.963" v="131" actId="27636"/>
          <ac:spMkLst>
            <pc:docMk/>
            <pc:sldMk cId="0" sldId="267"/>
            <ac:spMk id="3" creationId="{00000000-0000-0000-0000-000000000000}"/>
          </ac:spMkLst>
        </pc:spChg>
        <pc:spChg chg="mod">
          <ac:chgData name="Moustapha Diouf" userId="a72b42ab654a8fcc" providerId="LiveId" clId="{22F667E4-E243-4F5A-84DD-87011A6E11D5}" dt="2026-05-13T11:17:29.915" v="128" actId="790"/>
          <ac:spMkLst>
            <pc:docMk/>
            <pc:sldMk cId="0" sldId="267"/>
            <ac:spMk id="4" creationId="{00000000-0000-0000-0000-000000000000}"/>
          </ac:spMkLst>
        </pc:spChg>
        <pc:spChg chg="mod">
          <ac:chgData name="Moustapha Diouf" userId="a72b42ab654a8fcc" providerId="LiveId" clId="{22F667E4-E243-4F5A-84DD-87011A6E11D5}" dt="2026-05-13T11:17:29.915" v="128" actId="790"/>
          <ac:spMkLst>
            <pc:docMk/>
            <pc:sldMk cId="0" sldId="267"/>
            <ac:spMk id="6" creationId="{00000000-0000-0000-0000-000000000000}"/>
          </ac:spMkLst>
        </pc:spChg>
        <pc:spChg chg="mod">
          <ac:chgData name="Moustapha Diouf" userId="a72b42ab654a8fcc" providerId="LiveId" clId="{22F667E4-E243-4F5A-84DD-87011A6E11D5}" dt="2026-05-13T11:17:29.915" v="128" actId="790"/>
          <ac:spMkLst>
            <pc:docMk/>
            <pc:sldMk cId="0" sldId="267"/>
            <ac:spMk id="7" creationId="{00000000-0000-0000-0000-000000000000}"/>
          </ac:spMkLst>
        </pc:spChg>
        <pc:spChg chg="mod">
          <ac:chgData name="Moustapha Diouf" userId="a72b42ab654a8fcc" providerId="LiveId" clId="{22F667E4-E243-4F5A-84DD-87011A6E11D5}" dt="2026-05-13T11:17:29.915" v="128" actId="790"/>
          <ac:spMkLst>
            <pc:docMk/>
            <pc:sldMk cId="0" sldId="267"/>
            <ac:spMk id="8" creationId="{00000000-0000-0000-0000-000000000000}"/>
          </ac:spMkLst>
        </pc:spChg>
        <pc:spChg chg="mod">
          <ac:chgData name="Moustapha Diouf" userId="a72b42ab654a8fcc" providerId="LiveId" clId="{22F667E4-E243-4F5A-84DD-87011A6E11D5}" dt="2026-05-13T11:17:29.915" v="128" actId="790"/>
          <ac:spMkLst>
            <pc:docMk/>
            <pc:sldMk cId="0" sldId="267"/>
            <ac:spMk id="9" creationId="{00000000-0000-0000-0000-000000000000}"/>
          </ac:spMkLst>
        </pc:spChg>
        <pc:spChg chg="add mod">
          <ac:chgData name="Moustapha Diouf" userId="a72b42ab654a8fcc" providerId="LiveId" clId="{22F667E4-E243-4F5A-84DD-87011A6E11D5}" dt="2026-05-20T11:22:56.502" v="2444" actId="20577"/>
          <ac:spMkLst>
            <pc:docMk/>
            <pc:sldMk cId="0" sldId="267"/>
            <ac:spMk id="10" creationId="{3B1E0F50-C037-AB40-7AD4-356B34F1AAFB}"/>
          </ac:spMkLst>
        </pc:spChg>
        <pc:spChg chg="mod">
          <ac:chgData name="Moustapha Diouf" userId="a72b42ab654a8fcc" providerId="LiveId" clId="{22F667E4-E243-4F5A-84DD-87011A6E11D5}" dt="2026-05-13T11:17:29.915" v="128" actId="790"/>
          <ac:spMkLst>
            <pc:docMk/>
            <pc:sldMk cId="0" sldId="267"/>
            <ac:spMk id="11" creationId="{00000000-0000-0000-0000-000000000000}"/>
          </ac:spMkLst>
        </pc:spChg>
        <pc:spChg chg="mod">
          <ac:chgData name="Moustapha Diouf" userId="a72b42ab654a8fcc" providerId="LiveId" clId="{22F667E4-E243-4F5A-84DD-87011A6E11D5}" dt="2026-05-13T11:17:29.963" v="130" actId="27636"/>
          <ac:spMkLst>
            <pc:docMk/>
            <pc:sldMk cId="0" sldId="267"/>
            <ac:spMk id="12" creationId="{00000000-0000-0000-0000-000000000000}"/>
          </ac:spMkLst>
        </pc:spChg>
        <pc:graphicFrameChg chg="mod modGraphic">
          <ac:chgData name="Moustapha Diouf" userId="a72b42ab654a8fcc" providerId="LiveId" clId="{22F667E4-E243-4F5A-84DD-87011A6E11D5}" dt="2026-05-20T11:22:42.172" v="2436" actId="242"/>
          <ac:graphicFrameMkLst>
            <pc:docMk/>
            <pc:sldMk cId="0" sldId="267"/>
            <ac:graphicFrameMk id="13" creationId="{00000000-0000-0000-0000-000000000000}"/>
          </ac:graphicFrameMkLst>
        </pc:graphicFrameChg>
        <pc:picChg chg="del">
          <ac:chgData name="Moustapha Diouf" userId="a72b42ab654a8fcc" providerId="LiveId" clId="{22F667E4-E243-4F5A-84DD-87011A6E11D5}" dt="2026-05-20T12:03:02.891" v="2663" actId="478"/>
          <ac:picMkLst>
            <pc:docMk/>
            <pc:sldMk cId="0" sldId="267"/>
            <ac:picMk id="5" creationId="{00000000-0000-0000-0000-000000000000}"/>
          </ac:picMkLst>
        </pc:picChg>
        <pc:picChg chg="add mod">
          <ac:chgData name="Moustapha Diouf" userId="a72b42ab654a8fcc" providerId="LiveId" clId="{22F667E4-E243-4F5A-84DD-87011A6E11D5}" dt="2026-05-20T12:03:03.207" v="2664"/>
          <ac:picMkLst>
            <pc:docMk/>
            <pc:sldMk cId="0" sldId="267"/>
            <ac:picMk id="14" creationId="{B2E85940-B275-A4E0-F447-AEEB14D9A3C3}"/>
          </ac:picMkLst>
        </pc:picChg>
      </pc:sldChg>
      <pc:sldChg chg="addSp delSp modSp mod modNotes modNotesTx">
        <pc:chgData name="Moustapha Diouf" userId="a72b42ab654a8fcc" providerId="LiveId" clId="{22F667E4-E243-4F5A-84DD-87011A6E11D5}" dt="2026-05-20T12:15:23.959" v="2712" actId="6549"/>
        <pc:sldMkLst>
          <pc:docMk/>
          <pc:sldMk cId="0" sldId="268"/>
        </pc:sldMkLst>
        <pc:spChg chg="mod">
          <ac:chgData name="Moustapha Diouf" userId="a72b42ab654a8fcc" providerId="LiveId" clId="{22F667E4-E243-4F5A-84DD-87011A6E11D5}" dt="2026-05-13T11:17:29.915" v="128" actId="790"/>
          <ac:spMkLst>
            <pc:docMk/>
            <pc:sldMk cId="0" sldId="268"/>
            <ac:spMk id="2" creationId="{00000000-0000-0000-0000-000000000000}"/>
          </ac:spMkLst>
        </pc:spChg>
        <pc:spChg chg="mod">
          <ac:chgData name="Moustapha Diouf" userId="a72b42ab654a8fcc" providerId="LiveId" clId="{22F667E4-E243-4F5A-84DD-87011A6E11D5}" dt="2026-05-13T11:17:29.979" v="132" actId="27636"/>
          <ac:spMkLst>
            <pc:docMk/>
            <pc:sldMk cId="0" sldId="268"/>
            <ac:spMk id="3" creationId="{00000000-0000-0000-0000-000000000000}"/>
          </ac:spMkLst>
        </pc:spChg>
        <pc:spChg chg="mod">
          <ac:chgData name="Moustapha Diouf" userId="a72b42ab654a8fcc" providerId="LiveId" clId="{22F667E4-E243-4F5A-84DD-87011A6E11D5}" dt="2026-05-13T11:17:29.915" v="128" actId="790"/>
          <ac:spMkLst>
            <pc:docMk/>
            <pc:sldMk cId="0" sldId="268"/>
            <ac:spMk id="4" creationId="{00000000-0000-0000-0000-000000000000}"/>
          </ac:spMkLst>
        </pc:spChg>
        <pc:spChg chg="mod">
          <ac:chgData name="Moustapha Diouf" userId="a72b42ab654a8fcc" providerId="LiveId" clId="{22F667E4-E243-4F5A-84DD-87011A6E11D5}" dt="2026-05-13T11:17:29.915" v="128" actId="790"/>
          <ac:spMkLst>
            <pc:docMk/>
            <pc:sldMk cId="0" sldId="268"/>
            <ac:spMk id="6" creationId="{00000000-0000-0000-0000-000000000000}"/>
          </ac:spMkLst>
        </pc:spChg>
        <pc:spChg chg="mod">
          <ac:chgData name="Moustapha Diouf" userId="a72b42ab654a8fcc" providerId="LiveId" clId="{22F667E4-E243-4F5A-84DD-87011A6E11D5}" dt="2026-05-13T11:17:29.915" v="128" actId="790"/>
          <ac:spMkLst>
            <pc:docMk/>
            <pc:sldMk cId="0" sldId="268"/>
            <ac:spMk id="7" creationId="{00000000-0000-0000-0000-000000000000}"/>
          </ac:spMkLst>
        </pc:spChg>
        <pc:spChg chg="mod">
          <ac:chgData name="Moustapha Diouf" userId="a72b42ab654a8fcc" providerId="LiveId" clId="{22F667E4-E243-4F5A-84DD-87011A6E11D5}" dt="2026-05-13T11:17:29.915" v="128" actId="790"/>
          <ac:spMkLst>
            <pc:docMk/>
            <pc:sldMk cId="0" sldId="268"/>
            <ac:spMk id="8" creationId="{00000000-0000-0000-0000-000000000000}"/>
          </ac:spMkLst>
        </pc:spChg>
        <pc:spChg chg="mod">
          <ac:chgData name="Moustapha Diouf" userId="a72b42ab654a8fcc" providerId="LiveId" clId="{22F667E4-E243-4F5A-84DD-87011A6E11D5}" dt="2026-05-13T11:17:29.915" v="128" actId="790"/>
          <ac:spMkLst>
            <pc:docMk/>
            <pc:sldMk cId="0" sldId="268"/>
            <ac:spMk id="9" creationId="{00000000-0000-0000-0000-000000000000}"/>
          </ac:spMkLst>
        </pc:spChg>
        <pc:spChg chg="add mod">
          <ac:chgData name="Moustapha Diouf" userId="a72b42ab654a8fcc" providerId="LiveId" clId="{22F667E4-E243-4F5A-84DD-87011A6E11D5}" dt="2026-05-20T11:23:47.419" v="2447" actId="6549"/>
          <ac:spMkLst>
            <pc:docMk/>
            <pc:sldMk cId="0" sldId="268"/>
            <ac:spMk id="10" creationId="{BBC29BAD-E29B-6EA8-914A-589FC4F0198B}"/>
          </ac:spMkLst>
        </pc:spChg>
        <pc:spChg chg="mod">
          <ac:chgData name="Moustapha Diouf" userId="a72b42ab654a8fcc" providerId="LiveId" clId="{22F667E4-E243-4F5A-84DD-87011A6E11D5}" dt="2026-05-13T12:16:35.602" v="1342" actId="1076"/>
          <ac:spMkLst>
            <pc:docMk/>
            <pc:sldMk cId="0" sldId="268"/>
            <ac:spMk id="11" creationId="{00000000-0000-0000-0000-000000000000}"/>
          </ac:spMkLst>
        </pc:spChg>
        <pc:spChg chg="mod">
          <ac:chgData name="Moustapha Diouf" userId="a72b42ab654a8fcc" providerId="LiveId" clId="{22F667E4-E243-4F5A-84DD-87011A6E11D5}" dt="2026-05-13T12:16:41.406" v="1344" actId="1076"/>
          <ac:spMkLst>
            <pc:docMk/>
            <pc:sldMk cId="0" sldId="268"/>
            <ac:spMk id="12" creationId="{00000000-0000-0000-0000-000000000000}"/>
          </ac:spMkLst>
        </pc:spChg>
        <pc:graphicFrameChg chg="mod modGraphic">
          <ac:chgData name="Moustapha Diouf" userId="a72b42ab654a8fcc" providerId="LiveId" clId="{22F667E4-E243-4F5A-84DD-87011A6E11D5}" dt="2026-05-13T12:14:37.727" v="1317"/>
          <ac:graphicFrameMkLst>
            <pc:docMk/>
            <pc:sldMk cId="0" sldId="268"/>
            <ac:graphicFrameMk id="14" creationId="{00000000-0000-0000-0000-000000000000}"/>
          </ac:graphicFrameMkLst>
        </pc:graphicFrameChg>
        <pc:picChg chg="del">
          <ac:chgData name="Moustapha Diouf" userId="a72b42ab654a8fcc" providerId="LiveId" clId="{22F667E4-E243-4F5A-84DD-87011A6E11D5}" dt="2026-05-20T12:03:07.309" v="2665" actId="478"/>
          <ac:picMkLst>
            <pc:docMk/>
            <pc:sldMk cId="0" sldId="268"/>
            <ac:picMk id="5" creationId="{00000000-0000-0000-0000-000000000000}"/>
          </ac:picMkLst>
        </pc:picChg>
        <pc:picChg chg="add mod">
          <ac:chgData name="Moustapha Diouf" userId="a72b42ab654a8fcc" providerId="LiveId" clId="{22F667E4-E243-4F5A-84DD-87011A6E11D5}" dt="2026-05-20T12:03:07.530" v="2666"/>
          <ac:picMkLst>
            <pc:docMk/>
            <pc:sldMk cId="0" sldId="268"/>
            <ac:picMk id="13" creationId="{FE179F9D-3B46-4CE4-506B-571AB7AE08C6}"/>
          </ac:picMkLst>
        </pc:picChg>
      </pc:sldChg>
      <pc:sldChg chg="addSp delSp modSp mod modNotes modNotesTx">
        <pc:chgData name="Moustapha Diouf" userId="a72b42ab654a8fcc" providerId="LiveId" clId="{22F667E4-E243-4F5A-84DD-87011A6E11D5}" dt="2026-05-20T12:15:27.586" v="2713" actId="6549"/>
        <pc:sldMkLst>
          <pc:docMk/>
          <pc:sldMk cId="0" sldId="269"/>
        </pc:sldMkLst>
        <pc:spChg chg="mod">
          <ac:chgData name="Moustapha Diouf" userId="a72b42ab654a8fcc" providerId="LiveId" clId="{22F667E4-E243-4F5A-84DD-87011A6E11D5}" dt="2026-05-13T11:17:29.915" v="128" actId="790"/>
          <ac:spMkLst>
            <pc:docMk/>
            <pc:sldMk cId="0" sldId="269"/>
            <ac:spMk id="2" creationId="{00000000-0000-0000-0000-000000000000}"/>
          </ac:spMkLst>
        </pc:spChg>
        <pc:spChg chg="mod">
          <ac:chgData name="Moustapha Diouf" userId="a72b42ab654a8fcc" providerId="LiveId" clId="{22F667E4-E243-4F5A-84DD-87011A6E11D5}" dt="2026-05-13T11:17:29.979" v="134" actId="27636"/>
          <ac:spMkLst>
            <pc:docMk/>
            <pc:sldMk cId="0" sldId="269"/>
            <ac:spMk id="3" creationId="{00000000-0000-0000-0000-000000000000}"/>
          </ac:spMkLst>
        </pc:spChg>
        <pc:spChg chg="mod">
          <ac:chgData name="Moustapha Diouf" userId="a72b42ab654a8fcc" providerId="LiveId" clId="{22F667E4-E243-4F5A-84DD-87011A6E11D5}" dt="2026-05-20T12:09:59.583" v="2684" actId="207"/>
          <ac:spMkLst>
            <pc:docMk/>
            <pc:sldMk cId="0" sldId="269"/>
            <ac:spMk id="4" creationId="{00000000-0000-0000-0000-000000000000}"/>
          </ac:spMkLst>
        </pc:spChg>
        <pc:spChg chg="mod">
          <ac:chgData name="Moustapha Diouf" userId="a72b42ab654a8fcc" providerId="LiveId" clId="{22F667E4-E243-4F5A-84DD-87011A6E11D5}" dt="2026-05-13T11:17:29.915" v="128" actId="790"/>
          <ac:spMkLst>
            <pc:docMk/>
            <pc:sldMk cId="0" sldId="269"/>
            <ac:spMk id="6" creationId="{00000000-0000-0000-0000-000000000000}"/>
          </ac:spMkLst>
        </pc:spChg>
        <pc:spChg chg="mod">
          <ac:chgData name="Moustapha Diouf" userId="a72b42ab654a8fcc" providerId="LiveId" clId="{22F667E4-E243-4F5A-84DD-87011A6E11D5}" dt="2026-05-13T11:17:29.915" v="128" actId="790"/>
          <ac:spMkLst>
            <pc:docMk/>
            <pc:sldMk cId="0" sldId="269"/>
            <ac:spMk id="7" creationId="{00000000-0000-0000-0000-000000000000}"/>
          </ac:spMkLst>
        </pc:spChg>
        <pc:spChg chg="mod">
          <ac:chgData name="Moustapha Diouf" userId="a72b42ab654a8fcc" providerId="LiveId" clId="{22F667E4-E243-4F5A-84DD-87011A6E11D5}" dt="2026-05-13T11:17:29.915" v="128" actId="790"/>
          <ac:spMkLst>
            <pc:docMk/>
            <pc:sldMk cId="0" sldId="269"/>
            <ac:spMk id="8" creationId="{00000000-0000-0000-0000-000000000000}"/>
          </ac:spMkLst>
        </pc:spChg>
        <pc:spChg chg="mod">
          <ac:chgData name="Moustapha Diouf" userId="a72b42ab654a8fcc" providerId="LiveId" clId="{22F667E4-E243-4F5A-84DD-87011A6E11D5}" dt="2026-05-13T11:17:29.915" v="128" actId="790"/>
          <ac:spMkLst>
            <pc:docMk/>
            <pc:sldMk cId="0" sldId="269"/>
            <ac:spMk id="9" creationId="{00000000-0000-0000-0000-000000000000}"/>
          </ac:spMkLst>
        </pc:spChg>
        <pc:spChg chg="add mod">
          <ac:chgData name="Moustapha Diouf" userId="a72b42ab654a8fcc" providerId="LiveId" clId="{22F667E4-E243-4F5A-84DD-87011A6E11D5}" dt="2026-05-20T11:23:57.718" v="2450" actId="20577"/>
          <ac:spMkLst>
            <pc:docMk/>
            <pc:sldMk cId="0" sldId="269"/>
            <ac:spMk id="10" creationId="{7387B6E9-33C7-68D0-097F-C5D9B1A514DD}"/>
          </ac:spMkLst>
        </pc:spChg>
        <pc:spChg chg="mod">
          <ac:chgData name="Moustapha Diouf" userId="a72b42ab654a8fcc" providerId="LiveId" clId="{22F667E4-E243-4F5A-84DD-87011A6E11D5}" dt="2026-05-13T11:17:29.915" v="128" actId="790"/>
          <ac:spMkLst>
            <pc:docMk/>
            <pc:sldMk cId="0" sldId="269"/>
            <ac:spMk id="11" creationId="{00000000-0000-0000-0000-000000000000}"/>
          </ac:spMkLst>
        </pc:spChg>
        <pc:spChg chg="mod">
          <ac:chgData name="Moustapha Diouf" userId="a72b42ab654a8fcc" providerId="LiveId" clId="{22F667E4-E243-4F5A-84DD-87011A6E11D5}" dt="2026-05-13T11:17:29.915" v="128" actId="790"/>
          <ac:spMkLst>
            <pc:docMk/>
            <pc:sldMk cId="0" sldId="269"/>
            <ac:spMk id="12" creationId="{00000000-0000-0000-0000-000000000000}"/>
          </ac:spMkLst>
        </pc:spChg>
        <pc:graphicFrameChg chg="modGraphic">
          <ac:chgData name="Moustapha Diouf" userId="a72b42ab654a8fcc" providerId="LiveId" clId="{22F667E4-E243-4F5A-84DD-87011A6E11D5}" dt="2026-05-13T12:14:55.607" v="1325" actId="207"/>
          <ac:graphicFrameMkLst>
            <pc:docMk/>
            <pc:sldMk cId="0" sldId="269"/>
            <ac:graphicFrameMk id="15" creationId="{00000000-0000-0000-0000-000000000000}"/>
          </ac:graphicFrameMkLst>
        </pc:graphicFrameChg>
        <pc:picChg chg="del">
          <ac:chgData name="Moustapha Diouf" userId="a72b42ab654a8fcc" providerId="LiveId" clId="{22F667E4-E243-4F5A-84DD-87011A6E11D5}" dt="2026-05-20T12:03:11.145" v="2667" actId="478"/>
          <ac:picMkLst>
            <pc:docMk/>
            <pc:sldMk cId="0" sldId="269"/>
            <ac:picMk id="5" creationId="{00000000-0000-0000-0000-000000000000}"/>
          </ac:picMkLst>
        </pc:picChg>
        <pc:picChg chg="add mod">
          <ac:chgData name="Moustapha Diouf" userId="a72b42ab654a8fcc" providerId="LiveId" clId="{22F667E4-E243-4F5A-84DD-87011A6E11D5}" dt="2026-05-20T12:03:11.431" v="2668"/>
          <ac:picMkLst>
            <pc:docMk/>
            <pc:sldMk cId="0" sldId="269"/>
            <ac:picMk id="13" creationId="{06B0B720-8475-D8B9-20AF-6D32BE91ED17}"/>
          </ac:picMkLst>
        </pc:picChg>
      </pc:sldChg>
      <pc:sldChg chg="addSp delSp modSp mod modNotes modNotesTx">
        <pc:chgData name="Moustapha Diouf" userId="a72b42ab654a8fcc" providerId="LiveId" clId="{22F667E4-E243-4F5A-84DD-87011A6E11D5}" dt="2026-05-20T12:15:30.821" v="2714" actId="6549"/>
        <pc:sldMkLst>
          <pc:docMk/>
          <pc:sldMk cId="0" sldId="270"/>
        </pc:sldMkLst>
        <pc:spChg chg="mod">
          <ac:chgData name="Moustapha Diouf" userId="a72b42ab654a8fcc" providerId="LiveId" clId="{22F667E4-E243-4F5A-84DD-87011A6E11D5}" dt="2026-05-13T11:17:29.915" v="128" actId="790"/>
          <ac:spMkLst>
            <pc:docMk/>
            <pc:sldMk cId="0" sldId="270"/>
            <ac:spMk id="2" creationId="{00000000-0000-0000-0000-000000000000}"/>
          </ac:spMkLst>
        </pc:spChg>
        <pc:spChg chg="mod">
          <ac:chgData name="Moustapha Diouf" userId="a72b42ab654a8fcc" providerId="LiveId" clId="{22F667E4-E243-4F5A-84DD-87011A6E11D5}" dt="2026-05-13T11:17:29.995" v="136" actId="27636"/>
          <ac:spMkLst>
            <pc:docMk/>
            <pc:sldMk cId="0" sldId="270"/>
            <ac:spMk id="3" creationId="{00000000-0000-0000-0000-000000000000}"/>
          </ac:spMkLst>
        </pc:spChg>
        <pc:spChg chg="mod">
          <ac:chgData name="Moustapha Diouf" userId="a72b42ab654a8fcc" providerId="LiveId" clId="{22F667E4-E243-4F5A-84DD-87011A6E11D5}" dt="2026-05-13T11:17:29.915" v="128" actId="790"/>
          <ac:spMkLst>
            <pc:docMk/>
            <pc:sldMk cId="0" sldId="270"/>
            <ac:spMk id="4" creationId="{00000000-0000-0000-0000-000000000000}"/>
          </ac:spMkLst>
        </pc:spChg>
        <pc:spChg chg="mod">
          <ac:chgData name="Moustapha Diouf" userId="a72b42ab654a8fcc" providerId="LiveId" clId="{22F667E4-E243-4F5A-84DD-87011A6E11D5}" dt="2026-05-13T11:17:29.915" v="128" actId="790"/>
          <ac:spMkLst>
            <pc:docMk/>
            <pc:sldMk cId="0" sldId="270"/>
            <ac:spMk id="6" creationId="{00000000-0000-0000-0000-000000000000}"/>
          </ac:spMkLst>
        </pc:spChg>
        <pc:spChg chg="mod">
          <ac:chgData name="Moustapha Diouf" userId="a72b42ab654a8fcc" providerId="LiveId" clId="{22F667E4-E243-4F5A-84DD-87011A6E11D5}" dt="2026-05-13T11:17:29.915" v="128" actId="790"/>
          <ac:spMkLst>
            <pc:docMk/>
            <pc:sldMk cId="0" sldId="270"/>
            <ac:spMk id="7" creationId="{00000000-0000-0000-0000-000000000000}"/>
          </ac:spMkLst>
        </pc:spChg>
        <pc:spChg chg="mod">
          <ac:chgData name="Moustapha Diouf" userId="a72b42ab654a8fcc" providerId="LiveId" clId="{22F667E4-E243-4F5A-84DD-87011A6E11D5}" dt="2026-05-13T11:17:29.915" v="128" actId="790"/>
          <ac:spMkLst>
            <pc:docMk/>
            <pc:sldMk cId="0" sldId="270"/>
            <ac:spMk id="8" creationId="{00000000-0000-0000-0000-000000000000}"/>
          </ac:spMkLst>
        </pc:spChg>
        <pc:spChg chg="mod">
          <ac:chgData name="Moustapha Diouf" userId="a72b42ab654a8fcc" providerId="LiveId" clId="{22F667E4-E243-4F5A-84DD-87011A6E11D5}" dt="2026-05-13T11:17:29.915" v="128" actId="790"/>
          <ac:spMkLst>
            <pc:docMk/>
            <pc:sldMk cId="0" sldId="270"/>
            <ac:spMk id="9" creationId="{00000000-0000-0000-0000-000000000000}"/>
          </ac:spMkLst>
        </pc:spChg>
        <pc:spChg chg="mod">
          <ac:chgData name="Moustapha Diouf" userId="a72b42ab654a8fcc" providerId="LiveId" clId="{22F667E4-E243-4F5A-84DD-87011A6E11D5}" dt="2026-05-13T11:17:29.915" v="128" actId="790"/>
          <ac:spMkLst>
            <pc:docMk/>
            <pc:sldMk cId="0" sldId="270"/>
            <ac:spMk id="11" creationId="{00000000-0000-0000-0000-000000000000}"/>
          </ac:spMkLst>
        </pc:spChg>
        <pc:spChg chg="mod">
          <ac:chgData name="Moustapha Diouf" userId="a72b42ab654a8fcc" providerId="LiveId" clId="{22F667E4-E243-4F5A-84DD-87011A6E11D5}" dt="2026-05-13T12:20:53.340" v="1416" actId="20577"/>
          <ac:spMkLst>
            <pc:docMk/>
            <pc:sldMk cId="0" sldId="270"/>
            <ac:spMk id="12" creationId="{00000000-0000-0000-0000-000000000000}"/>
          </ac:spMkLst>
        </pc:spChg>
        <pc:graphicFrameChg chg="mod modGraphic">
          <ac:chgData name="Moustapha Diouf" userId="a72b42ab654a8fcc" providerId="LiveId" clId="{22F667E4-E243-4F5A-84DD-87011A6E11D5}" dt="2026-05-20T11:24:46.173" v="2451" actId="242"/>
          <ac:graphicFrameMkLst>
            <pc:docMk/>
            <pc:sldMk cId="0" sldId="270"/>
            <ac:graphicFrameMk id="16" creationId="{00000000-0000-0000-0000-000000000000}"/>
          </ac:graphicFrameMkLst>
        </pc:graphicFrameChg>
        <pc:picChg chg="del">
          <ac:chgData name="Moustapha Diouf" userId="a72b42ab654a8fcc" providerId="LiveId" clId="{22F667E4-E243-4F5A-84DD-87011A6E11D5}" dt="2026-05-20T12:03:14.450" v="2669" actId="478"/>
          <ac:picMkLst>
            <pc:docMk/>
            <pc:sldMk cId="0" sldId="270"/>
            <ac:picMk id="5" creationId="{00000000-0000-0000-0000-000000000000}"/>
          </ac:picMkLst>
        </pc:picChg>
        <pc:picChg chg="add mod">
          <ac:chgData name="Moustapha Diouf" userId="a72b42ab654a8fcc" providerId="LiveId" clId="{22F667E4-E243-4F5A-84DD-87011A6E11D5}" dt="2026-05-20T12:03:14.669" v="2670"/>
          <ac:picMkLst>
            <pc:docMk/>
            <pc:sldMk cId="0" sldId="270"/>
            <ac:picMk id="10" creationId="{BACA9F80-BE46-D627-63C9-4C3D0CAE27EF}"/>
          </ac:picMkLst>
        </pc:picChg>
      </pc:sldChg>
      <pc:sldChg chg="addSp delSp modSp mod modNotes modNotesTx">
        <pc:chgData name="Moustapha Diouf" userId="a72b42ab654a8fcc" providerId="LiveId" clId="{22F667E4-E243-4F5A-84DD-87011A6E11D5}" dt="2026-05-20T12:15:43.874" v="2718" actId="20577"/>
        <pc:sldMkLst>
          <pc:docMk/>
          <pc:sldMk cId="0" sldId="271"/>
        </pc:sldMkLst>
        <pc:spChg chg="mod">
          <ac:chgData name="Moustapha Diouf" userId="a72b42ab654a8fcc" providerId="LiveId" clId="{22F667E4-E243-4F5A-84DD-87011A6E11D5}" dt="2026-05-13T11:17:29.915" v="128" actId="790"/>
          <ac:spMkLst>
            <pc:docMk/>
            <pc:sldMk cId="0" sldId="271"/>
            <ac:spMk id="2" creationId="{00000000-0000-0000-0000-000000000000}"/>
          </ac:spMkLst>
        </pc:spChg>
        <pc:spChg chg="mod">
          <ac:chgData name="Moustapha Diouf" userId="a72b42ab654a8fcc" providerId="LiveId" clId="{22F667E4-E243-4F5A-84DD-87011A6E11D5}" dt="2026-05-13T11:17:29.995" v="137" actId="27636"/>
          <ac:spMkLst>
            <pc:docMk/>
            <pc:sldMk cId="0" sldId="271"/>
            <ac:spMk id="3" creationId="{00000000-0000-0000-0000-000000000000}"/>
          </ac:spMkLst>
        </pc:spChg>
        <pc:spChg chg="mod">
          <ac:chgData name="Moustapha Diouf" userId="a72b42ab654a8fcc" providerId="LiveId" clId="{22F667E4-E243-4F5A-84DD-87011A6E11D5}" dt="2026-05-13T11:17:29.915" v="128" actId="790"/>
          <ac:spMkLst>
            <pc:docMk/>
            <pc:sldMk cId="0" sldId="271"/>
            <ac:spMk id="4" creationId="{00000000-0000-0000-0000-000000000000}"/>
          </ac:spMkLst>
        </pc:spChg>
        <pc:spChg chg="mod">
          <ac:chgData name="Moustapha Diouf" userId="a72b42ab654a8fcc" providerId="LiveId" clId="{22F667E4-E243-4F5A-84DD-87011A6E11D5}" dt="2026-05-13T11:17:29.915" v="128" actId="790"/>
          <ac:spMkLst>
            <pc:docMk/>
            <pc:sldMk cId="0" sldId="271"/>
            <ac:spMk id="6" creationId="{00000000-0000-0000-0000-000000000000}"/>
          </ac:spMkLst>
        </pc:spChg>
        <pc:spChg chg="mod">
          <ac:chgData name="Moustapha Diouf" userId="a72b42ab654a8fcc" providerId="LiveId" clId="{22F667E4-E243-4F5A-84DD-87011A6E11D5}" dt="2026-05-13T11:17:29.915" v="128" actId="790"/>
          <ac:spMkLst>
            <pc:docMk/>
            <pc:sldMk cId="0" sldId="271"/>
            <ac:spMk id="9" creationId="{00000000-0000-0000-0000-000000000000}"/>
          </ac:spMkLst>
        </pc:spChg>
        <pc:spChg chg="mod">
          <ac:chgData name="Moustapha Diouf" userId="a72b42ab654a8fcc" providerId="LiveId" clId="{22F667E4-E243-4F5A-84DD-87011A6E11D5}" dt="2026-05-13T11:17:29.915" v="128" actId="790"/>
          <ac:spMkLst>
            <pc:docMk/>
            <pc:sldMk cId="0" sldId="271"/>
            <ac:spMk id="10" creationId="{00000000-0000-0000-0000-000000000000}"/>
          </ac:spMkLst>
        </pc:spChg>
        <pc:spChg chg="mod">
          <ac:chgData name="Moustapha Diouf" userId="a72b42ab654a8fcc" providerId="LiveId" clId="{22F667E4-E243-4F5A-84DD-87011A6E11D5}" dt="2026-05-20T11:26:48.751" v="2509" actId="27636"/>
          <ac:spMkLst>
            <pc:docMk/>
            <pc:sldMk cId="0" sldId="271"/>
            <ac:spMk id="12" creationId="{00000000-0000-0000-0000-000000000000}"/>
          </ac:spMkLst>
        </pc:spChg>
        <pc:spChg chg="mod">
          <ac:chgData name="Moustapha Diouf" userId="a72b42ab654a8fcc" providerId="LiveId" clId="{22F667E4-E243-4F5A-84DD-87011A6E11D5}" dt="2026-05-13T12:25:34.598" v="1606" actId="21"/>
          <ac:spMkLst>
            <pc:docMk/>
            <pc:sldMk cId="0" sldId="271"/>
            <ac:spMk id="18" creationId="{00000000-0000-0000-0000-000000000000}"/>
          </ac:spMkLst>
        </pc:spChg>
        <pc:spChg chg="mod">
          <ac:chgData name="Moustapha Diouf" userId="a72b42ab654a8fcc" providerId="LiveId" clId="{22F667E4-E243-4F5A-84DD-87011A6E11D5}" dt="2026-05-13T12:24:43.593" v="1594" actId="14100"/>
          <ac:spMkLst>
            <pc:docMk/>
            <pc:sldMk cId="0" sldId="271"/>
            <ac:spMk id="19" creationId="{00000000-0000-0000-0000-000000000000}"/>
          </ac:spMkLst>
        </pc:spChg>
        <pc:spChg chg="mod">
          <ac:chgData name="Moustapha Diouf" userId="a72b42ab654a8fcc" providerId="LiveId" clId="{22F667E4-E243-4F5A-84DD-87011A6E11D5}" dt="2026-05-13T12:24:46.976" v="1595" actId="1076"/>
          <ac:spMkLst>
            <pc:docMk/>
            <pc:sldMk cId="0" sldId="271"/>
            <ac:spMk id="20" creationId="{00000000-0000-0000-0000-000000000000}"/>
          </ac:spMkLst>
        </pc:spChg>
        <pc:picChg chg="del">
          <ac:chgData name="Moustapha Diouf" userId="a72b42ab654a8fcc" providerId="LiveId" clId="{22F667E4-E243-4F5A-84DD-87011A6E11D5}" dt="2026-05-20T12:03:28.984" v="2675" actId="478"/>
          <ac:picMkLst>
            <pc:docMk/>
            <pc:sldMk cId="0" sldId="271"/>
            <ac:picMk id="5" creationId="{00000000-0000-0000-0000-000000000000}"/>
          </ac:picMkLst>
        </pc:picChg>
        <pc:picChg chg="add mod">
          <ac:chgData name="Moustapha Diouf" userId="a72b42ab654a8fcc" providerId="LiveId" clId="{22F667E4-E243-4F5A-84DD-87011A6E11D5}" dt="2026-05-20T12:03:29.271" v="2676"/>
          <ac:picMkLst>
            <pc:docMk/>
            <pc:sldMk cId="0" sldId="271"/>
            <ac:picMk id="11" creationId="{AA970B26-AC84-A6AC-132A-AD1A2F0AB54C}"/>
          </ac:picMkLst>
        </pc:picChg>
      </pc:sldChg>
      <pc:sldChg chg="addSp delSp modSp mod modNotes modNotesTx">
        <pc:chgData name="Moustapha Diouf" userId="a72b42ab654a8fcc" providerId="LiveId" clId="{22F667E4-E243-4F5A-84DD-87011A6E11D5}" dt="2026-05-20T12:16:26.866" v="2729" actId="20577"/>
        <pc:sldMkLst>
          <pc:docMk/>
          <pc:sldMk cId="0" sldId="272"/>
        </pc:sldMkLst>
        <pc:spChg chg="mod">
          <ac:chgData name="Moustapha Diouf" userId="a72b42ab654a8fcc" providerId="LiveId" clId="{22F667E4-E243-4F5A-84DD-87011A6E11D5}" dt="2026-05-13T11:17:30.011" v="140" actId="27636"/>
          <ac:spMkLst>
            <pc:docMk/>
            <pc:sldMk cId="0" sldId="272"/>
            <ac:spMk id="3" creationId="{00000000-0000-0000-0000-000000000000}"/>
          </ac:spMkLst>
        </pc:spChg>
        <pc:spChg chg="mod">
          <ac:chgData name="Moustapha Diouf" userId="a72b42ab654a8fcc" providerId="LiveId" clId="{22F667E4-E243-4F5A-84DD-87011A6E11D5}" dt="2026-05-13T11:17:29.915" v="128" actId="790"/>
          <ac:spMkLst>
            <pc:docMk/>
            <pc:sldMk cId="0" sldId="272"/>
            <ac:spMk id="9" creationId="{00000000-0000-0000-0000-000000000000}"/>
          </ac:spMkLst>
        </pc:spChg>
        <pc:spChg chg="mod">
          <ac:chgData name="Moustapha Diouf" userId="a72b42ab654a8fcc" providerId="LiveId" clId="{22F667E4-E243-4F5A-84DD-87011A6E11D5}" dt="2026-05-13T11:17:29.915" v="128" actId="790"/>
          <ac:spMkLst>
            <pc:docMk/>
            <pc:sldMk cId="0" sldId="272"/>
            <ac:spMk id="10" creationId="{00000000-0000-0000-0000-000000000000}"/>
          </ac:spMkLst>
        </pc:spChg>
        <pc:spChg chg="mod">
          <ac:chgData name="Moustapha Diouf" userId="a72b42ab654a8fcc" providerId="LiveId" clId="{22F667E4-E243-4F5A-84DD-87011A6E11D5}" dt="2026-05-13T11:17:29.915" v="128" actId="790"/>
          <ac:spMkLst>
            <pc:docMk/>
            <pc:sldMk cId="0" sldId="272"/>
            <ac:spMk id="11" creationId="{00000000-0000-0000-0000-000000000000}"/>
          </ac:spMkLst>
        </pc:spChg>
        <pc:spChg chg="mod">
          <ac:chgData name="Moustapha Diouf" userId="a72b42ab654a8fcc" providerId="LiveId" clId="{22F667E4-E243-4F5A-84DD-87011A6E11D5}" dt="2026-05-13T11:17:30.011" v="141" actId="27636"/>
          <ac:spMkLst>
            <pc:docMk/>
            <pc:sldMk cId="0" sldId="272"/>
            <ac:spMk id="12" creationId="{00000000-0000-0000-0000-000000000000}"/>
          </ac:spMkLst>
        </pc:spChg>
        <pc:spChg chg="mod">
          <ac:chgData name="Moustapha Diouf" userId="a72b42ab654a8fcc" providerId="LiveId" clId="{22F667E4-E243-4F5A-84DD-87011A6E11D5}" dt="2026-05-13T11:17:29.995" v="139" actId="27636"/>
          <ac:spMkLst>
            <pc:docMk/>
            <pc:sldMk cId="0" sldId="272"/>
            <ac:spMk id="23" creationId="{00000000-0000-0000-0000-000000000000}"/>
          </ac:spMkLst>
        </pc:spChg>
        <pc:spChg chg="mod">
          <ac:chgData name="Moustapha Diouf" userId="a72b42ab654a8fcc" providerId="LiveId" clId="{22F667E4-E243-4F5A-84DD-87011A6E11D5}" dt="2026-05-13T11:17:29.915" v="128" actId="790"/>
          <ac:spMkLst>
            <pc:docMk/>
            <pc:sldMk cId="0" sldId="272"/>
            <ac:spMk id="25" creationId="{00000000-0000-0000-0000-000000000000}"/>
          </ac:spMkLst>
        </pc:spChg>
        <pc:spChg chg="mod">
          <ac:chgData name="Moustapha Diouf" userId="a72b42ab654a8fcc" providerId="LiveId" clId="{22F667E4-E243-4F5A-84DD-87011A6E11D5}" dt="2026-05-13T11:17:29.915" v="128" actId="790"/>
          <ac:spMkLst>
            <pc:docMk/>
            <pc:sldMk cId="0" sldId="272"/>
            <ac:spMk id="26" creationId="{00000000-0000-0000-0000-000000000000}"/>
          </ac:spMkLst>
        </pc:spChg>
        <pc:spChg chg="mod">
          <ac:chgData name="Moustapha Diouf" userId="a72b42ab654a8fcc" providerId="LiveId" clId="{22F667E4-E243-4F5A-84DD-87011A6E11D5}" dt="2026-05-13T11:17:29.915" v="128" actId="790"/>
          <ac:spMkLst>
            <pc:docMk/>
            <pc:sldMk cId="0" sldId="272"/>
            <ac:spMk id="32" creationId="{00000000-0000-0000-0000-000000000000}"/>
          </ac:spMkLst>
        </pc:spChg>
        <pc:spChg chg="mod">
          <ac:chgData name="Moustapha Diouf" userId="a72b42ab654a8fcc" providerId="LiveId" clId="{22F667E4-E243-4F5A-84DD-87011A6E11D5}" dt="2026-05-13T11:17:30.011" v="142" actId="27636"/>
          <ac:spMkLst>
            <pc:docMk/>
            <pc:sldMk cId="0" sldId="272"/>
            <ac:spMk id="34" creationId="{00000000-0000-0000-0000-000000000000}"/>
          </ac:spMkLst>
        </pc:spChg>
        <pc:spChg chg="mod">
          <ac:chgData name="Moustapha Diouf" userId="a72b42ab654a8fcc" providerId="LiveId" clId="{22F667E4-E243-4F5A-84DD-87011A6E11D5}" dt="2026-05-13T11:17:29.915" v="128" actId="790"/>
          <ac:spMkLst>
            <pc:docMk/>
            <pc:sldMk cId="0" sldId="272"/>
            <ac:spMk id="38" creationId="{00000000-0000-0000-0000-000000000000}"/>
          </ac:spMkLst>
        </pc:spChg>
        <pc:spChg chg="mod">
          <ac:chgData name="Moustapha Diouf" userId="a72b42ab654a8fcc" providerId="LiveId" clId="{22F667E4-E243-4F5A-84DD-87011A6E11D5}" dt="2026-05-13T11:17:29.915" v="128" actId="790"/>
          <ac:spMkLst>
            <pc:docMk/>
            <pc:sldMk cId="0" sldId="272"/>
            <ac:spMk id="40" creationId="{00000000-0000-0000-0000-000000000000}"/>
          </ac:spMkLst>
        </pc:spChg>
        <pc:spChg chg="mod">
          <ac:chgData name="Moustapha Diouf" userId="a72b42ab654a8fcc" providerId="LiveId" clId="{22F667E4-E243-4F5A-84DD-87011A6E11D5}" dt="2026-05-13T11:17:29.995" v="138" actId="27636"/>
          <ac:spMkLst>
            <pc:docMk/>
            <pc:sldMk cId="0" sldId="272"/>
            <ac:spMk id="44" creationId="{00000000-0000-0000-0000-000000000000}"/>
          </ac:spMkLst>
        </pc:spChg>
        <pc:picChg chg="del">
          <ac:chgData name="Moustapha Diouf" userId="a72b42ab654a8fcc" providerId="LiveId" clId="{22F667E4-E243-4F5A-84DD-87011A6E11D5}" dt="2026-05-20T12:03:32.455" v="2677" actId="478"/>
          <ac:picMkLst>
            <pc:docMk/>
            <pc:sldMk cId="0" sldId="272"/>
            <ac:picMk id="5" creationId="{00000000-0000-0000-0000-000000000000}"/>
          </ac:picMkLst>
        </pc:picChg>
        <pc:picChg chg="add del mod">
          <ac:chgData name="Moustapha Diouf" userId="a72b42ab654a8fcc" providerId="LiveId" clId="{22F667E4-E243-4F5A-84DD-87011A6E11D5}" dt="2026-05-20T12:03:35.607" v="2679" actId="478"/>
          <ac:picMkLst>
            <pc:docMk/>
            <pc:sldMk cId="0" sldId="272"/>
            <ac:picMk id="45" creationId="{F048992F-956A-1411-E6DD-6B49AA42FE93}"/>
          </ac:picMkLst>
        </pc:picChg>
        <pc:picChg chg="add mod">
          <ac:chgData name="Moustapha Diouf" userId="a72b42ab654a8fcc" providerId="LiveId" clId="{22F667E4-E243-4F5A-84DD-87011A6E11D5}" dt="2026-05-20T12:03:35.908" v="2680"/>
          <ac:picMkLst>
            <pc:docMk/>
            <pc:sldMk cId="0" sldId="272"/>
            <ac:picMk id="46" creationId="{CA341686-40AE-45AB-F98E-6F78FF43B48E}"/>
          </ac:picMkLst>
        </pc:picChg>
      </pc:sldChg>
      <pc:sldChg chg="addSp delSp modSp mod ord modNotes modNotesTx">
        <pc:chgData name="Moustapha Diouf" userId="a72b42ab654a8fcc" providerId="LiveId" clId="{22F667E4-E243-4F5A-84DD-87011A6E11D5}" dt="2026-05-20T12:15:34.616" v="2715" actId="6549"/>
        <pc:sldMkLst>
          <pc:docMk/>
          <pc:sldMk cId="0" sldId="273"/>
        </pc:sldMkLst>
        <pc:spChg chg="mod">
          <ac:chgData name="Moustapha Diouf" userId="a72b42ab654a8fcc" providerId="LiveId" clId="{22F667E4-E243-4F5A-84DD-87011A6E11D5}" dt="2026-05-13T11:17:30.015" v="143" actId="27636"/>
          <ac:spMkLst>
            <pc:docMk/>
            <pc:sldMk cId="0" sldId="273"/>
            <ac:spMk id="3" creationId="{00000000-0000-0000-0000-000000000000}"/>
          </ac:spMkLst>
        </pc:spChg>
        <pc:spChg chg="mod">
          <ac:chgData name="Moustapha Diouf" userId="a72b42ab654a8fcc" providerId="LiveId" clId="{22F667E4-E243-4F5A-84DD-87011A6E11D5}" dt="2026-05-13T11:17:29.915" v="128" actId="790"/>
          <ac:spMkLst>
            <pc:docMk/>
            <pc:sldMk cId="0" sldId="273"/>
            <ac:spMk id="7" creationId="{00000000-0000-0000-0000-000000000000}"/>
          </ac:spMkLst>
        </pc:spChg>
        <pc:spChg chg="mod">
          <ac:chgData name="Moustapha Diouf" userId="a72b42ab654a8fcc" providerId="LiveId" clId="{22F667E4-E243-4F5A-84DD-87011A6E11D5}" dt="2026-05-20T11:25:20.439" v="2456" actId="1076"/>
          <ac:spMkLst>
            <pc:docMk/>
            <pc:sldMk cId="0" sldId="273"/>
            <ac:spMk id="12" creationId="{00000000-0000-0000-0000-000000000000}"/>
          </ac:spMkLst>
        </pc:spChg>
        <pc:spChg chg="mod">
          <ac:chgData name="Moustapha Diouf" userId="a72b42ab654a8fcc" providerId="LiveId" clId="{22F667E4-E243-4F5A-84DD-87011A6E11D5}" dt="2026-05-20T11:25:23.034" v="2457" actId="1076"/>
          <ac:spMkLst>
            <pc:docMk/>
            <pc:sldMk cId="0" sldId="273"/>
            <ac:spMk id="15" creationId="{00000000-0000-0000-0000-000000000000}"/>
          </ac:spMkLst>
        </pc:spChg>
        <pc:spChg chg="mod">
          <ac:chgData name="Moustapha Diouf" userId="a72b42ab654a8fcc" providerId="LiveId" clId="{22F667E4-E243-4F5A-84DD-87011A6E11D5}" dt="2026-05-13T11:17:29.915" v="128" actId="790"/>
          <ac:spMkLst>
            <pc:docMk/>
            <pc:sldMk cId="0" sldId="273"/>
            <ac:spMk id="16" creationId="{00000000-0000-0000-0000-000000000000}"/>
          </ac:spMkLst>
        </pc:spChg>
        <pc:spChg chg="mod">
          <ac:chgData name="Moustapha Diouf" userId="a72b42ab654a8fcc" providerId="LiveId" clId="{22F667E4-E243-4F5A-84DD-87011A6E11D5}" dt="2026-05-13T11:17:29.915" v="128" actId="790"/>
          <ac:spMkLst>
            <pc:docMk/>
            <pc:sldMk cId="0" sldId="273"/>
            <ac:spMk id="17" creationId="{00000000-0000-0000-0000-000000000000}"/>
          </ac:spMkLst>
        </pc:spChg>
        <pc:spChg chg="mod">
          <ac:chgData name="Moustapha Diouf" userId="a72b42ab654a8fcc" providerId="LiveId" clId="{22F667E4-E243-4F5A-84DD-87011A6E11D5}" dt="2026-05-13T11:17:30.015" v="144" actId="27636"/>
          <ac:spMkLst>
            <pc:docMk/>
            <pc:sldMk cId="0" sldId="273"/>
            <ac:spMk id="18" creationId="{00000000-0000-0000-0000-000000000000}"/>
          </ac:spMkLst>
        </pc:spChg>
        <pc:spChg chg="mod">
          <ac:chgData name="Moustapha Diouf" userId="a72b42ab654a8fcc" providerId="LiveId" clId="{22F667E4-E243-4F5A-84DD-87011A6E11D5}" dt="2026-05-13T11:17:29.915" v="128" actId="790"/>
          <ac:spMkLst>
            <pc:docMk/>
            <pc:sldMk cId="0" sldId="273"/>
            <ac:spMk id="20" creationId="{00000000-0000-0000-0000-000000000000}"/>
          </ac:spMkLst>
        </pc:spChg>
        <pc:spChg chg="mod">
          <ac:chgData name="Moustapha Diouf" userId="a72b42ab654a8fcc" providerId="LiveId" clId="{22F667E4-E243-4F5A-84DD-87011A6E11D5}" dt="2026-05-20T11:25:34.342" v="2465" actId="20577"/>
          <ac:spMkLst>
            <pc:docMk/>
            <pc:sldMk cId="0" sldId="273"/>
            <ac:spMk id="21" creationId="{00000000-0000-0000-0000-000000000000}"/>
          </ac:spMkLst>
        </pc:spChg>
        <pc:spChg chg="mod">
          <ac:chgData name="Moustapha Diouf" userId="a72b42ab654a8fcc" providerId="LiveId" clId="{22F667E4-E243-4F5A-84DD-87011A6E11D5}" dt="2026-05-20T11:25:55.039" v="2497" actId="20577"/>
          <ac:spMkLst>
            <pc:docMk/>
            <pc:sldMk cId="0" sldId="273"/>
            <ac:spMk id="24" creationId="{00000000-0000-0000-0000-000000000000}"/>
          </ac:spMkLst>
        </pc:spChg>
        <pc:spChg chg="mod">
          <ac:chgData name="Moustapha Diouf" userId="a72b42ab654a8fcc" providerId="LiveId" clId="{22F667E4-E243-4F5A-84DD-87011A6E11D5}" dt="2026-05-13T11:17:29.915" v="128" actId="790"/>
          <ac:spMkLst>
            <pc:docMk/>
            <pc:sldMk cId="0" sldId="273"/>
            <ac:spMk id="25" creationId="{00000000-0000-0000-0000-000000000000}"/>
          </ac:spMkLst>
        </pc:spChg>
        <pc:spChg chg="mod">
          <ac:chgData name="Moustapha Diouf" userId="a72b42ab654a8fcc" providerId="LiveId" clId="{22F667E4-E243-4F5A-84DD-87011A6E11D5}" dt="2026-05-13T11:17:29.915" v="128" actId="790"/>
          <ac:spMkLst>
            <pc:docMk/>
            <pc:sldMk cId="0" sldId="273"/>
            <ac:spMk id="26" creationId="{00000000-0000-0000-0000-000000000000}"/>
          </ac:spMkLst>
        </pc:spChg>
        <pc:spChg chg="mod">
          <ac:chgData name="Moustapha Diouf" userId="a72b42ab654a8fcc" providerId="LiveId" clId="{22F667E4-E243-4F5A-84DD-87011A6E11D5}" dt="2026-05-20T11:26:03.442" v="2504" actId="20577"/>
          <ac:spMkLst>
            <pc:docMk/>
            <pc:sldMk cId="0" sldId="273"/>
            <ac:spMk id="27" creationId="{00000000-0000-0000-0000-000000000000}"/>
          </ac:spMkLst>
        </pc:spChg>
        <pc:picChg chg="del">
          <ac:chgData name="Moustapha Diouf" userId="a72b42ab654a8fcc" providerId="LiveId" clId="{22F667E4-E243-4F5A-84DD-87011A6E11D5}" dt="2026-05-20T12:03:20.377" v="2671" actId="478"/>
          <ac:picMkLst>
            <pc:docMk/>
            <pc:sldMk cId="0" sldId="273"/>
            <ac:picMk id="5" creationId="{00000000-0000-0000-0000-000000000000}"/>
          </ac:picMkLst>
        </pc:picChg>
        <pc:picChg chg="add mod">
          <ac:chgData name="Moustapha Diouf" userId="a72b42ab654a8fcc" providerId="LiveId" clId="{22F667E4-E243-4F5A-84DD-87011A6E11D5}" dt="2026-05-20T12:03:20.630" v="2672"/>
          <ac:picMkLst>
            <pc:docMk/>
            <pc:sldMk cId="0" sldId="273"/>
            <ac:picMk id="28" creationId="{23DE1C3A-FBDA-BCB4-1115-A43FADBE406E}"/>
          </ac:picMkLst>
        </pc:picChg>
        <pc:picChg chg="add mod">
          <ac:chgData name="Moustapha Diouf" userId="a72b42ab654a8fcc" providerId="LiveId" clId="{22F667E4-E243-4F5A-84DD-87011A6E11D5}" dt="2026-05-20T12:09:27.883" v="2683"/>
          <ac:picMkLst>
            <pc:docMk/>
            <pc:sldMk cId="0" sldId="273"/>
            <ac:picMk id="29" creationId="{AB600DCC-E379-2AA6-6427-9DFB593F1127}"/>
          </ac:picMkLst>
        </pc:picChg>
      </pc:sldChg>
      <pc:sldChg chg="addSp delSp modSp mod ord modNotes modNotesTx">
        <pc:chgData name="Moustapha Diouf" userId="a72b42ab654a8fcc" providerId="LiveId" clId="{22F667E4-E243-4F5A-84DD-87011A6E11D5}" dt="2026-05-20T12:15:37.867" v="2716" actId="6549"/>
        <pc:sldMkLst>
          <pc:docMk/>
          <pc:sldMk cId="0" sldId="274"/>
        </pc:sldMkLst>
        <pc:spChg chg="mod">
          <ac:chgData name="Moustapha Diouf" userId="a72b42ab654a8fcc" providerId="LiveId" clId="{22F667E4-E243-4F5A-84DD-87011A6E11D5}" dt="2026-05-13T11:17:29.915" v="128" actId="790"/>
          <ac:spMkLst>
            <pc:docMk/>
            <pc:sldMk cId="0" sldId="274"/>
            <ac:spMk id="2" creationId="{00000000-0000-0000-0000-000000000000}"/>
          </ac:spMkLst>
        </pc:spChg>
        <pc:spChg chg="mod">
          <ac:chgData name="Moustapha Diouf" userId="a72b42ab654a8fcc" providerId="LiveId" clId="{22F667E4-E243-4F5A-84DD-87011A6E11D5}" dt="2026-05-13T11:17:30.027" v="153" actId="27636"/>
          <ac:spMkLst>
            <pc:docMk/>
            <pc:sldMk cId="0" sldId="274"/>
            <ac:spMk id="3" creationId="{00000000-0000-0000-0000-000000000000}"/>
          </ac:spMkLst>
        </pc:spChg>
        <pc:spChg chg="mod">
          <ac:chgData name="Moustapha Diouf" userId="a72b42ab654a8fcc" providerId="LiveId" clId="{22F667E4-E243-4F5A-84DD-87011A6E11D5}" dt="2026-05-20T11:26:14.630" v="2505" actId="1076"/>
          <ac:spMkLst>
            <pc:docMk/>
            <pc:sldMk cId="0" sldId="274"/>
            <ac:spMk id="10" creationId="{00000000-0000-0000-0000-000000000000}"/>
          </ac:spMkLst>
        </pc:spChg>
        <pc:spChg chg="mod">
          <ac:chgData name="Moustapha Diouf" userId="a72b42ab654a8fcc" providerId="LiveId" clId="{22F667E4-E243-4F5A-84DD-87011A6E11D5}" dt="2026-05-13T11:17:29.915" v="128" actId="790"/>
          <ac:spMkLst>
            <pc:docMk/>
            <pc:sldMk cId="0" sldId="274"/>
            <ac:spMk id="12" creationId="{00000000-0000-0000-0000-000000000000}"/>
          </ac:spMkLst>
        </pc:spChg>
        <pc:spChg chg="mod">
          <ac:chgData name="Moustapha Diouf" userId="a72b42ab654a8fcc" providerId="LiveId" clId="{22F667E4-E243-4F5A-84DD-87011A6E11D5}" dt="2026-05-13T11:17:30.027" v="150" actId="27636"/>
          <ac:spMkLst>
            <pc:docMk/>
            <pc:sldMk cId="0" sldId="274"/>
            <ac:spMk id="13" creationId="{00000000-0000-0000-0000-000000000000}"/>
          </ac:spMkLst>
        </pc:spChg>
        <pc:spChg chg="mod">
          <ac:chgData name="Moustapha Diouf" userId="a72b42ab654a8fcc" providerId="LiveId" clId="{22F667E4-E243-4F5A-84DD-87011A6E11D5}" dt="2026-05-13T11:17:29.915" v="128" actId="790"/>
          <ac:spMkLst>
            <pc:docMk/>
            <pc:sldMk cId="0" sldId="274"/>
            <ac:spMk id="14" creationId="{00000000-0000-0000-0000-000000000000}"/>
          </ac:spMkLst>
        </pc:spChg>
        <pc:spChg chg="mod">
          <ac:chgData name="Moustapha Diouf" userId="a72b42ab654a8fcc" providerId="LiveId" clId="{22F667E4-E243-4F5A-84DD-87011A6E11D5}" dt="2026-05-13T11:17:29.915" v="128" actId="790"/>
          <ac:spMkLst>
            <pc:docMk/>
            <pc:sldMk cId="0" sldId="274"/>
            <ac:spMk id="16" creationId="{00000000-0000-0000-0000-000000000000}"/>
          </ac:spMkLst>
        </pc:spChg>
        <pc:spChg chg="mod">
          <ac:chgData name="Moustapha Diouf" userId="a72b42ab654a8fcc" providerId="LiveId" clId="{22F667E4-E243-4F5A-84DD-87011A6E11D5}" dt="2026-05-13T11:17:30.027" v="152" actId="27636"/>
          <ac:spMkLst>
            <pc:docMk/>
            <pc:sldMk cId="0" sldId="274"/>
            <ac:spMk id="17" creationId="{00000000-0000-0000-0000-000000000000}"/>
          </ac:spMkLst>
        </pc:spChg>
        <pc:spChg chg="mod">
          <ac:chgData name="Moustapha Diouf" userId="a72b42ab654a8fcc" providerId="LiveId" clId="{22F667E4-E243-4F5A-84DD-87011A6E11D5}" dt="2026-05-13T11:17:29.915" v="128" actId="790"/>
          <ac:spMkLst>
            <pc:docMk/>
            <pc:sldMk cId="0" sldId="274"/>
            <ac:spMk id="20" creationId="{00000000-0000-0000-0000-000000000000}"/>
          </ac:spMkLst>
        </pc:spChg>
        <pc:spChg chg="mod">
          <ac:chgData name="Moustapha Diouf" userId="a72b42ab654a8fcc" providerId="LiveId" clId="{22F667E4-E243-4F5A-84DD-87011A6E11D5}" dt="2026-05-13T11:17:30.027" v="151" actId="27636"/>
          <ac:spMkLst>
            <pc:docMk/>
            <pc:sldMk cId="0" sldId="274"/>
            <ac:spMk id="21" creationId="{00000000-0000-0000-0000-000000000000}"/>
          </ac:spMkLst>
        </pc:spChg>
        <pc:spChg chg="mod">
          <ac:chgData name="Moustapha Diouf" userId="a72b42ab654a8fcc" providerId="LiveId" clId="{22F667E4-E243-4F5A-84DD-87011A6E11D5}" dt="2026-05-13T11:17:29.915" v="128" actId="790"/>
          <ac:spMkLst>
            <pc:docMk/>
            <pc:sldMk cId="0" sldId="274"/>
            <ac:spMk id="23" creationId="{00000000-0000-0000-0000-000000000000}"/>
          </ac:spMkLst>
        </pc:spChg>
        <pc:spChg chg="mod">
          <ac:chgData name="Moustapha Diouf" userId="a72b42ab654a8fcc" providerId="LiveId" clId="{22F667E4-E243-4F5A-84DD-87011A6E11D5}" dt="2026-05-13T11:17:30.043" v="155" actId="27636"/>
          <ac:spMkLst>
            <pc:docMk/>
            <pc:sldMk cId="0" sldId="274"/>
            <ac:spMk id="25" creationId="{00000000-0000-0000-0000-000000000000}"/>
          </ac:spMkLst>
        </pc:spChg>
        <pc:spChg chg="mod">
          <ac:chgData name="Moustapha Diouf" userId="a72b42ab654a8fcc" providerId="LiveId" clId="{22F667E4-E243-4F5A-84DD-87011A6E11D5}" dt="2026-05-13T11:17:29.915" v="128" actId="790"/>
          <ac:spMkLst>
            <pc:docMk/>
            <pc:sldMk cId="0" sldId="274"/>
            <ac:spMk id="26" creationId="{00000000-0000-0000-0000-000000000000}"/>
          </ac:spMkLst>
        </pc:spChg>
        <pc:spChg chg="mod">
          <ac:chgData name="Moustapha Diouf" userId="a72b42ab654a8fcc" providerId="LiveId" clId="{22F667E4-E243-4F5A-84DD-87011A6E11D5}" dt="2026-05-13T11:17:29.915" v="128" actId="790"/>
          <ac:spMkLst>
            <pc:docMk/>
            <pc:sldMk cId="0" sldId="274"/>
            <ac:spMk id="28" creationId="{00000000-0000-0000-0000-000000000000}"/>
          </ac:spMkLst>
        </pc:spChg>
        <pc:picChg chg="del">
          <ac:chgData name="Moustapha Diouf" userId="a72b42ab654a8fcc" providerId="LiveId" clId="{22F667E4-E243-4F5A-84DD-87011A6E11D5}" dt="2026-05-20T12:03:23.556" v="2673" actId="478"/>
          <ac:picMkLst>
            <pc:docMk/>
            <pc:sldMk cId="0" sldId="274"/>
            <ac:picMk id="5" creationId="{00000000-0000-0000-0000-000000000000}"/>
          </ac:picMkLst>
        </pc:picChg>
        <pc:picChg chg="add mod">
          <ac:chgData name="Moustapha Diouf" userId="a72b42ab654a8fcc" providerId="LiveId" clId="{22F667E4-E243-4F5A-84DD-87011A6E11D5}" dt="2026-05-20T12:03:23.809" v="2674"/>
          <ac:picMkLst>
            <pc:docMk/>
            <pc:sldMk cId="0" sldId="274"/>
            <ac:picMk id="29" creationId="{04BCED86-3620-CD1A-357E-14BD67636D04}"/>
          </ac:picMkLst>
        </pc:picChg>
      </pc:sldChg>
      <pc:sldChg chg="delSp modSp add del mod modShow">
        <pc:chgData name="Moustapha Diouf" userId="a72b42ab654a8fcc" providerId="LiveId" clId="{22F667E4-E243-4F5A-84DD-87011A6E11D5}" dt="2026-05-20T11:37:52.564" v="2612" actId="2696"/>
        <pc:sldMkLst>
          <pc:docMk/>
          <pc:sldMk cId="1510446494" sldId="275"/>
        </pc:sldMkLst>
      </pc:sldChg>
      <pc:sldChg chg="addSp delSp modSp add mod modNotesTx">
        <pc:chgData name="Moustapha Diouf" userId="a72b42ab654a8fcc" providerId="LiveId" clId="{22F667E4-E243-4F5A-84DD-87011A6E11D5}" dt="2026-05-20T12:15:15.758" v="2709" actId="6549"/>
        <pc:sldMkLst>
          <pc:docMk/>
          <pc:sldMk cId="948933577" sldId="277"/>
        </pc:sldMkLst>
        <pc:picChg chg="del">
          <ac:chgData name="Moustapha Diouf" userId="a72b42ab654a8fcc" providerId="LiveId" clId="{22F667E4-E243-4F5A-84DD-87011A6E11D5}" dt="2026-05-20T12:02:55.800" v="2661" actId="478"/>
          <ac:picMkLst>
            <pc:docMk/>
            <pc:sldMk cId="948933577" sldId="277"/>
            <ac:picMk id="5" creationId="{8432CB35-551F-553F-DE7F-3D590D9A071D}"/>
          </ac:picMkLst>
        </pc:picChg>
        <pc:picChg chg="add mod">
          <ac:chgData name="Moustapha Diouf" userId="a72b42ab654a8fcc" providerId="LiveId" clId="{22F667E4-E243-4F5A-84DD-87011A6E11D5}" dt="2026-05-20T12:02:56.068" v="2662"/>
          <ac:picMkLst>
            <pc:docMk/>
            <pc:sldMk cId="948933577" sldId="277"/>
            <ac:picMk id="10" creationId="{809786AE-E46A-7B49-DEDB-9C98CCE8A113}"/>
          </ac:picMkLst>
        </pc:picChg>
        <pc:picChg chg="add mod">
          <ac:chgData name="Moustapha Diouf" userId="a72b42ab654a8fcc" providerId="LiveId" clId="{22F667E4-E243-4F5A-84DD-87011A6E11D5}" dt="2026-05-13T11:49:18.695" v="328"/>
          <ac:picMkLst>
            <pc:docMk/>
            <pc:sldMk cId="948933577" sldId="277"/>
            <ac:picMk id="12" creationId="{FCA67292-A1F7-2FD5-CBF1-183A34A39A1B}"/>
          </ac:picMkLst>
        </pc:picChg>
      </pc:sldChg>
      <pc:sldChg chg="new del">
        <pc:chgData name="Moustapha Diouf" userId="a72b42ab654a8fcc" providerId="LiveId" clId="{22F667E4-E243-4F5A-84DD-87011A6E11D5}" dt="2026-05-20T10:45:44.308" v="2057" actId="680"/>
        <pc:sldMkLst>
          <pc:docMk/>
          <pc:sldMk cId="2694467836" sldId="278"/>
        </pc:sldMkLst>
      </pc:sldChg>
      <pc:sldChg chg="delSp modSp add mod modNotesTx">
        <pc:chgData name="Moustapha Diouf" userId="a72b42ab654a8fcc" providerId="LiveId" clId="{22F667E4-E243-4F5A-84DD-87011A6E11D5}" dt="2026-05-20T12:15:02.576" v="2707" actId="6549"/>
        <pc:sldMkLst>
          <pc:docMk/>
          <pc:sldMk cId="2904047749" sldId="278"/>
        </pc:sldMkLst>
        <pc:spChg chg="del">
          <ac:chgData name="Moustapha Diouf" userId="a72b42ab654a8fcc" providerId="LiveId" clId="{22F667E4-E243-4F5A-84DD-87011A6E11D5}" dt="2026-05-20T12:11:49.429" v="2695" actId="478"/>
          <ac:spMkLst>
            <pc:docMk/>
            <pc:sldMk cId="2904047749" sldId="278"/>
            <ac:spMk id="11" creationId="{8AC090B6-249C-0C6D-0C7B-5731FB6BAD87}"/>
          </ac:spMkLst>
        </pc:spChg>
        <pc:graphicFrameChg chg="mod modGraphic">
          <ac:chgData name="Moustapha Diouf" userId="a72b42ab654a8fcc" providerId="LiveId" clId="{22F667E4-E243-4F5A-84DD-87011A6E11D5}" dt="2026-05-20T11:37:58.383" v="2613" actId="20577"/>
          <ac:graphicFrameMkLst>
            <pc:docMk/>
            <pc:sldMk cId="2904047749" sldId="278"/>
            <ac:graphicFrameMk id="10" creationId="{412A4B18-9140-B4D3-641C-2CC9083013E0}"/>
          </ac:graphicFrameMkLst>
        </pc:graphicFrameChg>
      </pc:sldChg>
      <pc:sldChg chg="addSp delSp modSp add del mod">
        <pc:chgData name="Moustapha Diouf" userId="a72b42ab654a8fcc" providerId="LiveId" clId="{22F667E4-E243-4F5A-84DD-87011A6E11D5}" dt="2026-05-20T11:04:42.213" v="2320" actId="2696"/>
        <pc:sldMkLst>
          <pc:docMk/>
          <pc:sldMk cId="3719056465" sldId="279"/>
        </pc:sldMkLst>
        <pc:graphicFrameChg chg="del mod modGraphic">
          <ac:chgData name="Moustapha Diouf" userId="a72b42ab654a8fcc" providerId="LiveId" clId="{22F667E4-E243-4F5A-84DD-87011A6E11D5}" dt="2026-05-20T10:50:34.450" v="2097" actId="478"/>
          <ac:graphicFrameMkLst>
            <pc:docMk/>
            <pc:sldMk cId="3719056465" sldId="279"/>
            <ac:graphicFrameMk id="10" creationId="{1D0EEE53-92DC-93C6-A344-ECED241B2FC5}"/>
          </ac:graphicFrameMkLst>
        </pc:graphicFrameChg>
        <pc:graphicFrameChg chg="add del mod modGraphic">
          <ac:chgData name="Moustapha Diouf" userId="a72b42ab654a8fcc" providerId="LiveId" clId="{22F667E4-E243-4F5A-84DD-87011A6E11D5}" dt="2026-05-20T10:51:40.054" v="2105" actId="478"/>
          <ac:graphicFrameMkLst>
            <pc:docMk/>
            <pc:sldMk cId="3719056465" sldId="279"/>
            <ac:graphicFrameMk id="12" creationId="{1D6AE14A-D70E-BE28-EF05-E713BA958848}"/>
          </ac:graphicFrameMkLst>
        </pc:graphicFrameChg>
      </pc:sldChg>
      <pc:sldChg chg="addSp delSp modSp add mod modNotesTx">
        <pc:chgData name="Moustapha Diouf" userId="a72b42ab654a8fcc" providerId="LiveId" clId="{22F667E4-E243-4F5A-84DD-87011A6E11D5}" dt="2026-05-20T12:15:11.113" v="2708" actId="6549"/>
        <pc:sldMkLst>
          <pc:docMk/>
          <pc:sldMk cId="565184588" sldId="280"/>
        </pc:sldMkLst>
        <pc:spChg chg="del mod">
          <ac:chgData name="Moustapha Diouf" userId="a72b42ab654a8fcc" providerId="LiveId" clId="{22F667E4-E243-4F5A-84DD-87011A6E11D5}" dt="2026-05-20T11:13:55.523" v="2405" actId="478"/>
          <ac:spMkLst>
            <pc:docMk/>
            <pc:sldMk cId="565184588" sldId="280"/>
            <ac:spMk id="7" creationId="{1581C6C0-4064-4662-43B0-FAA11BE64218}"/>
          </ac:spMkLst>
        </pc:spChg>
        <pc:spChg chg="mod">
          <ac:chgData name="Moustapha Diouf" userId="a72b42ab654a8fcc" providerId="LiveId" clId="{22F667E4-E243-4F5A-84DD-87011A6E11D5}" dt="2026-05-20T11:14:05.100" v="2407" actId="1076"/>
          <ac:spMkLst>
            <pc:docMk/>
            <pc:sldMk cId="565184588" sldId="280"/>
            <ac:spMk id="11" creationId="{417DB5CC-E4FB-EC2A-4455-73FA876297FD}"/>
          </ac:spMkLst>
        </pc:spChg>
        <pc:graphicFrameChg chg="mod modGraphic">
          <ac:chgData name="Moustapha Diouf" userId="a72b42ab654a8fcc" providerId="LiveId" clId="{22F667E4-E243-4F5A-84DD-87011A6E11D5}" dt="2026-05-20T12:12:31.605" v="2698" actId="113"/>
          <ac:graphicFrameMkLst>
            <pc:docMk/>
            <pc:sldMk cId="565184588" sldId="280"/>
            <ac:graphicFrameMk id="10" creationId="{1D347A1F-311E-8F7F-781A-7CE92FB53EF9}"/>
          </ac:graphicFrameMkLst>
        </pc:graphicFrameChg>
        <pc:picChg chg="del">
          <ac:chgData name="Moustapha Diouf" userId="a72b42ab654a8fcc" providerId="LiveId" clId="{22F667E4-E243-4F5A-84DD-87011A6E11D5}" dt="2026-05-20T11:05:07.906" v="2325" actId="478"/>
          <ac:picMkLst>
            <pc:docMk/>
            <pc:sldMk cId="565184588" sldId="280"/>
            <ac:picMk id="5" creationId="{4056ED22-F15D-130C-776B-6C4DC3B57EF5}"/>
          </ac:picMkLst>
        </pc:picChg>
        <pc:picChg chg="add mod">
          <ac:chgData name="Moustapha Diouf" userId="a72b42ab654a8fcc" providerId="LiveId" clId="{22F667E4-E243-4F5A-84DD-87011A6E11D5}" dt="2026-05-20T12:02:45.224" v="2660"/>
          <ac:picMkLst>
            <pc:docMk/>
            <pc:sldMk cId="565184588" sldId="280"/>
            <ac:picMk id="5" creationId="{6CBF6D7D-7662-6DDC-C7AE-E1A2BEC65C95}"/>
          </ac:picMkLst>
        </pc:picChg>
      </pc:sldChg>
      <pc:sldChg chg="addSp delSp modSp add mod modNotesTx">
        <pc:chgData name="Moustapha Diouf" userId="a72b42ab654a8fcc" providerId="LiveId" clId="{22F667E4-E243-4F5A-84DD-87011A6E11D5}" dt="2026-05-20T12:16:23.795" v="2728" actId="6549"/>
        <pc:sldMkLst>
          <pc:docMk/>
          <pc:sldMk cId="2724847586" sldId="281"/>
        </pc:sldMkLst>
        <pc:spChg chg="mod">
          <ac:chgData name="Moustapha Diouf" userId="a72b42ab654a8fcc" providerId="LiveId" clId="{22F667E4-E243-4F5A-84DD-87011A6E11D5}" dt="2026-05-20T11:29:39.831" v="2530" actId="6549"/>
          <ac:spMkLst>
            <pc:docMk/>
            <pc:sldMk cId="2724847586" sldId="281"/>
            <ac:spMk id="3" creationId="{FD64A30E-2C2B-D74B-9E8E-F1BB5A414D9B}"/>
          </ac:spMkLst>
        </pc:spChg>
        <pc:spChg chg="del mod">
          <ac:chgData name="Moustapha Diouf" userId="a72b42ab654a8fcc" providerId="LiveId" clId="{22F667E4-E243-4F5A-84DD-87011A6E11D5}" dt="2026-05-20T11:33:39.654" v="2570" actId="478"/>
          <ac:spMkLst>
            <pc:docMk/>
            <pc:sldMk cId="2724847586" sldId="281"/>
            <ac:spMk id="7" creationId="{B4BCCE8E-8CC4-9A3F-3368-A7755EE3F8BE}"/>
          </ac:spMkLst>
        </pc:spChg>
        <pc:spChg chg="del">
          <ac:chgData name="Moustapha Diouf" userId="a72b42ab654a8fcc" providerId="LiveId" clId="{22F667E4-E243-4F5A-84DD-87011A6E11D5}" dt="2026-05-20T11:28:52.404" v="2511" actId="478"/>
          <ac:spMkLst>
            <pc:docMk/>
            <pc:sldMk cId="2724847586" sldId="281"/>
            <ac:spMk id="10" creationId="{2B092785-276E-B541-C926-5DA23F2D1B35}"/>
          </ac:spMkLst>
        </pc:spChg>
        <pc:spChg chg="add mod">
          <ac:chgData name="Moustapha Diouf" userId="a72b42ab654a8fcc" providerId="LiveId" clId="{22F667E4-E243-4F5A-84DD-87011A6E11D5}" dt="2026-05-20T11:29:24.696" v="2513"/>
          <ac:spMkLst>
            <pc:docMk/>
            <pc:sldMk cId="2724847586" sldId="281"/>
            <ac:spMk id="11" creationId="{5255E517-7483-070B-A2B3-52819614A484}"/>
          </ac:spMkLst>
        </pc:spChg>
        <pc:spChg chg="del">
          <ac:chgData name="Moustapha Diouf" userId="a72b42ab654a8fcc" providerId="LiveId" clId="{22F667E4-E243-4F5A-84DD-87011A6E11D5}" dt="2026-05-20T11:28:55.547" v="2512" actId="478"/>
          <ac:spMkLst>
            <pc:docMk/>
            <pc:sldMk cId="2724847586" sldId="281"/>
            <ac:spMk id="12" creationId="{64F31973-A35F-F0B2-1B48-636C2CAF2D1A}"/>
          </ac:spMkLst>
        </pc:spChg>
        <pc:spChg chg="add mod">
          <ac:chgData name="Moustapha Diouf" userId="a72b42ab654a8fcc" providerId="LiveId" clId="{22F667E4-E243-4F5A-84DD-87011A6E11D5}" dt="2026-05-20T11:29:24.696" v="2513"/>
          <ac:spMkLst>
            <pc:docMk/>
            <pc:sldMk cId="2724847586" sldId="281"/>
            <ac:spMk id="13" creationId="{4A453B2D-E54D-4C9E-D95A-0BDD19063EED}"/>
          </ac:spMkLst>
        </pc:spChg>
        <pc:spChg chg="add del mod">
          <ac:chgData name="Moustapha Diouf" userId="a72b42ab654a8fcc" providerId="LiveId" clId="{22F667E4-E243-4F5A-84DD-87011A6E11D5}" dt="2026-05-20T11:30:32.218" v="2541" actId="478"/>
          <ac:spMkLst>
            <pc:docMk/>
            <pc:sldMk cId="2724847586" sldId="281"/>
            <ac:spMk id="15" creationId="{711C7FF1-895F-7A1F-BADB-3F451F94223D}"/>
          </ac:spMkLst>
        </pc:spChg>
        <pc:spChg chg="add mod">
          <ac:chgData name="Moustapha Diouf" userId="a72b42ab654a8fcc" providerId="LiveId" clId="{22F667E4-E243-4F5A-84DD-87011A6E11D5}" dt="2026-05-20T11:34:28.005" v="2588" actId="20577"/>
          <ac:spMkLst>
            <pc:docMk/>
            <pc:sldMk cId="2724847586" sldId="281"/>
            <ac:spMk id="16" creationId="{FD212D89-F9E0-7D2C-3DF8-B378D33E8754}"/>
          </ac:spMkLst>
        </pc:spChg>
        <pc:spChg chg="del">
          <ac:chgData name="Moustapha Diouf" userId="a72b42ab654a8fcc" providerId="LiveId" clId="{22F667E4-E243-4F5A-84DD-87011A6E11D5}" dt="2026-05-20T11:28:55.547" v="2512" actId="478"/>
          <ac:spMkLst>
            <pc:docMk/>
            <pc:sldMk cId="2724847586" sldId="281"/>
            <ac:spMk id="18" creationId="{38FE2C23-32F8-2CDA-E9C7-ED95955FE865}"/>
          </ac:spMkLst>
        </pc:spChg>
        <pc:spChg chg="del">
          <ac:chgData name="Moustapha Diouf" userId="a72b42ab654a8fcc" providerId="LiveId" clId="{22F667E4-E243-4F5A-84DD-87011A6E11D5}" dt="2026-05-20T11:28:55.547" v="2512" actId="478"/>
          <ac:spMkLst>
            <pc:docMk/>
            <pc:sldMk cId="2724847586" sldId="281"/>
            <ac:spMk id="19" creationId="{B2E8CC10-33C5-48E9-3E84-C30F922725BE}"/>
          </ac:spMkLst>
        </pc:spChg>
        <pc:spChg chg="del">
          <ac:chgData name="Moustapha Diouf" userId="a72b42ab654a8fcc" providerId="LiveId" clId="{22F667E4-E243-4F5A-84DD-87011A6E11D5}" dt="2026-05-20T11:28:55.547" v="2512" actId="478"/>
          <ac:spMkLst>
            <pc:docMk/>
            <pc:sldMk cId="2724847586" sldId="281"/>
            <ac:spMk id="20" creationId="{5710BBAF-5A0E-2A49-68D8-BAD08856A60D}"/>
          </ac:spMkLst>
        </pc:spChg>
        <pc:spChg chg="add mod">
          <ac:chgData name="Moustapha Diouf" userId="a72b42ab654a8fcc" providerId="LiveId" clId="{22F667E4-E243-4F5A-84DD-87011A6E11D5}" dt="2026-05-20T11:33:43.618" v="2571" actId="1076"/>
          <ac:spMkLst>
            <pc:docMk/>
            <pc:sldMk cId="2724847586" sldId="281"/>
            <ac:spMk id="24" creationId="{87C68020-C18F-CCA0-7434-5125147FDE61}"/>
          </ac:spMkLst>
        </pc:spChg>
        <pc:spChg chg="add mod">
          <ac:chgData name="Moustapha Diouf" userId="a72b42ab654a8fcc" providerId="LiveId" clId="{22F667E4-E243-4F5A-84DD-87011A6E11D5}" dt="2026-05-20T11:34:34.898" v="2596" actId="20577"/>
          <ac:spMkLst>
            <pc:docMk/>
            <pc:sldMk cId="2724847586" sldId="281"/>
            <ac:spMk id="25" creationId="{437D2404-78D9-12B4-BC8F-CD4F7089C13C}"/>
          </ac:spMkLst>
        </pc:spChg>
        <pc:spChg chg="add del">
          <ac:chgData name="Moustapha Diouf" userId="a72b42ab654a8fcc" providerId="LiveId" clId="{22F667E4-E243-4F5A-84DD-87011A6E11D5}" dt="2026-05-20T11:35:44.743" v="2600" actId="22"/>
          <ac:spMkLst>
            <pc:docMk/>
            <pc:sldMk cId="2724847586" sldId="281"/>
            <ac:spMk id="28" creationId="{BCC0D966-3AAC-BBD4-AE8C-7EBA5BB8229D}"/>
          </ac:spMkLst>
        </pc:spChg>
        <pc:spChg chg="add del">
          <ac:chgData name="Moustapha Diouf" userId="a72b42ab654a8fcc" providerId="LiveId" clId="{22F667E4-E243-4F5A-84DD-87011A6E11D5}" dt="2026-05-20T11:35:53.838" v="2603" actId="22"/>
          <ac:spMkLst>
            <pc:docMk/>
            <pc:sldMk cId="2724847586" sldId="281"/>
            <ac:spMk id="30" creationId="{C401296F-4D03-63FA-9FAC-73D30214E3DA}"/>
          </ac:spMkLst>
        </pc:spChg>
        <pc:picChg chg="del">
          <ac:chgData name="Moustapha Diouf" userId="a72b42ab654a8fcc" providerId="LiveId" clId="{22F667E4-E243-4F5A-84DD-87011A6E11D5}" dt="2026-05-20T12:03:38.672" v="2681" actId="478"/>
          <ac:picMkLst>
            <pc:docMk/>
            <pc:sldMk cId="2724847586" sldId="281"/>
            <ac:picMk id="5" creationId="{4B4CF870-703C-30C3-20DE-02BA8260059D}"/>
          </ac:picMkLst>
        </pc:picChg>
        <pc:picChg chg="add mod">
          <ac:chgData name="Moustapha Diouf" userId="a72b42ab654a8fcc" providerId="LiveId" clId="{22F667E4-E243-4F5A-84DD-87011A6E11D5}" dt="2026-05-20T12:03:38.972" v="2682"/>
          <ac:picMkLst>
            <pc:docMk/>
            <pc:sldMk cId="2724847586" sldId="281"/>
            <ac:picMk id="7" creationId="{E25D4611-48E3-12B0-0685-A77599780460}"/>
          </ac:picMkLst>
        </pc:picChg>
        <pc:picChg chg="add del mod">
          <ac:chgData name="Moustapha Diouf" userId="a72b42ab654a8fcc" providerId="LiveId" clId="{22F667E4-E243-4F5A-84DD-87011A6E11D5}" dt="2026-05-20T11:29:43.177" v="2531" actId="478"/>
          <ac:picMkLst>
            <pc:docMk/>
            <pc:sldMk cId="2724847586" sldId="281"/>
            <ac:picMk id="14" creationId="{FE1C18F5-8A97-4BEE-B1F5-D05590DB5CF8}"/>
          </ac:picMkLst>
        </pc:picChg>
        <pc:picChg chg="add mod">
          <ac:chgData name="Moustapha Diouf" userId="a72b42ab654a8fcc" providerId="LiveId" clId="{22F667E4-E243-4F5A-84DD-87011A6E11D5}" dt="2026-05-20T11:36:28.861" v="2607" actId="14100"/>
          <ac:picMkLst>
            <pc:docMk/>
            <pc:sldMk cId="2724847586" sldId="281"/>
            <ac:picMk id="17" creationId="{4EFB0910-5F55-7102-69B6-063497DD5B89}"/>
          </ac:picMkLst>
        </pc:picChg>
        <pc:picChg chg="add mod">
          <ac:chgData name="Moustapha Diouf" userId="a72b42ab654a8fcc" providerId="LiveId" clId="{22F667E4-E243-4F5A-84DD-87011A6E11D5}" dt="2026-05-20T11:33:45.898" v="2572" actId="1076"/>
          <ac:picMkLst>
            <pc:docMk/>
            <pc:sldMk cId="2724847586" sldId="281"/>
            <ac:picMk id="21" creationId="{985F0BA9-FD2D-34AB-6C26-22BB084E74D3}"/>
          </ac:picMkLst>
        </pc:picChg>
        <pc:picChg chg="add mod">
          <ac:chgData name="Moustapha Diouf" userId="a72b42ab654a8fcc" providerId="LiveId" clId="{22F667E4-E243-4F5A-84DD-87011A6E11D5}" dt="2026-05-20T11:33:47.001" v="2573" actId="1076"/>
          <ac:picMkLst>
            <pc:docMk/>
            <pc:sldMk cId="2724847586" sldId="281"/>
            <ac:picMk id="22" creationId="{9E778111-3B9B-F873-E573-50BCA3637FED}"/>
          </ac:picMkLst>
        </pc:picChg>
        <pc:picChg chg="add mod">
          <ac:chgData name="Moustapha Diouf" userId="a72b42ab654a8fcc" providerId="LiveId" clId="{22F667E4-E243-4F5A-84DD-87011A6E11D5}" dt="2026-05-20T11:29:24.696" v="2513"/>
          <ac:picMkLst>
            <pc:docMk/>
            <pc:sldMk cId="2724847586" sldId="281"/>
            <ac:picMk id="23" creationId="{9ADAE646-0053-ECED-7C5D-DC62C61EB7A6}"/>
          </ac:picMkLst>
        </pc:picChg>
        <pc:picChg chg="add mod">
          <ac:chgData name="Moustapha Diouf" userId="a72b42ab654a8fcc" providerId="LiveId" clId="{22F667E4-E243-4F5A-84DD-87011A6E11D5}" dt="2026-05-20T11:34:00.726" v="2575" actId="1076"/>
          <ac:picMkLst>
            <pc:docMk/>
            <pc:sldMk cId="2724847586" sldId="281"/>
            <ac:picMk id="26" creationId="{0FB6BAAE-83F6-9936-5306-58C2B8A3DE79}"/>
          </ac:picMkLst>
        </pc:picChg>
        <pc:picChg chg="add mod">
          <ac:chgData name="Moustapha Diouf" userId="a72b42ab654a8fcc" providerId="LiveId" clId="{22F667E4-E243-4F5A-84DD-87011A6E11D5}" dt="2026-05-20T11:36:31.347" v="2608" actId="1076"/>
          <ac:picMkLst>
            <pc:docMk/>
            <pc:sldMk cId="2724847586" sldId="281"/>
            <ac:picMk id="32" creationId="{708FF544-B1A3-64E7-23D5-486F3AD7231C}"/>
          </ac:picMkLst>
        </pc:picChg>
      </pc:sldChg>
      <pc:sldChg chg="modSp add mod">
        <pc:chgData name="Moustapha Diouf" userId="a72b42ab654a8fcc" providerId="LiveId" clId="{22F667E4-E243-4F5A-84DD-87011A6E11D5}" dt="2026-05-20T12:22:32.571" v="2834" actId="6549"/>
        <pc:sldMkLst>
          <pc:docMk/>
          <pc:sldMk cId="3835533940" sldId="282"/>
        </pc:sldMkLst>
        <pc:spChg chg="mod">
          <ac:chgData name="Moustapha Diouf" userId="a72b42ab654a8fcc" providerId="LiveId" clId="{22F667E4-E243-4F5A-84DD-87011A6E11D5}" dt="2026-05-20T12:22:32.571" v="2834" actId="6549"/>
          <ac:spMkLst>
            <pc:docMk/>
            <pc:sldMk cId="3835533940" sldId="282"/>
            <ac:spMk id="3" creationId="{FEF9AC30-CE40-BA40-9FAA-F041CE0A18A6}"/>
          </ac:spMkLst>
        </pc:spChg>
        <pc:spChg chg="mod">
          <ac:chgData name="Moustapha Diouf" userId="a72b42ab654a8fcc" providerId="LiveId" clId="{22F667E4-E243-4F5A-84DD-87011A6E11D5}" dt="2026-05-20T12:21:16.586" v="2808" actId="1076"/>
          <ac:spMkLst>
            <pc:docMk/>
            <pc:sldMk cId="3835533940" sldId="282"/>
            <ac:spMk id="11" creationId="{AE70F0C9-7B93-CDD0-6169-4B77A56008F4}"/>
          </ac:spMkLst>
        </pc:spChg>
        <pc:spChg chg="mod">
          <ac:chgData name="Moustapha Diouf" userId="a72b42ab654a8fcc" providerId="LiveId" clId="{22F667E4-E243-4F5A-84DD-87011A6E11D5}" dt="2026-05-20T12:21:20.458" v="2809" actId="14100"/>
          <ac:spMkLst>
            <pc:docMk/>
            <pc:sldMk cId="3835533940" sldId="282"/>
            <ac:spMk id="12" creationId="{4B79926A-BECA-417E-4101-FA616E7AEF3E}"/>
          </ac:spMkLst>
        </pc:spChg>
        <pc:graphicFrameChg chg="mod modGraphic">
          <ac:chgData name="Moustapha Diouf" userId="a72b42ab654a8fcc" providerId="LiveId" clId="{22F667E4-E243-4F5A-84DD-87011A6E11D5}" dt="2026-05-20T12:19:38.830" v="2776"/>
          <ac:graphicFrameMkLst>
            <pc:docMk/>
            <pc:sldMk cId="3835533940" sldId="282"/>
            <ac:graphicFrameMk id="10" creationId="{66BA3002-D216-7A97-1CE7-C271C0119AAE}"/>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33213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8B74D-548F-9811-CE12-0452DF653C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7C4BE1-D66A-BC60-57B5-0635F7D606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728901-C755-22FC-3656-6018D9C491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318D635-C976-02CA-272A-2DE2EF22A197}"/>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997404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err="1"/>
              <a:t>Présenter</a:t>
            </a:r>
            <a:r>
              <a:rPr lang="en-US" dirty="0"/>
              <a:t> la </a:t>
            </a:r>
            <a:r>
              <a:rPr lang="en-US" dirty="0" err="1"/>
              <a:t>liste</a:t>
            </a:r>
            <a:r>
              <a:rPr lang="en-US" dirty="0"/>
              <a:t> </a:t>
            </a:r>
            <a:r>
              <a:rPr lang="en-US" dirty="0" err="1"/>
              <a:t>comme</a:t>
            </a:r>
            <a:r>
              <a:rPr lang="en-US" dirty="0"/>
              <a:t> un </a:t>
            </a:r>
            <a:r>
              <a:rPr lang="en-US" dirty="0" err="1"/>
              <a:t>référentiel</a:t>
            </a:r>
            <a:r>
              <a:rPr lang="en-US" dirty="0"/>
              <a:t> </a:t>
            </a:r>
            <a:r>
              <a:rPr lang="en-US" dirty="0" err="1"/>
              <a:t>commun</a:t>
            </a:r>
            <a:r>
              <a:rPr lang="en-US" dirty="0"/>
              <a:t>.
 </a:t>
            </a:r>
            <a:r>
              <a:rPr lang="en-US" dirty="0" err="1"/>
              <a:t>Certains</a:t>
            </a:r>
            <a:r>
              <a:rPr lang="en-US" dirty="0"/>
              <a:t> </a:t>
            </a:r>
            <a:r>
              <a:rPr lang="en-US" dirty="0" err="1"/>
              <a:t>indicateurs</a:t>
            </a:r>
            <a:r>
              <a:rPr lang="en-US" dirty="0"/>
              <a:t> </a:t>
            </a:r>
            <a:r>
              <a:rPr lang="en-US" dirty="0" err="1"/>
              <a:t>seront</a:t>
            </a:r>
            <a:r>
              <a:rPr lang="en-US" dirty="0"/>
              <a:t> plus </a:t>
            </a:r>
            <a:r>
              <a:rPr lang="en-US" dirty="0" err="1"/>
              <a:t>faciles</a:t>
            </a:r>
            <a:r>
              <a:rPr lang="en-US" dirty="0"/>
              <a:t> à </a:t>
            </a:r>
            <a:r>
              <a:rPr lang="en-US" dirty="0" err="1"/>
              <a:t>renseigner</a:t>
            </a:r>
            <a:r>
              <a:rPr lang="en-US" dirty="0"/>
              <a:t> </a:t>
            </a:r>
            <a:r>
              <a:rPr lang="en-US" dirty="0" err="1"/>
              <a:t>que</a:t>
            </a:r>
            <a:r>
              <a:rPr lang="en-US" dirty="0"/>
              <a:t> </a:t>
            </a:r>
            <a:r>
              <a:rPr lang="en-US" dirty="0" err="1"/>
              <a:t>d’autres</a:t>
            </a:r>
            <a:r>
              <a:rPr lang="en-US" dirty="0"/>
              <a:t> </a:t>
            </a:r>
            <a:r>
              <a:rPr lang="en-US" dirty="0" err="1"/>
              <a:t>selon</a:t>
            </a:r>
            <a:r>
              <a:rPr lang="en-US" dirty="0"/>
              <a:t> les données </a:t>
            </a:r>
            <a:r>
              <a:rPr lang="en-US" dirty="0" err="1"/>
              <a:t>disponibles</a:t>
            </a:r>
            <a:r>
              <a:rPr lang="en-US" dirty="0"/>
              <a:t>.
 </a:t>
            </a:r>
            <a:r>
              <a:rPr lang="en-US" dirty="0" err="1"/>
              <a:t>L’objectif</a:t>
            </a:r>
            <a:r>
              <a:rPr lang="en-US" dirty="0"/>
              <a:t> est </a:t>
            </a:r>
            <a:r>
              <a:rPr lang="en-US" dirty="0" err="1"/>
              <a:t>d’identifier</a:t>
            </a:r>
            <a:r>
              <a:rPr lang="en-US" dirty="0"/>
              <a:t> </a:t>
            </a:r>
            <a:r>
              <a:rPr lang="en-US" dirty="0" err="1"/>
              <a:t>ce</a:t>
            </a:r>
            <a:r>
              <a:rPr lang="en-US" dirty="0"/>
              <a:t> qui est calculable, </a:t>
            </a:r>
            <a:r>
              <a:rPr lang="en-US" dirty="0" err="1"/>
              <a:t>partiellement</a:t>
            </a:r>
            <a:r>
              <a:rPr lang="en-US" dirty="0"/>
              <a:t> calculable </a:t>
            </a:r>
            <a:r>
              <a:rPr lang="en-US" dirty="0" err="1"/>
              <a:t>ou</a:t>
            </a:r>
            <a:r>
              <a:rPr lang="en-US" dirty="0"/>
              <a:t> non disponible.
 Les lacunes </a:t>
            </a:r>
            <a:r>
              <a:rPr lang="en-US" dirty="0" err="1"/>
              <a:t>doivent</a:t>
            </a:r>
            <a:r>
              <a:rPr lang="en-US" dirty="0"/>
              <a:t> </a:t>
            </a:r>
            <a:r>
              <a:rPr lang="en-US" dirty="0" err="1"/>
              <a:t>être</a:t>
            </a:r>
            <a:r>
              <a:rPr lang="en-US" dirty="0"/>
              <a:t> </a:t>
            </a:r>
            <a:r>
              <a:rPr lang="en-US" dirty="0" err="1"/>
              <a:t>documentées</a:t>
            </a:r>
            <a:r>
              <a:rPr lang="en-US" dirty="0"/>
              <a:t> pour </a:t>
            </a:r>
            <a:r>
              <a:rPr lang="en-US" dirty="0" err="1"/>
              <a:t>orienter</a:t>
            </a:r>
            <a:r>
              <a:rPr lang="en-US" dirty="0"/>
              <a:t> les </a:t>
            </a:r>
            <a:r>
              <a:rPr lang="en-US" dirty="0" err="1"/>
              <a:t>améliorations</a:t>
            </a:r>
            <a:r>
              <a:rPr lang="en-US" dirty="0"/>
              <a:t> futures.
 La santé est </a:t>
            </a:r>
            <a:r>
              <a:rPr lang="en-US" dirty="0" err="1"/>
              <a:t>ajoutée</a:t>
            </a:r>
            <a:r>
              <a:rPr lang="en-US" dirty="0"/>
              <a:t> </a:t>
            </a:r>
            <a:r>
              <a:rPr lang="en-US" dirty="0" err="1"/>
              <a:t>comme</a:t>
            </a:r>
            <a:r>
              <a:rPr lang="en-US" dirty="0"/>
              <a:t> </a:t>
            </a:r>
            <a:r>
              <a:rPr lang="en-US" dirty="0" err="1"/>
              <a:t>indicateur</a:t>
            </a:r>
            <a:r>
              <a:rPr lang="en-US" dirty="0"/>
              <a:t> </a:t>
            </a:r>
            <a:r>
              <a:rPr lang="en-US" dirty="0" err="1"/>
              <a:t>complémentaire</a:t>
            </a:r>
            <a:r>
              <a:rPr lang="en-US" dirty="0"/>
              <a:t> du bulletin.</a:t>
            </a:r>
          </a:p>
          <a:p>
            <a:pPr marL="171450" indent="-171450">
              <a:buFontTx/>
              <a:buChar char="-"/>
            </a:pPr>
            <a:endParaRPr lang="en-US" dirty="0"/>
          </a:p>
          <a:p>
            <a:pPr marL="171450" indent="-171450">
              <a:buFontTx/>
              <a:buChar char="-"/>
            </a:pPr>
            <a:endParaRPr lang="en-US" dirty="0"/>
          </a:p>
          <a:p>
            <a:pPr marL="0" indent="0">
              <a:buFontTx/>
              <a:buNone/>
            </a:pPr>
            <a:r>
              <a:rPr lang="fr-FR" dirty="0"/>
              <a:t>1. Proportion de la population couverte par au</a:t>
            </a:r>
          </a:p>
          <a:p>
            <a:pPr marL="0" indent="0">
              <a:buFontTx/>
              <a:buNone/>
            </a:pPr>
            <a:r>
              <a:rPr lang="fr-FR" dirty="0"/>
              <a:t>moins une prestation en espèces: pourcentage</a:t>
            </a:r>
          </a:p>
          <a:p>
            <a:pPr marL="0" indent="0">
              <a:buFontTx/>
              <a:buNone/>
            </a:pPr>
            <a:r>
              <a:rPr lang="fr-FR" dirty="0"/>
              <a:t>de la population qui bénéficie de prestations</a:t>
            </a:r>
          </a:p>
          <a:p>
            <a:pPr marL="0" indent="0">
              <a:buFontTx/>
              <a:buNone/>
            </a:pPr>
            <a:r>
              <a:rPr lang="fr-FR" dirty="0"/>
              <a:t>en espèces pour au moins une des</a:t>
            </a:r>
          </a:p>
          <a:p>
            <a:pPr marL="0" indent="0">
              <a:buFontTx/>
              <a:buNone/>
            </a:pPr>
            <a:r>
              <a:rPr lang="fr-FR" dirty="0"/>
              <a:t>éventualités ou un des domaines de la sécurité</a:t>
            </a:r>
          </a:p>
          <a:p>
            <a:pPr marL="0" indent="0">
              <a:buFontTx/>
              <a:buNone/>
            </a:pPr>
            <a:r>
              <a:rPr lang="fr-FR" dirty="0"/>
              <a:t>sociale (prestations contributives ou non</a:t>
            </a:r>
          </a:p>
          <a:p>
            <a:pPr marL="0" indent="0">
              <a:buFontTx/>
              <a:buNone/>
            </a:pPr>
            <a:r>
              <a:rPr lang="fr-FR" dirty="0"/>
              <a:t>contributives), ou bien cotisant activement à</a:t>
            </a:r>
          </a:p>
          <a:p>
            <a:pPr marL="0" indent="0">
              <a:buFontTx/>
              <a:buNone/>
            </a:pPr>
            <a:r>
              <a:rPr lang="fr-FR" dirty="0"/>
              <a:t>au moins un régime de sécurité sociale.</a:t>
            </a:r>
          </a:p>
          <a:p>
            <a:pPr marL="171450" indent="-171450">
              <a:buFontTx/>
              <a:buChar char="-"/>
            </a:pPr>
            <a:endParaRPr lang="fr-FR" dirty="0"/>
          </a:p>
          <a:p>
            <a:pPr marL="0" indent="0">
              <a:buFontTx/>
              <a:buNone/>
            </a:pPr>
            <a:r>
              <a:rPr lang="fr-FR" dirty="0"/>
              <a:t>2. Proportion d’enfants couverts par des prestations</a:t>
            </a:r>
          </a:p>
          <a:p>
            <a:pPr marL="0" indent="0">
              <a:buFontTx/>
              <a:buNone/>
            </a:pPr>
            <a:r>
              <a:rPr lang="fr-FR" dirty="0"/>
              <a:t>de protection sociale: pourcentage des enfants</a:t>
            </a:r>
          </a:p>
          <a:p>
            <a:pPr marL="0" indent="0">
              <a:buFontTx/>
              <a:buNone/>
            </a:pPr>
            <a:r>
              <a:rPr lang="fr-FR" dirty="0"/>
              <a:t>ou ménages avec enfants qui perçoivent des</a:t>
            </a:r>
          </a:p>
          <a:p>
            <a:pPr marL="0" indent="0">
              <a:buFontTx/>
              <a:buNone/>
            </a:pPr>
            <a:r>
              <a:rPr lang="fr-FR" dirty="0"/>
              <a:t>prestations en espèces à l’enfance ou aux</a:t>
            </a:r>
          </a:p>
          <a:p>
            <a:pPr marL="0" indent="0">
              <a:buFontTx/>
              <a:buNone/>
            </a:pPr>
            <a:r>
              <a:rPr lang="fr-FR" dirty="0"/>
              <a:t>familles.</a:t>
            </a:r>
          </a:p>
          <a:p>
            <a:pPr marL="171450" indent="-171450">
              <a:buFontTx/>
              <a:buChar char="-"/>
            </a:pPr>
            <a:endParaRPr lang="fr-FR" dirty="0"/>
          </a:p>
          <a:p>
            <a:pPr marL="0" indent="0">
              <a:buFontTx/>
              <a:buNone/>
            </a:pPr>
            <a:r>
              <a:rPr lang="fr-FR" dirty="0"/>
              <a:t>3. Proportion de femmes ayant accouché bénéficiant</a:t>
            </a:r>
          </a:p>
          <a:p>
            <a:pPr marL="0" indent="0">
              <a:buFontTx/>
              <a:buNone/>
            </a:pPr>
            <a:r>
              <a:rPr lang="fr-FR" dirty="0"/>
              <a:t>de prestations de maternité: nombre de femmes</a:t>
            </a:r>
          </a:p>
          <a:p>
            <a:pPr marL="0" indent="0">
              <a:buFontTx/>
              <a:buNone/>
            </a:pPr>
            <a:r>
              <a:rPr lang="fr-FR" dirty="0"/>
              <a:t>qui perçoivent des prestations de maternité</a:t>
            </a:r>
          </a:p>
          <a:p>
            <a:pPr marL="0" indent="0">
              <a:buFontTx/>
              <a:buNone/>
            </a:pPr>
            <a:r>
              <a:rPr lang="fr-FR" dirty="0"/>
              <a:t>en espèces rapporté au nombre de femmes</a:t>
            </a:r>
          </a:p>
          <a:p>
            <a:pPr marL="0" indent="0">
              <a:buFontTx/>
              <a:buNone/>
            </a:pPr>
            <a:r>
              <a:rPr lang="fr-FR" dirty="0"/>
              <a:t>ayant accouché au cours de la même année</a:t>
            </a:r>
          </a:p>
          <a:p>
            <a:pPr marL="0" indent="0">
              <a:buFontTx/>
              <a:buNone/>
            </a:pPr>
            <a:r>
              <a:rPr lang="fr-FR" dirty="0"/>
              <a:t>(estimation fondée sur les taux de fécondité</a:t>
            </a:r>
          </a:p>
          <a:p>
            <a:pPr marL="0" indent="0">
              <a:buFontTx/>
              <a:buNone/>
            </a:pPr>
            <a:r>
              <a:rPr lang="fr-FR" dirty="0"/>
              <a:t>en fonction de l’âge publiés par les Nations</a:t>
            </a:r>
          </a:p>
          <a:p>
            <a:pPr marL="0" indent="0">
              <a:buFontTx/>
              <a:buNone/>
            </a:pPr>
            <a:r>
              <a:rPr lang="fr-FR" dirty="0"/>
              <a:t>Unies dans leurs perspectives de la population</a:t>
            </a:r>
          </a:p>
          <a:p>
            <a:pPr marL="0" indent="0">
              <a:buFontTx/>
              <a:buNone/>
            </a:pPr>
            <a:r>
              <a:rPr lang="fr-FR" dirty="0"/>
              <a:t>mondiale (World Population Prospects) ou du</a:t>
            </a:r>
          </a:p>
          <a:p>
            <a:pPr marL="0" indent="0">
              <a:buFontTx/>
              <a:buNone/>
            </a:pPr>
            <a:r>
              <a:rPr lang="fr-FR" dirty="0"/>
              <a:t>nombre de naissances vivantes corrigé de la</a:t>
            </a:r>
          </a:p>
          <a:p>
            <a:pPr marL="0" indent="0">
              <a:buFontTx/>
              <a:buNone/>
            </a:pPr>
            <a:r>
              <a:rPr lang="fr-FR" dirty="0"/>
              <a:t>part de naissances de jumeaux ou de triplés).</a:t>
            </a:r>
          </a:p>
          <a:p>
            <a:pPr marL="0" indent="0">
              <a:buFontTx/>
              <a:buNone/>
            </a:pPr>
            <a:endParaRPr lang="fr-FR" dirty="0"/>
          </a:p>
          <a:p>
            <a:pPr marL="0" indent="0">
              <a:buFontTx/>
              <a:buNone/>
            </a:pPr>
            <a:r>
              <a:rPr lang="fr-FR" dirty="0"/>
              <a:t>4. Proportion de personnes handicapées bénéficiant</a:t>
            </a:r>
          </a:p>
          <a:p>
            <a:pPr marL="0" indent="0">
              <a:buFontTx/>
              <a:buNone/>
            </a:pPr>
            <a:r>
              <a:rPr lang="fr-FR" dirty="0"/>
              <a:t>de prestations: nombre de personnes qui</a:t>
            </a:r>
          </a:p>
          <a:p>
            <a:pPr marL="0" indent="0">
              <a:buFontTx/>
              <a:buNone/>
            </a:pPr>
            <a:r>
              <a:rPr lang="fr-FR" dirty="0"/>
              <a:t>perçoivent des prestations d’invalidité</a:t>
            </a:r>
          </a:p>
          <a:p>
            <a:pPr marL="0" indent="0">
              <a:buFontTx/>
              <a:buNone/>
            </a:pPr>
            <a:r>
              <a:rPr lang="fr-FR" dirty="0"/>
              <a:t>rapporté au nombre de personnes lourdement</a:t>
            </a:r>
          </a:p>
          <a:p>
            <a:pPr marL="0" indent="0">
              <a:buFontTx/>
              <a:buNone/>
            </a:pPr>
            <a:r>
              <a:rPr lang="fr-FR" dirty="0"/>
              <a:t>handicapées. Ce dernier est calculé comme le</a:t>
            </a:r>
          </a:p>
          <a:p>
            <a:pPr marL="0" indent="0">
              <a:buFontTx/>
              <a:buNone/>
            </a:pPr>
            <a:r>
              <a:rPr lang="fr-FR" dirty="0"/>
              <a:t>produit des ratios de prévalence du handicap</a:t>
            </a:r>
          </a:p>
          <a:p>
            <a:pPr marL="0" indent="0">
              <a:buFontTx/>
              <a:buNone/>
            </a:pPr>
            <a:endParaRPr lang="fr-FR" dirty="0"/>
          </a:p>
          <a:p>
            <a:pPr marL="0" indent="0">
              <a:buFontTx/>
              <a:buNone/>
            </a:pPr>
            <a:r>
              <a:rPr lang="fr-FR" dirty="0"/>
              <a:t>établis par l’OMS pour chaque groupe de pays)</a:t>
            </a:r>
          </a:p>
          <a:p>
            <a:pPr marL="0" indent="0">
              <a:buFontTx/>
              <a:buNone/>
            </a:pPr>
            <a:r>
              <a:rPr lang="fr-FR" dirty="0"/>
              <a:t>et de la population de chaque pays.</a:t>
            </a:r>
          </a:p>
          <a:p>
            <a:pPr marL="0" indent="0">
              <a:buFontTx/>
              <a:buNone/>
            </a:pPr>
            <a:endParaRPr lang="fr-FR" dirty="0"/>
          </a:p>
          <a:p>
            <a:pPr marL="0" indent="0">
              <a:buFontTx/>
              <a:buNone/>
            </a:pPr>
            <a:r>
              <a:rPr lang="fr-FR" dirty="0"/>
              <a:t>5. Proportion de chômeurs indemnisés: part des</a:t>
            </a:r>
          </a:p>
          <a:p>
            <a:pPr marL="0" indent="0">
              <a:buFontTx/>
              <a:buNone/>
            </a:pPr>
            <a:r>
              <a:rPr lang="fr-FR" dirty="0"/>
              <a:t>bénéficiaires de prestations de chômage en</a:t>
            </a:r>
          </a:p>
          <a:p>
            <a:pPr marL="0" indent="0">
              <a:buFontTx/>
              <a:buNone/>
            </a:pPr>
            <a:r>
              <a:rPr lang="fr-FR" dirty="0"/>
              <a:t>espèces par rapport au nombre de personnes</a:t>
            </a:r>
          </a:p>
          <a:p>
            <a:pPr marL="0" indent="0">
              <a:buFontTx/>
              <a:buNone/>
            </a:pPr>
            <a:r>
              <a:rPr lang="fr-FR" dirty="0"/>
              <a:t>sans emploi.</a:t>
            </a:r>
          </a:p>
          <a:p>
            <a:pPr marL="0" indent="0">
              <a:buFontTx/>
              <a:buNone/>
            </a:pPr>
            <a:endParaRPr lang="fr-FR" dirty="0"/>
          </a:p>
          <a:p>
            <a:pPr marL="0" indent="0">
              <a:buFontTx/>
              <a:buNone/>
            </a:pPr>
            <a:r>
              <a:rPr lang="fr-FR" dirty="0"/>
              <a:t>6. Proportion de travailleurs couverts en cas</a:t>
            </a:r>
          </a:p>
          <a:p>
            <a:pPr marL="0" indent="0">
              <a:buFontTx/>
              <a:buNone/>
            </a:pPr>
            <a:r>
              <a:rPr lang="fr-FR" dirty="0"/>
              <a:t>d’accident du travail: pourcentage de la main-</a:t>
            </a:r>
          </a:p>
          <a:p>
            <a:pPr marL="0" indent="0">
              <a:buFontTx/>
              <a:buNone/>
            </a:pPr>
            <a:r>
              <a:rPr lang="fr-FR" dirty="0"/>
              <a:t>d’œuvre assurée contre les accidents du travail</a:t>
            </a:r>
          </a:p>
          <a:p>
            <a:pPr marL="0" indent="0">
              <a:buFontTx/>
              <a:buNone/>
            </a:pPr>
            <a:r>
              <a:rPr lang="fr-FR" dirty="0"/>
              <a:t>dans la main-d’œuvre totale.</a:t>
            </a:r>
          </a:p>
          <a:p>
            <a:pPr marL="0" indent="0">
              <a:buFontTx/>
              <a:buNone/>
            </a:pPr>
            <a:endParaRPr lang="fr-FR" dirty="0"/>
          </a:p>
          <a:p>
            <a:pPr marL="0" indent="0">
              <a:buFontTx/>
              <a:buNone/>
            </a:pPr>
            <a:r>
              <a:rPr lang="fr-FR" dirty="0"/>
              <a:t>7. Proportion de personnes âgées bénéficiant</a:t>
            </a:r>
          </a:p>
          <a:p>
            <a:pPr marL="0" indent="0">
              <a:buFontTx/>
              <a:buNone/>
            </a:pPr>
            <a:r>
              <a:rPr lang="fr-FR" dirty="0"/>
              <a:t>de prestations de vieillesse: pourcentage de</a:t>
            </a:r>
          </a:p>
          <a:p>
            <a:pPr marL="0" indent="0">
              <a:buFontTx/>
              <a:buNone/>
            </a:pPr>
            <a:r>
              <a:rPr lang="fr-FR" dirty="0"/>
              <a:t>personnes ayant atteint l’âge légal de départ</a:t>
            </a:r>
          </a:p>
          <a:p>
            <a:pPr marL="0" indent="0">
              <a:buFontTx/>
              <a:buNone/>
            </a:pPr>
            <a:r>
              <a:rPr lang="fr-FR" dirty="0"/>
              <a:t>à la retraite qui perçoivent des prestations de</a:t>
            </a:r>
          </a:p>
          <a:p>
            <a:pPr marL="0" indent="0">
              <a:buFontTx/>
              <a:buNone/>
            </a:pPr>
            <a:r>
              <a:rPr lang="fr-FR" dirty="0"/>
              <a:t>vieillesse (contributives ou non contributives).</a:t>
            </a:r>
          </a:p>
          <a:p>
            <a:pPr marL="0" indent="0">
              <a:buFontTx/>
              <a:buNone/>
            </a:pPr>
            <a:endParaRPr lang="fr-FR" dirty="0"/>
          </a:p>
          <a:p>
            <a:pPr marL="0" indent="0">
              <a:buFontTx/>
              <a:buNone/>
            </a:pPr>
            <a:r>
              <a:rPr lang="fr-FR" dirty="0"/>
              <a:t>8. Proportion de personnes vulnérables bénéficiant</a:t>
            </a:r>
          </a:p>
          <a:p>
            <a:pPr marL="0" indent="0">
              <a:buFontTx/>
              <a:buNone/>
            </a:pPr>
            <a:r>
              <a:rPr lang="fr-FR" dirty="0"/>
              <a:t>de prestations: pourcentage de personnes</a:t>
            </a:r>
          </a:p>
          <a:p>
            <a:pPr marL="0" indent="0">
              <a:buFontTx/>
              <a:buNone/>
            </a:pPr>
            <a:r>
              <a:rPr lang="fr-FR" dirty="0"/>
              <a:t>vulnérables percevant une prestation</a:t>
            </a:r>
          </a:p>
          <a:p>
            <a:pPr marL="0" indent="0">
              <a:buFontTx/>
              <a:buNone/>
            </a:pPr>
            <a:r>
              <a:rPr lang="fr-FR" dirty="0"/>
              <a:t>d’assistance sociale en espèces. Le nombre</a:t>
            </a:r>
          </a:p>
          <a:p>
            <a:pPr marL="0" indent="0">
              <a:buFontTx/>
              <a:buNone/>
            </a:pPr>
            <a:r>
              <a:rPr lang="fr-FR" dirty="0"/>
              <a:t>de personnes vulnérables s’obtient en</a:t>
            </a:r>
          </a:p>
          <a:p>
            <a:pPr marL="0" indent="0">
              <a:buFontTx/>
              <a:buNone/>
            </a:pPr>
            <a:r>
              <a:rPr lang="fr-FR" dirty="0"/>
              <a:t>retranchant de la population totale les</a:t>
            </a:r>
          </a:p>
          <a:p>
            <a:pPr marL="0" indent="0">
              <a:buFontTx/>
              <a:buNone/>
            </a:pPr>
            <a:r>
              <a:rPr lang="fr-FR" dirty="0"/>
              <a:t>personnes en âge de travailler qui cotisent à un</a:t>
            </a:r>
          </a:p>
          <a:p>
            <a:pPr marL="0" indent="0">
              <a:buFontTx/>
              <a:buNone/>
            </a:pPr>
            <a:r>
              <a:rPr lang="fr-FR" dirty="0"/>
              <a:t>régime d’assurance sociale ou qui perçoivent</a:t>
            </a:r>
          </a:p>
          <a:p>
            <a:pPr marL="0" indent="0">
              <a:buFontTx/>
              <a:buNone/>
            </a:pPr>
            <a:r>
              <a:rPr lang="fr-FR" dirty="0"/>
              <a:t>des prestations contributives, et les personnes</a:t>
            </a:r>
          </a:p>
          <a:p>
            <a:pPr marL="0" indent="0">
              <a:buFontTx/>
              <a:buNone/>
            </a:pPr>
            <a:r>
              <a:rPr lang="fr-FR" dirty="0"/>
              <a:t>ayant atteint l’âge de la retraite qui perçoivent</a:t>
            </a:r>
          </a:p>
          <a:p>
            <a:pPr marL="0" indent="0">
              <a:buFontTx/>
              <a:buNone/>
            </a:pPr>
            <a:r>
              <a:rPr lang="fr-FR" dirty="0"/>
              <a:t>des prestations contributives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7F0F0-A940-23E9-196E-1D8C9AB016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2C9111-81C2-BF0A-D5C9-8FD1E7FC42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F66B15-96AB-024F-4C02-C1C04B3857B7}"/>
              </a:ext>
            </a:extLst>
          </p:cNvPr>
          <p:cNvSpPr>
            <a:spLocks noGrp="1"/>
          </p:cNvSpPr>
          <p:nvPr>
            <p:ph type="body" idx="1"/>
          </p:nvPr>
        </p:nvSpPr>
        <p:spPr/>
        <p:txBody>
          <a:bodyPr/>
          <a:lstStyle/>
          <a:p>
            <a:pPr marL="171450" indent="-171450">
              <a:buFontTx/>
              <a:buChar char="-"/>
            </a:pPr>
            <a:endParaRPr lang="en-US" dirty="0"/>
          </a:p>
        </p:txBody>
      </p:sp>
      <p:sp>
        <p:nvSpPr>
          <p:cNvPr id="4" name="Slide Number Placeholder 3">
            <a:extLst>
              <a:ext uri="{FF2B5EF4-FFF2-40B4-BE49-F238E27FC236}">
                <a16:creationId xmlns:a16="http://schemas.microsoft.com/office/drawing/2014/main" id="{FF5D5711-94DE-24DD-C112-4905A1DE2C74}"/>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6316161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A4F95-9630-3CE5-D4BF-E816B8F9E7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04A510-111A-C6D1-85EC-1C8B3805AE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FBEC79-17C4-CDB2-3AD3-346C3B34EB07}"/>
              </a:ext>
            </a:extLst>
          </p:cNvPr>
          <p:cNvSpPr>
            <a:spLocks noGrp="1"/>
          </p:cNvSpPr>
          <p:nvPr>
            <p:ph type="body" idx="1"/>
          </p:nvPr>
        </p:nvSpPr>
        <p:spPr/>
        <p:txBody>
          <a:bodyPr/>
          <a:lstStyle/>
          <a:p>
            <a:pPr marL="171450" indent="-171450">
              <a:buFontTx/>
              <a:buChar char="-"/>
            </a:pPr>
            <a:endParaRPr lang="en-US" dirty="0"/>
          </a:p>
        </p:txBody>
      </p:sp>
      <p:sp>
        <p:nvSpPr>
          <p:cNvPr id="4" name="Slide Number Placeholder 3">
            <a:extLst>
              <a:ext uri="{FF2B5EF4-FFF2-40B4-BE49-F238E27FC236}">
                <a16:creationId xmlns:a16="http://schemas.microsoft.com/office/drawing/2014/main" id="{33D36733-38A0-B211-25F7-3EAE1F45A42F}"/>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1730689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F2A1F-4DA2-9FB1-C694-A40A390237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BEFBA9-26C3-2E47-741C-DD09FE9C6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EC3E5-A7B5-ED70-4C02-E3D5D857405D}"/>
              </a:ext>
            </a:extLst>
          </p:cNvPr>
          <p:cNvSpPr>
            <a:spLocks noGrp="1"/>
          </p:cNvSpPr>
          <p:nvPr>
            <p:ph type="body" idx="1"/>
          </p:nvPr>
        </p:nvSpPr>
        <p:spPr/>
        <p:txBody>
          <a:bodyPr/>
          <a:lstStyle/>
          <a:p>
            <a:pPr marL="171450" indent="-171450">
              <a:buFontTx/>
              <a:buChar char="-"/>
            </a:pPr>
            <a:endParaRPr lang="en-US" dirty="0"/>
          </a:p>
        </p:txBody>
      </p:sp>
      <p:sp>
        <p:nvSpPr>
          <p:cNvPr id="4" name="Slide Number Placeholder 3">
            <a:extLst>
              <a:ext uri="{FF2B5EF4-FFF2-40B4-BE49-F238E27FC236}">
                <a16:creationId xmlns:a16="http://schemas.microsoft.com/office/drawing/2014/main" id="{12AB3323-5E7C-977E-C0C6-210A0A4A7290}"/>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8586106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4AA7E-464D-05D3-ACDC-1716B744C9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90B03B-C054-8DFB-E918-D5D32EFBC1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FC0B22-994B-39AF-561E-8A0639AF5542}"/>
              </a:ext>
            </a:extLst>
          </p:cNvPr>
          <p:cNvSpPr>
            <a:spLocks noGrp="1"/>
          </p:cNvSpPr>
          <p:nvPr>
            <p:ph type="body" idx="1"/>
          </p:nvPr>
        </p:nvSpPr>
        <p:spPr/>
        <p:txBody>
          <a:bodyPr/>
          <a:lstStyle/>
          <a:p>
            <a:r>
              <a:rPr lang="en-US"/>
              <a:t> Présenter l’ESS comme un outil de compilation, pas une enquête ménage.
 L’ESS organise les données administratives des institutions.
 Elle permet de relier régimes, prestations et indicateurs.
 Elle sert à la fois au reporting national et international.</a:t>
            </a:r>
            <a:endParaRPr lang="en-US" dirty="0"/>
          </a:p>
        </p:txBody>
      </p:sp>
      <p:sp>
        <p:nvSpPr>
          <p:cNvPr id="4" name="Slide Number Placeholder 3">
            <a:extLst>
              <a:ext uri="{FF2B5EF4-FFF2-40B4-BE49-F238E27FC236}">
                <a16:creationId xmlns:a16="http://schemas.microsoft.com/office/drawing/2014/main" id="{E34DF070-480C-ECA7-534F-765C1BAD98ED}"/>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618829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8" Type="http://schemas.openxmlformats.org/officeDocument/2006/relationships/hyperlink" Target="https://www.social-protection.org/gimi/WSPDB.action?id=19" TargetMode="External"/><Relationship Id="rId3" Type="http://schemas.openxmlformats.org/officeDocument/2006/relationships/hyperlink" Target="https://www.social-protection.org/gimi/ShowWiki.action;jsessionid=-7ZaO3m2gdeA-8_AbLiw3nArSgPQsQr-q4ro9H1A2IoZHCgA_1KO!-765179005?id=629&amp;lang=FR" TargetMode="External"/><Relationship Id="rId7" Type="http://schemas.openxmlformats.org/officeDocument/2006/relationships/image" Target="../media/image6.emf"/><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png"/><Relationship Id="rId4" Type="http://schemas.openxmlformats.org/officeDocument/2006/relationships/image" Target="../media/image3.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1428A0"/>
          </a:solidFill>
          <a:ln w="12700">
            <a:solidFill>
              <a:srgbClr val="1428A0"/>
            </a:solidFill>
            <a:prstDash val="solid"/>
          </a:ln>
        </p:spPr>
        <p:txBody>
          <a:bodyPr/>
          <a:lstStyle/>
          <a:p>
            <a:endParaRPr lang="fr-CH" noProof="0" dirty="0"/>
          </a:p>
        </p:txBody>
      </p:sp>
      <p:sp>
        <p:nvSpPr>
          <p:cNvPr id="4" name="Text 1"/>
          <p:cNvSpPr/>
          <p:nvPr/>
        </p:nvSpPr>
        <p:spPr>
          <a:xfrm>
            <a:off x="777240" y="1828800"/>
            <a:ext cx="10515600" cy="457200"/>
          </a:xfrm>
          <a:prstGeom prst="rect">
            <a:avLst/>
          </a:prstGeom>
          <a:noFill/>
          <a:ln/>
        </p:spPr>
        <p:txBody>
          <a:bodyPr wrap="square" rtlCol="0" anchor="ctr">
            <a:normAutofit fontScale="92500" lnSpcReduction="10000"/>
          </a:bodyPr>
          <a:lstStyle/>
          <a:p>
            <a:pPr marL="0" indent="0">
              <a:buNone/>
            </a:pPr>
            <a:r>
              <a:rPr lang="fr-CH" sz="2800" b="1" noProof="0" dirty="0">
                <a:solidFill>
                  <a:srgbClr val="1428A0"/>
                </a:solidFill>
              </a:rPr>
              <a:t>MÉTHODOLOGIE </a:t>
            </a:r>
            <a:r>
              <a:rPr lang="fr-CH" sz="2800" b="1">
                <a:solidFill>
                  <a:srgbClr val="1428A0"/>
                </a:solidFill>
              </a:rPr>
              <a:t>ET </a:t>
            </a:r>
            <a:r>
              <a:rPr lang="fr-CH" sz="2800" b="1" noProof="0">
                <a:solidFill>
                  <a:srgbClr val="1428A0"/>
                </a:solidFill>
              </a:rPr>
              <a:t>INDICATEURS </a:t>
            </a:r>
            <a:r>
              <a:rPr lang="fr-CH" sz="2800" b="1" noProof="0" dirty="0">
                <a:solidFill>
                  <a:srgbClr val="1428A0"/>
                </a:solidFill>
              </a:rPr>
              <a:t>ODD 1.3.1</a:t>
            </a:r>
            <a:endParaRPr lang="fr-CH" sz="2800" noProof="0" dirty="0"/>
          </a:p>
        </p:txBody>
      </p:sp>
      <p:sp>
        <p:nvSpPr>
          <p:cNvPr id="5" name="Shape 2"/>
          <p:cNvSpPr/>
          <p:nvPr/>
        </p:nvSpPr>
        <p:spPr>
          <a:xfrm>
            <a:off x="777240" y="2514600"/>
            <a:ext cx="3840480" cy="0"/>
          </a:xfrm>
          <a:prstGeom prst="line">
            <a:avLst/>
          </a:prstGeom>
          <a:noFill/>
          <a:ln w="25400">
            <a:solidFill>
              <a:srgbClr val="E21836"/>
            </a:solidFill>
            <a:prstDash val="solid"/>
          </a:ln>
        </p:spPr>
        <p:txBody>
          <a:bodyPr/>
          <a:lstStyle/>
          <a:p>
            <a:endParaRPr lang="fr-CH" noProof="0" dirty="0"/>
          </a:p>
        </p:txBody>
      </p:sp>
      <p:sp>
        <p:nvSpPr>
          <p:cNvPr id="6" name="Text 3"/>
          <p:cNvSpPr/>
          <p:nvPr/>
        </p:nvSpPr>
        <p:spPr>
          <a:xfrm>
            <a:off x="777240" y="2788920"/>
            <a:ext cx="9601200" cy="320040"/>
          </a:xfrm>
          <a:prstGeom prst="rect">
            <a:avLst/>
          </a:prstGeom>
          <a:noFill/>
          <a:ln/>
        </p:spPr>
        <p:txBody>
          <a:bodyPr wrap="square" rtlCol="0" anchor="ctr"/>
          <a:lstStyle/>
          <a:p>
            <a:pPr marL="0" indent="0">
              <a:buNone/>
            </a:pPr>
            <a:r>
              <a:rPr lang="fr-CH" sz="1800" noProof="0" dirty="0">
                <a:solidFill>
                  <a:srgbClr val="1F2933"/>
                </a:solidFill>
              </a:rPr>
              <a:t>2e Bulletin statistique de la protection sociale en RDC</a:t>
            </a:r>
            <a:endParaRPr lang="fr-CH" sz="1800" noProof="0" dirty="0"/>
          </a:p>
        </p:txBody>
      </p:sp>
      <p:sp>
        <p:nvSpPr>
          <p:cNvPr id="7" name="Text 4"/>
          <p:cNvSpPr/>
          <p:nvPr/>
        </p:nvSpPr>
        <p:spPr>
          <a:xfrm>
            <a:off x="777240" y="3182112"/>
            <a:ext cx="9601200" cy="256032"/>
          </a:xfrm>
          <a:prstGeom prst="rect">
            <a:avLst/>
          </a:prstGeom>
          <a:noFill/>
          <a:ln/>
        </p:spPr>
        <p:txBody>
          <a:bodyPr wrap="square" rtlCol="0" anchor="ctr"/>
          <a:lstStyle/>
          <a:p>
            <a:pPr marL="0" indent="0">
              <a:buNone/>
            </a:pPr>
            <a:r>
              <a:rPr lang="fr-CH" sz="1400" noProof="0" dirty="0">
                <a:solidFill>
                  <a:srgbClr val="586069"/>
                </a:solidFill>
              </a:rPr>
              <a:t>Atelier de cadrage et de lancement</a:t>
            </a:r>
            <a:endParaRPr lang="fr-CH" sz="1400" noProof="0" dirty="0"/>
          </a:p>
        </p:txBody>
      </p:sp>
      <p:sp>
        <p:nvSpPr>
          <p:cNvPr id="8" name="Text 5"/>
          <p:cNvSpPr/>
          <p:nvPr/>
        </p:nvSpPr>
        <p:spPr>
          <a:xfrm>
            <a:off x="777240" y="3502152"/>
            <a:ext cx="9601200" cy="256032"/>
          </a:xfrm>
          <a:prstGeom prst="rect">
            <a:avLst/>
          </a:prstGeom>
          <a:noFill/>
          <a:ln/>
        </p:spPr>
        <p:txBody>
          <a:bodyPr wrap="square" rtlCol="0" anchor="ctr"/>
          <a:lstStyle/>
          <a:p>
            <a:pPr marL="0" indent="0">
              <a:buNone/>
            </a:pPr>
            <a:r>
              <a:rPr lang="fr-CH" sz="1300" noProof="0" dirty="0">
                <a:solidFill>
                  <a:srgbClr val="586069"/>
                </a:solidFill>
              </a:rPr>
              <a:t>Kinshasa, RDC | 14 mai 2026</a:t>
            </a:r>
            <a:endParaRPr lang="fr-CH" sz="1300" noProof="0" dirty="0"/>
          </a:p>
        </p:txBody>
      </p:sp>
      <p:sp>
        <p:nvSpPr>
          <p:cNvPr id="9" name="Shape 6"/>
          <p:cNvSpPr/>
          <p:nvPr/>
        </p:nvSpPr>
        <p:spPr>
          <a:xfrm>
            <a:off x="777240" y="4736592"/>
            <a:ext cx="10515600" cy="685800"/>
          </a:xfrm>
          <a:prstGeom prst="rect">
            <a:avLst/>
          </a:prstGeom>
          <a:solidFill>
            <a:srgbClr val="F4F7FC"/>
          </a:solidFill>
          <a:ln w="12700">
            <a:solidFill>
              <a:srgbClr val="D0DAF0"/>
            </a:solidFill>
            <a:prstDash val="solid"/>
          </a:ln>
        </p:spPr>
        <p:txBody>
          <a:bodyPr/>
          <a:lstStyle/>
          <a:p>
            <a:endParaRPr lang="fr-CH" noProof="0" dirty="0"/>
          </a:p>
        </p:txBody>
      </p:sp>
      <p:sp>
        <p:nvSpPr>
          <p:cNvPr id="10" name="Text 7"/>
          <p:cNvSpPr/>
          <p:nvPr/>
        </p:nvSpPr>
        <p:spPr>
          <a:xfrm>
            <a:off x="987552" y="4901184"/>
            <a:ext cx="10132732" cy="365760"/>
          </a:xfrm>
          <a:prstGeom prst="rect">
            <a:avLst/>
          </a:prstGeom>
          <a:noFill/>
          <a:ln/>
        </p:spPr>
        <p:txBody>
          <a:bodyPr wrap="square" rtlCol="0" anchor="ctr">
            <a:normAutofit fontScale="70000" lnSpcReduction="20000"/>
          </a:bodyPr>
          <a:lstStyle/>
          <a:p>
            <a:r>
              <a:rPr lang="fr-CH" dirty="0">
                <a:solidFill>
                  <a:srgbClr val="1E1E1E"/>
                </a:solidFill>
                <a:latin typeface="Arial" pitchFamily="34" charset="0"/>
                <a:ea typeface="Arial" pitchFamily="34" charset="-122"/>
                <a:cs typeface="Arial" pitchFamily="34" charset="-120"/>
              </a:rPr>
              <a:t>Sous l’égide du Secrétariat National de la Protection Sociale (SNPS)</a:t>
            </a:r>
            <a:endParaRPr lang="fr-CH" dirty="0"/>
          </a:p>
          <a:p>
            <a:r>
              <a:rPr lang="fr-CH" sz="1200" dirty="0">
                <a:solidFill>
                  <a:srgbClr val="1E1E1E"/>
                </a:solidFill>
                <a:latin typeface="Arial" pitchFamily="34" charset="0"/>
                <a:ea typeface="Arial" pitchFamily="34" charset="-122"/>
                <a:cs typeface="Arial" pitchFamily="34" charset="-120"/>
              </a:rPr>
              <a:t>Avec l’appui technique de l’Organisation internationale du Travail (OIT)</a:t>
            </a:r>
            <a:endParaRPr lang="fr-CH" sz="1200" dirty="0"/>
          </a:p>
        </p:txBody>
      </p:sp>
      <p:sp>
        <p:nvSpPr>
          <p:cNvPr id="11" name="Text 8"/>
          <p:cNvSpPr/>
          <p:nvPr/>
        </p:nvSpPr>
        <p:spPr>
          <a:xfrm>
            <a:off x="594360" y="6510528"/>
            <a:ext cx="6583680" cy="164592"/>
          </a:xfrm>
          <a:prstGeom prst="rect">
            <a:avLst/>
          </a:prstGeom>
          <a:noFill/>
          <a:ln/>
        </p:spPr>
        <p:txBody>
          <a:bodyPr wrap="square" rtlCol="0" anchor="ctr"/>
          <a:lstStyle/>
          <a:p>
            <a:pPr marL="0" indent="0">
              <a:buNone/>
            </a:pPr>
            <a:r>
              <a:rPr lang="fr-CH" sz="750" noProof="0" dirty="0">
                <a:solidFill>
                  <a:srgbClr val="586069"/>
                </a:solidFill>
                <a:latin typeface="Arial" pitchFamily="34" charset="0"/>
                <a:ea typeface="Arial" pitchFamily="34" charset="-122"/>
                <a:cs typeface="Arial" pitchFamily="34" charset="-120"/>
              </a:rPr>
              <a:t>Faire avancer la justice sociale, promouvoir le travail décent</a:t>
            </a:r>
            <a:endParaRPr lang="fr-CH" sz="750" noProof="0" dirty="0"/>
          </a:p>
        </p:txBody>
      </p:sp>
      <p:sp>
        <p:nvSpPr>
          <p:cNvPr id="12" name="Text 9"/>
          <p:cNvSpPr/>
          <p:nvPr/>
        </p:nvSpPr>
        <p:spPr>
          <a:xfrm>
            <a:off x="7543800" y="6510528"/>
            <a:ext cx="3017520" cy="164592"/>
          </a:xfrm>
          <a:prstGeom prst="rect">
            <a:avLst/>
          </a:prstGeom>
          <a:noFill/>
          <a:ln/>
        </p:spPr>
        <p:txBody>
          <a:bodyPr wrap="square" rtlCol="0" anchor="ctr"/>
          <a:lstStyle/>
          <a:p>
            <a:pPr marL="0" indent="0" algn="r">
              <a:buNone/>
            </a:pPr>
            <a:r>
              <a:rPr lang="fr-CH" sz="730" noProof="0" dirty="0">
                <a:solidFill>
                  <a:srgbClr val="586069"/>
                </a:solidFill>
                <a:latin typeface="Arial" pitchFamily="34" charset="0"/>
                <a:ea typeface="Arial" pitchFamily="34" charset="-122"/>
                <a:cs typeface="Arial" pitchFamily="34" charset="-120"/>
              </a:rPr>
              <a:t>Atelier 2e Bulletin Statistique RDC | 14 mai 2026</a:t>
            </a:r>
            <a:endParaRPr lang="fr-CH" sz="730" noProof="0" dirty="0"/>
          </a:p>
        </p:txBody>
      </p:sp>
      <p:sp>
        <p:nvSpPr>
          <p:cNvPr id="13" name="Text 10"/>
          <p:cNvSpPr/>
          <p:nvPr/>
        </p:nvSpPr>
        <p:spPr>
          <a:xfrm>
            <a:off x="11292840" y="6473952"/>
            <a:ext cx="411480" cy="201168"/>
          </a:xfrm>
          <a:prstGeom prst="rect">
            <a:avLst/>
          </a:prstGeom>
          <a:noFill/>
          <a:ln/>
        </p:spPr>
        <p:txBody>
          <a:bodyPr wrap="square" lIns="27432" tIns="18288" rIns="27432" bIns="18288" rtlCol="0" anchor="ctr"/>
          <a:lstStyle/>
          <a:p>
            <a:pPr marL="0" indent="0" algn="r">
              <a:buNone/>
            </a:pPr>
            <a:r>
              <a:rPr lang="fr-CH" sz="850" b="0" noProof="0" dirty="0">
                <a:solidFill>
                  <a:srgbClr val="505050"/>
                </a:solidFill>
                <a:latin typeface="Arial"/>
              </a:rPr>
              <a:t>1</a:t>
            </a:r>
            <a:endParaRPr lang="fr-CH" sz="750" noProof="0" dirty="0"/>
          </a:p>
        </p:txBody>
      </p:sp>
      <p:pic>
        <p:nvPicPr>
          <p:cNvPr id="14" name="Image 0" descr="/mnt/data/ref_unzip/ppt/media/image1.png">
            <a:extLst>
              <a:ext uri="{FF2B5EF4-FFF2-40B4-BE49-F238E27FC236}">
                <a16:creationId xmlns:a16="http://schemas.microsoft.com/office/drawing/2014/main" id="{60286BC8-30DB-B25C-2ED2-951867D180B1}"/>
              </a:ext>
            </a:extLst>
          </p:cNvPr>
          <p:cNvPicPr>
            <a:picLocks noChangeAspect="1"/>
          </p:cNvPicPr>
          <p:nvPr/>
        </p:nvPicPr>
        <p:blipFill>
          <a:blip r:embed="rId3"/>
          <a:stretch>
            <a:fillRect/>
          </a:stretch>
        </p:blipFill>
        <p:spPr>
          <a:xfrm>
            <a:off x="640080" y="658368"/>
            <a:ext cx="1828800" cy="63093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428A0"/>
          </a:solidFill>
          <a:ln w="12700">
            <a:solidFill>
              <a:srgbClr val="1428A0"/>
            </a:solidFill>
            <a:prstDash val="solid"/>
          </a:ln>
        </p:spPr>
        <p:txBody>
          <a:bodyPr/>
          <a:lstStyle/>
          <a:p>
            <a:endParaRPr lang="fr-CH" noProof="0" dirty="0"/>
          </a:p>
        </p:txBody>
      </p:sp>
      <p:sp>
        <p:nvSpPr>
          <p:cNvPr id="3" name="Text 1"/>
          <p:cNvSpPr/>
          <p:nvPr/>
        </p:nvSpPr>
        <p:spPr>
          <a:xfrm>
            <a:off x="594360" y="420624"/>
            <a:ext cx="8686800" cy="411480"/>
          </a:xfrm>
          <a:prstGeom prst="rect">
            <a:avLst/>
          </a:prstGeom>
          <a:noFill/>
          <a:ln/>
        </p:spPr>
        <p:txBody>
          <a:bodyPr wrap="square" rtlCol="0" anchor="ctr">
            <a:normAutofit fontScale="92500" lnSpcReduction="10000"/>
          </a:bodyPr>
          <a:lstStyle/>
          <a:p>
            <a:pPr marL="0" indent="0">
              <a:buNone/>
            </a:pPr>
            <a:r>
              <a:rPr lang="fr-CH" sz="2400" b="1" noProof="0" dirty="0">
                <a:solidFill>
                  <a:srgbClr val="1428A0"/>
                </a:solidFill>
                <a:latin typeface="Arial" pitchFamily="34" charset="0"/>
                <a:ea typeface="Arial" pitchFamily="34" charset="-122"/>
                <a:cs typeface="Arial" pitchFamily="34" charset="-120"/>
              </a:rPr>
              <a:t>Où en sommes nous dans le déroulé ?</a:t>
            </a:r>
            <a:endParaRPr lang="fr-CH" sz="2400" noProof="0" dirty="0"/>
          </a:p>
        </p:txBody>
      </p:sp>
      <p:sp>
        <p:nvSpPr>
          <p:cNvPr id="4" name="Text 2"/>
          <p:cNvSpPr/>
          <p:nvPr/>
        </p:nvSpPr>
        <p:spPr>
          <a:xfrm>
            <a:off x="612648" y="219456"/>
            <a:ext cx="6858000" cy="155448"/>
          </a:xfrm>
          <a:prstGeom prst="rect">
            <a:avLst/>
          </a:prstGeom>
          <a:noFill/>
          <a:ln/>
        </p:spPr>
        <p:txBody>
          <a:bodyPr wrap="square" rtlCol="0" anchor="ctr"/>
          <a:lstStyle/>
          <a:p>
            <a:pPr marL="0" indent="0">
              <a:buNone/>
            </a:pPr>
            <a:r>
              <a:rPr lang="fr-CH" sz="730" noProof="0" dirty="0">
                <a:solidFill>
                  <a:srgbClr val="586069"/>
                </a:solidFill>
              </a:rPr>
              <a:t>REPÉRAGE</a:t>
            </a:r>
            <a:endParaRPr lang="fr-CH" sz="730" noProof="0" dirty="0"/>
          </a:p>
        </p:txBody>
      </p:sp>
      <p:sp>
        <p:nvSpPr>
          <p:cNvPr id="6" name="Shape 3"/>
          <p:cNvSpPr/>
          <p:nvPr/>
        </p:nvSpPr>
        <p:spPr>
          <a:xfrm>
            <a:off x="594360" y="987552"/>
            <a:ext cx="10972800" cy="0"/>
          </a:xfrm>
          <a:prstGeom prst="line">
            <a:avLst/>
          </a:prstGeom>
          <a:noFill/>
          <a:ln w="12700">
            <a:solidFill>
              <a:srgbClr val="D9E1F2"/>
            </a:solidFill>
            <a:prstDash val="solid"/>
          </a:ln>
        </p:spPr>
        <p:txBody>
          <a:bodyPr/>
          <a:lstStyle/>
          <a:p>
            <a:endParaRPr lang="fr-CH" noProof="0" dirty="0"/>
          </a:p>
        </p:txBody>
      </p:sp>
      <p:sp>
        <p:nvSpPr>
          <p:cNvPr id="7" name="Text 4"/>
          <p:cNvSpPr/>
          <p:nvPr/>
        </p:nvSpPr>
        <p:spPr>
          <a:xfrm>
            <a:off x="594360" y="6510528"/>
            <a:ext cx="6583680" cy="164592"/>
          </a:xfrm>
          <a:prstGeom prst="rect">
            <a:avLst/>
          </a:prstGeom>
          <a:noFill/>
          <a:ln/>
        </p:spPr>
        <p:txBody>
          <a:bodyPr wrap="square" rtlCol="0" anchor="ctr"/>
          <a:lstStyle/>
          <a:p>
            <a:pPr marL="0" indent="0">
              <a:buNone/>
            </a:pPr>
            <a:r>
              <a:rPr lang="fr-CH" sz="750" noProof="0" dirty="0">
                <a:solidFill>
                  <a:srgbClr val="586069"/>
                </a:solidFill>
                <a:latin typeface="Arial" pitchFamily="34" charset="0"/>
                <a:ea typeface="Arial" pitchFamily="34" charset="-122"/>
                <a:cs typeface="Arial" pitchFamily="34" charset="-120"/>
              </a:rPr>
              <a:t>Faire avancer la justice sociale, promouvoir le travail décent</a:t>
            </a:r>
            <a:endParaRPr lang="fr-CH" sz="750" noProof="0" dirty="0"/>
          </a:p>
        </p:txBody>
      </p:sp>
      <p:sp>
        <p:nvSpPr>
          <p:cNvPr id="8" name="Text 5"/>
          <p:cNvSpPr/>
          <p:nvPr/>
        </p:nvSpPr>
        <p:spPr>
          <a:xfrm>
            <a:off x="7543800" y="6510528"/>
            <a:ext cx="3017520" cy="164592"/>
          </a:xfrm>
          <a:prstGeom prst="rect">
            <a:avLst/>
          </a:prstGeom>
          <a:noFill/>
          <a:ln/>
        </p:spPr>
        <p:txBody>
          <a:bodyPr wrap="square" rtlCol="0" anchor="ctr"/>
          <a:lstStyle/>
          <a:p>
            <a:pPr marL="0" indent="0" algn="r">
              <a:buNone/>
            </a:pPr>
            <a:r>
              <a:rPr lang="fr-CH" sz="730" noProof="0" dirty="0">
                <a:solidFill>
                  <a:srgbClr val="586069"/>
                </a:solidFill>
                <a:latin typeface="Arial" pitchFamily="34" charset="0"/>
                <a:ea typeface="Arial" pitchFamily="34" charset="-122"/>
                <a:cs typeface="Arial" pitchFamily="34" charset="-120"/>
              </a:rPr>
              <a:t>Atelier 2e Bulletin Statistique RDC | 14 mai 2026</a:t>
            </a:r>
            <a:endParaRPr lang="fr-CH" sz="730" noProof="0" dirty="0"/>
          </a:p>
        </p:txBody>
      </p:sp>
      <p:sp>
        <p:nvSpPr>
          <p:cNvPr id="9" name="Text 6"/>
          <p:cNvSpPr/>
          <p:nvPr/>
        </p:nvSpPr>
        <p:spPr>
          <a:xfrm>
            <a:off x="11292840" y="6473952"/>
            <a:ext cx="411480" cy="201168"/>
          </a:xfrm>
          <a:prstGeom prst="rect">
            <a:avLst/>
          </a:prstGeom>
          <a:noFill/>
          <a:ln/>
        </p:spPr>
        <p:txBody>
          <a:bodyPr wrap="square" lIns="27432" tIns="18288" rIns="27432" bIns="18288" rtlCol="0" anchor="ctr"/>
          <a:lstStyle/>
          <a:p>
            <a:pPr marL="0" indent="0" algn="r">
              <a:buNone/>
            </a:pPr>
            <a:r>
              <a:rPr lang="fr-CH" sz="850" b="0" noProof="0" dirty="0">
                <a:solidFill>
                  <a:srgbClr val="505050"/>
                </a:solidFill>
                <a:latin typeface="Arial"/>
              </a:rPr>
              <a:t>2</a:t>
            </a:r>
            <a:endParaRPr lang="fr-CH" sz="750" noProof="0" dirty="0"/>
          </a:p>
        </p:txBody>
      </p:sp>
      <p:graphicFrame>
        <p:nvGraphicFramePr>
          <p:cNvPr id="10" name="Table 0"/>
          <p:cNvGraphicFramePr>
            <a:graphicFrameLocks noGrp="1"/>
          </p:cNvGraphicFramePr>
          <p:nvPr>
            <p:extLst>
              <p:ext uri="{D42A27DB-BD31-4B8C-83A1-F6EECF244321}">
                <p14:modId xmlns:p14="http://schemas.microsoft.com/office/powerpoint/2010/main" val="1136224073"/>
              </p:ext>
            </p:extLst>
          </p:nvPr>
        </p:nvGraphicFramePr>
        <p:xfrm>
          <a:off x="777240" y="1143000"/>
          <a:ext cx="10789920" cy="4325112"/>
        </p:xfrm>
        <a:graphic>
          <a:graphicData uri="http://schemas.openxmlformats.org/drawingml/2006/table">
            <a:tbl>
              <a:tblPr/>
              <a:tblGrid>
                <a:gridCol w="8229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8503920">
                  <a:extLst>
                    <a:ext uri="{9D8B030D-6E8A-4147-A177-3AD203B41FA5}">
                      <a16:colId xmlns:a16="http://schemas.microsoft.com/office/drawing/2014/main" val="20002"/>
                    </a:ext>
                  </a:extLst>
                </a:gridCol>
              </a:tblGrid>
              <a:tr h="393192">
                <a:tc>
                  <a:txBody>
                    <a:bodyPr/>
                    <a:lstStyle/>
                    <a:p>
                      <a:pPr marL="0" indent="0" algn="ctr">
                        <a:buNone/>
                      </a:pPr>
                      <a:r>
                        <a:rPr lang="fr-CH" sz="1050" b="1" noProof="0" dirty="0">
                          <a:solidFill>
                            <a:srgbClr val="FFFFFF"/>
                          </a:solidFill>
                          <a:latin typeface="Arial"/>
                        </a:rPr>
                        <a:t>Séquence</a:t>
                      </a:r>
                      <a:endParaRPr lang="fr-CH" sz="95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428A0"/>
                    </a:solidFill>
                  </a:tcPr>
                </a:tc>
                <a:tc>
                  <a:txBody>
                    <a:bodyPr/>
                    <a:lstStyle/>
                    <a:p>
                      <a:pPr marL="0" indent="0" algn="ctr">
                        <a:buNone/>
                      </a:pPr>
                      <a:r>
                        <a:rPr lang="fr-CH" sz="1050" b="1" noProof="0" dirty="0">
                          <a:solidFill>
                            <a:srgbClr val="FFFFFF"/>
                          </a:solidFill>
                          <a:latin typeface="Arial"/>
                        </a:rPr>
                        <a:t>Statut</a:t>
                      </a:r>
                      <a:endParaRPr lang="fr-CH" sz="95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428A0"/>
                    </a:solidFill>
                  </a:tcPr>
                </a:tc>
                <a:tc>
                  <a:txBody>
                    <a:bodyPr/>
                    <a:lstStyle/>
                    <a:p>
                      <a:pPr marL="0" indent="0" algn="ctr">
                        <a:buNone/>
                      </a:pPr>
                      <a:r>
                        <a:rPr lang="fr-CH" sz="1050" b="1" noProof="0" dirty="0">
                          <a:solidFill>
                            <a:srgbClr val="FFFFFF"/>
                          </a:solidFill>
                          <a:latin typeface="Arial"/>
                        </a:rPr>
                        <a:t>Contenu</a:t>
                      </a:r>
                      <a:endParaRPr lang="fr-CH" sz="95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428A0"/>
                    </a:solidFill>
                  </a:tcPr>
                </a:tc>
                <a:extLst>
                  <a:ext uri="{0D108BD9-81ED-4DB2-BD59-A6C34878D82A}">
                    <a16:rowId xmlns:a16="http://schemas.microsoft.com/office/drawing/2014/main" val="10000"/>
                  </a:ext>
                </a:extLst>
              </a:tr>
              <a:tr h="393192">
                <a:tc>
                  <a:txBody>
                    <a:bodyPr/>
                    <a:lstStyle/>
                    <a:p>
                      <a:pPr marL="0" indent="0" algn="ctr">
                        <a:buNone/>
                      </a:pPr>
                      <a:r>
                        <a:rPr lang="fr-CH" sz="1019" noProof="0" dirty="0">
                          <a:solidFill>
                            <a:srgbClr val="1F2933"/>
                          </a:solidFill>
                          <a:latin typeface="Arial"/>
                        </a:rPr>
                        <a:t>1</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fr-CH" sz="1019" noProof="0" dirty="0">
                          <a:solidFill>
                            <a:srgbClr val="1F2933"/>
                          </a:solidFill>
                          <a:latin typeface="Arial"/>
                        </a:rPr>
                        <a:t>✓</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l">
                        <a:buNone/>
                      </a:pPr>
                      <a:r>
                        <a:rPr lang="fr-CH" sz="1019" noProof="0" dirty="0">
                          <a:solidFill>
                            <a:srgbClr val="1F2933"/>
                          </a:solidFill>
                          <a:latin typeface="Arial"/>
                        </a:rPr>
                        <a:t>Ouverture institutionnelle — SNPS</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93192">
                <a:tc>
                  <a:txBody>
                    <a:bodyPr/>
                    <a:lstStyle/>
                    <a:p>
                      <a:pPr marL="0" indent="0" algn="ctr">
                        <a:buNone/>
                      </a:pPr>
                      <a:r>
                        <a:rPr lang="fr-CH" sz="1019" noProof="0" dirty="0">
                          <a:solidFill>
                            <a:srgbClr val="1F2933"/>
                          </a:solidFill>
                          <a:latin typeface="Arial"/>
                        </a:rPr>
                        <a:t>2</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4F7FB"/>
                    </a:solidFill>
                  </a:tcPr>
                </a:tc>
                <a:tc>
                  <a:txBody>
                    <a:bodyPr/>
                    <a:lstStyle/>
                    <a:p>
                      <a:pPr marL="0" indent="0" algn="ctr">
                        <a:buNone/>
                      </a:pPr>
                      <a:r>
                        <a:rPr lang="fr-CH" sz="1019" noProof="0" dirty="0">
                          <a:solidFill>
                            <a:srgbClr val="1F2933"/>
                          </a:solidFill>
                          <a:latin typeface="Arial"/>
                        </a:rPr>
                        <a:t>✓</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4F7FB"/>
                    </a:solidFill>
                  </a:tcPr>
                </a:tc>
                <a:tc>
                  <a:txBody>
                    <a:bodyPr/>
                    <a:lstStyle/>
                    <a:p>
                      <a:pPr marL="0" indent="0" algn="l">
                        <a:buNone/>
                      </a:pPr>
                      <a:r>
                        <a:rPr lang="fr-CH" sz="1019" noProof="0" dirty="0">
                          <a:solidFill>
                            <a:srgbClr val="1F2933"/>
                          </a:solidFill>
                          <a:latin typeface="Arial"/>
                        </a:rPr>
                        <a:t>Cadrage de l’atelier</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4F7FB"/>
                    </a:solidFill>
                  </a:tcPr>
                </a:tc>
                <a:extLst>
                  <a:ext uri="{0D108BD9-81ED-4DB2-BD59-A6C34878D82A}">
                    <a16:rowId xmlns:a16="http://schemas.microsoft.com/office/drawing/2014/main" val="10002"/>
                  </a:ext>
                </a:extLst>
              </a:tr>
              <a:tr h="393192">
                <a:tc>
                  <a:txBody>
                    <a:bodyPr/>
                    <a:lstStyle/>
                    <a:p>
                      <a:pPr marL="0" indent="0" algn="ctr">
                        <a:buNone/>
                      </a:pPr>
                      <a:r>
                        <a:rPr lang="fr-CH" sz="1019" noProof="0" dirty="0">
                          <a:solidFill>
                            <a:srgbClr val="1F2933"/>
                          </a:solidFill>
                          <a:latin typeface="Arial"/>
                        </a:rPr>
                        <a:t>3</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fr-CH" sz="1019" noProof="0" dirty="0">
                          <a:solidFill>
                            <a:srgbClr val="1F2933"/>
                          </a:solidFill>
                          <a:latin typeface="Arial"/>
                        </a:rPr>
                        <a:t>✓</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l">
                        <a:buNone/>
                      </a:pPr>
                      <a:r>
                        <a:rPr lang="fr-CH" sz="1019" noProof="0" dirty="0">
                          <a:solidFill>
                            <a:srgbClr val="1F2933"/>
                          </a:solidFill>
                          <a:latin typeface="Arial"/>
                        </a:rPr>
                        <a:t>Premier tour de table des institutions</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93192">
                <a:tc>
                  <a:txBody>
                    <a:bodyPr/>
                    <a:lstStyle/>
                    <a:p>
                      <a:pPr marL="0" indent="0" algn="ctr">
                        <a:buNone/>
                      </a:pPr>
                      <a:r>
                        <a:rPr lang="fr-CH" sz="1019" noProof="0" dirty="0">
                          <a:solidFill>
                            <a:srgbClr val="1F2933"/>
                          </a:solidFill>
                          <a:latin typeface="Arial"/>
                        </a:rPr>
                        <a:t>4</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4F7FB"/>
                    </a:solidFill>
                  </a:tcPr>
                </a:tc>
                <a:tc>
                  <a:txBody>
                    <a:bodyPr/>
                    <a:lstStyle/>
                    <a:p>
                      <a:pPr marL="0" indent="0" algn="ctr">
                        <a:buNone/>
                      </a:pPr>
                      <a:r>
                        <a:rPr lang="fr-CH" sz="1019" noProof="0" dirty="0">
                          <a:solidFill>
                            <a:srgbClr val="1F2933"/>
                          </a:solidFill>
                          <a:latin typeface="Arial"/>
                        </a:rPr>
                        <a:t>✓</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4F7FB"/>
                    </a:solidFill>
                  </a:tcPr>
                </a:tc>
                <a:tc>
                  <a:txBody>
                    <a:bodyPr/>
                    <a:lstStyle/>
                    <a:p>
                      <a:pPr marL="0" indent="0" algn="l">
                        <a:buNone/>
                      </a:pPr>
                      <a:r>
                        <a:rPr lang="fr-CH" sz="1019" noProof="0" dirty="0">
                          <a:solidFill>
                            <a:srgbClr val="1F2933"/>
                          </a:solidFill>
                          <a:latin typeface="Arial"/>
                        </a:rPr>
                        <a:t>Protection sociale au sens de l’OIT</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4F7FB"/>
                    </a:solidFill>
                  </a:tcPr>
                </a:tc>
                <a:extLst>
                  <a:ext uri="{0D108BD9-81ED-4DB2-BD59-A6C34878D82A}">
                    <a16:rowId xmlns:a16="http://schemas.microsoft.com/office/drawing/2014/main" val="10004"/>
                  </a:ext>
                </a:extLst>
              </a:tr>
              <a:tr h="393192">
                <a:tc>
                  <a:txBody>
                    <a:bodyPr/>
                    <a:lstStyle/>
                    <a:p>
                      <a:pPr marL="0" indent="0" algn="ctr">
                        <a:buNone/>
                      </a:pPr>
                      <a:r>
                        <a:rPr lang="fr-CH" sz="1019" noProof="0" dirty="0">
                          <a:solidFill>
                            <a:srgbClr val="1F2933"/>
                          </a:solidFill>
                          <a:latin typeface="Arial"/>
                        </a:rPr>
                        <a:t>5</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fr-CH" sz="1019" noProof="0" dirty="0">
                          <a:solidFill>
                            <a:srgbClr val="1F2933"/>
                          </a:solidFill>
                          <a:latin typeface="Arial"/>
                        </a:rPr>
                        <a:t>✓</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l">
                        <a:buNone/>
                      </a:pPr>
                      <a:r>
                        <a:rPr lang="fr-CH" sz="1019" noProof="0" dirty="0">
                          <a:solidFill>
                            <a:srgbClr val="1F2933"/>
                          </a:solidFill>
                          <a:latin typeface="Arial"/>
                        </a:rPr>
                        <a:t>Retour sur le 1er Bulletin</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93192">
                <a:tc>
                  <a:txBody>
                    <a:bodyPr/>
                    <a:lstStyle/>
                    <a:p>
                      <a:pPr marL="0" indent="0" algn="ctr">
                        <a:buNone/>
                      </a:pPr>
                      <a:r>
                        <a:rPr lang="fr-CH" sz="1019" noProof="0" dirty="0">
                          <a:solidFill>
                            <a:srgbClr val="1F2933"/>
                          </a:solidFill>
                          <a:latin typeface="Arial"/>
                        </a:rPr>
                        <a:t>6</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4F7FB"/>
                    </a:solidFill>
                  </a:tcPr>
                </a:tc>
                <a:tc>
                  <a:txBody>
                    <a:bodyPr/>
                    <a:lstStyle/>
                    <a:p>
                      <a:pPr marL="0" indent="0" algn="ctr">
                        <a:buNone/>
                      </a:pPr>
                      <a:r>
                        <a:rPr lang="fr-CH" sz="1019" noProof="0" dirty="0">
                          <a:solidFill>
                            <a:srgbClr val="1F2933"/>
                          </a:solidFill>
                          <a:latin typeface="Arial"/>
                        </a:rPr>
                        <a:t>✓</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4F7FB"/>
                    </a:solidFill>
                  </a:tcPr>
                </a:tc>
                <a:tc>
                  <a:txBody>
                    <a:bodyPr/>
                    <a:lstStyle/>
                    <a:p>
                      <a:pPr marL="0" indent="0" algn="l">
                        <a:buNone/>
                      </a:pPr>
                      <a:r>
                        <a:rPr lang="fr-CH" sz="1019" noProof="0" dirty="0">
                          <a:solidFill>
                            <a:srgbClr val="1F2933"/>
                          </a:solidFill>
                          <a:latin typeface="Arial"/>
                        </a:rPr>
                        <a:t>Échanges institutionnels et évolutions récentes</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4F7FB"/>
                    </a:solidFill>
                  </a:tcPr>
                </a:tc>
                <a:extLst>
                  <a:ext uri="{0D108BD9-81ED-4DB2-BD59-A6C34878D82A}">
                    <a16:rowId xmlns:a16="http://schemas.microsoft.com/office/drawing/2014/main" val="10006"/>
                  </a:ext>
                </a:extLst>
              </a:tr>
              <a:tr h="393192">
                <a:tc>
                  <a:txBody>
                    <a:bodyPr/>
                    <a:lstStyle/>
                    <a:p>
                      <a:pPr marL="0" indent="0" algn="ctr">
                        <a:buNone/>
                      </a:pPr>
                      <a:r>
                        <a:rPr lang="fr-CH" sz="1019" noProof="0" dirty="0">
                          <a:solidFill>
                            <a:srgbClr val="1428A0"/>
                          </a:solidFill>
                          <a:latin typeface="Arial"/>
                        </a:rPr>
                        <a:t>7</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AF0FA"/>
                    </a:solidFill>
                  </a:tcPr>
                </a:tc>
                <a:tc>
                  <a:txBody>
                    <a:bodyPr/>
                    <a:lstStyle/>
                    <a:p>
                      <a:pPr marL="0" indent="0" algn="ctr">
                        <a:buNone/>
                      </a:pPr>
                      <a:r>
                        <a:rPr lang="fr-CH" sz="1019" b="1" noProof="0" dirty="0">
                          <a:solidFill>
                            <a:srgbClr val="1428A0"/>
                          </a:solidFill>
                          <a:latin typeface="Arial"/>
                        </a:rPr>
                        <a:t>→ Maintenant</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AF0FA"/>
                    </a:solidFill>
                  </a:tcPr>
                </a:tc>
                <a:tc>
                  <a:txBody>
                    <a:bodyPr/>
                    <a:lstStyle/>
                    <a:p>
                      <a:pPr marL="0" indent="0" algn="l">
                        <a:buNone/>
                      </a:pPr>
                      <a:r>
                        <a:rPr lang="fr-CH" sz="1019" b="1" noProof="0" dirty="0">
                          <a:solidFill>
                            <a:srgbClr val="1428A0"/>
                          </a:solidFill>
                          <a:latin typeface="Arial"/>
                        </a:rPr>
                        <a:t>Méthodologie des indicateurs ODD 1.3.1</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AF0FA"/>
                    </a:solidFill>
                  </a:tcPr>
                </a:tc>
                <a:extLst>
                  <a:ext uri="{0D108BD9-81ED-4DB2-BD59-A6C34878D82A}">
                    <a16:rowId xmlns:a16="http://schemas.microsoft.com/office/drawing/2014/main" val="10007"/>
                  </a:ext>
                </a:extLst>
              </a:tr>
              <a:tr h="393192">
                <a:tc>
                  <a:txBody>
                    <a:bodyPr/>
                    <a:lstStyle/>
                    <a:p>
                      <a:pPr marL="0" indent="0" algn="ctr">
                        <a:buNone/>
                      </a:pPr>
                      <a:r>
                        <a:rPr lang="fr-CH" sz="1019" noProof="0" dirty="0">
                          <a:solidFill>
                            <a:srgbClr val="1F2933"/>
                          </a:solidFill>
                          <a:latin typeface="Arial"/>
                        </a:rPr>
                        <a:t>8</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4F7FB"/>
                    </a:solidFill>
                  </a:tcPr>
                </a:tc>
                <a:tc>
                  <a:txBody>
                    <a:bodyPr/>
                    <a:lstStyle/>
                    <a:p>
                      <a:pPr marL="0" indent="0" algn="ctr">
                        <a:buNone/>
                      </a:pPr>
                      <a:r>
                        <a:rPr lang="fr-CH" sz="1019" noProof="0" dirty="0">
                          <a:solidFill>
                            <a:srgbClr val="1F2933"/>
                          </a:solidFill>
                          <a:latin typeface="Arial"/>
                        </a:rPr>
                        <a:t>À suivre</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4F7FB"/>
                    </a:solidFill>
                  </a:tcPr>
                </a:tc>
                <a:tc>
                  <a:txBody>
                    <a:bodyPr/>
                    <a:lstStyle/>
                    <a:p>
                      <a:pPr marL="0" indent="0" algn="l">
                        <a:buNone/>
                      </a:pPr>
                      <a:r>
                        <a:rPr lang="fr-CH" sz="1019" noProof="0" dirty="0">
                          <a:solidFill>
                            <a:srgbClr val="1F2933"/>
                          </a:solidFill>
                          <a:latin typeface="Arial"/>
                        </a:rPr>
                        <a:t>Présentation des outils : ESS, QPSS, </a:t>
                      </a:r>
                      <a:r>
                        <a:rPr lang="fr-CH" sz="1019" noProof="0" dirty="0" err="1">
                          <a:solidFill>
                            <a:srgbClr val="1F2933"/>
                          </a:solidFill>
                          <a:latin typeface="Arial"/>
                        </a:rPr>
                        <a:t>EC_Calc</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4F7FB"/>
                    </a:solidFill>
                  </a:tcPr>
                </a:tc>
                <a:extLst>
                  <a:ext uri="{0D108BD9-81ED-4DB2-BD59-A6C34878D82A}">
                    <a16:rowId xmlns:a16="http://schemas.microsoft.com/office/drawing/2014/main" val="10008"/>
                  </a:ext>
                </a:extLst>
              </a:tr>
              <a:tr h="393192">
                <a:tc>
                  <a:txBody>
                    <a:bodyPr/>
                    <a:lstStyle/>
                    <a:p>
                      <a:pPr marL="0" indent="0" algn="ctr">
                        <a:buNone/>
                      </a:pPr>
                      <a:r>
                        <a:rPr lang="fr-CH" sz="1019" noProof="0" dirty="0">
                          <a:solidFill>
                            <a:srgbClr val="1F2933"/>
                          </a:solidFill>
                          <a:latin typeface="Arial"/>
                        </a:rPr>
                        <a:t>9</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fr-CH" sz="1019" noProof="0" dirty="0">
                          <a:solidFill>
                            <a:srgbClr val="1F2933"/>
                          </a:solidFill>
                          <a:latin typeface="Arial"/>
                        </a:rPr>
                        <a:t>À suivre</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l">
                        <a:buNone/>
                      </a:pPr>
                      <a:r>
                        <a:rPr lang="fr-CH" sz="1019" noProof="0" dirty="0">
                          <a:solidFill>
                            <a:srgbClr val="1F2933"/>
                          </a:solidFill>
                          <a:latin typeface="Arial"/>
                        </a:rPr>
                        <a:t>Collecte, points focaux, calendrier et validation</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93192">
                <a:tc>
                  <a:txBody>
                    <a:bodyPr/>
                    <a:lstStyle/>
                    <a:p>
                      <a:pPr marL="0" indent="0" algn="ctr">
                        <a:buNone/>
                      </a:pPr>
                      <a:r>
                        <a:rPr lang="fr-CH" sz="1019" noProof="0" dirty="0">
                          <a:solidFill>
                            <a:srgbClr val="1F2933"/>
                          </a:solidFill>
                          <a:latin typeface="Arial"/>
                        </a:rPr>
                        <a:t>10</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4F7FB"/>
                    </a:solidFill>
                  </a:tcPr>
                </a:tc>
                <a:tc>
                  <a:txBody>
                    <a:bodyPr/>
                    <a:lstStyle/>
                    <a:p>
                      <a:pPr marL="0" indent="0" algn="ctr">
                        <a:buNone/>
                      </a:pPr>
                      <a:r>
                        <a:rPr lang="fr-CH" sz="1019" noProof="0" dirty="0">
                          <a:solidFill>
                            <a:srgbClr val="1F2933"/>
                          </a:solidFill>
                          <a:latin typeface="Arial"/>
                        </a:rPr>
                        <a:t>À suivre</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4F7FB"/>
                    </a:solidFill>
                  </a:tcPr>
                </a:tc>
                <a:tc>
                  <a:txBody>
                    <a:bodyPr/>
                    <a:lstStyle/>
                    <a:p>
                      <a:pPr marL="0" indent="0" algn="l">
                        <a:buNone/>
                      </a:pPr>
                      <a:r>
                        <a:rPr lang="fr-CH" sz="1019" noProof="0" dirty="0">
                          <a:solidFill>
                            <a:srgbClr val="1F2933"/>
                          </a:solidFill>
                          <a:latin typeface="Arial"/>
                        </a:rPr>
                        <a:t>Synthèse et clôture</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4F7FB"/>
                    </a:solidFill>
                  </a:tcPr>
                </a:tc>
                <a:extLst>
                  <a:ext uri="{0D108BD9-81ED-4DB2-BD59-A6C34878D82A}">
                    <a16:rowId xmlns:a16="http://schemas.microsoft.com/office/drawing/2014/main" val="10010"/>
                  </a:ext>
                </a:extLst>
              </a:tr>
            </a:tbl>
          </a:graphicData>
        </a:graphic>
      </p:graphicFrame>
      <p:pic>
        <p:nvPicPr>
          <p:cNvPr id="11" name="Image 0" descr="/mnt/data/ref_unzip/ppt/media/image1.png">
            <a:extLst>
              <a:ext uri="{FF2B5EF4-FFF2-40B4-BE49-F238E27FC236}">
                <a16:creationId xmlns:a16="http://schemas.microsoft.com/office/drawing/2014/main" id="{139A183B-16CC-A545-63C1-0BF310C32171}"/>
              </a:ext>
            </a:extLst>
          </p:cNvPr>
          <p:cNvPicPr>
            <a:picLocks noChangeAspect="1"/>
          </p:cNvPicPr>
          <p:nvPr/>
        </p:nvPicPr>
        <p:blipFill>
          <a:blip r:embed="rId3"/>
          <a:stretch>
            <a:fillRect/>
          </a:stretch>
        </p:blipFill>
        <p:spPr>
          <a:xfrm>
            <a:off x="9738360" y="310896"/>
            <a:ext cx="1828800" cy="63093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428A0"/>
          </a:solidFill>
          <a:ln w="12700">
            <a:solidFill>
              <a:srgbClr val="1428A0"/>
            </a:solidFill>
            <a:prstDash val="solid"/>
          </a:ln>
        </p:spPr>
        <p:txBody>
          <a:bodyPr/>
          <a:lstStyle/>
          <a:p>
            <a:endParaRPr lang="fr-CH" noProof="0" dirty="0"/>
          </a:p>
        </p:txBody>
      </p:sp>
      <p:sp>
        <p:nvSpPr>
          <p:cNvPr id="3" name="Text 1"/>
          <p:cNvSpPr/>
          <p:nvPr/>
        </p:nvSpPr>
        <p:spPr>
          <a:xfrm>
            <a:off x="594360" y="420624"/>
            <a:ext cx="8686800" cy="411480"/>
          </a:xfrm>
          <a:prstGeom prst="rect">
            <a:avLst/>
          </a:prstGeom>
          <a:noFill/>
          <a:ln/>
        </p:spPr>
        <p:txBody>
          <a:bodyPr wrap="square" rtlCol="0" anchor="ctr">
            <a:normAutofit fontScale="92500" lnSpcReduction="10000"/>
          </a:bodyPr>
          <a:lstStyle/>
          <a:p>
            <a:pPr marL="0" indent="0">
              <a:buNone/>
            </a:pPr>
            <a:r>
              <a:rPr lang="fr-CH" sz="2400" b="1" noProof="0" dirty="0">
                <a:solidFill>
                  <a:srgbClr val="1428A0"/>
                </a:solidFill>
                <a:latin typeface="Arial" pitchFamily="34" charset="0"/>
                <a:ea typeface="Arial" pitchFamily="34" charset="-122"/>
                <a:cs typeface="Arial" pitchFamily="34" charset="-120"/>
              </a:rPr>
              <a:t>Pourquoi une méthodologie commune ?</a:t>
            </a:r>
            <a:endParaRPr lang="fr-CH" sz="2400" noProof="0" dirty="0"/>
          </a:p>
        </p:txBody>
      </p:sp>
      <p:sp>
        <p:nvSpPr>
          <p:cNvPr id="4" name="Text 2"/>
          <p:cNvSpPr/>
          <p:nvPr/>
        </p:nvSpPr>
        <p:spPr>
          <a:xfrm>
            <a:off x="612648" y="219456"/>
            <a:ext cx="6858000" cy="155448"/>
          </a:xfrm>
          <a:prstGeom prst="rect">
            <a:avLst/>
          </a:prstGeom>
          <a:noFill/>
          <a:ln/>
        </p:spPr>
        <p:txBody>
          <a:bodyPr wrap="square" rtlCol="0" anchor="ctr"/>
          <a:lstStyle/>
          <a:p>
            <a:pPr marL="0" indent="0">
              <a:buNone/>
            </a:pPr>
            <a:r>
              <a:rPr lang="fr-CH" sz="730" noProof="0" dirty="0">
                <a:solidFill>
                  <a:srgbClr val="586069"/>
                </a:solidFill>
              </a:rPr>
              <a:t>PRINCIPES</a:t>
            </a:r>
            <a:endParaRPr lang="fr-CH" sz="730" noProof="0" dirty="0"/>
          </a:p>
        </p:txBody>
      </p:sp>
      <p:sp>
        <p:nvSpPr>
          <p:cNvPr id="6" name="Shape 3"/>
          <p:cNvSpPr/>
          <p:nvPr/>
        </p:nvSpPr>
        <p:spPr>
          <a:xfrm>
            <a:off x="594360" y="987552"/>
            <a:ext cx="10972800" cy="0"/>
          </a:xfrm>
          <a:prstGeom prst="line">
            <a:avLst/>
          </a:prstGeom>
          <a:noFill/>
          <a:ln w="12700">
            <a:solidFill>
              <a:srgbClr val="D9E1F2"/>
            </a:solidFill>
            <a:prstDash val="solid"/>
          </a:ln>
        </p:spPr>
        <p:txBody>
          <a:bodyPr/>
          <a:lstStyle/>
          <a:p>
            <a:endParaRPr lang="fr-CH" noProof="0" dirty="0"/>
          </a:p>
        </p:txBody>
      </p:sp>
      <p:sp>
        <p:nvSpPr>
          <p:cNvPr id="7" name="Text 4"/>
          <p:cNvSpPr/>
          <p:nvPr/>
        </p:nvSpPr>
        <p:spPr>
          <a:xfrm>
            <a:off x="594360" y="6510528"/>
            <a:ext cx="6583680" cy="164592"/>
          </a:xfrm>
          <a:prstGeom prst="rect">
            <a:avLst/>
          </a:prstGeom>
          <a:noFill/>
          <a:ln/>
        </p:spPr>
        <p:txBody>
          <a:bodyPr wrap="square" rtlCol="0" anchor="ctr"/>
          <a:lstStyle/>
          <a:p>
            <a:pPr marL="0" indent="0">
              <a:buNone/>
            </a:pPr>
            <a:r>
              <a:rPr lang="fr-CH" sz="750" noProof="0" dirty="0">
                <a:solidFill>
                  <a:srgbClr val="586069"/>
                </a:solidFill>
                <a:latin typeface="Arial" pitchFamily="34" charset="0"/>
                <a:ea typeface="Arial" pitchFamily="34" charset="-122"/>
                <a:cs typeface="Arial" pitchFamily="34" charset="-120"/>
              </a:rPr>
              <a:t>Faire avancer la justice sociale, promouvoir le travail décent</a:t>
            </a:r>
            <a:endParaRPr lang="fr-CH" sz="750" noProof="0" dirty="0"/>
          </a:p>
        </p:txBody>
      </p:sp>
      <p:sp>
        <p:nvSpPr>
          <p:cNvPr id="8" name="Text 5"/>
          <p:cNvSpPr/>
          <p:nvPr/>
        </p:nvSpPr>
        <p:spPr>
          <a:xfrm>
            <a:off x="7543800" y="6510528"/>
            <a:ext cx="3017520" cy="164592"/>
          </a:xfrm>
          <a:prstGeom prst="rect">
            <a:avLst/>
          </a:prstGeom>
          <a:noFill/>
          <a:ln/>
        </p:spPr>
        <p:txBody>
          <a:bodyPr wrap="square" rtlCol="0" anchor="ctr"/>
          <a:lstStyle/>
          <a:p>
            <a:pPr marL="0" indent="0" algn="r">
              <a:buNone/>
            </a:pPr>
            <a:r>
              <a:rPr lang="fr-CH" sz="730" noProof="0" dirty="0">
                <a:solidFill>
                  <a:srgbClr val="586069"/>
                </a:solidFill>
                <a:latin typeface="Arial" pitchFamily="34" charset="0"/>
                <a:ea typeface="Arial" pitchFamily="34" charset="-122"/>
                <a:cs typeface="Arial" pitchFamily="34" charset="-120"/>
              </a:rPr>
              <a:t>Atelier 2e Bulletin Statistique RDC | 14 mai 2026</a:t>
            </a:r>
            <a:endParaRPr lang="fr-CH" sz="730" noProof="0" dirty="0"/>
          </a:p>
        </p:txBody>
      </p:sp>
      <p:sp>
        <p:nvSpPr>
          <p:cNvPr id="9" name="Text 6"/>
          <p:cNvSpPr/>
          <p:nvPr/>
        </p:nvSpPr>
        <p:spPr>
          <a:xfrm>
            <a:off x="11292840" y="6473952"/>
            <a:ext cx="411480" cy="201168"/>
          </a:xfrm>
          <a:prstGeom prst="rect">
            <a:avLst/>
          </a:prstGeom>
          <a:noFill/>
          <a:ln/>
        </p:spPr>
        <p:txBody>
          <a:bodyPr wrap="square" lIns="27432" tIns="18288" rIns="27432" bIns="18288" rtlCol="0" anchor="ctr"/>
          <a:lstStyle/>
          <a:p>
            <a:pPr marL="0" indent="0" algn="r">
              <a:buNone/>
            </a:pPr>
            <a:r>
              <a:rPr lang="fr-CH" sz="850" b="0" noProof="0" dirty="0">
                <a:solidFill>
                  <a:srgbClr val="505050"/>
                </a:solidFill>
                <a:latin typeface="Arial"/>
              </a:rPr>
              <a:t>3</a:t>
            </a:r>
            <a:endParaRPr lang="fr-CH" sz="750" noProof="0" dirty="0"/>
          </a:p>
        </p:txBody>
      </p:sp>
      <p:sp>
        <p:nvSpPr>
          <p:cNvPr id="10" name="Text 7"/>
          <p:cNvSpPr/>
          <p:nvPr/>
        </p:nvSpPr>
        <p:spPr>
          <a:xfrm>
            <a:off x="777240" y="1234440"/>
            <a:ext cx="10607040" cy="320040"/>
          </a:xfrm>
          <a:prstGeom prst="rect">
            <a:avLst/>
          </a:prstGeom>
          <a:noFill/>
          <a:ln/>
        </p:spPr>
        <p:txBody>
          <a:bodyPr wrap="square" rtlCol="0" anchor="ctr"/>
          <a:lstStyle/>
          <a:p>
            <a:pPr marL="0" indent="0">
              <a:buNone/>
            </a:pPr>
            <a:r>
              <a:rPr lang="fr-CH" sz="1500" b="1" noProof="0" dirty="0">
                <a:solidFill>
                  <a:srgbClr val="1F2933"/>
                </a:solidFill>
              </a:rPr>
              <a:t>Une méthodologie commune est nécessaire pour garantir :</a:t>
            </a:r>
            <a:endParaRPr lang="fr-CH" sz="1500" noProof="0" dirty="0"/>
          </a:p>
        </p:txBody>
      </p:sp>
      <p:sp>
        <p:nvSpPr>
          <p:cNvPr id="11" name="Shape 8"/>
          <p:cNvSpPr/>
          <p:nvPr/>
        </p:nvSpPr>
        <p:spPr>
          <a:xfrm>
            <a:off x="777240" y="1828800"/>
            <a:ext cx="2103120" cy="1874520"/>
          </a:xfrm>
          <a:prstGeom prst="roundRect">
            <a:avLst>
              <a:gd name="adj" fmla="val 3415"/>
            </a:avLst>
          </a:prstGeom>
          <a:solidFill>
            <a:srgbClr val="FFFFFF"/>
          </a:solidFill>
          <a:ln w="12700">
            <a:solidFill>
              <a:srgbClr val="D1D8E8"/>
            </a:solidFill>
            <a:prstDash val="solid"/>
          </a:ln>
        </p:spPr>
        <p:txBody>
          <a:bodyPr/>
          <a:lstStyle/>
          <a:p>
            <a:endParaRPr lang="fr-CH" noProof="0" dirty="0"/>
          </a:p>
        </p:txBody>
      </p:sp>
      <p:sp>
        <p:nvSpPr>
          <p:cNvPr id="12" name="Shape 9"/>
          <p:cNvSpPr/>
          <p:nvPr/>
        </p:nvSpPr>
        <p:spPr>
          <a:xfrm>
            <a:off x="777240" y="1828800"/>
            <a:ext cx="73152" cy="1874520"/>
          </a:xfrm>
          <a:prstGeom prst="rect">
            <a:avLst/>
          </a:prstGeom>
          <a:solidFill>
            <a:srgbClr val="1428A0"/>
          </a:solidFill>
          <a:ln w="12700">
            <a:solidFill>
              <a:srgbClr val="1428A0"/>
            </a:solidFill>
            <a:prstDash val="solid"/>
          </a:ln>
        </p:spPr>
        <p:txBody>
          <a:bodyPr/>
          <a:lstStyle/>
          <a:p>
            <a:endParaRPr lang="fr-CH" noProof="0" dirty="0"/>
          </a:p>
        </p:txBody>
      </p:sp>
      <p:sp>
        <p:nvSpPr>
          <p:cNvPr id="13" name="Text 10"/>
          <p:cNvSpPr/>
          <p:nvPr/>
        </p:nvSpPr>
        <p:spPr>
          <a:xfrm>
            <a:off x="987552" y="1975104"/>
            <a:ext cx="1783080" cy="228600"/>
          </a:xfrm>
          <a:prstGeom prst="rect">
            <a:avLst/>
          </a:prstGeom>
          <a:noFill/>
          <a:ln/>
        </p:spPr>
        <p:txBody>
          <a:bodyPr wrap="square" rtlCol="0" anchor="ctr">
            <a:normAutofit fontScale="92500" lnSpcReduction="20000"/>
          </a:bodyPr>
          <a:lstStyle/>
          <a:p>
            <a:pPr marL="0" indent="0">
              <a:buNone/>
            </a:pPr>
            <a:r>
              <a:rPr lang="fr-CH" sz="1230" b="1" noProof="0" dirty="0">
                <a:solidFill>
                  <a:srgbClr val="1428A0"/>
                </a:solidFill>
              </a:rPr>
              <a:t>Comparabilité</a:t>
            </a:r>
            <a:endParaRPr lang="fr-CH" sz="1230" noProof="0" dirty="0"/>
          </a:p>
        </p:txBody>
      </p:sp>
      <p:sp>
        <p:nvSpPr>
          <p:cNvPr id="14" name="Shape 11"/>
          <p:cNvSpPr/>
          <p:nvPr/>
        </p:nvSpPr>
        <p:spPr>
          <a:xfrm>
            <a:off x="1005840" y="2450592"/>
            <a:ext cx="100584" cy="100584"/>
          </a:xfrm>
          <a:prstGeom prst="ellipse">
            <a:avLst/>
          </a:prstGeom>
          <a:solidFill>
            <a:srgbClr val="E21836"/>
          </a:solidFill>
          <a:ln w="12700">
            <a:solidFill>
              <a:srgbClr val="E21836"/>
            </a:solidFill>
            <a:prstDash val="solid"/>
          </a:ln>
        </p:spPr>
        <p:txBody>
          <a:bodyPr/>
          <a:lstStyle/>
          <a:p>
            <a:endParaRPr lang="fr-CH" noProof="0" dirty="0"/>
          </a:p>
        </p:txBody>
      </p:sp>
      <p:sp>
        <p:nvSpPr>
          <p:cNvPr id="15" name="Text 12"/>
          <p:cNvSpPr/>
          <p:nvPr/>
        </p:nvSpPr>
        <p:spPr>
          <a:xfrm>
            <a:off x="1234440" y="2395728"/>
            <a:ext cx="1600200" cy="228600"/>
          </a:xfrm>
          <a:prstGeom prst="rect">
            <a:avLst/>
          </a:prstGeom>
          <a:noFill/>
          <a:ln/>
        </p:spPr>
        <p:txBody>
          <a:bodyPr wrap="square" lIns="127" tIns="127" rIns="127" bIns="127" rtlCol="0" anchor="ctr">
            <a:normAutofit/>
          </a:bodyPr>
          <a:lstStyle/>
          <a:p>
            <a:pPr marL="0" indent="0">
              <a:buNone/>
            </a:pPr>
            <a:r>
              <a:rPr lang="fr-CH" sz="1040" noProof="0" dirty="0">
                <a:solidFill>
                  <a:srgbClr val="1F2933"/>
                </a:solidFill>
              </a:rPr>
              <a:t>Entre institutions</a:t>
            </a:r>
            <a:endParaRPr lang="fr-CH" sz="1040" noProof="0" dirty="0"/>
          </a:p>
        </p:txBody>
      </p:sp>
      <p:sp>
        <p:nvSpPr>
          <p:cNvPr id="16" name="Shape 13"/>
          <p:cNvSpPr/>
          <p:nvPr/>
        </p:nvSpPr>
        <p:spPr>
          <a:xfrm>
            <a:off x="1005840" y="2715768"/>
            <a:ext cx="100584" cy="100584"/>
          </a:xfrm>
          <a:prstGeom prst="ellipse">
            <a:avLst/>
          </a:prstGeom>
          <a:solidFill>
            <a:srgbClr val="E21836"/>
          </a:solidFill>
          <a:ln w="12700">
            <a:solidFill>
              <a:srgbClr val="E21836"/>
            </a:solidFill>
            <a:prstDash val="solid"/>
          </a:ln>
        </p:spPr>
        <p:txBody>
          <a:bodyPr/>
          <a:lstStyle/>
          <a:p>
            <a:endParaRPr lang="fr-CH" noProof="0" dirty="0"/>
          </a:p>
        </p:txBody>
      </p:sp>
      <p:sp>
        <p:nvSpPr>
          <p:cNvPr id="17" name="Text 14"/>
          <p:cNvSpPr/>
          <p:nvPr/>
        </p:nvSpPr>
        <p:spPr>
          <a:xfrm>
            <a:off x="1234440" y="2660904"/>
            <a:ext cx="1600200" cy="228600"/>
          </a:xfrm>
          <a:prstGeom prst="rect">
            <a:avLst/>
          </a:prstGeom>
          <a:noFill/>
          <a:ln/>
        </p:spPr>
        <p:txBody>
          <a:bodyPr wrap="square" lIns="127" tIns="127" rIns="127" bIns="127" rtlCol="0" anchor="ctr">
            <a:normAutofit/>
          </a:bodyPr>
          <a:lstStyle/>
          <a:p>
            <a:pPr marL="0" indent="0">
              <a:buNone/>
            </a:pPr>
            <a:r>
              <a:rPr lang="fr-CH" sz="1040" noProof="0" dirty="0">
                <a:solidFill>
                  <a:srgbClr val="1F2933"/>
                </a:solidFill>
              </a:rPr>
              <a:t>Entre années</a:t>
            </a:r>
            <a:endParaRPr lang="fr-CH" sz="1040" noProof="0" dirty="0"/>
          </a:p>
        </p:txBody>
      </p:sp>
      <p:sp>
        <p:nvSpPr>
          <p:cNvPr id="18" name="Shape 15"/>
          <p:cNvSpPr/>
          <p:nvPr/>
        </p:nvSpPr>
        <p:spPr>
          <a:xfrm>
            <a:off x="1005840" y="2980944"/>
            <a:ext cx="100584" cy="100584"/>
          </a:xfrm>
          <a:prstGeom prst="ellipse">
            <a:avLst/>
          </a:prstGeom>
          <a:solidFill>
            <a:srgbClr val="E21836"/>
          </a:solidFill>
          <a:ln w="12700">
            <a:solidFill>
              <a:srgbClr val="E21836"/>
            </a:solidFill>
            <a:prstDash val="solid"/>
          </a:ln>
        </p:spPr>
        <p:txBody>
          <a:bodyPr/>
          <a:lstStyle/>
          <a:p>
            <a:endParaRPr lang="fr-CH" noProof="0" dirty="0"/>
          </a:p>
        </p:txBody>
      </p:sp>
      <p:sp>
        <p:nvSpPr>
          <p:cNvPr id="19" name="Text 16"/>
          <p:cNvSpPr/>
          <p:nvPr/>
        </p:nvSpPr>
        <p:spPr>
          <a:xfrm>
            <a:off x="1234440" y="2926080"/>
            <a:ext cx="1600200" cy="228600"/>
          </a:xfrm>
          <a:prstGeom prst="rect">
            <a:avLst/>
          </a:prstGeom>
          <a:noFill/>
          <a:ln/>
        </p:spPr>
        <p:txBody>
          <a:bodyPr wrap="square" lIns="127" tIns="127" rIns="127" bIns="127" rtlCol="0" anchor="ctr">
            <a:normAutofit/>
          </a:bodyPr>
          <a:lstStyle/>
          <a:p>
            <a:pPr marL="0" indent="0">
              <a:buNone/>
            </a:pPr>
            <a:r>
              <a:rPr lang="fr-CH" sz="1040" noProof="0" dirty="0">
                <a:solidFill>
                  <a:srgbClr val="1F2933"/>
                </a:solidFill>
              </a:rPr>
              <a:t>Entre pays</a:t>
            </a:r>
            <a:endParaRPr lang="fr-CH" sz="1040" noProof="0" dirty="0"/>
          </a:p>
        </p:txBody>
      </p:sp>
      <p:sp>
        <p:nvSpPr>
          <p:cNvPr id="20" name="Shape 17"/>
          <p:cNvSpPr/>
          <p:nvPr/>
        </p:nvSpPr>
        <p:spPr>
          <a:xfrm>
            <a:off x="3063240" y="1828800"/>
            <a:ext cx="2103120" cy="1874520"/>
          </a:xfrm>
          <a:prstGeom prst="roundRect">
            <a:avLst>
              <a:gd name="adj" fmla="val 3415"/>
            </a:avLst>
          </a:prstGeom>
          <a:solidFill>
            <a:srgbClr val="FFFFFF"/>
          </a:solidFill>
          <a:ln w="12700">
            <a:solidFill>
              <a:srgbClr val="D1D8E8"/>
            </a:solidFill>
            <a:prstDash val="solid"/>
          </a:ln>
        </p:spPr>
        <p:txBody>
          <a:bodyPr/>
          <a:lstStyle/>
          <a:p>
            <a:endParaRPr lang="fr-CH" noProof="0" dirty="0"/>
          </a:p>
        </p:txBody>
      </p:sp>
      <p:sp>
        <p:nvSpPr>
          <p:cNvPr id="21" name="Shape 18"/>
          <p:cNvSpPr/>
          <p:nvPr/>
        </p:nvSpPr>
        <p:spPr>
          <a:xfrm>
            <a:off x="3063240" y="1828800"/>
            <a:ext cx="73152" cy="1874520"/>
          </a:xfrm>
          <a:prstGeom prst="rect">
            <a:avLst/>
          </a:prstGeom>
          <a:solidFill>
            <a:srgbClr val="1428A0"/>
          </a:solidFill>
          <a:ln w="12700">
            <a:solidFill>
              <a:srgbClr val="1428A0"/>
            </a:solidFill>
            <a:prstDash val="solid"/>
          </a:ln>
        </p:spPr>
        <p:txBody>
          <a:bodyPr/>
          <a:lstStyle/>
          <a:p>
            <a:endParaRPr lang="fr-CH" noProof="0" dirty="0"/>
          </a:p>
        </p:txBody>
      </p:sp>
      <p:sp>
        <p:nvSpPr>
          <p:cNvPr id="22" name="Text 19"/>
          <p:cNvSpPr/>
          <p:nvPr/>
        </p:nvSpPr>
        <p:spPr>
          <a:xfrm>
            <a:off x="3273552" y="1975104"/>
            <a:ext cx="1783080" cy="228600"/>
          </a:xfrm>
          <a:prstGeom prst="rect">
            <a:avLst/>
          </a:prstGeom>
          <a:noFill/>
          <a:ln/>
        </p:spPr>
        <p:txBody>
          <a:bodyPr wrap="square" rtlCol="0" anchor="ctr">
            <a:normAutofit fontScale="92500" lnSpcReduction="20000"/>
          </a:bodyPr>
          <a:lstStyle/>
          <a:p>
            <a:pPr marL="0" indent="0">
              <a:buNone/>
            </a:pPr>
            <a:r>
              <a:rPr lang="fr-CH" sz="1230" b="1" noProof="0" dirty="0">
                <a:solidFill>
                  <a:srgbClr val="1428A0"/>
                </a:solidFill>
              </a:rPr>
              <a:t>Cohérence</a:t>
            </a:r>
            <a:endParaRPr lang="fr-CH" sz="1230" noProof="0" dirty="0"/>
          </a:p>
        </p:txBody>
      </p:sp>
      <p:sp>
        <p:nvSpPr>
          <p:cNvPr id="23" name="Shape 20"/>
          <p:cNvSpPr/>
          <p:nvPr/>
        </p:nvSpPr>
        <p:spPr>
          <a:xfrm>
            <a:off x="3291840" y="2450592"/>
            <a:ext cx="100584" cy="100584"/>
          </a:xfrm>
          <a:prstGeom prst="ellipse">
            <a:avLst/>
          </a:prstGeom>
          <a:solidFill>
            <a:srgbClr val="E21836"/>
          </a:solidFill>
          <a:ln w="12700">
            <a:solidFill>
              <a:srgbClr val="E21836"/>
            </a:solidFill>
            <a:prstDash val="solid"/>
          </a:ln>
        </p:spPr>
        <p:txBody>
          <a:bodyPr/>
          <a:lstStyle/>
          <a:p>
            <a:endParaRPr lang="fr-CH" noProof="0" dirty="0"/>
          </a:p>
        </p:txBody>
      </p:sp>
      <p:sp>
        <p:nvSpPr>
          <p:cNvPr id="24" name="Text 21"/>
          <p:cNvSpPr/>
          <p:nvPr/>
        </p:nvSpPr>
        <p:spPr>
          <a:xfrm>
            <a:off x="3520440" y="2395728"/>
            <a:ext cx="1600200" cy="228600"/>
          </a:xfrm>
          <a:prstGeom prst="rect">
            <a:avLst/>
          </a:prstGeom>
          <a:noFill/>
          <a:ln/>
        </p:spPr>
        <p:txBody>
          <a:bodyPr wrap="square" lIns="127" tIns="127" rIns="127" bIns="127" rtlCol="0" anchor="ctr">
            <a:normAutofit/>
          </a:bodyPr>
          <a:lstStyle/>
          <a:p>
            <a:pPr marL="0" indent="0">
              <a:buNone/>
            </a:pPr>
            <a:r>
              <a:rPr lang="fr-CH" sz="1040" noProof="0" dirty="0">
                <a:solidFill>
                  <a:srgbClr val="1F2933"/>
                </a:solidFill>
              </a:rPr>
              <a:t>Même périmètre</a:t>
            </a:r>
            <a:endParaRPr lang="fr-CH" sz="1040" noProof="0" dirty="0"/>
          </a:p>
        </p:txBody>
      </p:sp>
      <p:sp>
        <p:nvSpPr>
          <p:cNvPr id="25" name="Shape 22"/>
          <p:cNvSpPr/>
          <p:nvPr/>
        </p:nvSpPr>
        <p:spPr>
          <a:xfrm>
            <a:off x="3291840" y="2715768"/>
            <a:ext cx="100584" cy="100584"/>
          </a:xfrm>
          <a:prstGeom prst="ellipse">
            <a:avLst/>
          </a:prstGeom>
          <a:solidFill>
            <a:srgbClr val="E21836"/>
          </a:solidFill>
          <a:ln w="12700">
            <a:solidFill>
              <a:srgbClr val="E21836"/>
            </a:solidFill>
            <a:prstDash val="solid"/>
          </a:ln>
        </p:spPr>
        <p:txBody>
          <a:bodyPr/>
          <a:lstStyle/>
          <a:p>
            <a:endParaRPr lang="fr-CH" noProof="0" dirty="0"/>
          </a:p>
        </p:txBody>
      </p:sp>
      <p:sp>
        <p:nvSpPr>
          <p:cNvPr id="26" name="Text 23"/>
          <p:cNvSpPr/>
          <p:nvPr/>
        </p:nvSpPr>
        <p:spPr>
          <a:xfrm>
            <a:off x="3520440" y="2660904"/>
            <a:ext cx="1600200" cy="228600"/>
          </a:xfrm>
          <a:prstGeom prst="rect">
            <a:avLst/>
          </a:prstGeom>
          <a:noFill/>
          <a:ln/>
        </p:spPr>
        <p:txBody>
          <a:bodyPr wrap="square" lIns="127" tIns="127" rIns="127" bIns="127" rtlCol="0" anchor="ctr">
            <a:normAutofit/>
          </a:bodyPr>
          <a:lstStyle/>
          <a:p>
            <a:pPr marL="0" indent="0">
              <a:buNone/>
            </a:pPr>
            <a:r>
              <a:rPr lang="fr-CH" sz="1040" noProof="0" dirty="0">
                <a:solidFill>
                  <a:srgbClr val="1F2933"/>
                </a:solidFill>
              </a:rPr>
              <a:t>Même unité de comptage</a:t>
            </a:r>
            <a:endParaRPr lang="fr-CH" sz="1040" noProof="0" dirty="0"/>
          </a:p>
        </p:txBody>
      </p:sp>
      <p:sp>
        <p:nvSpPr>
          <p:cNvPr id="27" name="Shape 24"/>
          <p:cNvSpPr/>
          <p:nvPr/>
        </p:nvSpPr>
        <p:spPr>
          <a:xfrm>
            <a:off x="3291840" y="2980944"/>
            <a:ext cx="100584" cy="100584"/>
          </a:xfrm>
          <a:prstGeom prst="ellipse">
            <a:avLst/>
          </a:prstGeom>
          <a:solidFill>
            <a:srgbClr val="E21836"/>
          </a:solidFill>
          <a:ln w="12700">
            <a:solidFill>
              <a:srgbClr val="E21836"/>
            </a:solidFill>
            <a:prstDash val="solid"/>
          </a:ln>
        </p:spPr>
        <p:txBody>
          <a:bodyPr/>
          <a:lstStyle/>
          <a:p>
            <a:endParaRPr lang="fr-CH" noProof="0" dirty="0"/>
          </a:p>
        </p:txBody>
      </p:sp>
      <p:sp>
        <p:nvSpPr>
          <p:cNvPr id="28" name="Text 25"/>
          <p:cNvSpPr/>
          <p:nvPr/>
        </p:nvSpPr>
        <p:spPr>
          <a:xfrm>
            <a:off x="3520440" y="2926080"/>
            <a:ext cx="1600200" cy="228600"/>
          </a:xfrm>
          <a:prstGeom prst="rect">
            <a:avLst/>
          </a:prstGeom>
          <a:noFill/>
          <a:ln/>
        </p:spPr>
        <p:txBody>
          <a:bodyPr wrap="square" lIns="127" tIns="127" rIns="127" bIns="127" rtlCol="0" anchor="ctr">
            <a:normAutofit/>
          </a:bodyPr>
          <a:lstStyle/>
          <a:p>
            <a:pPr marL="0" indent="0">
              <a:buNone/>
            </a:pPr>
            <a:r>
              <a:rPr lang="fr-CH" sz="1040" noProof="0" dirty="0">
                <a:solidFill>
                  <a:srgbClr val="1F2933"/>
                </a:solidFill>
              </a:rPr>
              <a:t>Même année</a:t>
            </a:r>
            <a:endParaRPr lang="fr-CH" sz="1040" noProof="0" dirty="0"/>
          </a:p>
        </p:txBody>
      </p:sp>
      <p:sp>
        <p:nvSpPr>
          <p:cNvPr id="29" name="Shape 26"/>
          <p:cNvSpPr/>
          <p:nvPr/>
        </p:nvSpPr>
        <p:spPr>
          <a:xfrm>
            <a:off x="5349240" y="1828800"/>
            <a:ext cx="2103120" cy="1874520"/>
          </a:xfrm>
          <a:prstGeom prst="roundRect">
            <a:avLst>
              <a:gd name="adj" fmla="val 3415"/>
            </a:avLst>
          </a:prstGeom>
          <a:solidFill>
            <a:srgbClr val="FFFFFF"/>
          </a:solidFill>
          <a:ln w="12700">
            <a:solidFill>
              <a:srgbClr val="D1D8E8"/>
            </a:solidFill>
            <a:prstDash val="solid"/>
          </a:ln>
        </p:spPr>
        <p:txBody>
          <a:bodyPr/>
          <a:lstStyle/>
          <a:p>
            <a:endParaRPr lang="fr-CH" noProof="0" dirty="0"/>
          </a:p>
        </p:txBody>
      </p:sp>
      <p:sp>
        <p:nvSpPr>
          <p:cNvPr id="30" name="Shape 27"/>
          <p:cNvSpPr/>
          <p:nvPr/>
        </p:nvSpPr>
        <p:spPr>
          <a:xfrm>
            <a:off x="5349240" y="1828800"/>
            <a:ext cx="73152" cy="1874520"/>
          </a:xfrm>
          <a:prstGeom prst="rect">
            <a:avLst/>
          </a:prstGeom>
          <a:solidFill>
            <a:srgbClr val="1428A0"/>
          </a:solidFill>
          <a:ln w="12700">
            <a:solidFill>
              <a:srgbClr val="1428A0"/>
            </a:solidFill>
            <a:prstDash val="solid"/>
          </a:ln>
        </p:spPr>
        <p:txBody>
          <a:bodyPr/>
          <a:lstStyle/>
          <a:p>
            <a:endParaRPr lang="fr-CH" noProof="0" dirty="0"/>
          </a:p>
        </p:txBody>
      </p:sp>
      <p:sp>
        <p:nvSpPr>
          <p:cNvPr id="31" name="Text 28"/>
          <p:cNvSpPr/>
          <p:nvPr/>
        </p:nvSpPr>
        <p:spPr>
          <a:xfrm>
            <a:off x="5559552" y="1975104"/>
            <a:ext cx="1783080" cy="228600"/>
          </a:xfrm>
          <a:prstGeom prst="rect">
            <a:avLst/>
          </a:prstGeom>
          <a:noFill/>
          <a:ln/>
        </p:spPr>
        <p:txBody>
          <a:bodyPr wrap="square" rtlCol="0" anchor="ctr">
            <a:normAutofit fontScale="92500" lnSpcReduction="20000"/>
          </a:bodyPr>
          <a:lstStyle/>
          <a:p>
            <a:pPr marL="0" indent="0">
              <a:buNone/>
            </a:pPr>
            <a:r>
              <a:rPr lang="fr-CH" sz="1230" b="1" noProof="0" dirty="0">
                <a:solidFill>
                  <a:srgbClr val="1428A0"/>
                </a:solidFill>
              </a:rPr>
              <a:t>Qualité statistique</a:t>
            </a:r>
            <a:endParaRPr lang="fr-CH" sz="1230" noProof="0" dirty="0"/>
          </a:p>
        </p:txBody>
      </p:sp>
      <p:sp>
        <p:nvSpPr>
          <p:cNvPr id="32" name="Shape 29"/>
          <p:cNvSpPr/>
          <p:nvPr/>
        </p:nvSpPr>
        <p:spPr>
          <a:xfrm>
            <a:off x="5577840" y="2450592"/>
            <a:ext cx="100584" cy="100584"/>
          </a:xfrm>
          <a:prstGeom prst="ellipse">
            <a:avLst/>
          </a:prstGeom>
          <a:solidFill>
            <a:srgbClr val="E21836"/>
          </a:solidFill>
          <a:ln w="12700">
            <a:solidFill>
              <a:srgbClr val="E21836"/>
            </a:solidFill>
            <a:prstDash val="solid"/>
          </a:ln>
        </p:spPr>
        <p:txBody>
          <a:bodyPr/>
          <a:lstStyle/>
          <a:p>
            <a:endParaRPr lang="fr-CH" noProof="0" dirty="0"/>
          </a:p>
        </p:txBody>
      </p:sp>
      <p:sp>
        <p:nvSpPr>
          <p:cNvPr id="33" name="Text 30"/>
          <p:cNvSpPr/>
          <p:nvPr/>
        </p:nvSpPr>
        <p:spPr>
          <a:xfrm>
            <a:off x="5806440" y="2395728"/>
            <a:ext cx="1600200" cy="228600"/>
          </a:xfrm>
          <a:prstGeom prst="rect">
            <a:avLst/>
          </a:prstGeom>
          <a:noFill/>
          <a:ln/>
        </p:spPr>
        <p:txBody>
          <a:bodyPr wrap="square" lIns="127" tIns="127" rIns="127" bIns="127" rtlCol="0" anchor="ctr">
            <a:normAutofit/>
          </a:bodyPr>
          <a:lstStyle/>
          <a:p>
            <a:pPr marL="0" indent="0">
              <a:buNone/>
            </a:pPr>
            <a:r>
              <a:rPr lang="fr-CH" sz="1040" noProof="0" dirty="0">
                <a:solidFill>
                  <a:srgbClr val="1F2933"/>
                </a:solidFill>
              </a:rPr>
              <a:t>Sources documentées</a:t>
            </a:r>
            <a:endParaRPr lang="fr-CH" sz="1040" noProof="0" dirty="0"/>
          </a:p>
        </p:txBody>
      </p:sp>
      <p:sp>
        <p:nvSpPr>
          <p:cNvPr id="34" name="Shape 31"/>
          <p:cNvSpPr/>
          <p:nvPr/>
        </p:nvSpPr>
        <p:spPr>
          <a:xfrm>
            <a:off x="5577840" y="2715768"/>
            <a:ext cx="100584" cy="100584"/>
          </a:xfrm>
          <a:prstGeom prst="ellipse">
            <a:avLst/>
          </a:prstGeom>
          <a:solidFill>
            <a:srgbClr val="E21836"/>
          </a:solidFill>
          <a:ln w="12700">
            <a:solidFill>
              <a:srgbClr val="E21836"/>
            </a:solidFill>
            <a:prstDash val="solid"/>
          </a:ln>
        </p:spPr>
        <p:txBody>
          <a:bodyPr/>
          <a:lstStyle/>
          <a:p>
            <a:endParaRPr lang="fr-CH" noProof="0" dirty="0"/>
          </a:p>
        </p:txBody>
      </p:sp>
      <p:sp>
        <p:nvSpPr>
          <p:cNvPr id="35" name="Text 32"/>
          <p:cNvSpPr/>
          <p:nvPr/>
        </p:nvSpPr>
        <p:spPr>
          <a:xfrm>
            <a:off x="5806440" y="2660904"/>
            <a:ext cx="1600200" cy="228600"/>
          </a:xfrm>
          <a:prstGeom prst="rect">
            <a:avLst/>
          </a:prstGeom>
          <a:noFill/>
          <a:ln/>
        </p:spPr>
        <p:txBody>
          <a:bodyPr wrap="square" lIns="127" tIns="127" rIns="127" bIns="127" rtlCol="0" anchor="ctr">
            <a:normAutofit/>
          </a:bodyPr>
          <a:lstStyle/>
          <a:p>
            <a:pPr marL="0" indent="0">
              <a:buNone/>
            </a:pPr>
            <a:r>
              <a:rPr lang="fr-CH" sz="1040" noProof="0" dirty="0">
                <a:solidFill>
                  <a:srgbClr val="1F2933"/>
                </a:solidFill>
              </a:rPr>
              <a:t>Données contrôlables</a:t>
            </a:r>
            <a:endParaRPr lang="fr-CH" sz="1040" noProof="0" dirty="0"/>
          </a:p>
        </p:txBody>
      </p:sp>
      <p:sp>
        <p:nvSpPr>
          <p:cNvPr id="36" name="Shape 33"/>
          <p:cNvSpPr/>
          <p:nvPr/>
        </p:nvSpPr>
        <p:spPr>
          <a:xfrm>
            <a:off x="5577840" y="2980944"/>
            <a:ext cx="100584" cy="100584"/>
          </a:xfrm>
          <a:prstGeom prst="ellipse">
            <a:avLst/>
          </a:prstGeom>
          <a:solidFill>
            <a:srgbClr val="E21836"/>
          </a:solidFill>
          <a:ln w="12700">
            <a:solidFill>
              <a:srgbClr val="E21836"/>
            </a:solidFill>
            <a:prstDash val="solid"/>
          </a:ln>
        </p:spPr>
        <p:txBody>
          <a:bodyPr/>
          <a:lstStyle/>
          <a:p>
            <a:endParaRPr lang="fr-CH" noProof="0" dirty="0"/>
          </a:p>
        </p:txBody>
      </p:sp>
      <p:sp>
        <p:nvSpPr>
          <p:cNvPr id="37" name="Text 34"/>
          <p:cNvSpPr/>
          <p:nvPr/>
        </p:nvSpPr>
        <p:spPr>
          <a:xfrm>
            <a:off x="5806440" y="2926080"/>
            <a:ext cx="1600200" cy="228600"/>
          </a:xfrm>
          <a:prstGeom prst="rect">
            <a:avLst/>
          </a:prstGeom>
          <a:noFill/>
          <a:ln/>
        </p:spPr>
        <p:txBody>
          <a:bodyPr wrap="square" lIns="127" tIns="127" rIns="127" bIns="127" rtlCol="0" anchor="ctr">
            <a:normAutofit/>
          </a:bodyPr>
          <a:lstStyle/>
          <a:p>
            <a:pPr marL="0" indent="0">
              <a:buNone/>
            </a:pPr>
            <a:r>
              <a:rPr lang="fr-CH" sz="1040" noProof="0" dirty="0">
                <a:solidFill>
                  <a:srgbClr val="1F2933"/>
                </a:solidFill>
              </a:rPr>
              <a:t>Limites explicites</a:t>
            </a:r>
            <a:endParaRPr lang="fr-CH" sz="1040" noProof="0" dirty="0"/>
          </a:p>
        </p:txBody>
      </p:sp>
      <p:sp>
        <p:nvSpPr>
          <p:cNvPr id="38" name="Shape 35"/>
          <p:cNvSpPr/>
          <p:nvPr/>
        </p:nvSpPr>
        <p:spPr>
          <a:xfrm>
            <a:off x="7635240" y="1828800"/>
            <a:ext cx="2103120" cy="1874520"/>
          </a:xfrm>
          <a:prstGeom prst="roundRect">
            <a:avLst>
              <a:gd name="adj" fmla="val 3415"/>
            </a:avLst>
          </a:prstGeom>
          <a:solidFill>
            <a:srgbClr val="FFFFFF"/>
          </a:solidFill>
          <a:ln w="12700">
            <a:solidFill>
              <a:srgbClr val="D1D8E8"/>
            </a:solidFill>
            <a:prstDash val="solid"/>
          </a:ln>
        </p:spPr>
        <p:txBody>
          <a:bodyPr/>
          <a:lstStyle/>
          <a:p>
            <a:endParaRPr lang="fr-CH" noProof="0" dirty="0"/>
          </a:p>
        </p:txBody>
      </p:sp>
      <p:sp>
        <p:nvSpPr>
          <p:cNvPr id="39" name="Shape 36"/>
          <p:cNvSpPr/>
          <p:nvPr/>
        </p:nvSpPr>
        <p:spPr>
          <a:xfrm>
            <a:off x="7635240" y="1828800"/>
            <a:ext cx="73152" cy="1874520"/>
          </a:xfrm>
          <a:prstGeom prst="rect">
            <a:avLst/>
          </a:prstGeom>
          <a:solidFill>
            <a:srgbClr val="1428A0"/>
          </a:solidFill>
          <a:ln w="12700">
            <a:solidFill>
              <a:srgbClr val="1428A0"/>
            </a:solidFill>
            <a:prstDash val="solid"/>
          </a:ln>
        </p:spPr>
        <p:txBody>
          <a:bodyPr/>
          <a:lstStyle/>
          <a:p>
            <a:endParaRPr lang="fr-CH" noProof="0" dirty="0"/>
          </a:p>
        </p:txBody>
      </p:sp>
      <p:sp>
        <p:nvSpPr>
          <p:cNvPr id="40" name="Text 37"/>
          <p:cNvSpPr/>
          <p:nvPr/>
        </p:nvSpPr>
        <p:spPr>
          <a:xfrm>
            <a:off x="7845552" y="1975104"/>
            <a:ext cx="1783080" cy="228600"/>
          </a:xfrm>
          <a:prstGeom prst="rect">
            <a:avLst/>
          </a:prstGeom>
          <a:noFill/>
          <a:ln/>
        </p:spPr>
        <p:txBody>
          <a:bodyPr wrap="square" rtlCol="0" anchor="ctr">
            <a:normAutofit fontScale="92500" lnSpcReduction="20000"/>
          </a:bodyPr>
          <a:lstStyle/>
          <a:p>
            <a:pPr marL="0" indent="0">
              <a:buNone/>
            </a:pPr>
            <a:r>
              <a:rPr lang="fr-CH" sz="1230" b="1" noProof="0" dirty="0">
                <a:solidFill>
                  <a:srgbClr val="1428A0"/>
                </a:solidFill>
              </a:rPr>
              <a:t>Crédibilité</a:t>
            </a:r>
            <a:endParaRPr lang="fr-CH" sz="1230" noProof="0" dirty="0"/>
          </a:p>
        </p:txBody>
      </p:sp>
      <p:sp>
        <p:nvSpPr>
          <p:cNvPr id="41" name="Shape 38"/>
          <p:cNvSpPr/>
          <p:nvPr/>
        </p:nvSpPr>
        <p:spPr>
          <a:xfrm>
            <a:off x="7863840" y="2450592"/>
            <a:ext cx="100584" cy="100584"/>
          </a:xfrm>
          <a:prstGeom prst="ellipse">
            <a:avLst/>
          </a:prstGeom>
          <a:solidFill>
            <a:srgbClr val="E21836"/>
          </a:solidFill>
          <a:ln w="12700">
            <a:solidFill>
              <a:srgbClr val="E21836"/>
            </a:solidFill>
            <a:prstDash val="solid"/>
          </a:ln>
        </p:spPr>
        <p:txBody>
          <a:bodyPr/>
          <a:lstStyle/>
          <a:p>
            <a:endParaRPr lang="fr-CH" noProof="0" dirty="0"/>
          </a:p>
        </p:txBody>
      </p:sp>
      <p:sp>
        <p:nvSpPr>
          <p:cNvPr id="42" name="Text 39"/>
          <p:cNvSpPr/>
          <p:nvPr/>
        </p:nvSpPr>
        <p:spPr>
          <a:xfrm>
            <a:off x="8092440" y="2395728"/>
            <a:ext cx="1600200" cy="228600"/>
          </a:xfrm>
          <a:prstGeom prst="rect">
            <a:avLst/>
          </a:prstGeom>
          <a:noFill/>
          <a:ln/>
        </p:spPr>
        <p:txBody>
          <a:bodyPr wrap="square" lIns="127" tIns="127" rIns="127" bIns="127" rtlCol="0" anchor="ctr">
            <a:normAutofit/>
          </a:bodyPr>
          <a:lstStyle/>
          <a:p>
            <a:pPr marL="0" indent="0">
              <a:buNone/>
            </a:pPr>
            <a:r>
              <a:rPr lang="fr-CH" sz="1040" noProof="0" dirty="0">
                <a:solidFill>
                  <a:srgbClr val="1F2933"/>
                </a:solidFill>
              </a:rPr>
              <a:t>Résultats robustes</a:t>
            </a:r>
            <a:endParaRPr lang="fr-CH" sz="1040" noProof="0" dirty="0"/>
          </a:p>
        </p:txBody>
      </p:sp>
      <p:sp>
        <p:nvSpPr>
          <p:cNvPr id="43" name="Shape 40"/>
          <p:cNvSpPr/>
          <p:nvPr/>
        </p:nvSpPr>
        <p:spPr>
          <a:xfrm>
            <a:off x="7863840" y="2715768"/>
            <a:ext cx="100584" cy="100584"/>
          </a:xfrm>
          <a:prstGeom prst="ellipse">
            <a:avLst/>
          </a:prstGeom>
          <a:solidFill>
            <a:srgbClr val="E21836"/>
          </a:solidFill>
          <a:ln w="12700">
            <a:solidFill>
              <a:srgbClr val="E21836"/>
            </a:solidFill>
            <a:prstDash val="solid"/>
          </a:ln>
        </p:spPr>
        <p:txBody>
          <a:bodyPr/>
          <a:lstStyle/>
          <a:p>
            <a:endParaRPr lang="fr-CH" noProof="0" dirty="0"/>
          </a:p>
        </p:txBody>
      </p:sp>
      <p:sp>
        <p:nvSpPr>
          <p:cNvPr id="44" name="Text 41"/>
          <p:cNvSpPr/>
          <p:nvPr/>
        </p:nvSpPr>
        <p:spPr>
          <a:xfrm>
            <a:off x="8092440" y="2660904"/>
            <a:ext cx="1600200" cy="228600"/>
          </a:xfrm>
          <a:prstGeom prst="rect">
            <a:avLst/>
          </a:prstGeom>
          <a:noFill/>
          <a:ln/>
        </p:spPr>
        <p:txBody>
          <a:bodyPr wrap="square" lIns="127" tIns="127" rIns="127" bIns="127" rtlCol="0" anchor="ctr">
            <a:normAutofit/>
          </a:bodyPr>
          <a:lstStyle/>
          <a:p>
            <a:pPr marL="0" indent="0">
              <a:buNone/>
            </a:pPr>
            <a:r>
              <a:rPr lang="fr-CH" sz="1040" noProof="0" dirty="0">
                <a:solidFill>
                  <a:srgbClr val="1F2933"/>
                </a:solidFill>
              </a:rPr>
              <a:t>Méthode transparente</a:t>
            </a:r>
            <a:endParaRPr lang="fr-CH" sz="1040" noProof="0" dirty="0"/>
          </a:p>
        </p:txBody>
      </p:sp>
      <p:sp>
        <p:nvSpPr>
          <p:cNvPr id="45" name="Shape 42"/>
          <p:cNvSpPr/>
          <p:nvPr/>
        </p:nvSpPr>
        <p:spPr>
          <a:xfrm>
            <a:off x="7863840" y="2980944"/>
            <a:ext cx="100584" cy="100584"/>
          </a:xfrm>
          <a:prstGeom prst="ellipse">
            <a:avLst/>
          </a:prstGeom>
          <a:solidFill>
            <a:srgbClr val="E21836"/>
          </a:solidFill>
          <a:ln w="12700">
            <a:solidFill>
              <a:srgbClr val="E21836"/>
            </a:solidFill>
            <a:prstDash val="solid"/>
          </a:ln>
        </p:spPr>
        <p:txBody>
          <a:bodyPr/>
          <a:lstStyle/>
          <a:p>
            <a:endParaRPr lang="fr-CH" noProof="0" dirty="0"/>
          </a:p>
        </p:txBody>
      </p:sp>
      <p:sp>
        <p:nvSpPr>
          <p:cNvPr id="46" name="Text 43"/>
          <p:cNvSpPr/>
          <p:nvPr/>
        </p:nvSpPr>
        <p:spPr>
          <a:xfrm>
            <a:off x="8092440" y="2926080"/>
            <a:ext cx="1600200" cy="228600"/>
          </a:xfrm>
          <a:prstGeom prst="rect">
            <a:avLst/>
          </a:prstGeom>
          <a:noFill/>
          <a:ln/>
        </p:spPr>
        <p:txBody>
          <a:bodyPr wrap="square" lIns="127" tIns="127" rIns="127" bIns="127" rtlCol="0" anchor="ctr">
            <a:normAutofit/>
          </a:bodyPr>
          <a:lstStyle/>
          <a:p>
            <a:pPr marL="0" indent="0">
              <a:buNone/>
            </a:pPr>
            <a:r>
              <a:rPr lang="fr-CH" sz="1040" noProof="0" dirty="0">
                <a:solidFill>
                  <a:srgbClr val="1F2933"/>
                </a:solidFill>
              </a:rPr>
              <a:t>Neutralité du bulletin</a:t>
            </a:r>
            <a:endParaRPr lang="fr-CH" sz="1040" noProof="0" dirty="0"/>
          </a:p>
        </p:txBody>
      </p:sp>
      <p:sp>
        <p:nvSpPr>
          <p:cNvPr id="47" name="Shape 44"/>
          <p:cNvSpPr/>
          <p:nvPr/>
        </p:nvSpPr>
        <p:spPr>
          <a:xfrm>
            <a:off x="9893808" y="1810512"/>
            <a:ext cx="1691640" cy="1874520"/>
          </a:xfrm>
          <a:prstGeom prst="roundRect">
            <a:avLst>
              <a:gd name="adj" fmla="val 3784"/>
            </a:avLst>
          </a:prstGeom>
          <a:solidFill>
            <a:srgbClr val="FFFFFF"/>
          </a:solidFill>
          <a:ln w="12700">
            <a:solidFill>
              <a:srgbClr val="D1D8E8"/>
            </a:solidFill>
            <a:prstDash val="solid"/>
          </a:ln>
        </p:spPr>
        <p:txBody>
          <a:bodyPr/>
          <a:lstStyle/>
          <a:p>
            <a:endParaRPr lang="fr-CH" noProof="0" dirty="0"/>
          </a:p>
        </p:txBody>
      </p:sp>
      <p:sp>
        <p:nvSpPr>
          <p:cNvPr id="48" name="Shape 45"/>
          <p:cNvSpPr/>
          <p:nvPr/>
        </p:nvSpPr>
        <p:spPr>
          <a:xfrm>
            <a:off x="9921240" y="1828800"/>
            <a:ext cx="73152" cy="1874520"/>
          </a:xfrm>
          <a:prstGeom prst="rect">
            <a:avLst/>
          </a:prstGeom>
          <a:solidFill>
            <a:srgbClr val="1428A0"/>
          </a:solidFill>
          <a:ln w="12700">
            <a:solidFill>
              <a:srgbClr val="1428A0"/>
            </a:solidFill>
            <a:prstDash val="solid"/>
          </a:ln>
        </p:spPr>
        <p:txBody>
          <a:bodyPr/>
          <a:lstStyle/>
          <a:p>
            <a:endParaRPr lang="fr-CH" noProof="0" dirty="0"/>
          </a:p>
        </p:txBody>
      </p:sp>
      <p:sp>
        <p:nvSpPr>
          <p:cNvPr id="49" name="Text 46"/>
          <p:cNvSpPr/>
          <p:nvPr/>
        </p:nvSpPr>
        <p:spPr>
          <a:xfrm>
            <a:off x="10131552" y="1975104"/>
            <a:ext cx="1371600" cy="228600"/>
          </a:xfrm>
          <a:prstGeom prst="rect">
            <a:avLst/>
          </a:prstGeom>
          <a:noFill/>
          <a:ln/>
        </p:spPr>
        <p:txBody>
          <a:bodyPr wrap="square" rtlCol="0" anchor="ctr">
            <a:normAutofit fontScale="92500" lnSpcReduction="20000"/>
          </a:bodyPr>
          <a:lstStyle/>
          <a:p>
            <a:pPr marL="0" indent="0">
              <a:buNone/>
            </a:pPr>
            <a:r>
              <a:rPr lang="fr-CH" sz="1230" b="1" noProof="0" dirty="0">
                <a:solidFill>
                  <a:srgbClr val="1428A0"/>
                </a:solidFill>
              </a:rPr>
              <a:t>Utilité publique</a:t>
            </a:r>
            <a:endParaRPr lang="fr-CH" sz="1230" noProof="0" dirty="0"/>
          </a:p>
        </p:txBody>
      </p:sp>
      <p:sp>
        <p:nvSpPr>
          <p:cNvPr id="50" name="Shape 47"/>
          <p:cNvSpPr/>
          <p:nvPr/>
        </p:nvSpPr>
        <p:spPr>
          <a:xfrm>
            <a:off x="10149840" y="2450592"/>
            <a:ext cx="100584" cy="100584"/>
          </a:xfrm>
          <a:prstGeom prst="ellipse">
            <a:avLst/>
          </a:prstGeom>
          <a:solidFill>
            <a:srgbClr val="E21836"/>
          </a:solidFill>
          <a:ln w="12700">
            <a:solidFill>
              <a:srgbClr val="E21836"/>
            </a:solidFill>
            <a:prstDash val="solid"/>
          </a:ln>
        </p:spPr>
        <p:txBody>
          <a:bodyPr/>
          <a:lstStyle/>
          <a:p>
            <a:endParaRPr lang="fr-CH" noProof="0" dirty="0"/>
          </a:p>
        </p:txBody>
      </p:sp>
      <p:sp>
        <p:nvSpPr>
          <p:cNvPr id="51" name="Text 48"/>
          <p:cNvSpPr/>
          <p:nvPr/>
        </p:nvSpPr>
        <p:spPr>
          <a:xfrm>
            <a:off x="10378440" y="2395728"/>
            <a:ext cx="1188720" cy="228600"/>
          </a:xfrm>
          <a:prstGeom prst="rect">
            <a:avLst/>
          </a:prstGeom>
          <a:noFill/>
          <a:ln/>
        </p:spPr>
        <p:txBody>
          <a:bodyPr wrap="square" lIns="127" tIns="127" rIns="127" bIns="127" rtlCol="0" anchor="ctr">
            <a:normAutofit/>
          </a:bodyPr>
          <a:lstStyle/>
          <a:p>
            <a:pPr marL="0" indent="0">
              <a:buNone/>
            </a:pPr>
            <a:r>
              <a:rPr lang="fr-CH" sz="1040" noProof="0" dirty="0">
                <a:solidFill>
                  <a:srgbClr val="1F2933"/>
                </a:solidFill>
              </a:rPr>
              <a:t>Suivi des réformes</a:t>
            </a:r>
            <a:endParaRPr lang="fr-CH" sz="1040" noProof="0" dirty="0"/>
          </a:p>
        </p:txBody>
      </p:sp>
      <p:sp>
        <p:nvSpPr>
          <p:cNvPr id="52" name="Shape 49"/>
          <p:cNvSpPr/>
          <p:nvPr/>
        </p:nvSpPr>
        <p:spPr>
          <a:xfrm>
            <a:off x="10149840" y="2715768"/>
            <a:ext cx="100584" cy="100584"/>
          </a:xfrm>
          <a:prstGeom prst="ellipse">
            <a:avLst/>
          </a:prstGeom>
          <a:solidFill>
            <a:srgbClr val="E21836"/>
          </a:solidFill>
          <a:ln w="12700">
            <a:solidFill>
              <a:srgbClr val="E21836"/>
            </a:solidFill>
            <a:prstDash val="solid"/>
          </a:ln>
        </p:spPr>
        <p:txBody>
          <a:bodyPr/>
          <a:lstStyle/>
          <a:p>
            <a:endParaRPr lang="fr-CH" noProof="0" dirty="0"/>
          </a:p>
        </p:txBody>
      </p:sp>
      <p:sp>
        <p:nvSpPr>
          <p:cNvPr id="53" name="Text 50"/>
          <p:cNvSpPr/>
          <p:nvPr/>
        </p:nvSpPr>
        <p:spPr>
          <a:xfrm>
            <a:off x="10378440" y="2660904"/>
            <a:ext cx="1188720" cy="228600"/>
          </a:xfrm>
          <a:prstGeom prst="rect">
            <a:avLst/>
          </a:prstGeom>
          <a:noFill/>
          <a:ln/>
        </p:spPr>
        <p:txBody>
          <a:bodyPr wrap="square" lIns="127" tIns="127" rIns="127" bIns="127" rtlCol="0" anchor="ctr">
            <a:normAutofit/>
          </a:bodyPr>
          <a:lstStyle/>
          <a:p>
            <a:pPr marL="0" indent="0">
              <a:buNone/>
            </a:pPr>
            <a:r>
              <a:rPr lang="fr-CH" sz="1040" noProof="0" dirty="0">
                <a:solidFill>
                  <a:srgbClr val="1F2933"/>
                </a:solidFill>
              </a:rPr>
              <a:t>Pilotage national</a:t>
            </a:r>
            <a:endParaRPr lang="fr-CH" sz="1040" noProof="0" dirty="0"/>
          </a:p>
        </p:txBody>
      </p:sp>
      <p:sp>
        <p:nvSpPr>
          <p:cNvPr id="54" name="Shape 51"/>
          <p:cNvSpPr/>
          <p:nvPr/>
        </p:nvSpPr>
        <p:spPr>
          <a:xfrm>
            <a:off x="10149840" y="2980944"/>
            <a:ext cx="100584" cy="100584"/>
          </a:xfrm>
          <a:prstGeom prst="ellipse">
            <a:avLst/>
          </a:prstGeom>
          <a:solidFill>
            <a:srgbClr val="E21836"/>
          </a:solidFill>
          <a:ln w="12700">
            <a:solidFill>
              <a:srgbClr val="E21836"/>
            </a:solidFill>
            <a:prstDash val="solid"/>
          </a:ln>
        </p:spPr>
        <p:txBody>
          <a:bodyPr/>
          <a:lstStyle/>
          <a:p>
            <a:endParaRPr lang="fr-CH" noProof="0" dirty="0"/>
          </a:p>
        </p:txBody>
      </p:sp>
      <p:sp>
        <p:nvSpPr>
          <p:cNvPr id="55" name="Text 52"/>
          <p:cNvSpPr/>
          <p:nvPr/>
        </p:nvSpPr>
        <p:spPr>
          <a:xfrm>
            <a:off x="10378440" y="2994660"/>
            <a:ext cx="1188720" cy="228600"/>
          </a:xfrm>
          <a:prstGeom prst="rect">
            <a:avLst/>
          </a:prstGeom>
          <a:noFill/>
          <a:ln/>
        </p:spPr>
        <p:txBody>
          <a:bodyPr wrap="square" lIns="127" tIns="127" rIns="127" bIns="127" rtlCol="0" anchor="ctr">
            <a:noAutofit/>
          </a:bodyPr>
          <a:lstStyle/>
          <a:p>
            <a:r>
              <a:rPr lang="fr-CH" sz="1050" dirty="0">
                <a:solidFill>
                  <a:srgbClr val="1F2933"/>
                </a:solidFill>
              </a:rPr>
              <a:t>Dialogue institutionnel</a:t>
            </a:r>
          </a:p>
        </p:txBody>
      </p:sp>
      <p:sp>
        <p:nvSpPr>
          <p:cNvPr id="56" name="Shape 53"/>
          <p:cNvSpPr/>
          <p:nvPr/>
        </p:nvSpPr>
        <p:spPr>
          <a:xfrm>
            <a:off x="1005840" y="4663440"/>
            <a:ext cx="10241280" cy="777240"/>
          </a:xfrm>
          <a:prstGeom prst="roundRect">
            <a:avLst/>
          </a:prstGeom>
          <a:solidFill>
            <a:srgbClr val="EAF0FA"/>
          </a:solidFill>
          <a:ln w="12700">
            <a:solidFill>
              <a:srgbClr val="C6D2EE"/>
            </a:solidFill>
            <a:prstDash val="solid"/>
          </a:ln>
        </p:spPr>
        <p:txBody>
          <a:bodyPr/>
          <a:lstStyle/>
          <a:p>
            <a:endParaRPr lang="fr-CH" noProof="0" dirty="0"/>
          </a:p>
        </p:txBody>
      </p:sp>
      <p:sp>
        <p:nvSpPr>
          <p:cNvPr id="57" name="Text 54"/>
          <p:cNvSpPr/>
          <p:nvPr/>
        </p:nvSpPr>
        <p:spPr>
          <a:xfrm>
            <a:off x="1234440" y="4882896"/>
            <a:ext cx="9784080" cy="237744"/>
          </a:xfrm>
          <a:prstGeom prst="rect">
            <a:avLst/>
          </a:prstGeom>
          <a:noFill/>
          <a:ln/>
        </p:spPr>
        <p:txBody>
          <a:bodyPr wrap="square" rtlCol="0" anchor="ctr">
            <a:normAutofit fontScale="70000" lnSpcReduction="20000"/>
          </a:bodyPr>
          <a:lstStyle/>
          <a:p>
            <a:pPr marL="0" indent="0" algn="ctr">
              <a:buNone/>
            </a:pPr>
            <a:r>
              <a:rPr lang="fr-CH" sz="1400" b="1" noProof="0" dirty="0">
                <a:solidFill>
                  <a:srgbClr val="1428A0"/>
                </a:solidFill>
              </a:rPr>
              <a:t>Le bulletin n’est pas une compilation libre de chiffres : il doit produire des indicateurs comparables, documentés et utilisables pour la décision publique.</a:t>
            </a:r>
            <a:endParaRPr lang="fr-CH" sz="1400" noProof="0" dirty="0"/>
          </a:p>
        </p:txBody>
      </p:sp>
      <p:pic>
        <p:nvPicPr>
          <p:cNvPr id="58" name="Image 0" descr="/mnt/data/ref_unzip/ppt/media/image1.png">
            <a:extLst>
              <a:ext uri="{FF2B5EF4-FFF2-40B4-BE49-F238E27FC236}">
                <a16:creationId xmlns:a16="http://schemas.microsoft.com/office/drawing/2014/main" id="{288AEA8F-93D7-E4BE-3EAF-355FE32852D6}"/>
              </a:ext>
            </a:extLst>
          </p:cNvPr>
          <p:cNvPicPr>
            <a:picLocks noChangeAspect="1"/>
          </p:cNvPicPr>
          <p:nvPr/>
        </p:nvPicPr>
        <p:blipFill>
          <a:blip r:embed="rId3"/>
          <a:stretch>
            <a:fillRect/>
          </a:stretch>
        </p:blipFill>
        <p:spPr>
          <a:xfrm>
            <a:off x="10088880" y="357645"/>
            <a:ext cx="1508760" cy="52052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428A0"/>
          </a:solidFill>
          <a:ln w="12700">
            <a:solidFill>
              <a:srgbClr val="1428A0"/>
            </a:solidFill>
            <a:prstDash val="solid"/>
          </a:ln>
        </p:spPr>
        <p:txBody>
          <a:bodyPr/>
          <a:lstStyle/>
          <a:p>
            <a:endParaRPr lang="fr-CH" noProof="0" dirty="0"/>
          </a:p>
        </p:txBody>
      </p:sp>
      <p:sp>
        <p:nvSpPr>
          <p:cNvPr id="3" name="Text 1"/>
          <p:cNvSpPr/>
          <p:nvPr/>
        </p:nvSpPr>
        <p:spPr>
          <a:xfrm>
            <a:off x="594360" y="420624"/>
            <a:ext cx="8686800" cy="411480"/>
          </a:xfrm>
          <a:prstGeom prst="rect">
            <a:avLst/>
          </a:prstGeom>
          <a:noFill/>
          <a:ln/>
        </p:spPr>
        <p:txBody>
          <a:bodyPr wrap="square" rtlCol="0" anchor="ctr">
            <a:normAutofit fontScale="92500" lnSpcReduction="10000"/>
          </a:bodyPr>
          <a:lstStyle/>
          <a:p>
            <a:pPr marL="0" indent="0">
              <a:buNone/>
            </a:pPr>
            <a:r>
              <a:rPr lang="fr-CH" sz="2400" b="1" noProof="0" dirty="0">
                <a:solidFill>
                  <a:srgbClr val="1428A0"/>
                </a:solidFill>
                <a:latin typeface="Arial" pitchFamily="34" charset="0"/>
                <a:ea typeface="Arial" pitchFamily="34" charset="-122"/>
                <a:cs typeface="Arial" pitchFamily="34" charset="-120"/>
              </a:rPr>
              <a:t>Ce que le bulletin peut contenir : trois niveaux distincts</a:t>
            </a:r>
            <a:endParaRPr lang="fr-CH" sz="2400" noProof="0" dirty="0"/>
          </a:p>
        </p:txBody>
      </p:sp>
      <p:sp>
        <p:nvSpPr>
          <p:cNvPr id="4" name="Text 2"/>
          <p:cNvSpPr/>
          <p:nvPr/>
        </p:nvSpPr>
        <p:spPr>
          <a:xfrm>
            <a:off x="612648" y="219456"/>
            <a:ext cx="6858000" cy="155448"/>
          </a:xfrm>
          <a:prstGeom prst="rect">
            <a:avLst/>
          </a:prstGeom>
          <a:noFill/>
          <a:ln/>
        </p:spPr>
        <p:txBody>
          <a:bodyPr wrap="square" rtlCol="0" anchor="ctr"/>
          <a:lstStyle/>
          <a:p>
            <a:pPr marL="0" indent="0">
              <a:buNone/>
            </a:pPr>
            <a:r>
              <a:rPr lang="fr-CH" sz="730" noProof="0" dirty="0">
                <a:solidFill>
                  <a:srgbClr val="586069"/>
                </a:solidFill>
              </a:rPr>
              <a:t>ARCHITECTURE DU BULLETIN</a:t>
            </a:r>
            <a:endParaRPr lang="fr-CH" sz="730" noProof="0" dirty="0"/>
          </a:p>
        </p:txBody>
      </p:sp>
      <p:sp>
        <p:nvSpPr>
          <p:cNvPr id="6" name="Shape 3"/>
          <p:cNvSpPr/>
          <p:nvPr/>
        </p:nvSpPr>
        <p:spPr>
          <a:xfrm>
            <a:off x="594360" y="987552"/>
            <a:ext cx="10972800" cy="0"/>
          </a:xfrm>
          <a:prstGeom prst="line">
            <a:avLst/>
          </a:prstGeom>
          <a:noFill/>
          <a:ln w="12700">
            <a:solidFill>
              <a:srgbClr val="D9E1F2"/>
            </a:solidFill>
            <a:prstDash val="solid"/>
          </a:ln>
        </p:spPr>
        <p:txBody>
          <a:bodyPr/>
          <a:lstStyle/>
          <a:p>
            <a:endParaRPr lang="fr-CH" noProof="0" dirty="0"/>
          </a:p>
        </p:txBody>
      </p:sp>
      <p:sp>
        <p:nvSpPr>
          <p:cNvPr id="7" name="Text 4"/>
          <p:cNvSpPr/>
          <p:nvPr/>
        </p:nvSpPr>
        <p:spPr>
          <a:xfrm>
            <a:off x="594360" y="6510528"/>
            <a:ext cx="6583680" cy="164592"/>
          </a:xfrm>
          <a:prstGeom prst="rect">
            <a:avLst/>
          </a:prstGeom>
          <a:noFill/>
          <a:ln/>
        </p:spPr>
        <p:txBody>
          <a:bodyPr wrap="square" rtlCol="0" anchor="ctr"/>
          <a:lstStyle/>
          <a:p>
            <a:pPr marL="0" indent="0">
              <a:buNone/>
            </a:pPr>
            <a:r>
              <a:rPr lang="fr-CH" sz="750" noProof="0" dirty="0">
                <a:solidFill>
                  <a:srgbClr val="586069"/>
                </a:solidFill>
                <a:latin typeface="Arial" pitchFamily="34" charset="0"/>
                <a:ea typeface="Arial" pitchFamily="34" charset="-122"/>
                <a:cs typeface="Arial" pitchFamily="34" charset="-120"/>
              </a:rPr>
              <a:t>Faire avancer la justice sociale, promouvoir le travail décent</a:t>
            </a:r>
            <a:endParaRPr lang="fr-CH" sz="750" noProof="0" dirty="0"/>
          </a:p>
        </p:txBody>
      </p:sp>
      <p:sp>
        <p:nvSpPr>
          <p:cNvPr id="8" name="Text 5"/>
          <p:cNvSpPr/>
          <p:nvPr/>
        </p:nvSpPr>
        <p:spPr>
          <a:xfrm>
            <a:off x="7543800" y="6510528"/>
            <a:ext cx="3017520" cy="164592"/>
          </a:xfrm>
          <a:prstGeom prst="rect">
            <a:avLst/>
          </a:prstGeom>
          <a:noFill/>
          <a:ln/>
        </p:spPr>
        <p:txBody>
          <a:bodyPr wrap="square" rtlCol="0" anchor="ctr"/>
          <a:lstStyle/>
          <a:p>
            <a:pPr marL="0" indent="0" algn="r">
              <a:buNone/>
            </a:pPr>
            <a:r>
              <a:rPr lang="fr-CH" sz="730" noProof="0" dirty="0">
                <a:solidFill>
                  <a:srgbClr val="586069"/>
                </a:solidFill>
                <a:latin typeface="Arial" pitchFamily="34" charset="0"/>
                <a:ea typeface="Arial" pitchFamily="34" charset="-122"/>
                <a:cs typeface="Arial" pitchFamily="34" charset="-120"/>
              </a:rPr>
              <a:t>Atelier 2e Bulletin Statistique RDC | 14 mai 2026</a:t>
            </a:r>
            <a:endParaRPr lang="fr-CH" sz="730" noProof="0" dirty="0"/>
          </a:p>
        </p:txBody>
      </p:sp>
      <p:sp>
        <p:nvSpPr>
          <p:cNvPr id="9" name="Text 6"/>
          <p:cNvSpPr/>
          <p:nvPr/>
        </p:nvSpPr>
        <p:spPr>
          <a:xfrm>
            <a:off x="11292840" y="6473952"/>
            <a:ext cx="411480" cy="201168"/>
          </a:xfrm>
          <a:prstGeom prst="rect">
            <a:avLst/>
          </a:prstGeom>
          <a:noFill/>
          <a:ln/>
        </p:spPr>
        <p:txBody>
          <a:bodyPr wrap="square" lIns="27432" tIns="18288" rIns="27432" bIns="18288" rtlCol="0" anchor="ctr"/>
          <a:lstStyle/>
          <a:p>
            <a:pPr marL="0" indent="0" algn="r">
              <a:buNone/>
            </a:pPr>
            <a:r>
              <a:rPr lang="fr-CH" sz="850" b="0" noProof="0" dirty="0">
                <a:solidFill>
                  <a:srgbClr val="505050"/>
                </a:solidFill>
                <a:latin typeface="Arial"/>
              </a:rPr>
              <a:t>5</a:t>
            </a:r>
            <a:endParaRPr lang="fr-CH" sz="750" noProof="0" dirty="0"/>
          </a:p>
        </p:txBody>
      </p:sp>
      <p:graphicFrame>
        <p:nvGraphicFramePr>
          <p:cNvPr id="10" name="Table 0"/>
          <p:cNvGraphicFramePr>
            <a:graphicFrameLocks noGrp="1"/>
          </p:cNvGraphicFramePr>
          <p:nvPr>
            <p:extLst>
              <p:ext uri="{D42A27DB-BD31-4B8C-83A1-F6EECF244321}">
                <p14:modId xmlns:p14="http://schemas.microsoft.com/office/powerpoint/2010/main" val="3365716021"/>
              </p:ext>
            </p:extLst>
          </p:nvPr>
        </p:nvGraphicFramePr>
        <p:xfrm>
          <a:off x="777240" y="1417320"/>
          <a:ext cx="10789920" cy="2103120"/>
        </p:xfrm>
        <a:graphic>
          <a:graphicData uri="http://schemas.openxmlformats.org/drawingml/2006/table">
            <a:tbl>
              <a:tblPr/>
              <a:tblGrid>
                <a:gridCol w="2743200">
                  <a:extLst>
                    <a:ext uri="{9D8B030D-6E8A-4147-A177-3AD203B41FA5}">
                      <a16:colId xmlns:a16="http://schemas.microsoft.com/office/drawing/2014/main" val="20000"/>
                    </a:ext>
                  </a:extLst>
                </a:gridCol>
                <a:gridCol w="521208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525780">
                <a:tc>
                  <a:txBody>
                    <a:bodyPr/>
                    <a:lstStyle/>
                    <a:p>
                      <a:pPr marL="0" indent="0">
                        <a:buNone/>
                      </a:pPr>
                      <a:r>
                        <a:rPr lang="fr-CH" sz="1050" b="1" noProof="0" dirty="0">
                          <a:solidFill>
                            <a:srgbClr val="FFFFFF"/>
                          </a:solidFill>
                        </a:rPr>
                        <a:t>Niveau</a:t>
                      </a:r>
                      <a:endParaRPr lang="fr-CH" sz="1050" noProof="0" dirty="0"/>
                    </a:p>
                  </a:txBody>
                  <a:tcPr marL="54864" marR="54864" marT="54864" marB="54864">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1428A0"/>
                    </a:solidFill>
                  </a:tcPr>
                </a:tc>
                <a:tc>
                  <a:txBody>
                    <a:bodyPr/>
                    <a:lstStyle/>
                    <a:p>
                      <a:pPr marL="0" indent="0">
                        <a:buNone/>
                      </a:pPr>
                      <a:r>
                        <a:rPr lang="fr-CH" sz="1050" b="1" noProof="0" dirty="0">
                          <a:solidFill>
                            <a:srgbClr val="FFFFFF"/>
                          </a:solidFill>
                        </a:rPr>
                        <a:t>Contenu</a:t>
                      </a:r>
                      <a:endParaRPr lang="fr-CH" sz="1050" noProof="0" dirty="0"/>
                    </a:p>
                  </a:txBody>
                  <a:tcPr marL="54864" marR="54864" marT="54864" marB="54864">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1428A0"/>
                    </a:solidFill>
                  </a:tcPr>
                </a:tc>
                <a:tc>
                  <a:txBody>
                    <a:bodyPr/>
                    <a:lstStyle/>
                    <a:p>
                      <a:pPr marL="0" indent="0">
                        <a:buNone/>
                      </a:pPr>
                      <a:r>
                        <a:rPr lang="fr-CH" sz="1050" b="1" noProof="0" dirty="0">
                          <a:solidFill>
                            <a:srgbClr val="FFFFFF"/>
                          </a:solidFill>
                        </a:rPr>
                        <a:t>Statut méthodologique</a:t>
                      </a:r>
                      <a:endParaRPr lang="fr-CH" sz="1050" noProof="0" dirty="0"/>
                    </a:p>
                  </a:txBody>
                  <a:tcPr marL="54864" marR="54864" marT="54864" marB="54864">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1428A0"/>
                    </a:solidFill>
                  </a:tcPr>
                </a:tc>
                <a:extLst>
                  <a:ext uri="{0D108BD9-81ED-4DB2-BD59-A6C34878D82A}">
                    <a16:rowId xmlns:a16="http://schemas.microsoft.com/office/drawing/2014/main" val="10000"/>
                  </a:ext>
                </a:extLst>
              </a:tr>
              <a:tr h="525780">
                <a:tc>
                  <a:txBody>
                    <a:bodyPr/>
                    <a:lstStyle/>
                    <a:p>
                      <a:pPr marL="0" indent="0">
                        <a:buNone/>
                      </a:pPr>
                      <a:r>
                        <a:rPr lang="fr-CH" sz="1050" b="1" noProof="0" dirty="0">
                          <a:solidFill>
                            <a:srgbClr val="1428A0"/>
                          </a:solidFill>
                        </a:rPr>
                        <a:t>1. Noyau statistique</a:t>
                      </a:r>
                      <a:endParaRPr lang="fr-CH" sz="105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FFFFF"/>
                    </a:solidFill>
                  </a:tcPr>
                </a:tc>
                <a:tc>
                  <a:txBody>
                    <a:bodyPr/>
                    <a:lstStyle/>
                    <a:p>
                      <a:pPr marL="0" indent="0">
                        <a:buNone/>
                      </a:pPr>
                      <a:r>
                        <a:rPr lang="fr-CH" sz="1050" noProof="0" dirty="0">
                          <a:solidFill>
                            <a:srgbClr val="1F2933"/>
                          </a:solidFill>
                        </a:rPr>
                        <a:t>Indicateurs standard (exemple : ODD 1.3.1) autre indicateurs usuelles</a:t>
                      </a:r>
                      <a:endParaRPr lang="fr-CH" sz="105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FFFFF"/>
                    </a:solidFill>
                  </a:tcPr>
                </a:tc>
                <a:tc>
                  <a:txBody>
                    <a:bodyPr/>
                    <a:lstStyle/>
                    <a:p>
                      <a:pPr marL="0" indent="0">
                        <a:buNone/>
                      </a:pPr>
                      <a:r>
                        <a:rPr lang="fr-CH" sz="1050" noProof="0" dirty="0">
                          <a:solidFill>
                            <a:srgbClr val="1F2933"/>
                          </a:solidFill>
                        </a:rPr>
                        <a:t>Standardisé, comparable</a:t>
                      </a:r>
                      <a:endParaRPr lang="fr-CH" sz="105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5780">
                <a:tc>
                  <a:txBody>
                    <a:bodyPr/>
                    <a:lstStyle/>
                    <a:p>
                      <a:pPr marL="0" indent="0">
                        <a:buNone/>
                      </a:pPr>
                      <a:r>
                        <a:rPr lang="fr-CH" sz="1050" b="1" noProof="0" dirty="0">
                          <a:solidFill>
                            <a:srgbClr val="1428A0"/>
                          </a:solidFill>
                        </a:rPr>
                        <a:t>2. Analyse nationale</a:t>
                      </a:r>
                      <a:endParaRPr lang="fr-CH" sz="105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4F7FB"/>
                    </a:solidFill>
                  </a:tcPr>
                </a:tc>
                <a:tc>
                  <a:txBody>
                    <a:bodyPr/>
                    <a:lstStyle/>
                    <a:p>
                      <a:pPr marL="0" indent="0">
                        <a:buNone/>
                      </a:pPr>
                      <a:r>
                        <a:rPr lang="fr-CH" sz="1050" noProof="0" dirty="0">
                          <a:solidFill>
                            <a:srgbClr val="1F2933"/>
                          </a:solidFill>
                        </a:rPr>
                        <a:t>Évolutions, réformes, tendances, limites de données</a:t>
                      </a:r>
                      <a:endParaRPr lang="fr-CH" sz="105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4F7FB"/>
                    </a:solidFill>
                  </a:tcPr>
                </a:tc>
                <a:tc>
                  <a:txBody>
                    <a:bodyPr/>
                    <a:lstStyle/>
                    <a:p>
                      <a:pPr marL="0" indent="0">
                        <a:buNone/>
                      </a:pPr>
                      <a:r>
                        <a:rPr lang="fr-CH" sz="1050" noProof="0" dirty="0">
                          <a:solidFill>
                            <a:srgbClr val="1F2933"/>
                          </a:solidFill>
                        </a:rPr>
                        <a:t>Interprétation documentée</a:t>
                      </a:r>
                      <a:endParaRPr lang="fr-CH" sz="105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4F7FB"/>
                    </a:solidFill>
                  </a:tcPr>
                </a:tc>
                <a:extLst>
                  <a:ext uri="{0D108BD9-81ED-4DB2-BD59-A6C34878D82A}">
                    <a16:rowId xmlns:a16="http://schemas.microsoft.com/office/drawing/2014/main" val="10002"/>
                  </a:ext>
                </a:extLst>
              </a:tr>
              <a:tr h="525780">
                <a:tc>
                  <a:txBody>
                    <a:bodyPr/>
                    <a:lstStyle/>
                    <a:p>
                      <a:pPr marL="0" indent="0">
                        <a:buNone/>
                      </a:pPr>
                      <a:r>
                        <a:rPr lang="fr-CH" sz="1050" b="1" noProof="0" dirty="0">
                          <a:solidFill>
                            <a:srgbClr val="1428A0"/>
                          </a:solidFill>
                        </a:rPr>
                        <a:t>3. Encadrés ou annexes</a:t>
                      </a:r>
                      <a:endParaRPr lang="fr-CH" sz="105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FFFFF"/>
                    </a:solidFill>
                  </a:tcPr>
                </a:tc>
                <a:tc>
                  <a:txBody>
                    <a:bodyPr/>
                    <a:lstStyle/>
                    <a:p>
                      <a:pPr marL="0" indent="0">
                        <a:buNone/>
                      </a:pPr>
                      <a:r>
                        <a:rPr lang="fr-CH" sz="1050" noProof="0" dirty="0">
                          <a:solidFill>
                            <a:srgbClr val="1F2933"/>
                          </a:solidFill>
                        </a:rPr>
                        <a:t>Initiatives, projets, ambitions institutionnelles, efforts sociaux</a:t>
                      </a:r>
                      <a:endParaRPr lang="fr-CH" sz="105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FFFFF"/>
                    </a:solidFill>
                  </a:tcPr>
                </a:tc>
                <a:tc>
                  <a:txBody>
                    <a:bodyPr/>
                    <a:lstStyle/>
                    <a:p>
                      <a:pPr marL="0" indent="0">
                        <a:buNone/>
                      </a:pPr>
                      <a:r>
                        <a:rPr lang="fr-CH" sz="1050" noProof="0" dirty="0">
                          <a:solidFill>
                            <a:srgbClr val="1F2933"/>
                          </a:solidFill>
                        </a:rPr>
                        <a:t>Contextualisation, hors calcul standard</a:t>
                      </a:r>
                      <a:endParaRPr lang="fr-CH" sz="105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1" name="Shape 7"/>
          <p:cNvSpPr/>
          <p:nvPr/>
        </p:nvSpPr>
        <p:spPr>
          <a:xfrm>
            <a:off x="1112367" y="4808957"/>
            <a:ext cx="9966960" cy="1005840"/>
          </a:xfrm>
          <a:prstGeom prst="roundRect">
            <a:avLst/>
          </a:prstGeom>
          <a:solidFill>
            <a:srgbClr val="F4F7FC"/>
          </a:solidFill>
          <a:ln w="12700">
            <a:solidFill>
              <a:srgbClr val="D5DDF0"/>
            </a:solidFill>
            <a:prstDash val="solid"/>
          </a:ln>
        </p:spPr>
        <p:txBody>
          <a:bodyPr/>
          <a:lstStyle/>
          <a:p>
            <a:endParaRPr lang="fr-CH" noProof="0" dirty="0"/>
          </a:p>
        </p:txBody>
      </p:sp>
      <p:sp>
        <p:nvSpPr>
          <p:cNvPr id="12" name="Text 8"/>
          <p:cNvSpPr/>
          <p:nvPr/>
        </p:nvSpPr>
        <p:spPr>
          <a:xfrm>
            <a:off x="1463040" y="5074133"/>
            <a:ext cx="9418320" cy="237744"/>
          </a:xfrm>
          <a:prstGeom prst="rect">
            <a:avLst/>
          </a:prstGeom>
          <a:noFill/>
          <a:ln/>
        </p:spPr>
        <p:txBody>
          <a:bodyPr wrap="square" rtlCol="0" anchor="ctr">
            <a:normAutofit fontScale="92500" lnSpcReduction="20000"/>
          </a:bodyPr>
          <a:lstStyle/>
          <a:p>
            <a:pPr marL="0" indent="0" algn="ctr">
              <a:buNone/>
            </a:pPr>
            <a:r>
              <a:rPr lang="fr-CH" sz="1200" noProof="0" dirty="0">
                <a:solidFill>
                  <a:srgbClr val="1F2933"/>
                </a:solidFill>
              </a:rPr>
              <a:t>Exemples d’éléments à contextualiser : gratuité scolaire, gratuité de la maternité, cantines scolaires, transferts sociaux, ambitions institutionnelles.</a:t>
            </a:r>
            <a:endParaRPr lang="fr-CH" sz="1200" noProof="0" dirty="0"/>
          </a:p>
        </p:txBody>
      </p:sp>
      <p:sp>
        <p:nvSpPr>
          <p:cNvPr id="13" name="Text 9"/>
          <p:cNvSpPr/>
          <p:nvPr/>
        </p:nvSpPr>
        <p:spPr>
          <a:xfrm>
            <a:off x="1386687" y="5364725"/>
            <a:ext cx="9418320" cy="237744"/>
          </a:xfrm>
          <a:prstGeom prst="rect">
            <a:avLst/>
          </a:prstGeom>
          <a:noFill/>
          <a:ln/>
        </p:spPr>
        <p:txBody>
          <a:bodyPr wrap="square" rtlCol="0" anchor="ctr">
            <a:normAutofit fontScale="92500" lnSpcReduction="20000"/>
          </a:bodyPr>
          <a:lstStyle/>
          <a:p>
            <a:pPr marL="0" indent="0" algn="ctr">
              <a:buNone/>
            </a:pPr>
            <a:r>
              <a:rPr lang="fr-CH" sz="1200" b="1" noProof="0" dirty="0">
                <a:solidFill>
                  <a:srgbClr val="1428A0"/>
                </a:solidFill>
              </a:rPr>
              <a:t>Ces éléments peuvent enrichir le bulletin sans modifier le calcul des indicateurs standardisés.</a:t>
            </a:r>
            <a:endParaRPr lang="fr-CH" sz="1200" noProof="0" dirty="0"/>
          </a:p>
        </p:txBody>
      </p:sp>
      <p:pic>
        <p:nvPicPr>
          <p:cNvPr id="15" name="Image 0" descr="/mnt/data/ref_unzip/ppt/media/image1.png">
            <a:extLst>
              <a:ext uri="{FF2B5EF4-FFF2-40B4-BE49-F238E27FC236}">
                <a16:creationId xmlns:a16="http://schemas.microsoft.com/office/drawing/2014/main" id="{C1489B72-1376-3027-E602-FF4D0B01ECE2}"/>
              </a:ext>
            </a:extLst>
          </p:cNvPr>
          <p:cNvPicPr>
            <a:picLocks noChangeAspect="1"/>
          </p:cNvPicPr>
          <p:nvPr/>
        </p:nvPicPr>
        <p:blipFill>
          <a:blip r:embed="rId3"/>
          <a:stretch>
            <a:fillRect/>
          </a:stretch>
        </p:blipFill>
        <p:spPr>
          <a:xfrm>
            <a:off x="10088880" y="357645"/>
            <a:ext cx="1508760" cy="52052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6" name="Shape 53">
            <a:extLst>
              <a:ext uri="{FF2B5EF4-FFF2-40B4-BE49-F238E27FC236}">
                <a16:creationId xmlns:a16="http://schemas.microsoft.com/office/drawing/2014/main" id="{327CCA5F-8D27-806C-C714-77C45112C89B}"/>
              </a:ext>
            </a:extLst>
          </p:cNvPr>
          <p:cNvSpPr/>
          <p:nvPr/>
        </p:nvSpPr>
        <p:spPr>
          <a:xfrm>
            <a:off x="1082040" y="5285232"/>
            <a:ext cx="10241280" cy="777240"/>
          </a:xfrm>
          <a:prstGeom prst="roundRect">
            <a:avLst/>
          </a:prstGeom>
          <a:solidFill>
            <a:srgbClr val="EAF0FA"/>
          </a:solidFill>
          <a:ln w="12700">
            <a:solidFill>
              <a:srgbClr val="C6D2EE"/>
            </a:solidFill>
            <a:prstDash val="solid"/>
          </a:ln>
        </p:spPr>
        <p:txBody>
          <a:bodyPr/>
          <a:lstStyle/>
          <a:p>
            <a:endParaRPr lang="fr-CH" noProof="0" dirty="0"/>
          </a:p>
        </p:txBody>
      </p:sp>
      <p:sp>
        <p:nvSpPr>
          <p:cNvPr id="2" name="Shape 0"/>
          <p:cNvSpPr/>
          <p:nvPr/>
        </p:nvSpPr>
        <p:spPr>
          <a:xfrm>
            <a:off x="0" y="0"/>
            <a:ext cx="12191695" cy="164592"/>
          </a:xfrm>
          <a:prstGeom prst="rect">
            <a:avLst/>
          </a:prstGeom>
          <a:solidFill>
            <a:srgbClr val="1428A0"/>
          </a:solidFill>
          <a:ln w="12700">
            <a:solidFill>
              <a:srgbClr val="1428A0"/>
            </a:solidFill>
            <a:prstDash val="solid"/>
          </a:ln>
        </p:spPr>
        <p:txBody>
          <a:bodyPr/>
          <a:lstStyle/>
          <a:p>
            <a:endParaRPr lang="fr-CH" noProof="0" dirty="0"/>
          </a:p>
        </p:txBody>
      </p:sp>
      <p:sp>
        <p:nvSpPr>
          <p:cNvPr id="3" name="Text 1"/>
          <p:cNvSpPr/>
          <p:nvPr/>
        </p:nvSpPr>
        <p:spPr>
          <a:xfrm>
            <a:off x="594360" y="420624"/>
            <a:ext cx="8686800" cy="411480"/>
          </a:xfrm>
          <a:prstGeom prst="rect">
            <a:avLst/>
          </a:prstGeom>
          <a:noFill/>
          <a:ln/>
        </p:spPr>
        <p:txBody>
          <a:bodyPr wrap="square" rtlCol="0" anchor="ctr">
            <a:normAutofit fontScale="92500" lnSpcReduction="10000"/>
          </a:bodyPr>
          <a:lstStyle/>
          <a:p>
            <a:pPr marL="0" indent="0">
              <a:buNone/>
            </a:pPr>
            <a:r>
              <a:rPr lang="fr-CH" sz="2400" b="1" noProof="0" dirty="0">
                <a:solidFill>
                  <a:srgbClr val="1428A0"/>
                </a:solidFill>
                <a:latin typeface="Arial" pitchFamily="34" charset="0"/>
                <a:ea typeface="Arial" pitchFamily="34" charset="-122"/>
                <a:cs typeface="Arial" pitchFamily="34" charset="-120"/>
              </a:rPr>
              <a:t>Pourquoi ne peut on pas “tout mettre” dans les indicateurs ?</a:t>
            </a:r>
            <a:endParaRPr lang="fr-CH" sz="2400" noProof="0" dirty="0"/>
          </a:p>
        </p:txBody>
      </p:sp>
      <p:sp>
        <p:nvSpPr>
          <p:cNvPr id="4" name="Text 2"/>
          <p:cNvSpPr/>
          <p:nvPr/>
        </p:nvSpPr>
        <p:spPr>
          <a:xfrm>
            <a:off x="612648" y="219456"/>
            <a:ext cx="6858000" cy="155448"/>
          </a:xfrm>
          <a:prstGeom prst="rect">
            <a:avLst/>
          </a:prstGeom>
          <a:noFill/>
          <a:ln/>
        </p:spPr>
        <p:txBody>
          <a:bodyPr wrap="square" rtlCol="0" anchor="ctr"/>
          <a:lstStyle/>
          <a:p>
            <a:pPr marL="0" indent="0">
              <a:buNone/>
            </a:pPr>
            <a:r>
              <a:rPr lang="fr-CH" sz="730" noProof="0" dirty="0">
                <a:solidFill>
                  <a:srgbClr val="586069"/>
                </a:solidFill>
              </a:rPr>
              <a:t>PÉRIMÈTRE</a:t>
            </a:r>
            <a:endParaRPr lang="fr-CH" sz="730" noProof="0" dirty="0"/>
          </a:p>
        </p:txBody>
      </p:sp>
      <p:sp>
        <p:nvSpPr>
          <p:cNvPr id="6" name="Shape 3"/>
          <p:cNvSpPr/>
          <p:nvPr/>
        </p:nvSpPr>
        <p:spPr>
          <a:xfrm>
            <a:off x="594360" y="987552"/>
            <a:ext cx="10972800" cy="0"/>
          </a:xfrm>
          <a:prstGeom prst="line">
            <a:avLst/>
          </a:prstGeom>
          <a:noFill/>
          <a:ln w="12700">
            <a:solidFill>
              <a:srgbClr val="D9E1F2"/>
            </a:solidFill>
            <a:prstDash val="solid"/>
          </a:ln>
        </p:spPr>
        <p:txBody>
          <a:bodyPr/>
          <a:lstStyle/>
          <a:p>
            <a:endParaRPr lang="fr-CH" noProof="0" dirty="0"/>
          </a:p>
        </p:txBody>
      </p:sp>
      <p:sp>
        <p:nvSpPr>
          <p:cNvPr id="7" name="Text 4"/>
          <p:cNvSpPr/>
          <p:nvPr/>
        </p:nvSpPr>
        <p:spPr>
          <a:xfrm>
            <a:off x="594360" y="6510528"/>
            <a:ext cx="6583680" cy="164592"/>
          </a:xfrm>
          <a:prstGeom prst="rect">
            <a:avLst/>
          </a:prstGeom>
          <a:noFill/>
          <a:ln/>
        </p:spPr>
        <p:txBody>
          <a:bodyPr wrap="square" rtlCol="0" anchor="ctr"/>
          <a:lstStyle/>
          <a:p>
            <a:pPr marL="0" indent="0">
              <a:buNone/>
            </a:pPr>
            <a:r>
              <a:rPr lang="fr-CH" sz="750" noProof="0" dirty="0">
                <a:solidFill>
                  <a:srgbClr val="586069"/>
                </a:solidFill>
                <a:latin typeface="Arial" pitchFamily="34" charset="0"/>
                <a:ea typeface="Arial" pitchFamily="34" charset="-122"/>
                <a:cs typeface="Arial" pitchFamily="34" charset="-120"/>
              </a:rPr>
              <a:t>Faire avancer la justice sociale, promouvoir le travail décent</a:t>
            </a:r>
            <a:endParaRPr lang="fr-CH" sz="750" noProof="0" dirty="0"/>
          </a:p>
        </p:txBody>
      </p:sp>
      <p:sp>
        <p:nvSpPr>
          <p:cNvPr id="8" name="Text 5"/>
          <p:cNvSpPr/>
          <p:nvPr/>
        </p:nvSpPr>
        <p:spPr>
          <a:xfrm>
            <a:off x="7543800" y="6510528"/>
            <a:ext cx="3017520" cy="164592"/>
          </a:xfrm>
          <a:prstGeom prst="rect">
            <a:avLst/>
          </a:prstGeom>
          <a:noFill/>
          <a:ln/>
        </p:spPr>
        <p:txBody>
          <a:bodyPr wrap="square" rtlCol="0" anchor="ctr"/>
          <a:lstStyle/>
          <a:p>
            <a:pPr marL="0" indent="0" algn="r">
              <a:buNone/>
            </a:pPr>
            <a:r>
              <a:rPr lang="fr-CH" sz="730" noProof="0" dirty="0">
                <a:solidFill>
                  <a:srgbClr val="586069"/>
                </a:solidFill>
                <a:latin typeface="Arial" pitchFamily="34" charset="0"/>
                <a:ea typeface="Arial" pitchFamily="34" charset="-122"/>
                <a:cs typeface="Arial" pitchFamily="34" charset="-120"/>
              </a:rPr>
              <a:t>Atelier 2e Bulletin Statistique RDC | 14 mai 2026</a:t>
            </a:r>
            <a:endParaRPr lang="fr-CH" sz="730" noProof="0" dirty="0"/>
          </a:p>
        </p:txBody>
      </p:sp>
      <p:sp>
        <p:nvSpPr>
          <p:cNvPr id="9" name="Text 6"/>
          <p:cNvSpPr/>
          <p:nvPr/>
        </p:nvSpPr>
        <p:spPr>
          <a:xfrm>
            <a:off x="11292840" y="6473952"/>
            <a:ext cx="411480" cy="201168"/>
          </a:xfrm>
          <a:prstGeom prst="rect">
            <a:avLst/>
          </a:prstGeom>
          <a:noFill/>
          <a:ln/>
        </p:spPr>
        <p:txBody>
          <a:bodyPr wrap="square" lIns="27432" tIns="18288" rIns="27432" bIns="18288" rtlCol="0" anchor="ctr"/>
          <a:lstStyle/>
          <a:p>
            <a:pPr marL="0" indent="0" algn="r">
              <a:buNone/>
            </a:pPr>
            <a:r>
              <a:rPr lang="fr-CH" sz="850" b="0" noProof="0" dirty="0">
                <a:solidFill>
                  <a:srgbClr val="505050"/>
                </a:solidFill>
                <a:latin typeface="Arial"/>
              </a:rPr>
              <a:t>4</a:t>
            </a:r>
            <a:endParaRPr lang="fr-CH" sz="750" noProof="0" dirty="0"/>
          </a:p>
        </p:txBody>
      </p:sp>
      <p:sp>
        <p:nvSpPr>
          <p:cNvPr id="10" name="Text 7"/>
          <p:cNvSpPr/>
          <p:nvPr/>
        </p:nvSpPr>
        <p:spPr>
          <a:xfrm>
            <a:off x="777240" y="1207008"/>
            <a:ext cx="10881360" cy="411480"/>
          </a:xfrm>
          <a:prstGeom prst="rect">
            <a:avLst/>
          </a:prstGeom>
          <a:noFill/>
          <a:ln/>
        </p:spPr>
        <p:txBody>
          <a:bodyPr wrap="square" rtlCol="0" anchor="ctr">
            <a:normAutofit/>
          </a:bodyPr>
          <a:lstStyle/>
          <a:p>
            <a:pPr marL="0" indent="0">
              <a:buNone/>
            </a:pPr>
            <a:r>
              <a:rPr lang="fr-CH" sz="1500" b="1" noProof="0" dirty="0">
                <a:solidFill>
                  <a:srgbClr val="1F2933"/>
                </a:solidFill>
              </a:rPr>
              <a:t>Les indicateurs statistiques doivent respecter des définitions, des sources et des règles de calcul précises.</a:t>
            </a:r>
            <a:endParaRPr lang="fr-CH" sz="1500" noProof="0" dirty="0"/>
          </a:p>
        </p:txBody>
      </p:sp>
      <p:sp>
        <p:nvSpPr>
          <p:cNvPr id="11" name="Shape 8"/>
          <p:cNvSpPr/>
          <p:nvPr/>
        </p:nvSpPr>
        <p:spPr>
          <a:xfrm>
            <a:off x="777240" y="1828800"/>
            <a:ext cx="5257800" cy="3291840"/>
          </a:xfrm>
          <a:prstGeom prst="roundRect">
            <a:avLst>
              <a:gd name="adj" fmla="val 1944"/>
            </a:avLst>
          </a:prstGeom>
          <a:solidFill>
            <a:srgbClr val="FFFFFF"/>
          </a:solidFill>
          <a:ln w="12700">
            <a:solidFill>
              <a:srgbClr val="D1D8E8"/>
            </a:solidFill>
            <a:prstDash val="solid"/>
          </a:ln>
        </p:spPr>
        <p:txBody>
          <a:bodyPr/>
          <a:lstStyle/>
          <a:p>
            <a:endParaRPr lang="fr-CH" noProof="0" dirty="0"/>
          </a:p>
        </p:txBody>
      </p:sp>
      <p:sp>
        <p:nvSpPr>
          <p:cNvPr id="12" name="Shape 9"/>
          <p:cNvSpPr/>
          <p:nvPr/>
        </p:nvSpPr>
        <p:spPr>
          <a:xfrm>
            <a:off x="777240" y="1828800"/>
            <a:ext cx="73152" cy="3291840"/>
          </a:xfrm>
          <a:prstGeom prst="rect">
            <a:avLst/>
          </a:prstGeom>
          <a:solidFill>
            <a:srgbClr val="1428A0"/>
          </a:solidFill>
          <a:ln w="12700">
            <a:solidFill>
              <a:srgbClr val="1428A0"/>
            </a:solidFill>
            <a:prstDash val="solid"/>
          </a:ln>
        </p:spPr>
        <p:txBody>
          <a:bodyPr/>
          <a:lstStyle/>
          <a:p>
            <a:endParaRPr lang="fr-CH" noProof="0" dirty="0"/>
          </a:p>
        </p:txBody>
      </p:sp>
      <p:sp>
        <p:nvSpPr>
          <p:cNvPr id="13" name="Text 10"/>
          <p:cNvSpPr/>
          <p:nvPr/>
        </p:nvSpPr>
        <p:spPr>
          <a:xfrm>
            <a:off x="987552" y="1975104"/>
            <a:ext cx="4937760" cy="228600"/>
          </a:xfrm>
          <a:prstGeom prst="rect">
            <a:avLst/>
          </a:prstGeom>
          <a:noFill/>
          <a:ln/>
        </p:spPr>
        <p:txBody>
          <a:bodyPr wrap="square" rtlCol="0" anchor="ctr">
            <a:noAutofit/>
          </a:bodyPr>
          <a:lstStyle/>
          <a:p>
            <a:pPr marL="0" indent="0">
              <a:buNone/>
            </a:pPr>
            <a:r>
              <a:rPr lang="fr-CH" sz="1600" b="1" noProof="0" dirty="0">
                <a:solidFill>
                  <a:srgbClr val="1428A0"/>
                </a:solidFill>
              </a:rPr>
              <a:t>Critères à documenter rigoureusement</a:t>
            </a:r>
            <a:endParaRPr lang="fr-CH" sz="1600" noProof="0" dirty="0"/>
          </a:p>
        </p:txBody>
      </p:sp>
      <p:sp>
        <p:nvSpPr>
          <p:cNvPr id="15" name="Text 12"/>
          <p:cNvSpPr/>
          <p:nvPr/>
        </p:nvSpPr>
        <p:spPr>
          <a:xfrm>
            <a:off x="1082040" y="3396996"/>
            <a:ext cx="4754880" cy="530352"/>
          </a:xfrm>
          <a:prstGeom prst="rect">
            <a:avLst/>
          </a:prstGeom>
          <a:noFill/>
          <a:ln/>
        </p:spPr>
        <p:txBody>
          <a:bodyPr wrap="square" lIns="127" tIns="127" rIns="127" bIns="127" rtlCol="0" anchor="ctr">
            <a:normAutofit fontScale="25000" lnSpcReduction="20000"/>
          </a:bodyPr>
          <a:lstStyle/>
          <a:p>
            <a:pPr marL="171450" indent="-171450">
              <a:lnSpc>
                <a:spcPct val="220000"/>
              </a:lnSpc>
              <a:buClr>
                <a:srgbClr val="1E2DBE"/>
              </a:buClr>
              <a:buFont typeface="Wingdings" panose="05000000000000000000" pitchFamily="2" charset="2"/>
              <a:buChar char="§"/>
            </a:pPr>
            <a:r>
              <a:rPr lang="fr-CH" sz="5600" noProof="0" dirty="0">
                <a:solidFill>
                  <a:srgbClr val="1F2933"/>
                </a:solidFill>
              </a:rPr>
              <a:t>Branche de protection sociale</a:t>
            </a:r>
          </a:p>
          <a:p>
            <a:pPr marL="171450" indent="-171450">
              <a:lnSpc>
                <a:spcPct val="220000"/>
              </a:lnSpc>
              <a:buClr>
                <a:srgbClr val="1E2DBE"/>
              </a:buClr>
              <a:buFont typeface="Wingdings" panose="05000000000000000000" pitchFamily="2" charset="2"/>
              <a:buChar char="§"/>
            </a:pPr>
            <a:r>
              <a:rPr lang="fr-CH" sz="5600" dirty="0">
                <a:solidFill>
                  <a:srgbClr val="1F2933"/>
                </a:solidFill>
              </a:rPr>
              <a:t>Population cible</a:t>
            </a:r>
          </a:p>
          <a:p>
            <a:pPr marL="171450" indent="-171450">
              <a:lnSpc>
                <a:spcPct val="220000"/>
              </a:lnSpc>
              <a:buClr>
                <a:srgbClr val="1E2DBE"/>
              </a:buClr>
              <a:buFont typeface="Wingdings" panose="05000000000000000000" pitchFamily="2" charset="2"/>
              <a:buChar char="§"/>
            </a:pPr>
            <a:r>
              <a:rPr lang="fr-CH" sz="5600" dirty="0">
                <a:solidFill>
                  <a:srgbClr val="1F2933"/>
                </a:solidFill>
              </a:rPr>
              <a:t>Prestation fournie</a:t>
            </a:r>
          </a:p>
          <a:p>
            <a:pPr marL="171450" indent="-171450">
              <a:lnSpc>
                <a:spcPct val="220000"/>
              </a:lnSpc>
              <a:buClr>
                <a:srgbClr val="1E2DBE"/>
              </a:buClr>
              <a:buFont typeface="Wingdings" panose="05000000000000000000" pitchFamily="2" charset="2"/>
              <a:buChar char="§"/>
            </a:pPr>
            <a:r>
              <a:rPr lang="fr-CH" sz="5600" dirty="0">
                <a:solidFill>
                  <a:srgbClr val="1F2933"/>
                </a:solidFill>
              </a:rPr>
              <a:t>Mode de financement</a:t>
            </a:r>
          </a:p>
          <a:p>
            <a:pPr marL="171450" indent="-171450">
              <a:lnSpc>
                <a:spcPct val="220000"/>
              </a:lnSpc>
              <a:buClr>
                <a:srgbClr val="1E2DBE"/>
              </a:buClr>
              <a:buFont typeface="Wingdings" panose="05000000000000000000" pitchFamily="2" charset="2"/>
              <a:buChar char="§"/>
            </a:pPr>
            <a:r>
              <a:rPr lang="fr-CH" sz="5600" dirty="0">
                <a:solidFill>
                  <a:srgbClr val="1F2933"/>
                </a:solidFill>
              </a:rPr>
              <a:t>Ancrage institutionnel ou programmatique</a:t>
            </a:r>
          </a:p>
          <a:p>
            <a:pPr marL="171450" indent="-171450">
              <a:lnSpc>
                <a:spcPct val="220000"/>
              </a:lnSpc>
              <a:buClr>
                <a:srgbClr val="1E2DBE"/>
              </a:buClr>
              <a:buFont typeface="Wingdings" panose="05000000000000000000" pitchFamily="2" charset="2"/>
              <a:buChar char="§"/>
            </a:pPr>
            <a:r>
              <a:rPr lang="fr-CH" sz="5600" dirty="0">
                <a:solidFill>
                  <a:srgbClr val="1F2933"/>
                </a:solidFill>
              </a:rPr>
              <a:t>Données disponibles pour le suivi</a:t>
            </a:r>
            <a:endParaRPr lang="fr-CH" sz="5600" dirty="0"/>
          </a:p>
          <a:p>
            <a:endParaRPr lang="fr-CH" sz="800" dirty="0"/>
          </a:p>
          <a:p>
            <a:endParaRPr lang="fr-CH" sz="800" dirty="0"/>
          </a:p>
          <a:p>
            <a:endParaRPr lang="fr-CH" sz="800" dirty="0"/>
          </a:p>
          <a:p>
            <a:endParaRPr lang="fr-CH" sz="800" dirty="0"/>
          </a:p>
          <a:p>
            <a:pPr marL="0" indent="0">
              <a:buNone/>
            </a:pPr>
            <a:endParaRPr lang="fr-CH" sz="800" noProof="0" dirty="0"/>
          </a:p>
        </p:txBody>
      </p:sp>
      <p:sp>
        <p:nvSpPr>
          <p:cNvPr id="21" name="Text 18"/>
          <p:cNvSpPr/>
          <p:nvPr/>
        </p:nvSpPr>
        <p:spPr>
          <a:xfrm>
            <a:off x="1234440" y="3191256"/>
            <a:ext cx="4754880" cy="228600"/>
          </a:xfrm>
          <a:prstGeom prst="rect">
            <a:avLst/>
          </a:prstGeom>
          <a:noFill/>
          <a:ln/>
        </p:spPr>
        <p:txBody>
          <a:bodyPr wrap="square" lIns="127" tIns="127" rIns="127" bIns="127" rtlCol="0" anchor="ctr">
            <a:normAutofit/>
          </a:bodyPr>
          <a:lstStyle/>
          <a:p>
            <a:pPr marL="0" indent="0">
              <a:buNone/>
            </a:pPr>
            <a:endParaRPr lang="fr-CH" sz="1040" noProof="0" dirty="0"/>
          </a:p>
        </p:txBody>
      </p:sp>
      <p:sp>
        <p:nvSpPr>
          <p:cNvPr id="23" name="Text 20"/>
          <p:cNvSpPr/>
          <p:nvPr/>
        </p:nvSpPr>
        <p:spPr>
          <a:xfrm>
            <a:off x="1234440" y="3456432"/>
            <a:ext cx="4754880" cy="228600"/>
          </a:xfrm>
          <a:prstGeom prst="rect">
            <a:avLst/>
          </a:prstGeom>
          <a:noFill/>
          <a:ln/>
        </p:spPr>
        <p:txBody>
          <a:bodyPr wrap="square" lIns="127" tIns="127" rIns="127" bIns="127" rtlCol="0" anchor="ctr">
            <a:normAutofit/>
          </a:bodyPr>
          <a:lstStyle/>
          <a:p>
            <a:pPr marL="0" indent="0">
              <a:buNone/>
            </a:pPr>
            <a:endParaRPr lang="fr-CH" sz="1040" noProof="0" dirty="0"/>
          </a:p>
        </p:txBody>
      </p:sp>
      <p:sp>
        <p:nvSpPr>
          <p:cNvPr id="25" name="Text 22"/>
          <p:cNvSpPr/>
          <p:nvPr/>
        </p:nvSpPr>
        <p:spPr>
          <a:xfrm>
            <a:off x="1234440" y="3721608"/>
            <a:ext cx="4754880" cy="228600"/>
          </a:xfrm>
          <a:prstGeom prst="rect">
            <a:avLst/>
          </a:prstGeom>
          <a:noFill/>
          <a:ln/>
        </p:spPr>
        <p:txBody>
          <a:bodyPr wrap="square" lIns="127" tIns="127" rIns="127" bIns="127" rtlCol="0" anchor="ctr">
            <a:normAutofit/>
          </a:bodyPr>
          <a:lstStyle/>
          <a:p>
            <a:pPr marL="0" indent="0">
              <a:buNone/>
            </a:pPr>
            <a:endParaRPr lang="fr-CH" sz="1040" noProof="0" dirty="0"/>
          </a:p>
        </p:txBody>
      </p:sp>
      <p:sp>
        <p:nvSpPr>
          <p:cNvPr id="26" name="Shape 23"/>
          <p:cNvSpPr/>
          <p:nvPr/>
        </p:nvSpPr>
        <p:spPr>
          <a:xfrm>
            <a:off x="6355080" y="1828800"/>
            <a:ext cx="5074920" cy="3291840"/>
          </a:xfrm>
          <a:prstGeom prst="roundRect">
            <a:avLst>
              <a:gd name="adj" fmla="val 1944"/>
            </a:avLst>
          </a:prstGeom>
          <a:solidFill>
            <a:srgbClr val="FFFFFF"/>
          </a:solidFill>
          <a:ln w="12700">
            <a:solidFill>
              <a:srgbClr val="D1D8E8"/>
            </a:solidFill>
            <a:prstDash val="solid"/>
          </a:ln>
        </p:spPr>
        <p:txBody>
          <a:bodyPr/>
          <a:lstStyle/>
          <a:p>
            <a:endParaRPr lang="fr-CH" noProof="0" dirty="0"/>
          </a:p>
        </p:txBody>
      </p:sp>
      <p:sp>
        <p:nvSpPr>
          <p:cNvPr id="27" name="Shape 24"/>
          <p:cNvSpPr/>
          <p:nvPr/>
        </p:nvSpPr>
        <p:spPr>
          <a:xfrm>
            <a:off x="6355080" y="1828800"/>
            <a:ext cx="73152" cy="3291840"/>
          </a:xfrm>
          <a:prstGeom prst="rect">
            <a:avLst/>
          </a:prstGeom>
          <a:solidFill>
            <a:srgbClr val="E21836"/>
          </a:solidFill>
          <a:ln w="12700">
            <a:solidFill>
              <a:srgbClr val="E21836"/>
            </a:solidFill>
            <a:prstDash val="solid"/>
          </a:ln>
        </p:spPr>
        <p:txBody>
          <a:bodyPr/>
          <a:lstStyle/>
          <a:p>
            <a:endParaRPr lang="fr-CH" noProof="0" dirty="0"/>
          </a:p>
        </p:txBody>
      </p:sp>
      <p:sp>
        <p:nvSpPr>
          <p:cNvPr id="28" name="Text 25"/>
          <p:cNvSpPr/>
          <p:nvPr/>
        </p:nvSpPr>
        <p:spPr>
          <a:xfrm>
            <a:off x="6565392" y="1975104"/>
            <a:ext cx="4754880" cy="228600"/>
          </a:xfrm>
          <a:prstGeom prst="rect">
            <a:avLst/>
          </a:prstGeom>
          <a:noFill/>
          <a:ln/>
        </p:spPr>
        <p:txBody>
          <a:bodyPr wrap="square" rtlCol="0" anchor="ctr">
            <a:noAutofit/>
          </a:bodyPr>
          <a:lstStyle/>
          <a:p>
            <a:pPr marL="0" indent="0">
              <a:buNone/>
            </a:pPr>
            <a:r>
              <a:rPr lang="fr-CH" sz="1600" b="1" noProof="0" dirty="0">
                <a:solidFill>
                  <a:srgbClr val="E21836"/>
                </a:solidFill>
              </a:rPr>
              <a:t>Règle de prudence</a:t>
            </a:r>
            <a:endParaRPr lang="fr-CH" sz="1600" noProof="0" dirty="0"/>
          </a:p>
        </p:txBody>
      </p:sp>
      <p:sp>
        <p:nvSpPr>
          <p:cNvPr id="30" name="Text 27"/>
          <p:cNvSpPr/>
          <p:nvPr/>
        </p:nvSpPr>
        <p:spPr>
          <a:xfrm>
            <a:off x="6598920" y="2866644"/>
            <a:ext cx="4815840" cy="1197864"/>
          </a:xfrm>
          <a:prstGeom prst="rect">
            <a:avLst/>
          </a:prstGeom>
          <a:noFill/>
          <a:ln/>
        </p:spPr>
        <p:txBody>
          <a:bodyPr wrap="square" lIns="127" tIns="127" rIns="127" bIns="127" rtlCol="0" anchor="ctr">
            <a:normAutofit fontScale="25000" lnSpcReduction="20000"/>
          </a:bodyPr>
          <a:lstStyle/>
          <a:p>
            <a:pPr marL="171450" indent="-171450">
              <a:lnSpc>
                <a:spcPct val="220000"/>
              </a:lnSpc>
              <a:buClr>
                <a:srgbClr val="1E2DBE"/>
              </a:buClr>
              <a:buFont typeface="Wingdings" panose="05000000000000000000" pitchFamily="2" charset="2"/>
              <a:buChar char="§"/>
            </a:pPr>
            <a:r>
              <a:rPr lang="fr-CH" sz="5600" dirty="0">
                <a:solidFill>
                  <a:srgbClr val="1F2933"/>
                </a:solidFill>
              </a:rPr>
              <a:t>Un programme social n’entre pas automatiquement dans un indicateur OIT</a:t>
            </a:r>
          </a:p>
          <a:p>
            <a:pPr marL="171450" indent="-171450">
              <a:lnSpc>
                <a:spcPct val="220000"/>
              </a:lnSpc>
              <a:buClr>
                <a:srgbClr val="1E2DBE"/>
              </a:buClr>
              <a:buFont typeface="Wingdings" panose="05000000000000000000" pitchFamily="2" charset="2"/>
              <a:buChar char="§"/>
            </a:pPr>
            <a:r>
              <a:rPr lang="fr-CH" sz="5600" dirty="0">
                <a:solidFill>
                  <a:srgbClr val="1F2933"/>
                </a:solidFill>
              </a:rPr>
              <a:t>L’inclusion (et l’exclusion) doit être justifiée et documentée </a:t>
            </a:r>
          </a:p>
          <a:p>
            <a:pPr marL="171450" indent="-171450">
              <a:lnSpc>
                <a:spcPct val="220000"/>
              </a:lnSpc>
              <a:buClr>
                <a:srgbClr val="1E2DBE"/>
              </a:buClr>
              <a:buFont typeface="Wingdings" panose="05000000000000000000" pitchFamily="2" charset="2"/>
              <a:buChar char="§"/>
            </a:pPr>
            <a:r>
              <a:rPr lang="fr-CH" sz="5600" dirty="0">
                <a:solidFill>
                  <a:srgbClr val="1F2933"/>
                </a:solidFill>
              </a:rPr>
              <a:t>Les limites doivent être explicites</a:t>
            </a:r>
          </a:p>
          <a:p>
            <a:endParaRPr lang="fr-CH" sz="1040" dirty="0"/>
          </a:p>
          <a:p>
            <a:pPr marL="0" indent="0">
              <a:buNone/>
            </a:pPr>
            <a:endParaRPr lang="fr-CH" sz="1040" noProof="0" dirty="0"/>
          </a:p>
        </p:txBody>
      </p:sp>
      <p:sp>
        <p:nvSpPr>
          <p:cNvPr id="32" name="Text 29"/>
          <p:cNvSpPr/>
          <p:nvPr/>
        </p:nvSpPr>
        <p:spPr>
          <a:xfrm>
            <a:off x="6812280" y="2660904"/>
            <a:ext cx="4572000" cy="228600"/>
          </a:xfrm>
          <a:prstGeom prst="rect">
            <a:avLst/>
          </a:prstGeom>
          <a:noFill/>
          <a:ln/>
        </p:spPr>
        <p:txBody>
          <a:bodyPr wrap="square" lIns="127" tIns="127" rIns="127" bIns="127" rtlCol="0" anchor="ctr">
            <a:normAutofit/>
          </a:bodyPr>
          <a:lstStyle/>
          <a:p>
            <a:pPr marL="0" indent="0">
              <a:buNone/>
            </a:pPr>
            <a:endParaRPr lang="fr-CH" sz="1040" noProof="0" dirty="0"/>
          </a:p>
        </p:txBody>
      </p:sp>
      <p:sp>
        <p:nvSpPr>
          <p:cNvPr id="34" name="Text 31"/>
          <p:cNvSpPr/>
          <p:nvPr/>
        </p:nvSpPr>
        <p:spPr>
          <a:xfrm>
            <a:off x="6812280" y="2926080"/>
            <a:ext cx="4572000" cy="228600"/>
          </a:xfrm>
          <a:prstGeom prst="rect">
            <a:avLst/>
          </a:prstGeom>
          <a:noFill/>
          <a:ln/>
        </p:spPr>
        <p:txBody>
          <a:bodyPr wrap="square" lIns="127" tIns="127" rIns="127" bIns="127" rtlCol="0" anchor="ctr">
            <a:normAutofit/>
          </a:bodyPr>
          <a:lstStyle/>
          <a:p>
            <a:pPr marL="0" indent="0">
              <a:buNone/>
            </a:pPr>
            <a:endParaRPr lang="fr-CH" sz="1040" noProof="0" dirty="0"/>
          </a:p>
        </p:txBody>
      </p:sp>
      <p:sp>
        <p:nvSpPr>
          <p:cNvPr id="35" name="Text 32"/>
          <p:cNvSpPr/>
          <p:nvPr/>
        </p:nvSpPr>
        <p:spPr>
          <a:xfrm>
            <a:off x="987552" y="5538953"/>
            <a:ext cx="10149840" cy="320040"/>
          </a:xfrm>
          <a:prstGeom prst="rect">
            <a:avLst/>
          </a:prstGeom>
          <a:noFill/>
          <a:ln/>
        </p:spPr>
        <p:txBody>
          <a:bodyPr wrap="square" rtlCol="0" anchor="ctr"/>
          <a:lstStyle/>
          <a:p>
            <a:pPr marL="0" indent="0" algn="ctr">
              <a:buNone/>
            </a:pPr>
            <a:r>
              <a:rPr lang="fr-CH" sz="1250" b="1" noProof="0" dirty="0">
                <a:solidFill>
                  <a:srgbClr val="1428A0"/>
                </a:solidFill>
              </a:rPr>
              <a:t>Objectif : préserver la neutralité statistique du bulletin </a:t>
            </a:r>
            <a:r>
              <a:rPr lang="fr-CH" sz="1250" b="1" noProof="0" dirty="0">
                <a:solidFill>
                  <a:srgbClr val="FF0000"/>
                </a:solidFill>
              </a:rPr>
              <a:t>tout en documentant les initiatives nationales pertinentes</a:t>
            </a:r>
            <a:r>
              <a:rPr lang="fr-CH" sz="1250" b="1" noProof="0" dirty="0">
                <a:solidFill>
                  <a:srgbClr val="1428A0"/>
                </a:solidFill>
              </a:rPr>
              <a:t>.</a:t>
            </a:r>
            <a:endParaRPr lang="fr-CH" sz="1250" noProof="0" dirty="0"/>
          </a:p>
        </p:txBody>
      </p:sp>
      <p:pic>
        <p:nvPicPr>
          <p:cNvPr id="17" name="Image 0" descr="/mnt/data/ref_unzip/ppt/media/image1.png">
            <a:extLst>
              <a:ext uri="{FF2B5EF4-FFF2-40B4-BE49-F238E27FC236}">
                <a16:creationId xmlns:a16="http://schemas.microsoft.com/office/drawing/2014/main" id="{9C74F2F1-C897-78AA-34AF-84B4D13942F5}"/>
              </a:ext>
            </a:extLst>
          </p:cNvPr>
          <p:cNvPicPr>
            <a:picLocks noChangeAspect="1"/>
          </p:cNvPicPr>
          <p:nvPr/>
        </p:nvPicPr>
        <p:blipFill>
          <a:blip r:embed="rId3"/>
          <a:stretch>
            <a:fillRect/>
          </a:stretch>
        </p:blipFill>
        <p:spPr>
          <a:xfrm>
            <a:off x="9738360" y="290723"/>
            <a:ext cx="1828800" cy="63093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428A0"/>
          </a:solidFill>
          <a:ln w="12700">
            <a:solidFill>
              <a:srgbClr val="1428A0"/>
            </a:solidFill>
            <a:prstDash val="solid"/>
          </a:ln>
        </p:spPr>
        <p:txBody>
          <a:bodyPr/>
          <a:lstStyle/>
          <a:p>
            <a:endParaRPr lang="fr-CH" noProof="0" dirty="0"/>
          </a:p>
        </p:txBody>
      </p:sp>
      <p:sp>
        <p:nvSpPr>
          <p:cNvPr id="3" name="Text 1"/>
          <p:cNvSpPr/>
          <p:nvPr/>
        </p:nvSpPr>
        <p:spPr>
          <a:xfrm>
            <a:off x="594360" y="420624"/>
            <a:ext cx="8686800" cy="411480"/>
          </a:xfrm>
          <a:prstGeom prst="rect">
            <a:avLst/>
          </a:prstGeom>
          <a:noFill/>
          <a:ln/>
        </p:spPr>
        <p:txBody>
          <a:bodyPr wrap="square" rtlCol="0" anchor="ctr">
            <a:normAutofit fontScale="92500" lnSpcReduction="10000"/>
          </a:bodyPr>
          <a:lstStyle/>
          <a:p>
            <a:pPr marL="0" indent="0">
              <a:buNone/>
            </a:pPr>
            <a:r>
              <a:rPr lang="fr-CH" sz="2400" b="1" noProof="0" dirty="0">
                <a:solidFill>
                  <a:srgbClr val="1428A0"/>
                </a:solidFill>
                <a:latin typeface="Arial" pitchFamily="34" charset="0"/>
                <a:ea typeface="Arial" pitchFamily="34" charset="-122"/>
                <a:cs typeface="Arial" pitchFamily="34" charset="-120"/>
              </a:rPr>
              <a:t>Une lecture transversale et une lecture temporelle</a:t>
            </a:r>
            <a:endParaRPr lang="fr-CH" sz="2400" noProof="0" dirty="0"/>
          </a:p>
        </p:txBody>
      </p:sp>
      <p:sp>
        <p:nvSpPr>
          <p:cNvPr id="4" name="Text 2"/>
          <p:cNvSpPr/>
          <p:nvPr/>
        </p:nvSpPr>
        <p:spPr>
          <a:xfrm>
            <a:off x="612648" y="219456"/>
            <a:ext cx="6858000" cy="155448"/>
          </a:xfrm>
          <a:prstGeom prst="rect">
            <a:avLst/>
          </a:prstGeom>
          <a:noFill/>
          <a:ln/>
        </p:spPr>
        <p:txBody>
          <a:bodyPr wrap="square" rtlCol="0" anchor="ctr"/>
          <a:lstStyle/>
          <a:p>
            <a:pPr marL="0" indent="0">
              <a:buNone/>
            </a:pPr>
            <a:r>
              <a:rPr lang="fr-CH" sz="730" noProof="0" dirty="0">
                <a:solidFill>
                  <a:srgbClr val="586069"/>
                </a:solidFill>
              </a:rPr>
              <a:t>LECTURE DES RÉSULTATS</a:t>
            </a:r>
            <a:endParaRPr lang="fr-CH" sz="730" noProof="0" dirty="0"/>
          </a:p>
        </p:txBody>
      </p:sp>
      <p:sp>
        <p:nvSpPr>
          <p:cNvPr id="6" name="Shape 3"/>
          <p:cNvSpPr/>
          <p:nvPr/>
        </p:nvSpPr>
        <p:spPr>
          <a:xfrm>
            <a:off x="594360" y="987552"/>
            <a:ext cx="10972800" cy="0"/>
          </a:xfrm>
          <a:prstGeom prst="line">
            <a:avLst/>
          </a:prstGeom>
          <a:noFill/>
          <a:ln w="12700">
            <a:solidFill>
              <a:srgbClr val="D9E1F2"/>
            </a:solidFill>
            <a:prstDash val="solid"/>
          </a:ln>
        </p:spPr>
        <p:txBody>
          <a:bodyPr/>
          <a:lstStyle/>
          <a:p>
            <a:endParaRPr lang="fr-CH" noProof="0" dirty="0"/>
          </a:p>
        </p:txBody>
      </p:sp>
      <p:sp>
        <p:nvSpPr>
          <p:cNvPr id="7" name="Text 4"/>
          <p:cNvSpPr/>
          <p:nvPr/>
        </p:nvSpPr>
        <p:spPr>
          <a:xfrm>
            <a:off x="594360" y="6510528"/>
            <a:ext cx="6583680" cy="164592"/>
          </a:xfrm>
          <a:prstGeom prst="rect">
            <a:avLst/>
          </a:prstGeom>
          <a:noFill/>
          <a:ln/>
        </p:spPr>
        <p:txBody>
          <a:bodyPr wrap="square" rtlCol="0" anchor="ctr"/>
          <a:lstStyle/>
          <a:p>
            <a:pPr marL="0" indent="0">
              <a:buNone/>
            </a:pPr>
            <a:r>
              <a:rPr lang="fr-CH" sz="750" noProof="0" dirty="0">
                <a:solidFill>
                  <a:srgbClr val="586069"/>
                </a:solidFill>
                <a:latin typeface="Arial" pitchFamily="34" charset="0"/>
                <a:ea typeface="Arial" pitchFamily="34" charset="-122"/>
                <a:cs typeface="Arial" pitchFamily="34" charset="-120"/>
              </a:rPr>
              <a:t>Faire avancer la justice sociale, promouvoir le travail décent</a:t>
            </a:r>
            <a:endParaRPr lang="fr-CH" sz="750" noProof="0" dirty="0"/>
          </a:p>
        </p:txBody>
      </p:sp>
      <p:sp>
        <p:nvSpPr>
          <p:cNvPr id="8" name="Text 5"/>
          <p:cNvSpPr/>
          <p:nvPr/>
        </p:nvSpPr>
        <p:spPr>
          <a:xfrm>
            <a:off x="7543800" y="6510528"/>
            <a:ext cx="3017520" cy="164592"/>
          </a:xfrm>
          <a:prstGeom prst="rect">
            <a:avLst/>
          </a:prstGeom>
          <a:noFill/>
          <a:ln/>
        </p:spPr>
        <p:txBody>
          <a:bodyPr wrap="square" rtlCol="0" anchor="ctr"/>
          <a:lstStyle/>
          <a:p>
            <a:pPr marL="0" indent="0" algn="r">
              <a:buNone/>
            </a:pPr>
            <a:r>
              <a:rPr lang="fr-CH" sz="730" noProof="0" dirty="0">
                <a:solidFill>
                  <a:srgbClr val="586069"/>
                </a:solidFill>
                <a:latin typeface="Arial" pitchFamily="34" charset="0"/>
                <a:ea typeface="Arial" pitchFamily="34" charset="-122"/>
                <a:cs typeface="Arial" pitchFamily="34" charset="-120"/>
              </a:rPr>
              <a:t>Atelier 2e Bulletin Statistique RDC | 14 mai 2026</a:t>
            </a:r>
            <a:endParaRPr lang="fr-CH" sz="730" noProof="0" dirty="0"/>
          </a:p>
        </p:txBody>
      </p:sp>
      <p:sp>
        <p:nvSpPr>
          <p:cNvPr id="9" name="Text 6"/>
          <p:cNvSpPr/>
          <p:nvPr/>
        </p:nvSpPr>
        <p:spPr>
          <a:xfrm>
            <a:off x="11292840" y="6473952"/>
            <a:ext cx="411480" cy="201168"/>
          </a:xfrm>
          <a:prstGeom prst="rect">
            <a:avLst/>
          </a:prstGeom>
          <a:noFill/>
          <a:ln/>
        </p:spPr>
        <p:txBody>
          <a:bodyPr wrap="square" lIns="27432" tIns="18288" rIns="27432" bIns="18288" rtlCol="0" anchor="ctr"/>
          <a:lstStyle/>
          <a:p>
            <a:pPr marL="0" indent="0" algn="r">
              <a:buNone/>
            </a:pPr>
            <a:r>
              <a:rPr lang="fr-CH" sz="850" b="0" noProof="0" dirty="0">
                <a:solidFill>
                  <a:srgbClr val="505050"/>
                </a:solidFill>
                <a:latin typeface="Arial"/>
              </a:rPr>
              <a:t>6</a:t>
            </a:r>
            <a:endParaRPr lang="fr-CH" sz="750" noProof="0" dirty="0"/>
          </a:p>
        </p:txBody>
      </p:sp>
      <p:graphicFrame>
        <p:nvGraphicFramePr>
          <p:cNvPr id="10" name="Table 0"/>
          <p:cNvGraphicFramePr>
            <a:graphicFrameLocks noGrp="1"/>
          </p:cNvGraphicFramePr>
          <p:nvPr>
            <p:extLst>
              <p:ext uri="{D42A27DB-BD31-4B8C-83A1-F6EECF244321}">
                <p14:modId xmlns:p14="http://schemas.microsoft.com/office/powerpoint/2010/main" val="1741652336"/>
              </p:ext>
            </p:extLst>
          </p:nvPr>
        </p:nvGraphicFramePr>
        <p:xfrm>
          <a:off x="777240" y="1508760"/>
          <a:ext cx="10789920" cy="1965960"/>
        </p:xfrm>
        <a:graphic>
          <a:graphicData uri="http://schemas.openxmlformats.org/drawingml/2006/table">
            <a:tbl>
              <a:tblPr/>
              <a:tblGrid>
                <a:gridCol w="228600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tblGrid>
              <a:tr h="655320">
                <a:tc>
                  <a:txBody>
                    <a:bodyPr/>
                    <a:lstStyle/>
                    <a:p>
                      <a:pPr marL="0" indent="0">
                        <a:buNone/>
                      </a:pPr>
                      <a:r>
                        <a:rPr lang="fr-CH" sz="1050" b="1" noProof="0" dirty="0">
                          <a:solidFill>
                            <a:srgbClr val="FFFFFF"/>
                          </a:solidFill>
                        </a:rPr>
                        <a:t>Lecture</a:t>
                      </a:r>
                      <a:endParaRPr lang="fr-CH" sz="1050" noProof="0" dirty="0"/>
                    </a:p>
                  </a:txBody>
                  <a:tcPr marL="54864" marR="54864" marT="54864" marB="54864">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1428A0"/>
                    </a:solidFill>
                  </a:tcPr>
                </a:tc>
                <a:tc>
                  <a:txBody>
                    <a:bodyPr/>
                    <a:lstStyle/>
                    <a:p>
                      <a:pPr marL="0" indent="0">
                        <a:buNone/>
                      </a:pPr>
                      <a:r>
                        <a:rPr lang="fr-CH" sz="1050" b="1" noProof="0" dirty="0">
                          <a:solidFill>
                            <a:srgbClr val="FFFFFF"/>
                          </a:solidFill>
                        </a:rPr>
                        <a:t>Question principale</a:t>
                      </a:r>
                      <a:endParaRPr lang="fr-CH" sz="1050" noProof="0" dirty="0"/>
                    </a:p>
                  </a:txBody>
                  <a:tcPr marL="54864" marR="54864" marT="54864" marB="54864">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1428A0"/>
                    </a:solidFill>
                  </a:tcPr>
                </a:tc>
                <a:tc>
                  <a:txBody>
                    <a:bodyPr/>
                    <a:lstStyle/>
                    <a:p>
                      <a:pPr marL="0" indent="0">
                        <a:buNone/>
                      </a:pPr>
                      <a:r>
                        <a:rPr lang="fr-CH" sz="1050" b="1" noProof="0" dirty="0">
                          <a:solidFill>
                            <a:srgbClr val="FFFFFF"/>
                          </a:solidFill>
                        </a:rPr>
                        <a:t>Utilité</a:t>
                      </a:r>
                      <a:endParaRPr lang="fr-CH" sz="1050" noProof="0" dirty="0"/>
                    </a:p>
                  </a:txBody>
                  <a:tcPr marL="54864" marR="54864" marT="54864" marB="54864">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1428A0"/>
                    </a:solidFill>
                  </a:tcPr>
                </a:tc>
                <a:extLst>
                  <a:ext uri="{0D108BD9-81ED-4DB2-BD59-A6C34878D82A}">
                    <a16:rowId xmlns:a16="http://schemas.microsoft.com/office/drawing/2014/main" val="10000"/>
                  </a:ext>
                </a:extLst>
              </a:tr>
              <a:tr h="655320">
                <a:tc>
                  <a:txBody>
                    <a:bodyPr/>
                    <a:lstStyle/>
                    <a:p>
                      <a:pPr marL="0" indent="0">
                        <a:buNone/>
                      </a:pPr>
                      <a:r>
                        <a:rPr lang="fr-CH" sz="1050" b="1" noProof="0" dirty="0">
                          <a:solidFill>
                            <a:srgbClr val="1428A0"/>
                          </a:solidFill>
                        </a:rPr>
                        <a:t>Transversale</a:t>
                      </a:r>
                      <a:endParaRPr lang="fr-CH" sz="105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FFFFF"/>
                    </a:solidFill>
                  </a:tcPr>
                </a:tc>
                <a:tc>
                  <a:txBody>
                    <a:bodyPr/>
                    <a:lstStyle/>
                    <a:p>
                      <a:pPr marL="0" indent="0">
                        <a:buNone/>
                      </a:pPr>
                      <a:r>
                        <a:rPr lang="fr-CH" sz="1050" noProof="0" dirty="0">
                          <a:solidFill>
                            <a:srgbClr val="1F2933"/>
                          </a:solidFill>
                        </a:rPr>
                        <a:t>Que couvre le système à une année donnée ?</a:t>
                      </a:r>
                      <a:endParaRPr lang="fr-CH" sz="105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FFFFF"/>
                    </a:solidFill>
                  </a:tcPr>
                </a:tc>
                <a:tc>
                  <a:txBody>
                    <a:bodyPr/>
                    <a:lstStyle/>
                    <a:p>
                      <a:pPr marL="0" indent="0">
                        <a:buNone/>
                      </a:pPr>
                      <a:r>
                        <a:rPr lang="fr-CH" sz="1050" noProof="0" dirty="0">
                          <a:solidFill>
                            <a:srgbClr val="1F2933"/>
                          </a:solidFill>
                        </a:rPr>
                        <a:t>Cartographier les régimes, branches, populations et lacunes</a:t>
                      </a:r>
                      <a:endParaRPr lang="fr-CH" sz="105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5320">
                <a:tc>
                  <a:txBody>
                    <a:bodyPr/>
                    <a:lstStyle/>
                    <a:p>
                      <a:pPr marL="0" indent="0">
                        <a:buNone/>
                      </a:pPr>
                      <a:r>
                        <a:rPr lang="fr-CH" sz="1050" b="1" noProof="0" dirty="0">
                          <a:solidFill>
                            <a:srgbClr val="1428A0"/>
                          </a:solidFill>
                        </a:rPr>
                        <a:t>Temporelle</a:t>
                      </a:r>
                      <a:endParaRPr lang="fr-CH" sz="105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4F7FB"/>
                    </a:solidFill>
                  </a:tcPr>
                </a:tc>
                <a:tc>
                  <a:txBody>
                    <a:bodyPr/>
                    <a:lstStyle/>
                    <a:p>
                      <a:pPr marL="0" indent="0">
                        <a:buNone/>
                      </a:pPr>
                      <a:r>
                        <a:rPr lang="fr-CH" sz="1050" noProof="0" dirty="0">
                          <a:solidFill>
                            <a:srgbClr val="1F2933"/>
                          </a:solidFill>
                        </a:rPr>
                        <a:t>Comment la couverture évolue t elle dans le temps ?</a:t>
                      </a:r>
                      <a:endParaRPr lang="fr-CH" sz="105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4F7FB"/>
                    </a:solidFill>
                  </a:tcPr>
                </a:tc>
                <a:tc>
                  <a:txBody>
                    <a:bodyPr/>
                    <a:lstStyle/>
                    <a:p>
                      <a:pPr marL="0" indent="0">
                        <a:buNone/>
                      </a:pPr>
                      <a:r>
                        <a:rPr lang="fr-CH" sz="1050" noProof="0" dirty="0">
                          <a:solidFill>
                            <a:srgbClr val="1F2933"/>
                          </a:solidFill>
                        </a:rPr>
                        <a:t>Suivre les progrès, réformes, changements de </a:t>
                      </a:r>
                      <a:r>
                        <a:rPr lang="fr-CH" sz="1050" noProof="0" dirty="0" err="1">
                          <a:solidFill>
                            <a:srgbClr val="1F2933"/>
                          </a:solidFill>
                        </a:rPr>
                        <a:t>reporting</a:t>
                      </a:r>
                      <a:r>
                        <a:rPr lang="fr-CH" sz="1050" noProof="0" dirty="0">
                          <a:solidFill>
                            <a:srgbClr val="1F2933"/>
                          </a:solidFill>
                        </a:rPr>
                        <a:t> et efforts récents</a:t>
                      </a:r>
                      <a:endParaRPr lang="fr-CH" sz="105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4F7FB"/>
                    </a:solidFill>
                  </a:tcPr>
                </a:tc>
                <a:extLst>
                  <a:ext uri="{0D108BD9-81ED-4DB2-BD59-A6C34878D82A}">
                    <a16:rowId xmlns:a16="http://schemas.microsoft.com/office/drawing/2014/main" val="10002"/>
                  </a:ext>
                </a:extLst>
              </a:tr>
            </a:tbl>
          </a:graphicData>
        </a:graphic>
      </p:graphicFrame>
      <p:sp>
        <p:nvSpPr>
          <p:cNvPr id="11" name="Shape 7"/>
          <p:cNvSpPr/>
          <p:nvPr/>
        </p:nvSpPr>
        <p:spPr>
          <a:xfrm>
            <a:off x="1005840" y="3977639"/>
            <a:ext cx="10149840" cy="2148840"/>
          </a:xfrm>
          <a:prstGeom prst="roundRect">
            <a:avLst>
              <a:gd name="adj" fmla="val 5000"/>
            </a:avLst>
          </a:prstGeom>
          <a:solidFill>
            <a:srgbClr val="FFFFFF"/>
          </a:solidFill>
          <a:ln w="12700">
            <a:solidFill>
              <a:srgbClr val="D1D8E8"/>
            </a:solidFill>
            <a:prstDash val="solid"/>
          </a:ln>
        </p:spPr>
        <p:txBody>
          <a:bodyPr/>
          <a:lstStyle/>
          <a:p>
            <a:endParaRPr lang="fr-CH" noProof="0" dirty="0"/>
          </a:p>
        </p:txBody>
      </p:sp>
      <p:sp>
        <p:nvSpPr>
          <p:cNvPr id="12" name="Shape 8"/>
          <p:cNvSpPr/>
          <p:nvPr/>
        </p:nvSpPr>
        <p:spPr>
          <a:xfrm>
            <a:off x="1005840" y="3977639"/>
            <a:ext cx="73152" cy="2148840"/>
          </a:xfrm>
          <a:prstGeom prst="rect">
            <a:avLst/>
          </a:prstGeom>
          <a:solidFill>
            <a:srgbClr val="1428A0"/>
          </a:solidFill>
          <a:ln w="12700">
            <a:solidFill>
              <a:srgbClr val="1428A0"/>
            </a:solidFill>
            <a:prstDash val="solid"/>
          </a:ln>
        </p:spPr>
        <p:txBody>
          <a:bodyPr/>
          <a:lstStyle/>
          <a:p>
            <a:endParaRPr lang="fr-CH" noProof="0" dirty="0"/>
          </a:p>
        </p:txBody>
      </p:sp>
      <p:sp>
        <p:nvSpPr>
          <p:cNvPr id="13" name="Text 9"/>
          <p:cNvSpPr/>
          <p:nvPr/>
        </p:nvSpPr>
        <p:spPr>
          <a:xfrm>
            <a:off x="1216152" y="4114800"/>
            <a:ext cx="9829800" cy="228600"/>
          </a:xfrm>
          <a:prstGeom prst="rect">
            <a:avLst/>
          </a:prstGeom>
          <a:noFill/>
          <a:ln/>
        </p:spPr>
        <p:txBody>
          <a:bodyPr wrap="square" rtlCol="0" anchor="ctr">
            <a:noAutofit/>
          </a:bodyPr>
          <a:lstStyle/>
          <a:p>
            <a:pPr marL="0" indent="0">
              <a:buNone/>
            </a:pPr>
            <a:r>
              <a:rPr lang="fr-CH" sz="1600" b="1" noProof="0" dirty="0">
                <a:solidFill>
                  <a:srgbClr val="1428A0"/>
                </a:solidFill>
              </a:rPr>
              <a:t>À narrer</a:t>
            </a:r>
            <a:endParaRPr lang="fr-CH" sz="1600" noProof="0" dirty="0"/>
          </a:p>
        </p:txBody>
      </p:sp>
      <p:sp>
        <p:nvSpPr>
          <p:cNvPr id="14" name="Shape 10"/>
          <p:cNvSpPr/>
          <p:nvPr/>
        </p:nvSpPr>
        <p:spPr>
          <a:xfrm>
            <a:off x="1234440" y="4590288"/>
            <a:ext cx="100584" cy="100584"/>
          </a:xfrm>
          <a:prstGeom prst="ellipse">
            <a:avLst/>
          </a:prstGeom>
          <a:solidFill>
            <a:srgbClr val="E21836"/>
          </a:solidFill>
          <a:ln w="12700">
            <a:solidFill>
              <a:srgbClr val="E21836"/>
            </a:solidFill>
            <a:prstDash val="solid"/>
          </a:ln>
        </p:spPr>
        <p:txBody>
          <a:bodyPr/>
          <a:lstStyle/>
          <a:p>
            <a:endParaRPr lang="fr-CH" noProof="0" dirty="0"/>
          </a:p>
        </p:txBody>
      </p:sp>
      <p:sp>
        <p:nvSpPr>
          <p:cNvPr id="15" name="Text 11"/>
          <p:cNvSpPr/>
          <p:nvPr/>
        </p:nvSpPr>
        <p:spPr>
          <a:xfrm>
            <a:off x="1463040" y="4535424"/>
            <a:ext cx="9646920" cy="228600"/>
          </a:xfrm>
          <a:prstGeom prst="rect">
            <a:avLst/>
          </a:prstGeom>
          <a:noFill/>
          <a:ln/>
        </p:spPr>
        <p:txBody>
          <a:bodyPr wrap="square" lIns="127" tIns="127" rIns="127" bIns="127" rtlCol="0" anchor="ctr">
            <a:normAutofit/>
          </a:bodyPr>
          <a:lstStyle/>
          <a:p>
            <a:pPr marL="0" indent="0">
              <a:buNone/>
            </a:pPr>
            <a:r>
              <a:rPr lang="fr-CH" sz="1200" noProof="0" dirty="0">
                <a:solidFill>
                  <a:srgbClr val="1F2933"/>
                </a:solidFill>
              </a:rPr>
              <a:t>Progrès réel de couverture</a:t>
            </a:r>
            <a:endParaRPr lang="fr-CH" sz="1200" noProof="0" dirty="0"/>
          </a:p>
        </p:txBody>
      </p:sp>
      <p:sp>
        <p:nvSpPr>
          <p:cNvPr id="16" name="Shape 12"/>
          <p:cNvSpPr/>
          <p:nvPr/>
        </p:nvSpPr>
        <p:spPr>
          <a:xfrm>
            <a:off x="1234440" y="4855464"/>
            <a:ext cx="100584" cy="100584"/>
          </a:xfrm>
          <a:prstGeom prst="ellipse">
            <a:avLst/>
          </a:prstGeom>
          <a:solidFill>
            <a:srgbClr val="E21836"/>
          </a:solidFill>
          <a:ln w="12700">
            <a:solidFill>
              <a:srgbClr val="E21836"/>
            </a:solidFill>
            <a:prstDash val="solid"/>
          </a:ln>
        </p:spPr>
        <p:txBody>
          <a:bodyPr/>
          <a:lstStyle/>
          <a:p>
            <a:endParaRPr lang="fr-CH" noProof="0" dirty="0"/>
          </a:p>
        </p:txBody>
      </p:sp>
      <p:sp>
        <p:nvSpPr>
          <p:cNvPr id="17" name="Text 13"/>
          <p:cNvSpPr/>
          <p:nvPr/>
        </p:nvSpPr>
        <p:spPr>
          <a:xfrm>
            <a:off x="1463040" y="4800600"/>
            <a:ext cx="9646920" cy="228600"/>
          </a:xfrm>
          <a:prstGeom prst="rect">
            <a:avLst/>
          </a:prstGeom>
          <a:noFill/>
          <a:ln/>
        </p:spPr>
        <p:txBody>
          <a:bodyPr wrap="square" lIns="127" tIns="127" rIns="127" bIns="127" rtlCol="0" anchor="ctr">
            <a:normAutofit/>
          </a:bodyPr>
          <a:lstStyle/>
          <a:p>
            <a:pPr marL="0" indent="0">
              <a:buNone/>
            </a:pPr>
            <a:r>
              <a:rPr lang="fr-CH" sz="1200" noProof="0" dirty="0">
                <a:solidFill>
                  <a:srgbClr val="1F2933"/>
                </a:solidFill>
              </a:rPr>
              <a:t>Extension d’un régime</a:t>
            </a:r>
            <a:endParaRPr lang="fr-CH" sz="1200" noProof="0" dirty="0"/>
          </a:p>
        </p:txBody>
      </p:sp>
      <p:sp>
        <p:nvSpPr>
          <p:cNvPr id="18" name="Shape 14"/>
          <p:cNvSpPr/>
          <p:nvPr/>
        </p:nvSpPr>
        <p:spPr>
          <a:xfrm>
            <a:off x="1234440" y="5120640"/>
            <a:ext cx="100584" cy="100584"/>
          </a:xfrm>
          <a:prstGeom prst="ellipse">
            <a:avLst/>
          </a:prstGeom>
          <a:solidFill>
            <a:srgbClr val="E21836"/>
          </a:solidFill>
          <a:ln w="12700">
            <a:solidFill>
              <a:srgbClr val="E21836"/>
            </a:solidFill>
            <a:prstDash val="solid"/>
          </a:ln>
        </p:spPr>
        <p:txBody>
          <a:bodyPr/>
          <a:lstStyle/>
          <a:p>
            <a:endParaRPr lang="fr-CH" noProof="0" dirty="0"/>
          </a:p>
        </p:txBody>
      </p:sp>
      <p:sp>
        <p:nvSpPr>
          <p:cNvPr id="19" name="Text 15"/>
          <p:cNvSpPr/>
          <p:nvPr/>
        </p:nvSpPr>
        <p:spPr>
          <a:xfrm>
            <a:off x="1463040" y="5065776"/>
            <a:ext cx="9646920" cy="228600"/>
          </a:xfrm>
          <a:prstGeom prst="rect">
            <a:avLst/>
          </a:prstGeom>
          <a:noFill/>
          <a:ln/>
        </p:spPr>
        <p:txBody>
          <a:bodyPr wrap="square" lIns="127" tIns="127" rIns="127" bIns="127" rtlCol="0" anchor="ctr">
            <a:normAutofit/>
          </a:bodyPr>
          <a:lstStyle/>
          <a:p>
            <a:pPr marL="0" indent="0">
              <a:buNone/>
            </a:pPr>
            <a:r>
              <a:rPr lang="fr-CH" sz="1200" noProof="0" dirty="0">
                <a:solidFill>
                  <a:srgbClr val="1F2933"/>
                </a:solidFill>
              </a:rPr>
              <a:t>Amélioration du </a:t>
            </a:r>
            <a:r>
              <a:rPr lang="fr-CH" sz="1200" noProof="0" dirty="0" err="1">
                <a:solidFill>
                  <a:srgbClr val="1F2933"/>
                </a:solidFill>
              </a:rPr>
              <a:t>reporting</a:t>
            </a:r>
            <a:endParaRPr lang="fr-CH" sz="1200" noProof="0" dirty="0"/>
          </a:p>
        </p:txBody>
      </p:sp>
      <p:sp>
        <p:nvSpPr>
          <p:cNvPr id="20" name="Shape 16"/>
          <p:cNvSpPr/>
          <p:nvPr/>
        </p:nvSpPr>
        <p:spPr>
          <a:xfrm>
            <a:off x="1234440" y="5385816"/>
            <a:ext cx="100584" cy="100584"/>
          </a:xfrm>
          <a:prstGeom prst="ellipse">
            <a:avLst/>
          </a:prstGeom>
          <a:solidFill>
            <a:srgbClr val="E21836"/>
          </a:solidFill>
          <a:ln w="12700">
            <a:solidFill>
              <a:srgbClr val="E21836"/>
            </a:solidFill>
            <a:prstDash val="solid"/>
          </a:ln>
        </p:spPr>
        <p:txBody>
          <a:bodyPr/>
          <a:lstStyle/>
          <a:p>
            <a:endParaRPr lang="fr-CH" noProof="0" dirty="0"/>
          </a:p>
        </p:txBody>
      </p:sp>
      <p:sp>
        <p:nvSpPr>
          <p:cNvPr id="21" name="Text 17"/>
          <p:cNvSpPr/>
          <p:nvPr/>
        </p:nvSpPr>
        <p:spPr>
          <a:xfrm>
            <a:off x="1463040" y="5330952"/>
            <a:ext cx="9646920" cy="228600"/>
          </a:xfrm>
          <a:prstGeom prst="rect">
            <a:avLst/>
          </a:prstGeom>
          <a:noFill/>
          <a:ln/>
        </p:spPr>
        <p:txBody>
          <a:bodyPr wrap="square" lIns="127" tIns="127" rIns="127" bIns="127" rtlCol="0" anchor="ctr">
            <a:normAutofit/>
          </a:bodyPr>
          <a:lstStyle/>
          <a:p>
            <a:pPr marL="0" indent="0">
              <a:buNone/>
            </a:pPr>
            <a:r>
              <a:rPr lang="fr-CH" sz="1200" noProof="0" dirty="0">
                <a:solidFill>
                  <a:srgbClr val="1F2933"/>
                </a:solidFill>
              </a:rPr>
              <a:t>Changement méthodologique</a:t>
            </a:r>
            <a:endParaRPr lang="fr-CH" sz="1200" noProof="0" dirty="0"/>
          </a:p>
        </p:txBody>
      </p:sp>
      <p:sp>
        <p:nvSpPr>
          <p:cNvPr id="22" name="Shape 18"/>
          <p:cNvSpPr/>
          <p:nvPr/>
        </p:nvSpPr>
        <p:spPr>
          <a:xfrm>
            <a:off x="1234440" y="5650992"/>
            <a:ext cx="100584" cy="100584"/>
          </a:xfrm>
          <a:prstGeom prst="ellipse">
            <a:avLst/>
          </a:prstGeom>
          <a:solidFill>
            <a:srgbClr val="E21836"/>
          </a:solidFill>
          <a:ln w="12700">
            <a:solidFill>
              <a:srgbClr val="E21836"/>
            </a:solidFill>
            <a:prstDash val="solid"/>
          </a:ln>
        </p:spPr>
        <p:txBody>
          <a:bodyPr/>
          <a:lstStyle/>
          <a:p>
            <a:endParaRPr lang="fr-CH" noProof="0" dirty="0"/>
          </a:p>
        </p:txBody>
      </p:sp>
      <p:sp>
        <p:nvSpPr>
          <p:cNvPr id="23" name="Text 19"/>
          <p:cNvSpPr/>
          <p:nvPr/>
        </p:nvSpPr>
        <p:spPr>
          <a:xfrm>
            <a:off x="1463040" y="5596128"/>
            <a:ext cx="9646920" cy="228600"/>
          </a:xfrm>
          <a:prstGeom prst="rect">
            <a:avLst/>
          </a:prstGeom>
          <a:noFill/>
          <a:ln/>
        </p:spPr>
        <p:txBody>
          <a:bodyPr wrap="square" lIns="127" tIns="127" rIns="127" bIns="127" rtlCol="0" anchor="ctr">
            <a:normAutofit/>
          </a:bodyPr>
          <a:lstStyle/>
          <a:p>
            <a:pPr marL="0" indent="0">
              <a:buNone/>
            </a:pPr>
            <a:r>
              <a:rPr lang="fr-CH" sz="1200" noProof="0" dirty="0">
                <a:solidFill>
                  <a:srgbClr val="1F2933"/>
                </a:solidFill>
              </a:rPr>
              <a:t>Politique nouvelle d’extension de la couverture</a:t>
            </a:r>
            <a:endParaRPr lang="fr-CH" sz="1200" noProof="0" dirty="0"/>
          </a:p>
        </p:txBody>
      </p:sp>
      <p:pic>
        <p:nvPicPr>
          <p:cNvPr id="26" name="Image 0" descr="/mnt/data/ref_unzip/ppt/media/image1.png">
            <a:extLst>
              <a:ext uri="{FF2B5EF4-FFF2-40B4-BE49-F238E27FC236}">
                <a16:creationId xmlns:a16="http://schemas.microsoft.com/office/drawing/2014/main" id="{41133914-CDF3-59CF-FE4B-F2403081337E}"/>
              </a:ext>
            </a:extLst>
          </p:cNvPr>
          <p:cNvPicPr>
            <a:picLocks noChangeAspect="1"/>
          </p:cNvPicPr>
          <p:nvPr/>
        </p:nvPicPr>
        <p:blipFill>
          <a:blip r:embed="rId3"/>
          <a:stretch>
            <a:fillRect/>
          </a:stretch>
        </p:blipFill>
        <p:spPr>
          <a:xfrm>
            <a:off x="10088880" y="357645"/>
            <a:ext cx="1508760" cy="52052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12" name="Shape 53">
            <a:extLst>
              <a:ext uri="{FF2B5EF4-FFF2-40B4-BE49-F238E27FC236}">
                <a16:creationId xmlns:a16="http://schemas.microsoft.com/office/drawing/2014/main" id="{D22B2487-B60B-2E67-AD22-C712323720FB}"/>
              </a:ext>
            </a:extLst>
          </p:cNvPr>
          <p:cNvSpPr/>
          <p:nvPr/>
        </p:nvSpPr>
        <p:spPr>
          <a:xfrm>
            <a:off x="975207" y="5020056"/>
            <a:ext cx="10241280" cy="777240"/>
          </a:xfrm>
          <a:prstGeom prst="roundRect">
            <a:avLst/>
          </a:prstGeom>
          <a:solidFill>
            <a:srgbClr val="EAF0FA"/>
          </a:solidFill>
          <a:ln w="12700">
            <a:solidFill>
              <a:srgbClr val="C6D2EE"/>
            </a:solidFill>
            <a:prstDash val="solid"/>
          </a:ln>
        </p:spPr>
        <p:txBody>
          <a:bodyPr/>
          <a:lstStyle/>
          <a:p>
            <a:endParaRPr lang="fr-CH" noProof="0" dirty="0"/>
          </a:p>
        </p:txBody>
      </p:sp>
      <p:sp>
        <p:nvSpPr>
          <p:cNvPr id="2" name="Shape 0"/>
          <p:cNvSpPr/>
          <p:nvPr/>
        </p:nvSpPr>
        <p:spPr>
          <a:xfrm>
            <a:off x="0" y="0"/>
            <a:ext cx="12191695" cy="164592"/>
          </a:xfrm>
          <a:prstGeom prst="rect">
            <a:avLst/>
          </a:prstGeom>
          <a:solidFill>
            <a:srgbClr val="1428A0"/>
          </a:solidFill>
          <a:ln w="12700">
            <a:solidFill>
              <a:srgbClr val="1428A0"/>
            </a:solidFill>
            <a:prstDash val="solid"/>
          </a:ln>
        </p:spPr>
        <p:txBody>
          <a:bodyPr/>
          <a:lstStyle/>
          <a:p>
            <a:endParaRPr lang="fr-CH" noProof="0" dirty="0"/>
          </a:p>
        </p:txBody>
      </p:sp>
      <p:sp>
        <p:nvSpPr>
          <p:cNvPr id="3" name="Text 1"/>
          <p:cNvSpPr/>
          <p:nvPr/>
        </p:nvSpPr>
        <p:spPr>
          <a:xfrm>
            <a:off x="594360" y="420624"/>
            <a:ext cx="8686800" cy="411480"/>
          </a:xfrm>
          <a:prstGeom prst="rect">
            <a:avLst/>
          </a:prstGeom>
          <a:noFill/>
          <a:ln/>
        </p:spPr>
        <p:txBody>
          <a:bodyPr wrap="square" rtlCol="0" anchor="ctr">
            <a:normAutofit fontScale="92500" lnSpcReduction="10000"/>
          </a:bodyPr>
          <a:lstStyle/>
          <a:p>
            <a:pPr marL="0" indent="0">
              <a:buNone/>
            </a:pPr>
            <a:r>
              <a:rPr lang="fr-CH" sz="2400" b="1" noProof="0" dirty="0">
                <a:solidFill>
                  <a:srgbClr val="1428A0"/>
                </a:solidFill>
                <a:latin typeface="Arial" pitchFamily="34" charset="0"/>
                <a:ea typeface="Arial" pitchFamily="34" charset="-122"/>
                <a:cs typeface="Arial" pitchFamily="34" charset="-120"/>
              </a:rPr>
              <a:t>Programmes statutaires et non statutaires</a:t>
            </a:r>
            <a:endParaRPr lang="fr-CH" sz="2400" noProof="0" dirty="0"/>
          </a:p>
        </p:txBody>
      </p:sp>
      <p:sp>
        <p:nvSpPr>
          <p:cNvPr id="4" name="Text 2"/>
          <p:cNvSpPr/>
          <p:nvPr/>
        </p:nvSpPr>
        <p:spPr>
          <a:xfrm>
            <a:off x="612648" y="219456"/>
            <a:ext cx="6858000" cy="155448"/>
          </a:xfrm>
          <a:prstGeom prst="rect">
            <a:avLst/>
          </a:prstGeom>
          <a:noFill/>
          <a:ln/>
        </p:spPr>
        <p:txBody>
          <a:bodyPr wrap="square" rtlCol="0" anchor="ctr"/>
          <a:lstStyle/>
          <a:p>
            <a:pPr marL="0" indent="0">
              <a:buNone/>
            </a:pPr>
            <a:r>
              <a:rPr lang="fr-CH" sz="730" noProof="0" dirty="0">
                <a:solidFill>
                  <a:srgbClr val="586069"/>
                </a:solidFill>
              </a:rPr>
              <a:t>PÉRIMÈTRE DES DISPOSITIFS</a:t>
            </a:r>
            <a:endParaRPr lang="fr-CH" sz="730" noProof="0" dirty="0"/>
          </a:p>
        </p:txBody>
      </p:sp>
      <p:sp>
        <p:nvSpPr>
          <p:cNvPr id="6" name="Shape 3"/>
          <p:cNvSpPr/>
          <p:nvPr/>
        </p:nvSpPr>
        <p:spPr>
          <a:xfrm>
            <a:off x="594360" y="987552"/>
            <a:ext cx="10972800" cy="0"/>
          </a:xfrm>
          <a:prstGeom prst="line">
            <a:avLst/>
          </a:prstGeom>
          <a:noFill/>
          <a:ln w="12700">
            <a:solidFill>
              <a:srgbClr val="D9E1F2"/>
            </a:solidFill>
            <a:prstDash val="solid"/>
          </a:ln>
        </p:spPr>
        <p:txBody>
          <a:bodyPr/>
          <a:lstStyle/>
          <a:p>
            <a:endParaRPr lang="fr-CH" noProof="0" dirty="0"/>
          </a:p>
        </p:txBody>
      </p:sp>
      <p:sp>
        <p:nvSpPr>
          <p:cNvPr id="7" name="Text 4"/>
          <p:cNvSpPr/>
          <p:nvPr/>
        </p:nvSpPr>
        <p:spPr>
          <a:xfrm>
            <a:off x="594360" y="6510528"/>
            <a:ext cx="6583680" cy="164592"/>
          </a:xfrm>
          <a:prstGeom prst="rect">
            <a:avLst/>
          </a:prstGeom>
          <a:noFill/>
          <a:ln/>
        </p:spPr>
        <p:txBody>
          <a:bodyPr wrap="square" rtlCol="0" anchor="ctr"/>
          <a:lstStyle/>
          <a:p>
            <a:pPr marL="0" indent="0">
              <a:buNone/>
            </a:pPr>
            <a:r>
              <a:rPr lang="fr-CH" sz="750" noProof="0" dirty="0">
                <a:solidFill>
                  <a:srgbClr val="586069"/>
                </a:solidFill>
                <a:latin typeface="Arial" pitchFamily="34" charset="0"/>
                <a:ea typeface="Arial" pitchFamily="34" charset="-122"/>
                <a:cs typeface="Arial" pitchFamily="34" charset="-120"/>
              </a:rPr>
              <a:t>Faire avancer la justice sociale, promouvoir le travail décent</a:t>
            </a:r>
            <a:endParaRPr lang="fr-CH" sz="750" noProof="0" dirty="0"/>
          </a:p>
        </p:txBody>
      </p:sp>
      <p:sp>
        <p:nvSpPr>
          <p:cNvPr id="8" name="Text 5"/>
          <p:cNvSpPr/>
          <p:nvPr/>
        </p:nvSpPr>
        <p:spPr>
          <a:xfrm>
            <a:off x="7543800" y="6510528"/>
            <a:ext cx="3017520" cy="164592"/>
          </a:xfrm>
          <a:prstGeom prst="rect">
            <a:avLst/>
          </a:prstGeom>
          <a:noFill/>
          <a:ln/>
        </p:spPr>
        <p:txBody>
          <a:bodyPr wrap="square" rtlCol="0" anchor="ctr"/>
          <a:lstStyle/>
          <a:p>
            <a:pPr marL="0" indent="0" algn="r">
              <a:buNone/>
            </a:pPr>
            <a:r>
              <a:rPr lang="fr-CH" sz="730" noProof="0" dirty="0">
                <a:solidFill>
                  <a:srgbClr val="586069"/>
                </a:solidFill>
                <a:latin typeface="Arial" pitchFamily="34" charset="0"/>
                <a:ea typeface="Arial" pitchFamily="34" charset="-122"/>
                <a:cs typeface="Arial" pitchFamily="34" charset="-120"/>
              </a:rPr>
              <a:t>Atelier 2e Bulletin Statistique RDC | 14 mai 2026</a:t>
            </a:r>
            <a:endParaRPr lang="fr-CH" sz="730" noProof="0" dirty="0"/>
          </a:p>
        </p:txBody>
      </p:sp>
      <p:sp>
        <p:nvSpPr>
          <p:cNvPr id="9" name="Text 6"/>
          <p:cNvSpPr/>
          <p:nvPr/>
        </p:nvSpPr>
        <p:spPr>
          <a:xfrm>
            <a:off x="11292840" y="6473952"/>
            <a:ext cx="411480" cy="201168"/>
          </a:xfrm>
          <a:prstGeom prst="rect">
            <a:avLst/>
          </a:prstGeom>
          <a:noFill/>
          <a:ln/>
        </p:spPr>
        <p:txBody>
          <a:bodyPr wrap="square" lIns="27432" tIns="18288" rIns="27432" bIns="18288" rtlCol="0" anchor="ctr"/>
          <a:lstStyle/>
          <a:p>
            <a:pPr marL="0" indent="0" algn="r">
              <a:buNone/>
            </a:pPr>
            <a:r>
              <a:rPr lang="fr-CH" sz="850" b="0" noProof="0" dirty="0">
                <a:solidFill>
                  <a:srgbClr val="505050"/>
                </a:solidFill>
                <a:latin typeface="Arial"/>
              </a:rPr>
              <a:t>7</a:t>
            </a:r>
            <a:endParaRPr lang="fr-CH" sz="750" noProof="0" dirty="0"/>
          </a:p>
        </p:txBody>
      </p:sp>
      <p:graphicFrame>
        <p:nvGraphicFramePr>
          <p:cNvPr id="10" name="Table 0"/>
          <p:cNvGraphicFramePr>
            <a:graphicFrameLocks noGrp="1"/>
          </p:cNvGraphicFramePr>
          <p:nvPr>
            <p:extLst>
              <p:ext uri="{D42A27DB-BD31-4B8C-83A1-F6EECF244321}">
                <p14:modId xmlns:p14="http://schemas.microsoft.com/office/powerpoint/2010/main" val="3817472480"/>
              </p:ext>
            </p:extLst>
          </p:nvPr>
        </p:nvGraphicFramePr>
        <p:xfrm>
          <a:off x="777240" y="1554480"/>
          <a:ext cx="10789920" cy="2148840"/>
        </p:xfrm>
        <a:graphic>
          <a:graphicData uri="http://schemas.openxmlformats.org/drawingml/2006/table">
            <a:tbl>
              <a:tblPr/>
              <a:tblGrid>
                <a:gridCol w="274320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716280">
                <a:tc>
                  <a:txBody>
                    <a:bodyPr/>
                    <a:lstStyle/>
                    <a:p>
                      <a:pPr marL="0" indent="0">
                        <a:buNone/>
                      </a:pPr>
                      <a:r>
                        <a:rPr lang="fr-CH" sz="1000" b="1" noProof="0" dirty="0">
                          <a:solidFill>
                            <a:srgbClr val="FFFFFF"/>
                          </a:solidFill>
                        </a:rPr>
                        <a:t>Type de dispositif</a:t>
                      </a:r>
                      <a:endParaRPr lang="fr-CH" sz="1000" noProof="0" dirty="0"/>
                    </a:p>
                  </a:txBody>
                  <a:tcPr marL="54864" marR="54864" marT="54864" marB="54864">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1428A0"/>
                    </a:solidFill>
                  </a:tcPr>
                </a:tc>
                <a:tc>
                  <a:txBody>
                    <a:bodyPr/>
                    <a:lstStyle/>
                    <a:p>
                      <a:pPr marL="0" indent="0">
                        <a:buNone/>
                      </a:pPr>
                      <a:r>
                        <a:rPr lang="fr-CH" sz="1000" b="1" noProof="0" dirty="0">
                          <a:solidFill>
                            <a:srgbClr val="FFFFFF"/>
                          </a:solidFill>
                        </a:rPr>
                        <a:t>Caractéristiques principales</a:t>
                      </a:r>
                      <a:endParaRPr lang="fr-CH" sz="1000" noProof="0" dirty="0"/>
                    </a:p>
                  </a:txBody>
                  <a:tcPr marL="54864" marR="54864" marT="54864" marB="54864">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1428A0"/>
                    </a:solidFill>
                  </a:tcPr>
                </a:tc>
                <a:tc>
                  <a:txBody>
                    <a:bodyPr/>
                    <a:lstStyle/>
                    <a:p>
                      <a:pPr marL="0" indent="0">
                        <a:buNone/>
                      </a:pPr>
                      <a:r>
                        <a:rPr lang="fr-CH" sz="1000" b="1" noProof="0" dirty="0">
                          <a:solidFill>
                            <a:srgbClr val="FFFFFF"/>
                          </a:solidFill>
                        </a:rPr>
                        <a:t>Exemples possibles</a:t>
                      </a:r>
                      <a:endParaRPr lang="fr-CH" sz="1000" noProof="0" dirty="0"/>
                    </a:p>
                  </a:txBody>
                  <a:tcPr marL="54864" marR="54864" marT="54864" marB="54864">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1428A0"/>
                    </a:solidFill>
                  </a:tcPr>
                </a:tc>
                <a:extLst>
                  <a:ext uri="{0D108BD9-81ED-4DB2-BD59-A6C34878D82A}">
                    <a16:rowId xmlns:a16="http://schemas.microsoft.com/office/drawing/2014/main" val="10000"/>
                  </a:ext>
                </a:extLst>
              </a:tr>
              <a:tr h="716280">
                <a:tc>
                  <a:txBody>
                    <a:bodyPr/>
                    <a:lstStyle/>
                    <a:p>
                      <a:pPr marL="0" indent="0">
                        <a:buNone/>
                      </a:pPr>
                      <a:r>
                        <a:rPr lang="fr-CH" sz="1000" b="1" noProof="0" dirty="0">
                          <a:solidFill>
                            <a:srgbClr val="1428A0"/>
                          </a:solidFill>
                        </a:rPr>
                        <a:t>Programmes statutaires</a:t>
                      </a:r>
                      <a:endParaRPr lang="fr-CH" sz="1000" noProof="0" dirty="0"/>
                    </a:p>
                  </a:txBody>
                  <a:tcPr marL="54864" marR="54864" marT="54864" marB="54864">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FFFFF"/>
                    </a:solidFill>
                  </a:tcPr>
                </a:tc>
                <a:tc>
                  <a:txBody>
                    <a:bodyPr/>
                    <a:lstStyle/>
                    <a:p>
                      <a:pPr marL="0" indent="0">
                        <a:buNone/>
                      </a:pPr>
                      <a:r>
                        <a:rPr lang="fr-CH" sz="1000" noProof="0" dirty="0">
                          <a:solidFill>
                            <a:srgbClr val="1F2933"/>
                          </a:solidFill>
                        </a:rPr>
                        <a:t>Encadrés par des textes, droits ou obligations formalisés</a:t>
                      </a:r>
                      <a:endParaRPr lang="fr-CH" sz="1000" noProof="0" dirty="0"/>
                    </a:p>
                  </a:txBody>
                  <a:tcPr marL="54864" marR="54864" marT="54864" marB="54864">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FFFFF"/>
                    </a:solidFill>
                  </a:tcPr>
                </a:tc>
                <a:tc>
                  <a:txBody>
                    <a:bodyPr/>
                    <a:lstStyle/>
                    <a:p>
                      <a:pPr marL="0" indent="0">
                        <a:buNone/>
                      </a:pPr>
                      <a:r>
                        <a:rPr lang="fr-CH" sz="1000" noProof="0" dirty="0">
                          <a:solidFill>
                            <a:srgbClr val="1F2933"/>
                          </a:solidFill>
                        </a:rPr>
                        <a:t>Régimes de sécurité sociale tel que la CNSS, la CNSSAP</a:t>
                      </a:r>
                      <a:endParaRPr lang="fr-CH" sz="1000" noProof="0" dirty="0"/>
                    </a:p>
                  </a:txBody>
                  <a:tcPr marL="54864" marR="54864" marT="54864" marB="54864">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6280">
                <a:tc>
                  <a:txBody>
                    <a:bodyPr/>
                    <a:lstStyle/>
                    <a:p>
                      <a:pPr marL="0" indent="0">
                        <a:buNone/>
                      </a:pPr>
                      <a:r>
                        <a:rPr lang="fr-CH" sz="1000" b="1" noProof="0" dirty="0">
                          <a:solidFill>
                            <a:srgbClr val="1428A0"/>
                          </a:solidFill>
                        </a:rPr>
                        <a:t>Programmes non statutaires</a:t>
                      </a:r>
                      <a:endParaRPr lang="fr-CH" sz="1000" noProof="0" dirty="0"/>
                    </a:p>
                  </a:txBody>
                  <a:tcPr marL="54864" marR="54864" marT="54864" marB="54864">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4F7FB"/>
                    </a:solidFill>
                  </a:tcPr>
                </a:tc>
                <a:tc>
                  <a:txBody>
                    <a:bodyPr/>
                    <a:lstStyle/>
                    <a:p>
                      <a:pPr marL="0" indent="0">
                        <a:buNone/>
                      </a:pPr>
                      <a:r>
                        <a:rPr lang="fr-CH" sz="1000" noProof="0" dirty="0">
                          <a:solidFill>
                            <a:srgbClr val="1F2933"/>
                          </a:solidFill>
                        </a:rPr>
                        <a:t>Interventions organisées hors d’un cadre statutaire complet, mais pouvant relever de la protection sociale</a:t>
                      </a:r>
                      <a:endParaRPr lang="fr-CH" sz="1000" noProof="0" dirty="0"/>
                    </a:p>
                  </a:txBody>
                  <a:tcPr marL="54864" marR="54864" marT="54864" marB="54864">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4F7FB"/>
                    </a:solidFill>
                  </a:tcPr>
                </a:tc>
                <a:tc>
                  <a:txBody>
                    <a:bodyPr/>
                    <a:lstStyle/>
                    <a:p>
                      <a:pPr marL="0" indent="0">
                        <a:buNone/>
                      </a:pPr>
                      <a:r>
                        <a:rPr lang="fr-CH" sz="1000" noProof="0" dirty="0">
                          <a:solidFill>
                            <a:srgbClr val="1F2933"/>
                          </a:solidFill>
                        </a:rPr>
                        <a:t>Assistance sociale, transferts, filets sociaux, programmes temporaires ciblés</a:t>
                      </a:r>
                      <a:endParaRPr lang="fr-CH" sz="1000" noProof="0" dirty="0"/>
                    </a:p>
                  </a:txBody>
                  <a:tcPr marL="54864" marR="54864" marT="54864" marB="54864">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4F7FB"/>
                    </a:solidFill>
                  </a:tcPr>
                </a:tc>
                <a:extLst>
                  <a:ext uri="{0D108BD9-81ED-4DB2-BD59-A6C34878D82A}">
                    <a16:rowId xmlns:a16="http://schemas.microsoft.com/office/drawing/2014/main" val="10002"/>
                  </a:ext>
                </a:extLst>
              </a:tr>
            </a:tbl>
          </a:graphicData>
        </a:graphic>
      </p:graphicFrame>
      <p:sp>
        <p:nvSpPr>
          <p:cNvPr id="11" name="Text 7"/>
          <p:cNvSpPr/>
          <p:nvPr/>
        </p:nvSpPr>
        <p:spPr>
          <a:xfrm>
            <a:off x="1051560" y="5248656"/>
            <a:ext cx="10058400" cy="320040"/>
          </a:xfrm>
          <a:prstGeom prst="rect">
            <a:avLst/>
          </a:prstGeom>
          <a:noFill/>
          <a:ln/>
        </p:spPr>
        <p:txBody>
          <a:bodyPr wrap="square" rtlCol="0" anchor="ctr"/>
          <a:lstStyle/>
          <a:p>
            <a:pPr marL="0" indent="0" algn="ctr">
              <a:buNone/>
            </a:pPr>
            <a:r>
              <a:rPr lang="fr-CH" sz="1400" b="1" noProof="0" dirty="0">
                <a:solidFill>
                  <a:srgbClr val="1428A0"/>
                </a:solidFill>
              </a:rPr>
              <a:t>À ne pas confondre avec la distinction contributif / non contributif</a:t>
            </a:r>
            <a:r>
              <a:rPr lang="fr-CH" sz="1500" b="1" noProof="0" dirty="0">
                <a:solidFill>
                  <a:srgbClr val="1428A0"/>
                </a:solidFill>
              </a:rPr>
              <a:t>.</a:t>
            </a:r>
            <a:endParaRPr lang="fr-CH" sz="1500" noProof="0" dirty="0"/>
          </a:p>
        </p:txBody>
      </p:sp>
      <p:pic>
        <p:nvPicPr>
          <p:cNvPr id="13" name="Image 0" descr="/mnt/data/ref_unzip/ppt/media/image1.png">
            <a:extLst>
              <a:ext uri="{FF2B5EF4-FFF2-40B4-BE49-F238E27FC236}">
                <a16:creationId xmlns:a16="http://schemas.microsoft.com/office/drawing/2014/main" id="{93F7FA10-DC89-1982-8FC2-77C81BF83BE5}"/>
              </a:ext>
            </a:extLst>
          </p:cNvPr>
          <p:cNvPicPr>
            <a:picLocks noChangeAspect="1"/>
          </p:cNvPicPr>
          <p:nvPr/>
        </p:nvPicPr>
        <p:blipFill>
          <a:blip r:embed="rId3"/>
          <a:stretch>
            <a:fillRect/>
          </a:stretch>
        </p:blipFill>
        <p:spPr>
          <a:xfrm>
            <a:off x="10088880" y="357645"/>
            <a:ext cx="1508760" cy="52052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428A0"/>
          </a:solidFill>
          <a:ln w="12700">
            <a:solidFill>
              <a:srgbClr val="1428A0"/>
            </a:solidFill>
            <a:prstDash val="solid"/>
          </a:ln>
        </p:spPr>
        <p:txBody>
          <a:bodyPr/>
          <a:lstStyle/>
          <a:p>
            <a:endParaRPr lang="fr-CH" noProof="0" dirty="0"/>
          </a:p>
        </p:txBody>
      </p:sp>
      <p:sp>
        <p:nvSpPr>
          <p:cNvPr id="3" name="Text 1"/>
          <p:cNvSpPr/>
          <p:nvPr/>
        </p:nvSpPr>
        <p:spPr>
          <a:xfrm>
            <a:off x="594360" y="420624"/>
            <a:ext cx="8686800" cy="411480"/>
          </a:xfrm>
          <a:prstGeom prst="rect">
            <a:avLst/>
          </a:prstGeom>
          <a:noFill/>
          <a:ln/>
        </p:spPr>
        <p:txBody>
          <a:bodyPr wrap="square" rtlCol="0" anchor="ctr">
            <a:normAutofit fontScale="92500" lnSpcReduction="10000"/>
          </a:bodyPr>
          <a:lstStyle/>
          <a:p>
            <a:pPr marL="0" indent="0">
              <a:buNone/>
            </a:pPr>
            <a:r>
              <a:rPr lang="fr-CH" sz="2400" b="1" noProof="0" dirty="0">
                <a:solidFill>
                  <a:srgbClr val="1428A0"/>
                </a:solidFill>
                <a:latin typeface="Arial" pitchFamily="34" charset="0"/>
                <a:ea typeface="Arial" pitchFamily="34" charset="-122"/>
                <a:cs typeface="Arial" pitchFamily="34" charset="-120"/>
              </a:rPr>
              <a:t>Régimes contributif et non contributif</a:t>
            </a:r>
            <a:endParaRPr lang="fr-CH" sz="2400" noProof="0" dirty="0"/>
          </a:p>
        </p:txBody>
      </p:sp>
      <p:sp>
        <p:nvSpPr>
          <p:cNvPr id="4" name="Text 2"/>
          <p:cNvSpPr/>
          <p:nvPr/>
        </p:nvSpPr>
        <p:spPr>
          <a:xfrm>
            <a:off x="612648" y="219456"/>
            <a:ext cx="6858000" cy="155448"/>
          </a:xfrm>
          <a:prstGeom prst="rect">
            <a:avLst/>
          </a:prstGeom>
          <a:noFill/>
          <a:ln/>
        </p:spPr>
        <p:txBody>
          <a:bodyPr wrap="square" rtlCol="0" anchor="ctr"/>
          <a:lstStyle/>
          <a:p>
            <a:pPr marL="0" indent="0">
              <a:buNone/>
            </a:pPr>
            <a:r>
              <a:rPr lang="fr-CH" sz="730" noProof="0" dirty="0">
                <a:solidFill>
                  <a:srgbClr val="586069"/>
                </a:solidFill>
              </a:rPr>
              <a:t>PÉRIMÈTRE DES DISPOSITIFS</a:t>
            </a:r>
            <a:endParaRPr lang="fr-CH" sz="730" noProof="0" dirty="0"/>
          </a:p>
        </p:txBody>
      </p:sp>
      <p:sp>
        <p:nvSpPr>
          <p:cNvPr id="6" name="Shape 3"/>
          <p:cNvSpPr/>
          <p:nvPr/>
        </p:nvSpPr>
        <p:spPr>
          <a:xfrm>
            <a:off x="594360" y="987552"/>
            <a:ext cx="10972800" cy="0"/>
          </a:xfrm>
          <a:prstGeom prst="line">
            <a:avLst/>
          </a:prstGeom>
          <a:noFill/>
          <a:ln w="12700">
            <a:solidFill>
              <a:srgbClr val="D9E1F2"/>
            </a:solidFill>
            <a:prstDash val="solid"/>
          </a:ln>
        </p:spPr>
        <p:txBody>
          <a:bodyPr/>
          <a:lstStyle/>
          <a:p>
            <a:endParaRPr lang="fr-CH" noProof="0" dirty="0"/>
          </a:p>
        </p:txBody>
      </p:sp>
      <p:sp>
        <p:nvSpPr>
          <p:cNvPr id="7" name="Text 4"/>
          <p:cNvSpPr/>
          <p:nvPr/>
        </p:nvSpPr>
        <p:spPr>
          <a:xfrm>
            <a:off x="594360" y="6510528"/>
            <a:ext cx="6583680" cy="164592"/>
          </a:xfrm>
          <a:prstGeom prst="rect">
            <a:avLst/>
          </a:prstGeom>
          <a:noFill/>
          <a:ln/>
        </p:spPr>
        <p:txBody>
          <a:bodyPr wrap="square" rtlCol="0" anchor="ctr"/>
          <a:lstStyle/>
          <a:p>
            <a:pPr marL="0" indent="0">
              <a:buNone/>
            </a:pPr>
            <a:r>
              <a:rPr lang="fr-CH" sz="750" noProof="0" dirty="0">
                <a:solidFill>
                  <a:srgbClr val="586069"/>
                </a:solidFill>
                <a:latin typeface="Arial" pitchFamily="34" charset="0"/>
                <a:ea typeface="Arial" pitchFamily="34" charset="-122"/>
                <a:cs typeface="Arial" pitchFamily="34" charset="-120"/>
              </a:rPr>
              <a:t>Faire avancer la justice sociale, promouvoir le travail décent</a:t>
            </a:r>
            <a:endParaRPr lang="fr-CH" sz="750" noProof="0" dirty="0"/>
          </a:p>
        </p:txBody>
      </p:sp>
      <p:sp>
        <p:nvSpPr>
          <p:cNvPr id="8" name="Text 5"/>
          <p:cNvSpPr/>
          <p:nvPr/>
        </p:nvSpPr>
        <p:spPr>
          <a:xfrm>
            <a:off x="7543800" y="6510528"/>
            <a:ext cx="3017520" cy="164592"/>
          </a:xfrm>
          <a:prstGeom prst="rect">
            <a:avLst/>
          </a:prstGeom>
          <a:noFill/>
          <a:ln/>
        </p:spPr>
        <p:txBody>
          <a:bodyPr wrap="square" rtlCol="0" anchor="ctr"/>
          <a:lstStyle/>
          <a:p>
            <a:pPr marL="0" indent="0" algn="r">
              <a:buNone/>
            </a:pPr>
            <a:r>
              <a:rPr lang="fr-CH" sz="730" noProof="0" dirty="0">
                <a:solidFill>
                  <a:srgbClr val="586069"/>
                </a:solidFill>
                <a:latin typeface="Arial" pitchFamily="34" charset="0"/>
                <a:ea typeface="Arial" pitchFamily="34" charset="-122"/>
                <a:cs typeface="Arial" pitchFamily="34" charset="-120"/>
              </a:rPr>
              <a:t>Atelier 2e Bulletin Statistique RDC | 14 mai 2026</a:t>
            </a:r>
            <a:endParaRPr lang="fr-CH" sz="730" noProof="0" dirty="0"/>
          </a:p>
        </p:txBody>
      </p:sp>
      <p:sp>
        <p:nvSpPr>
          <p:cNvPr id="9" name="Text 6"/>
          <p:cNvSpPr/>
          <p:nvPr/>
        </p:nvSpPr>
        <p:spPr>
          <a:xfrm>
            <a:off x="11292840" y="6473952"/>
            <a:ext cx="411480" cy="201168"/>
          </a:xfrm>
          <a:prstGeom prst="rect">
            <a:avLst/>
          </a:prstGeom>
          <a:noFill/>
          <a:ln/>
        </p:spPr>
        <p:txBody>
          <a:bodyPr wrap="square" lIns="27432" tIns="18288" rIns="27432" bIns="18288" rtlCol="0" anchor="ctr"/>
          <a:lstStyle/>
          <a:p>
            <a:pPr marL="0" indent="0" algn="r">
              <a:buNone/>
            </a:pPr>
            <a:r>
              <a:rPr lang="fr-CH" sz="850" b="0" noProof="0" dirty="0">
                <a:solidFill>
                  <a:srgbClr val="505050"/>
                </a:solidFill>
                <a:latin typeface="Arial"/>
              </a:rPr>
              <a:t>8</a:t>
            </a:r>
            <a:endParaRPr lang="fr-CH" sz="750" noProof="0" dirty="0"/>
          </a:p>
        </p:txBody>
      </p:sp>
      <p:graphicFrame>
        <p:nvGraphicFramePr>
          <p:cNvPr id="10" name="Table 0"/>
          <p:cNvGraphicFramePr>
            <a:graphicFrameLocks noGrp="1"/>
          </p:cNvGraphicFramePr>
          <p:nvPr>
            <p:extLst>
              <p:ext uri="{D42A27DB-BD31-4B8C-83A1-F6EECF244321}">
                <p14:modId xmlns:p14="http://schemas.microsoft.com/office/powerpoint/2010/main" val="1359035119"/>
              </p:ext>
            </p:extLst>
          </p:nvPr>
        </p:nvGraphicFramePr>
        <p:xfrm>
          <a:off x="777240" y="1554480"/>
          <a:ext cx="10789920" cy="2148840"/>
        </p:xfrm>
        <a:graphic>
          <a:graphicData uri="http://schemas.openxmlformats.org/drawingml/2006/table">
            <a:tbl>
              <a:tblPr/>
              <a:tblGrid>
                <a:gridCol w="246888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tblGrid>
              <a:tr h="716280">
                <a:tc>
                  <a:txBody>
                    <a:bodyPr/>
                    <a:lstStyle/>
                    <a:p>
                      <a:pPr marL="0" indent="0">
                        <a:buNone/>
                      </a:pPr>
                      <a:r>
                        <a:rPr lang="fr-CH" sz="1050" b="1" noProof="0" dirty="0">
                          <a:solidFill>
                            <a:srgbClr val="FFFFFF"/>
                          </a:solidFill>
                        </a:rPr>
                        <a:t>Type</a:t>
                      </a:r>
                      <a:endParaRPr lang="fr-CH" sz="1050" noProof="0" dirty="0"/>
                    </a:p>
                  </a:txBody>
                  <a:tcPr marL="54864" marR="54864" marT="54864" marB="54864">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1428A0"/>
                    </a:solidFill>
                  </a:tcPr>
                </a:tc>
                <a:tc>
                  <a:txBody>
                    <a:bodyPr/>
                    <a:lstStyle/>
                    <a:p>
                      <a:pPr marL="0" indent="0">
                        <a:buNone/>
                      </a:pPr>
                      <a:r>
                        <a:rPr lang="fr-CH" sz="1050" b="1" noProof="0" dirty="0">
                          <a:solidFill>
                            <a:srgbClr val="FFFFFF"/>
                          </a:solidFill>
                        </a:rPr>
                        <a:t>Logique</a:t>
                      </a:r>
                      <a:endParaRPr lang="fr-CH" sz="1050" noProof="0" dirty="0"/>
                    </a:p>
                  </a:txBody>
                  <a:tcPr marL="54864" marR="54864" marT="54864" marB="54864">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1428A0"/>
                    </a:solidFill>
                  </a:tcPr>
                </a:tc>
                <a:tc>
                  <a:txBody>
                    <a:bodyPr/>
                    <a:lstStyle/>
                    <a:p>
                      <a:pPr marL="0" indent="0">
                        <a:buNone/>
                      </a:pPr>
                      <a:r>
                        <a:rPr lang="fr-CH" sz="1050" b="1" noProof="0" dirty="0">
                          <a:solidFill>
                            <a:srgbClr val="FFFFFF"/>
                          </a:solidFill>
                        </a:rPr>
                        <a:t>Données attendues</a:t>
                      </a:r>
                      <a:endParaRPr lang="fr-CH" sz="1050" noProof="0" dirty="0"/>
                    </a:p>
                  </a:txBody>
                  <a:tcPr marL="54864" marR="54864" marT="54864" marB="54864">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1428A0"/>
                    </a:solidFill>
                  </a:tcPr>
                </a:tc>
                <a:extLst>
                  <a:ext uri="{0D108BD9-81ED-4DB2-BD59-A6C34878D82A}">
                    <a16:rowId xmlns:a16="http://schemas.microsoft.com/office/drawing/2014/main" val="10000"/>
                  </a:ext>
                </a:extLst>
              </a:tr>
              <a:tr h="716280">
                <a:tc>
                  <a:txBody>
                    <a:bodyPr/>
                    <a:lstStyle/>
                    <a:p>
                      <a:pPr marL="0" indent="0">
                        <a:buNone/>
                      </a:pPr>
                      <a:r>
                        <a:rPr lang="fr-CH" sz="1050" b="1" noProof="0" dirty="0">
                          <a:solidFill>
                            <a:srgbClr val="1428A0"/>
                          </a:solidFill>
                        </a:rPr>
                        <a:t>Contributif</a:t>
                      </a:r>
                      <a:endParaRPr lang="fr-CH" sz="105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FFFFF"/>
                    </a:solidFill>
                  </a:tcPr>
                </a:tc>
                <a:tc>
                  <a:txBody>
                    <a:bodyPr/>
                    <a:lstStyle/>
                    <a:p>
                      <a:pPr marL="0" indent="0">
                        <a:buNone/>
                      </a:pPr>
                      <a:r>
                        <a:rPr lang="fr-CH" sz="1050" noProof="0" dirty="0">
                          <a:solidFill>
                            <a:srgbClr val="1F2933"/>
                          </a:solidFill>
                        </a:rPr>
                        <a:t>Protection liée à une cotisation ou à l’affiliation à un régime, basée sur un mécanisme assuranciel</a:t>
                      </a:r>
                      <a:endParaRPr lang="fr-CH" sz="105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FFFFF"/>
                    </a:solidFill>
                  </a:tcPr>
                </a:tc>
                <a:tc>
                  <a:txBody>
                    <a:bodyPr/>
                    <a:lstStyle/>
                    <a:p>
                      <a:pPr marL="0" indent="0">
                        <a:buNone/>
                      </a:pPr>
                      <a:r>
                        <a:rPr lang="fr-CH" sz="1050" noProof="0" dirty="0">
                          <a:solidFill>
                            <a:srgbClr val="1F2933"/>
                          </a:solidFill>
                        </a:rPr>
                        <a:t>Cotisants, assurés, bénéficiaires, prestations, recettes, dépenses</a:t>
                      </a:r>
                      <a:endParaRPr lang="fr-CH" sz="105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6280">
                <a:tc>
                  <a:txBody>
                    <a:bodyPr/>
                    <a:lstStyle/>
                    <a:p>
                      <a:pPr marL="0" indent="0">
                        <a:buNone/>
                      </a:pPr>
                      <a:r>
                        <a:rPr lang="fr-CH" sz="1050" b="1" noProof="0" dirty="0">
                          <a:solidFill>
                            <a:srgbClr val="1428A0"/>
                          </a:solidFill>
                        </a:rPr>
                        <a:t>Non contributif</a:t>
                      </a:r>
                      <a:endParaRPr lang="fr-CH" sz="105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4F7FB"/>
                    </a:solidFill>
                  </a:tcPr>
                </a:tc>
                <a:tc>
                  <a:txBody>
                    <a:bodyPr/>
                    <a:lstStyle/>
                    <a:p>
                      <a:pPr marL="0" indent="0">
                        <a:buNone/>
                      </a:pPr>
                      <a:r>
                        <a:rPr lang="fr-CH" sz="1050" noProof="0" dirty="0">
                          <a:solidFill>
                            <a:srgbClr val="1F2933"/>
                          </a:solidFill>
                        </a:rPr>
                        <a:t>Protection financée sans contribution directe du bénéficiaire</a:t>
                      </a:r>
                      <a:endParaRPr lang="fr-CH" sz="105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4F7FB"/>
                    </a:solidFill>
                  </a:tcPr>
                </a:tc>
                <a:tc>
                  <a:txBody>
                    <a:bodyPr/>
                    <a:lstStyle/>
                    <a:p>
                      <a:pPr marL="0" indent="0">
                        <a:buNone/>
                      </a:pPr>
                      <a:r>
                        <a:rPr lang="fr-CH" sz="1050" noProof="0" dirty="0">
                          <a:solidFill>
                            <a:srgbClr val="1F2933"/>
                          </a:solidFill>
                        </a:rPr>
                        <a:t>Bénéficiaires, population cible, prestations, budget, critères d’éligibilité</a:t>
                      </a:r>
                      <a:endParaRPr lang="fr-CH" sz="105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4F7FB"/>
                    </a:solidFill>
                  </a:tcPr>
                </a:tc>
                <a:extLst>
                  <a:ext uri="{0D108BD9-81ED-4DB2-BD59-A6C34878D82A}">
                    <a16:rowId xmlns:a16="http://schemas.microsoft.com/office/drawing/2014/main" val="10002"/>
                  </a:ext>
                </a:extLst>
              </a:tr>
            </a:tbl>
          </a:graphicData>
        </a:graphic>
      </p:graphicFrame>
      <p:sp>
        <p:nvSpPr>
          <p:cNvPr id="11" name="Shape 7"/>
          <p:cNvSpPr/>
          <p:nvPr/>
        </p:nvSpPr>
        <p:spPr>
          <a:xfrm>
            <a:off x="960120" y="4160520"/>
            <a:ext cx="10241280" cy="914400"/>
          </a:xfrm>
          <a:prstGeom prst="roundRect">
            <a:avLst/>
          </a:prstGeom>
          <a:solidFill>
            <a:srgbClr val="F4F7FC"/>
          </a:solidFill>
          <a:ln w="12700">
            <a:solidFill>
              <a:srgbClr val="D5DDF0"/>
            </a:solidFill>
            <a:prstDash val="solid"/>
          </a:ln>
        </p:spPr>
        <p:txBody>
          <a:bodyPr/>
          <a:lstStyle/>
          <a:p>
            <a:endParaRPr lang="fr-CH" noProof="0" dirty="0"/>
          </a:p>
        </p:txBody>
      </p:sp>
      <p:sp>
        <p:nvSpPr>
          <p:cNvPr id="12" name="Text 8"/>
          <p:cNvSpPr/>
          <p:nvPr/>
        </p:nvSpPr>
        <p:spPr>
          <a:xfrm>
            <a:off x="1188720" y="4526280"/>
            <a:ext cx="9784080" cy="228600"/>
          </a:xfrm>
          <a:prstGeom prst="rect">
            <a:avLst/>
          </a:prstGeom>
          <a:noFill/>
          <a:ln/>
        </p:spPr>
        <p:txBody>
          <a:bodyPr wrap="square" rtlCol="0" anchor="ctr"/>
          <a:lstStyle/>
          <a:p>
            <a:pPr marL="0" indent="0" algn="ctr">
              <a:buNone/>
            </a:pPr>
            <a:r>
              <a:rPr lang="fr-CH" sz="1400" b="1" noProof="0" dirty="0">
                <a:solidFill>
                  <a:srgbClr val="1428A0"/>
                </a:solidFill>
              </a:rPr>
              <a:t>Les deux types sont importants pour mesurer l’étendue réelle de la protection sociale.</a:t>
            </a:r>
            <a:endParaRPr lang="fr-CH" sz="1400" noProof="0" dirty="0"/>
          </a:p>
        </p:txBody>
      </p:sp>
      <p:pic>
        <p:nvPicPr>
          <p:cNvPr id="13" name="Image 0" descr="/mnt/data/ref_unzip/ppt/media/image1.png">
            <a:extLst>
              <a:ext uri="{FF2B5EF4-FFF2-40B4-BE49-F238E27FC236}">
                <a16:creationId xmlns:a16="http://schemas.microsoft.com/office/drawing/2014/main" id="{3816D199-B6BC-1963-E061-D0E24E289EA2}"/>
              </a:ext>
            </a:extLst>
          </p:cNvPr>
          <p:cNvPicPr>
            <a:picLocks noChangeAspect="1"/>
          </p:cNvPicPr>
          <p:nvPr/>
        </p:nvPicPr>
        <p:blipFill>
          <a:blip r:embed="rId3"/>
          <a:stretch>
            <a:fillRect/>
          </a:stretch>
        </p:blipFill>
        <p:spPr>
          <a:xfrm>
            <a:off x="10088880" y="357645"/>
            <a:ext cx="1508760" cy="52052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17916-20E7-FDC1-071F-509C47A6DEC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3661099-605E-BC10-806B-9135BD83B9EE}"/>
              </a:ext>
            </a:extLst>
          </p:cNvPr>
          <p:cNvSpPr/>
          <p:nvPr/>
        </p:nvSpPr>
        <p:spPr>
          <a:xfrm>
            <a:off x="0" y="0"/>
            <a:ext cx="12191695" cy="164592"/>
          </a:xfrm>
          <a:prstGeom prst="rect">
            <a:avLst/>
          </a:prstGeom>
          <a:solidFill>
            <a:srgbClr val="1428A0"/>
          </a:solidFill>
          <a:ln w="12700">
            <a:solidFill>
              <a:srgbClr val="1428A0"/>
            </a:solidFill>
            <a:prstDash val="solid"/>
          </a:ln>
        </p:spPr>
        <p:txBody>
          <a:bodyPr/>
          <a:lstStyle/>
          <a:p>
            <a:endParaRPr lang="fr-CH" noProof="0" dirty="0"/>
          </a:p>
        </p:txBody>
      </p:sp>
      <p:sp>
        <p:nvSpPr>
          <p:cNvPr id="3" name="Text 1">
            <a:extLst>
              <a:ext uri="{FF2B5EF4-FFF2-40B4-BE49-F238E27FC236}">
                <a16:creationId xmlns:a16="http://schemas.microsoft.com/office/drawing/2014/main" id="{FEF9AC30-CE40-BA40-9FAA-F041CE0A18A6}"/>
              </a:ext>
            </a:extLst>
          </p:cNvPr>
          <p:cNvSpPr/>
          <p:nvPr/>
        </p:nvSpPr>
        <p:spPr>
          <a:xfrm>
            <a:off x="594360" y="420624"/>
            <a:ext cx="8686800" cy="411480"/>
          </a:xfrm>
          <a:prstGeom prst="rect">
            <a:avLst/>
          </a:prstGeom>
          <a:noFill/>
          <a:ln/>
        </p:spPr>
        <p:txBody>
          <a:bodyPr wrap="square" rtlCol="0" anchor="ctr">
            <a:normAutofit fontScale="92500" lnSpcReduction="10000"/>
          </a:bodyPr>
          <a:lstStyle/>
          <a:p>
            <a:r>
              <a:rPr lang="fr-CH" sz="2400" b="1" dirty="0">
                <a:solidFill>
                  <a:srgbClr val="1428A0"/>
                </a:solidFill>
              </a:rPr>
              <a:t>Couverture légale </a:t>
            </a:r>
            <a:r>
              <a:rPr lang="fr-CH" sz="2400" b="1" noProof="0" dirty="0">
                <a:solidFill>
                  <a:srgbClr val="1428A0"/>
                </a:solidFill>
                <a:latin typeface="Arial" pitchFamily="34" charset="0"/>
                <a:ea typeface="Arial" pitchFamily="34" charset="-122"/>
                <a:cs typeface="Arial" pitchFamily="34" charset="-120"/>
              </a:rPr>
              <a:t>et c</a:t>
            </a:r>
            <a:r>
              <a:rPr lang="fr-CH" sz="2400" b="1" dirty="0">
                <a:solidFill>
                  <a:srgbClr val="1428A0"/>
                </a:solidFill>
              </a:rPr>
              <a:t>ouverture effective</a:t>
            </a:r>
            <a:endParaRPr lang="fr-CH" sz="2400" noProof="0" dirty="0"/>
          </a:p>
        </p:txBody>
      </p:sp>
      <p:sp>
        <p:nvSpPr>
          <p:cNvPr id="4" name="Text 2">
            <a:extLst>
              <a:ext uri="{FF2B5EF4-FFF2-40B4-BE49-F238E27FC236}">
                <a16:creationId xmlns:a16="http://schemas.microsoft.com/office/drawing/2014/main" id="{73C7291E-0348-7EB5-4D26-DEA3080D04E6}"/>
              </a:ext>
            </a:extLst>
          </p:cNvPr>
          <p:cNvSpPr/>
          <p:nvPr/>
        </p:nvSpPr>
        <p:spPr>
          <a:xfrm>
            <a:off x="612648" y="219456"/>
            <a:ext cx="6858000" cy="155448"/>
          </a:xfrm>
          <a:prstGeom prst="rect">
            <a:avLst/>
          </a:prstGeom>
          <a:noFill/>
          <a:ln/>
        </p:spPr>
        <p:txBody>
          <a:bodyPr wrap="square" rtlCol="0" anchor="ctr"/>
          <a:lstStyle/>
          <a:p>
            <a:pPr marL="0" indent="0">
              <a:buNone/>
            </a:pPr>
            <a:r>
              <a:rPr lang="fr-CH" sz="730" noProof="0" dirty="0">
                <a:solidFill>
                  <a:srgbClr val="586069"/>
                </a:solidFill>
              </a:rPr>
              <a:t>PÉRIMÈTRE DES DISPOSITIFS</a:t>
            </a:r>
            <a:endParaRPr lang="fr-CH" sz="730" noProof="0" dirty="0"/>
          </a:p>
        </p:txBody>
      </p:sp>
      <p:sp>
        <p:nvSpPr>
          <p:cNvPr id="6" name="Shape 3">
            <a:extLst>
              <a:ext uri="{FF2B5EF4-FFF2-40B4-BE49-F238E27FC236}">
                <a16:creationId xmlns:a16="http://schemas.microsoft.com/office/drawing/2014/main" id="{42998632-00F9-F281-C11C-37BBAFEB07F4}"/>
              </a:ext>
            </a:extLst>
          </p:cNvPr>
          <p:cNvSpPr/>
          <p:nvPr/>
        </p:nvSpPr>
        <p:spPr>
          <a:xfrm>
            <a:off x="594360" y="987552"/>
            <a:ext cx="10972800" cy="0"/>
          </a:xfrm>
          <a:prstGeom prst="line">
            <a:avLst/>
          </a:prstGeom>
          <a:noFill/>
          <a:ln w="12700">
            <a:solidFill>
              <a:srgbClr val="D9E1F2"/>
            </a:solidFill>
            <a:prstDash val="solid"/>
          </a:ln>
        </p:spPr>
        <p:txBody>
          <a:bodyPr/>
          <a:lstStyle/>
          <a:p>
            <a:endParaRPr lang="fr-CH" noProof="0" dirty="0"/>
          </a:p>
        </p:txBody>
      </p:sp>
      <p:sp>
        <p:nvSpPr>
          <p:cNvPr id="7" name="Text 4">
            <a:extLst>
              <a:ext uri="{FF2B5EF4-FFF2-40B4-BE49-F238E27FC236}">
                <a16:creationId xmlns:a16="http://schemas.microsoft.com/office/drawing/2014/main" id="{81FBB2EA-1067-B82B-68B5-B2D6F9683502}"/>
              </a:ext>
            </a:extLst>
          </p:cNvPr>
          <p:cNvSpPr/>
          <p:nvPr/>
        </p:nvSpPr>
        <p:spPr>
          <a:xfrm>
            <a:off x="594360" y="6510528"/>
            <a:ext cx="6583680" cy="164592"/>
          </a:xfrm>
          <a:prstGeom prst="rect">
            <a:avLst/>
          </a:prstGeom>
          <a:noFill/>
          <a:ln/>
        </p:spPr>
        <p:txBody>
          <a:bodyPr wrap="square" rtlCol="0" anchor="ctr"/>
          <a:lstStyle/>
          <a:p>
            <a:pPr marL="0" indent="0">
              <a:buNone/>
            </a:pPr>
            <a:r>
              <a:rPr lang="fr-CH" sz="750" noProof="0" dirty="0">
                <a:solidFill>
                  <a:srgbClr val="586069"/>
                </a:solidFill>
                <a:latin typeface="Arial" pitchFamily="34" charset="0"/>
                <a:ea typeface="Arial" pitchFamily="34" charset="-122"/>
                <a:cs typeface="Arial" pitchFamily="34" charset="-120"/>
              </a:rPr>
              <a:t>Faire avancer la justice sociale, promouvoir le travail décent</a:t>
            </a:r>
            <a:endParaRPr lang="fr-CH" sz="750" noProof="0" dirty="0"/>
          </a:p>
        </p:txBody>
      </p:sp>
      <p:sp>
        <p:nvSpPr>
          <p:cNvPr id="8" name="Text 5">
            <a:extLst>
              <a:ext uri="{FF2B5EF4-FFF2-40B4-BE49-F238E27FC236}">
                <a16:creationId xmlns:a16="http://schemas.microsoft.com/office/drawing/2014/main" id="{A8DCE785-DB15-818B-231B-DF7194D48D50}"/>
              </a:ext>
            </a:extLst>
          </p:cNvPr>
          <p:cNvSpPr/>
          <p:nvPr/>
        </p:nvSpPr>
        <p:spPr>
          <a:xfrm>
            <a:off x="7543800" y="6510528"/>
            <a:ext cx="3017520" cy="164592"/>
          </a:xfrm>
          <a:prstGeom prst="rect">
            <a:avLst/>
          </a:prstGeom>
          <a:noFill/>
          <a:ln/>
        </p:spPr>
        <p:txBody>
          <a:bodyPr wrap="square" rtlCol="0" anchor="ctr"/>
          <a:lstStyle/>
          <a:p>
            <a:pPr marL="0" indent="0" algn="r">
              <a:buNone/>
            </a:pPr>
            <a:r>
              <a:rPr lang="fr-CH" sz="730" noProof="0" dirty="0">
                <a:solidFill>
                  <a:srgbClr val="586069"/>
                </a:solidFill>
                <a:latin typeface="Arial" pitchFamily="34" charset="0"/>
                <a:ea typeface="Arial" pitchFamily="34" charset="-122"/>
                <a:cs typeface="Arial" pitchFamily="34" charset="-120"/>
              </a:rPr>
              <a:t>Atelier 2e Bulletin Statistique RDC | 14 mai 2026</a:t>
            </a:r>
            <a:endParaRPr lang="fr-CH" sz="730" noProof="0" dirty="0"/>
          </a:p>
        </p:txBody>
      </p:sp>
      <p:sp>
        <p:nvSpPr>
          <p:cNvPr id="9" name="Text 6">
            <a:extLst>
              <a:ext uri="{FF2B5EF4-FFF2-40B4-BE49-F238E27FC236}">
                <a16:creationId xmlns:a16="http://schemas.microsoft.com/office/drawing/2014/main" id="{0B597AAA-F98E-DC8C-F301-2D001C5C1648}"/>
              </a:ext>
            </a:extLst>
          </p:cNvPr>
          <p:cNvSpPr/>
          <p:nvPr/>
        </p:nvSpPr>
        <p:spPr>
          <a:xfrm>
            <a:off x="11292840" y="6473952"/>
            <a:ext cx="411480" cy="201168"/>
          </a:xfrm>
          <a:prstGeom prst="rect">
            <a:avLst/>
          </a:prstGeom>
          <a:noFill/>
          <a:ln/>
        </p:spPr>
        <p:txBody>
          <a:bodyPr wrap="square" lIns="27432" tIns="18288" rIns="27432" bIns="18288" rtlCol="0" anchor="ctr"/>
          <a:lstStyle/>
          <a:p>
            <a:pPr marL="0" indent="0" algn="r">
              <a:buNone/>
            </a:pPr>
            <a:r>
              <a:rPr lang="fr-CH" sz="850" b="0" noProof="0" dirty="0">
                <a:solidFill>
                  <a:srgbClr val="505050"/>
                </a:solidFill>
                <a:latin typeface="Arial"/>
              </a:rPr>
              <a:t>8</a:t>
            </a:r>
            <a:endParaRPr lang="fr-CH" sz="750" noProof="0" dirty="0"/>
          </a:p>
        </p:txBody>
      </p:sp>
      <p:graphicFrame>
        <p:nvGraphicFramePr>
          <p:cNvPr id="10" name="Table 0">
            <a:extLst>
              <a:ext uri="{FF2B5EF4-FFF2-40B4-BE49-F238E27FC236}">
                <a16:creationId xmlns:a16="http://schemas.microsoft.com/office/drawing/2014/main" id="{66BA3002-D216-7A97-1CE7-C271C0119AAE}"/>
              </a:ext>
            </a:extLst>
          </p:cNvPr>
          <p:cNvGraphicFramePr>
            <a:graphicFrameLocks noGrp="1"/>
          </p:cNvGraphicFramePr>
          <p:nvPr>
            <p:extLst>
              <p:ext uri="{D42A27DB-BD31-4B8C-83A1-F6EECF244321}">
                <p14:modId xmlns:p14="http://schemas.microsoft.com/office/powerpoint/2010/main" val="2661058813"/>
              </p:ext>
            </p:extLst>
          </p:nvPr>
        </p:nvGraphicFramePr>
        <p:xfrm>
          <a:off x="777240" y="1554480"/>
          <a:ext cx="10789920" cy="2148840"/>
        </p:xfrm>
        <a:graphic>
          <a:graphicData uri="http://schemas.openxmlformats.org/drawingml/2006/table">
            <a:tbl>
              <a:tblPr/>
              <a:tblGrid>
                <a:gridCol w="246888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tblGrid>
              <a:tr h="716280">
                <a:tc>
                  <a:txBody>
                    <a:bodyPr/>
                    <a:lstStyle/>
                    <a:p>
                      <a:pPr marL="0" indent="0">
                        <a:buNone/>
                      </a:pPr>
                      <a:r>
                        <a:rPr lang="fr-CH" sz="1050" b="1" noProof="0" dirty="0">
                          <a:solidFill>
                            <a:srgbClr val="FFFFFF"/>
                          </a:solidFill>
                        </a:rPr>
                        <a:t>Type</a:t>
                      </a:r>
                      <a:endParaRPr lang="fr-CH" sz="1050" noProof="0" dirty="0"/>
                    </a:p>
                  </a:txBody>
                  <a:tcPr marL="54864" marR="54864" marT="54864" marB="54864">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1428A0"/>
                    </a:solidFill>
                  </a:tcPr>
                </a:tc>
                <a:tc>
                  <a:txBody>
                    <a:bodyPr/>
                    <a:lstStyle/>
                    <a:p>
                      <a:pPr marL="0" indent="0">
                        <a:buNone/>
                      </a:pPr>
                      <a:r>
                        <a:rPr lang="fr-CH" sz="1050" b="1" noProof="0" dirty="0">
                          <a:solidFill>
                            <a:srgbClr val="FFFFFF"/>
                          </a:solidFill>
                        </a:rPr>
                        <a:t>Logique</a:t>
                      </a:r>
                      <a:endParaRPr lang="fr-CH" sz="1050" noProof="0" dirty="0"/>
                    </a:p>
                  </a:txBody>
                  <a:tcPr marL="54864" marR="54864" marT="54864" marB="54864">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1428A0"/>
                    </a:solidFill>
                  </a:tcPr>
                </a:tc>
                <a:tc>
                  <a:txBody>
                    <a:bodyPr/>
                    <a:lstStyle/>
                    <a:p>
                      <a:pPr marL="0" indent="0">
                        <a:buNone/>
                      </a:pPr>
                      <a:r>
                        <a:rPr lang="fr-CH" sz="1050" b="1" noProof="0" dirty="0">
                          <a:solidFill>
                            <a:srgbClr val="FFFFFF"/>
                          </a:solidFill>
                        </a:rPr>
                        <a:t>Données attendues</a:t>
                      </a:r>
                      <a:endParaRPr lang="fr-CH" sz="1050" noProof="0" dirty="0"/>
                    </a:p>
                  </a:txBody>
                  <a:tcPr marL="54864" marR="54864" marT="54864" marB="54864">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1428A0"/>
                    </a:solidFill>
                  </a:tcPr>
                </a:tc>
                <a:extLst>
                  <a:ext uri="{0D108BD9-81ED-4DB2-BD59-A6C34878D82A}">
                    <a16:rowId xmlns:a16="http://schemas.microsoft.com/office/drawing/2014/main" val="10000"/>
                  </a:ext>
                </a:extLst>
              </a:tr>
              <a:tr h="716280">
                <a:tc>
                  <a:txBody>
                    <a:bodyPr/>
                    <a:lstStyle/>
                    <a:p>
                      <a:pPr marL="0" indent="0">
                        <a:buNone/>
                      </a:pPr>
                      <a:r>
                        <a:rPr lang="fr-CH" sz="1050" b="1" noProof="0" dirty="0">
                          <a:solidFill>
                            <a:srgbClr val="1428A0"/>
                          </a:solidFill>
                        </a:rPr>
                        <a:t>Couverture légale</a:t>
                      </a:r>
                      <a:endParaRPr lang="fr-CH" sz="105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FFFFF"/>
                    </a:solidFill>
                  </a:tcPr>
                </a:tc>
                <a:tc>
                  <a:txBody>
                    <a:bodyPr/>
                    <a:lstStyle/>
                    <a:p>
                      <a:pPr marL="0" indent="0">
                        <a:buNone/>
                      </a:pPr>
                      <a:r>
                        <a:rPr lang="fr-FR" sz="1050" noProof="0" dirty="0">
                          <a:solidFill>
                            <a:srgbClr val="1F2933"/>
                          </a:solidFill>
                        </a:rPr>
                        <a:t>Protection prévue par le cadre légal ou réglementaire, définissant les catégories de population ayant droit à une prestation ou à une affiliation à un régime de protection sociale.</a:t>
                      </a:r>
                      <a:endParaRPr lang="fr-CH" sz="105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FFFFF"/>
                    </a:solidFill>
                  </a:tcPr>
                </a:tc>
                <a:tc>
                  <a:txBody>
                    <a:bodyPr/>
                    <a:lstStyle/>
                    <a:p>
                      <a:pPr marL="0" indent="0">
                        <a:buNone/>
                      </a:pPr>
                      <a:r>
                        <a:rPr lang="fr-FR" sz="1050" noProof="0" dirty="0">
                          <a:solidFill>
                            <a:srgbClr val="1F2933"/>
                          </a:solidFill>
                        </a:rPr>
                        <a:t>Population couverte par la loi, critères d’éligibilité, catégories protégées, nature des prestations prévues</a:t>
                      </a:r>
                      <a:endParaRPr lang="fr-CH" sz="105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6280">
                <a:tc>
                  <a:txBody>
                    <a:bodyPr/>
                    <a:lstStyle/>
                    <a:p>
                      <a:pPr marL="0" indent="0">
                        <a:buNone/>
                      </a:pPr>
                      <a:r>
                        <a:rPr lang="fr-CH" sz="1050" b="1" noProof="0" dirty="0">
                          <a:solidFill>
                            <a:srgbClr val="1428A0"/>
                          </a:solidFill>
                        </a:rPr>
                        <a:t>Couverture effective</a:t>
                      </a:r>
                      <a:endParaRPr lang="fr-CH" sz="105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4F7FB"/>
                    </a:solidFill>
                  </a:tcPr>
                </a:tc>
                <a:tc>
                  <a:txBody>
                    <a:bodyPr/>
                    <a:lstStyle/>
                    <a:p>
                      <a:pPr marL="0" indent="0">
                        <a:buNone/>
                      </a:pPr>
                      <a:r>
                        <a:rPr lang="fr-FR" sz="1050" noProof="0" dirty="0" err="1">
                          <a:solidFill>
                            <a:srgbClr val="1F2933"/>
                          </a:solidFill>
                        </a:rPr>
                        <a:t>effectiveProtection</a:t>
                      </a:r>
                      <a:r>
                        <a:rPr lang="fr-FR" sz="1050" noProof="0" dirty="0">
                          <a:solidFill>
                            <a:srgbClr val="1F2933"/>
                          </a:solidFill>
                        </a:rPr>
                        <a:t> réellement fournie et utilisée par la population, mesurée à travers les personnes effectivement affiliées, cotisantes ou bénéficiaires de prestations.</a:t>
                      </a:r>
                      <a:endParaRPr lang="fr-CH" sz="105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4F7FB"/>
                    </a:solidFill>
                  </a:tcPr>
                </a:tc>
                <a:tc>
                  <a:txBody>
                    <a:bodyPr/>
                    <a:lstStyle/>
                    <a:p>
                      <a:pPr marL="0" indent="0">
                        <a:buNone/>
                      </a:pPr>
                      <a:r>
                        <a:rPr lang="fr-FR" sz="1050" noProof="0" dirty="0">
                          <a:solidFill>
                            <a:srgbClr val="1F2933"/>
                          </a:solidFill>
                        </a:rPr>
                        <a:t>Affiliés, cotisants, bénéficiaires effectifs, prestations versées, utilisation réelle des services</a:t>
                      </a:r>
                      <a:endParaRPr lang="fr-CH" sz="105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4F7FB"/>
                    </a:solidFill>
                  </a:tcPr>
                </a:tc>
                <a:extLst>
                  <a:ext uri="{0D108BD9-81ED-4DB2-BD59-A6C34878D82A}">
                    <a16:rowId xmlns:a16="http://schemas.microsoft.com/office/drawing/2014/main" val="10002"/>
                  </a:ext>
                </a:extLst>
              </a:tr>
            </a:tbl>
          </a:graphicData>
        </a:graphic>
      </p:graphicFrame>
      <p:sp>
        <p:nvSpPr>
          <p:cNvPr id="11" name="Shape 7">
            <a:extLst>
              <a:ext uri="{FF2B5EF4-FFF2-40B4-BE49-F238E27FC236}">
                <a16:creationId xmlns:a16="http://schemas.microsoft.com/office/drawing/2014/main" id="{AE70F0C9-7B93-CDD0-6169-4B77A56008F4}"/>
              </a:ext>
            </a:extLst>
          </p:cNvPr>
          <p:cNvSpPr/>
          <p:nvPr/>
        </p:nvSpPr>
        <p:spPr>
          <a:xfrm>
            <a:off x="1051560" y="4544568"/>
            <a:ext cx="10241280" cy="914400"/>
          </a:xfrm>
          <a:prstGeom prst="roundRect">
            <a:avLst/>
          </a:prstGeom>
          <a:solidFill>
            <a:srgbClr val="F4F7FC"/>
          </a:solidFill>
          <a:ln w="12700">
            <a:solidFill>
              <a:srgbClr val="D5DDF0"/>
            </a:solidFill>
            <a:prstDash val="solid"/>
          </a:ln>
        </p:spPr>
        <p:txBody>
          <a:bodyPr/>
          <a:lstStyle/>
          <a:p>
            <a:endParaRPr lang="fr-CH" noProof="0" dirty="0"/>
          </a:p>
        </p:txBody>
      </p:sp>
      <p:sp>
        <p:nvSpPr>
          <p:cNvPr id="12" name="Text 8">
            <a:extLst>
              <a:ext uri="{FF2B5EF4-FFF2-40B4-BE49-F238E27FC236}">
                <a16:creationId xmlns:a16="http://schemas.microsoft.com/office/drawing/2014/main" id="{4B79926A-BECA-417E-4101-FA616E7AEF3E}"/>
              </a:ext>
            </a:extLst>
          </p:cNvPr>
          <p:cNvSpPr/>
          <p:nvPr/>
        </p:nvSpPr>
        <p:spPr>
          <a:xfrm>
            <a:off x="1188720" y="4526280"/>
            <a:ext cx="9784080" cy="914400"/>
          </a:xfrm>
          <a:prstGeom prst="rect">
            <a:avLst/>
          </a:prstGeom>
          <a:noFill/>
          <a:ln/>
        </p:spPr>
        <p:txBody>
          <a:bodyPr wrap="square" rtlCol="0" anchor="ctr"/>
          <a:lstStyle/>
          <a:p>
            <a:pPr marL="0" indent="0" algn="ctr">
              <a:buNone/>
            </a:pPr>
            <a:r>
              <a:rPr lang="fr-FR" sz="1400" b="1" noProof="0" dirty="0">
                <a:solidFill>
                  <a:srgbClr val="1428A0"/>
                </a:solidFill>
              </a:rPr>
              <a:t>Dans le cadre de ce bulletin, l’accent est mis principalement sur la couverture effective, c’est-à-dire la population réellement couverte ou bénéficiant effectivement des prestations de protection sociale. La couverture légale pourra être mobilisée de manière complémentaire pour contextualiser l’existence des droits et dispositifs prévus par les textes légaux et réglementaires.</a:t>
            </a:r>
            <a:endParaRPr lang="fr-CH" sz="1400" noProof="0" dirty="0"/>
          </a:p>
        </p:txBody>
      </p:sp>
      <p:pic>
        <p:nvPicPr>
          <p:cNvPr id="13" name="Image 0" descr="/mnt/data/ref_unzip/ppt/media/image1.png">
            <a:extLst>
              <a:ext uri="{FF2B5EF4-FFF2-40B4-BE49-F238E27FC236}">
                <a16:creationId xmlns:a16="http://schemas.microsoft.com/office/drawing/2014/main" id="{4453AED1-E898-E72B-A65B-967DF7F16899}"/>
              </a:ext>
            </a:extLst>
          </p:cNvPr>
          <p:cNvPicPr>
            <a:picLocks noChangeAspect="1"/>
          </p:cNvPicPr>
          <p:nvPr/>
        </p:nvPicPr>
        <p:blipFill>
          <a:blip r:embed="rId3"/>
          <a:stretch>
            <a:fillRect/>
          </a:stretch>
        </p:blipFill>
        <p:spPr>
          <a:xfrm>
            <a:off x="10088880" y="357645"/>
            <a:ext cx="1508760" cy="520522"/>
          </a:xfrm>
          <a:prstGeom prst="rect">
            <a:avLst/>
          </a:prstGeom>
        </p:spPr>
      </p:pic>
    </p:spTree>
    <p:extLst>
      <p:ext uri="{BB962C8B-B14F-4D97-AF65-F5344CB8AC3E}">
        <p14:creationId xmlns:p14="http://schemas.microsoft.com/office/powerpoint/2010/main" val="38355339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428A0"/>
          </a:solidFill>
          <a:ln w="12700">
            <a:solidFill>
              <a:srgbClr val="1428A0"/>
            </a:solidFill>
            <a:prstDash val="solid"/>
          </a:ln>
        </p:spPr>
        <p:txBody>
          <a:bodyPr/>
          <a:lstStyle/>
          <a:p>
            <a:endParaRPr lang="fr-CH" noProof="0" dirty="0"/>
          </a:p>
        </p:txBody>
      </p:sp>
      <p:sp>
        <p:nvSpPr>
          <p:cNvPr id="3" name="Text 1"/>
          <p:cNvSpPr/>
          <p:nvPr/>
        </p:nvSpPr>
        <p:spPr>
          <a:xfrm>
            <a:off x="594360" y="420624"/>
            <a:ext cx="8686800" cy="411480"/>
          </a:xfrm>
          <a:prstGeom prst="rect">
            <a:avLst/>
          </a:prstGeom>
          <a:noFill/>
          <a:ln/>
        </p:spPr>
        <p:txBody>
          <a:bodyPr wrap="square" rtlCol="0" anchor="ctr">
            <a:normAutofit fontScale="92500" lnSpcReduction="10000"/>
          </a:bodyPr>
          <a:lstStyle/>
          <a:p>
            <a:pPr marL="0" indent="0">
              <a:buNone/>
            </a:pPr>
            <a:r>
              <a:rPr lang="fr-CH" sz="2400" b="1" noProof="0" dirty="0">
                <a:solidFill>
                  <a:srgbClr val="1428A0"/>
                </a:solidFill>
                <a:latin typeface="Arial" pitchFamily="34" charset="0"/>
                <a:ea typeface="Arial" pitchFamily="34" charset="-122"/>
                <a:cs typeface="Arial" pitchFamily="34" charset="-120"/>
              </a:rPr>
              <a:t>Comment lire un indicateur ?</a:t>
            </a:r>
            <a:endParaRPr lang="fr-CH" sz="2400" noProof="0" dirty="0"/>
          </a:p>
        </p:txBody>
      </p:sp>
      <p:sp>
        <p:nvSpPr>
          <p:cNvPr id="4" name="Text 2"/>
          <p:cNvSpPr/>
          <p:nvPr/>
        </p:nvSpPr>
        <p:spPr>
          <a:xfrm>
            <a:off x="612648" y="219456"/>
            <a:ext cx="6858000" cy="155448"/>
          </a:xfrm>
          <a:prstGeom prst="rect">
            <a:avLst/>
          </a:prstGeom>
          <a:noFill/>
          <a:ln/>
        </p:spPr>
        <p:txBody>
          <a:bodyPr wrap="square" rtlCol="0" anchor="ctr"/>
          <a:lstStyle/>
          <a:p>
            <a:pPr marL="0" indent="0">
              <a:buNone/>
            </a:pPr>
            <a:r>
              <a:rPr lang="fr-CH" sz="730" noProof="0" dirty="0">
                <a:solidFill>
                  <a:srgbClr val="586069"/>
                </a:solidFill>
              </a:rPr>
              <a:t>MÉTHODE</a:t>
            </a:r>
            <a:endParaRPr lang="fr-CH" sz="730" noProof="0" dirty="0"/>
          </a:p>
        </p:txBody>
      </p:sp>
      <p:sp>
        <p:nvSpPr>
          <p:cNvPr id="6" name="Shape 3"/>
          <p:cNvSpPr/>
          <p:nvPr/>
        </p:nvSpPr>
        <p:spPr>
          <a:xfrm>
            <a:off x="594360" y="987552"/>
            <a:ext cx="10972800" cy="0"/>
          </a:xfrm>
          <a:prstGeom prst="line">
            <a:avLst/>
          </a:prstGeom>
          <a:noFill/>
          <a:ln w="12700">
            <a:solidFill>
              <a:srgbClr val="D9E1F2"/>
            </a:solidFill>
            <a:prstDash val="solid"/>
          </a:ln>
        </p:spPr>
        <p:txBody>
          <a:bodyPr/>
          <a:lstStyle/>
          <a:p>
            <a:endParaRPr lang="fr-CH" noProof="0" dirty="0"/>
          </a:p>
        </p:txBody>
      </p:sp>
      <p:sp>
        <p:nvSpPr>
          <p:cNvPr id="7" name="Text 4"/>
          <p:cNvSpPr/>
          <p:nvPr/>
        </p:nvSpPr>
        <p:spPr>
          <a:xfrm>
            <a:off x="594360" y="6510528"/>
            <a:ext cx="6583680" cy="164592"/>
          </a:xfrm>
          <a:prstGeom prst="rect">
            <a:avLst/>
          </a:prstGeom>
          <a:noFill/>
          <a:ln/>
        </p:spPr>
        <p:txBody>
          <a:bodyPr wrap="square" rtlCol="0" anchor="ctr"/>
          <a:lstStyle/>
          <a:p>
            <a:pPr marL="0" indent="0">
              <a:buNone/>
            </a:pPr>
            <a:r>
              <a:rPr lang="fr-CH" sz="750" noProof="0" dirty="0">
                <a:solidFill>
                  <a:srgbClr val="586069"/>
                </a:solidFill>
                <a:latin typeface="Arial" pitchFamily="34" charset="0"/>
                <a:ea typeface="Arial" pitchFamily="34" charset="-122"/>
                <a:cs typeface="Arial" pitchFamily="34" charset="-120"/>
              </a:rPr>
              <a:t>Faire avancer la justice sociale, promouvoir le travail décent</a:t>
            </a:r>
            <a:endParaRPr lang="fr-CH" sz="750" noProof="0" dirty="0"/>
          </a:p>
        </p:txBody>
      </p:sp>
      <p:sp>
        <p:nvSpPr>
          <p:cNvPr id="8" name="Text 5"/>
          <p:cNvSpPr/>
          <p:nvPr/>
        </p:nvSpPr>
        <p:spPr>
          <a:xfrm>
            <a:off x="7543800" y="6510528"/>
            <a:ext cx="3017520" cy="164592"/>
          </a:xfrm>
          <a:prstGeom prst="rect">
            <a:avLst/>
          </a:prstGeom>
          <a:noFill/>
          <a:ln/>
        </p:spPr>
        <p:txBody>
          <a:bodyPr wrap="square" rtlCol="0" anchor="ctr"/>
          <a:lstStyle/>
          <a:p>
            <a:pPr marL="0" indent="0" algn="r">
              <a:buNone/>
            </a:pPr>
            <a:r>
              <a:rPr lang="fr-CH" sz="730" noProof="0" dirty="0">
                <a:solidFill>
                  <a:srgbClr val="586069"/>
                </a:solidFill>
                <a:latin typeface="Arial" pitchFamily="34" charset="0"/>
                <a:ea typeface="Arial" pitchFamily="34" charset="-122"/>
                <a:cs typeface="Arial" pitchFamily="34" charset="-120"/>
              </a:rPr>
              <a:t>Atelier 2e Bulletin Statistique RDC | 14 mai 2026</a:t>
            </a:r>
            <a:endParaRPr lang="fr-CH" sz="730" noProof="0" dirty="0"/>
          </a:p>
        </p:txBody>
      </p:sp>
      <p:sp>
        <p:nvSpPr>
          <p:cNvPr id="9" name="Text 6"/>
          <p:cNvSpPr/>
          <p:nvPr/>
        </p:nvSpPr>
        <p:spPr>
          <a:xfrm>
            <a:off x="11292840" y="6473952"/>
            <a:ext cx="411480" cy="201168"/>
          </a:xfrm>
          <a:prstGeom prst="rect">
            <a:avLst/>
          </a:prstGeom>
          <a:noFill/>
          <a:ln/>
        </p:spPr>
        <p:txBody>
          <a:bodyPr wrap="square" lIns="27432" tIns="18288" rIns="27432" bIns="18288" rtlCol="0" anchor="ctr"/>
          <a:lstStyle/>
          <a:p>
            <a:pPr marL="0" indent="0" algn="r">
              <a:buNone/>
            </a:pPr>
            <a:r>
              <a:rPr lang="fr-CH" sz="850" b="0" noProof="0" dirty="0">
                <a:solidFill>
                  <a:srgbClr val="505050"/>
                </a:solidFill>
                <a:latin typeface="Arial"/>
              </a:rPr>
              <a:t>9</a:t>
            </a:r>
            <a:endParaRPr lang="fr-CH" sz="750" noProof="0" dirty="0"/>
          </a:p>
        </p:txBody>
      </p:sp>
      <p:graphicFrame>
        <p:nvGraphicFramePr>
          <p:cNvPr id="10" name="Table 0"/>
          <p:cNvGraphicFramePr>
            <a:graphicFrameLocks noGrp="1"/>
          </p:cNvGraphicFramePr>
          <p:nvPr>
            <p:extLst>
              <p:ext uri="{D42A27DB-BD31-4B8C-83A1-F6EECF244321}">
                <p14:modId xmlns:p14="http://schemas.microsoft.com/office/powerpoint/2010/main" val="1696327664"/>
              </p:ext>
            </p:extLst>
          </p:nvPr>
        </p:nvGraphicFramePr>
        <p:xfrm>
          <a:off x="777240" y="1234440"/>
          <a:ext cx="10789920" cy="3291840"/>
        </p:xfrm>
        <a:graphic>
          <a:graphicData uri="http://schemas.openxmlformats.org/drawingml/2006/table">
            <a:tbl>
              <a:tblPr/>
              <a:tblGrid>
                <a:gridCol w="2194560">
                  <a:extLst>
                    <a:ext uri="{9D8B030D-6E8A-4147-A177-3AD203B41FA5}">
                      <a16:colId xmlns:a16="http://schemas.microsoft.com/office/drawing/2014/main" val="20000"/>
                    </a:ext>
                  </a:extLst>
                </a:gridCol>
                <a:gridCol w="466344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548640">
                <a:tc>
                  <a:txBody>
                    <a:bodyPr/>
                    <a:lstStyle/>
                    <a:p>
                      <a:pPr marL="0" indent="0">
                        <a:buNone/>
                      </a:pPr>
                      <a:r>
                        <a:rPr lang="fr-CH" sz="890" b="1" noProof="0" dirty="0">
                          <a:solidFill>
                            <a:srgbClr val="FFFFFF"/>
                          </a:solidFill>
                        </a:rPr>
                        <a:t>Élément</a:t>
                      </a:r>
                      <a:endParaRPr lang="fr-CH" sz="890" noProof="0" dirty="0"/>
                    </a:p>
                  </a:txBody>
                  <a:tcPr marL="54864" marR="54864" marT="54864" marB="54864">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1428A0"/>
                    </a:solidFill>
                  </a:tcPr>
                </a:tc>
                <a:tc>
                  <a:txBody>
                    <a:bodyPr/>
                    <a:lstStyle/>
                    <a:p>
                      <a:pPr marL="0" indent="0">
                        <a:buNone/>
                      </a:pPr>
                      <a:r>
                        <a:rPr lang="fr-CH" sz="890" b="1" noProof="0" dirty="0">
                          <a:solidFill>
                            <a:srgbClr val="FFFFFF"/>
                          </a:solidFill>
                        </a:rPr>
                        <a:t>Question clé</a:t>
                      </a:r>
                      <a:endParaRPr lang="fr-CH" sz="890" noProof="0" dirty="0"/>
                    </a:p>
                  </a:txBody>
                  <a:tcPr marL="54864" marR="54864" marT="54864" marB="54864">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1428A0"/>
                    </a:solidFill>
                  </a:tcPr>
                </a:tc>
                <a:tc>
                  <a:txBody>
                    <a:bodyPr/>
                    <a:lstStyle/>
                    <a:p>
                      <a:pPr marL="0" indent="0">
                        <a:buNone/>
                      </a:pPr>
                      <a:r>
                        <a:rPr lang="fr-CH" sz="890" b="1" noProof="0" dirty="0">
                          <a:solidFill>
                            <a:srgbClr val="FFFFFF"/>
                          </a:solidFill>
                        </a:rPr>
                        <a:t>Source principale</a:t>
                      </a:r>
                      <a:endParaRPr lang="fr-CH" sz="890" noProof="0" dirty="0"/>
                    </a:p>
                  </a:txBody>
                  <a:tcPr marL="54864" marR="54864" marT="54864" marB="54864">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1428A0"/>
                    </a:solidFill>
                  </a:tcPr>
                </a:tc>
                <a:extLst>
                  <a:ext uri="{0D108BD9-81ED-4DB2-BD59-A6C34878D82A}">
                    <a16:rowId xmlns:a16="http://schemas.microsoft.com/office/drawing/2014/main" val="10000"/>
                  </a:ext>
                </a:extLst>
              </a:tr>
              <a:tr h="548640">
                <a:tc>
                  <a:txBody>
                    <a:bodyPr/>
                    <a:lstStyle/>
                    <a:p>
                      <a:pPr marL="0" indent="0">
                        <a:buNone/>
                      </a:pPr>
                      <a:r>
                        <a:rPr lang="fr-CH" sz="890" b="1" noProof="0" dirty="0">
                          <a:solidFill>
                            <a:srgbClr val="1428A0"/>
                          </a:solidFill>
                        </a:rPr>
                        <a:t>Définition</a:t>
                      </a:r>
                      <a:endParaRPr lang="fr-CH" sz="89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FFFFF"/>
                    </a:solidFill>
                  </a:tcPr>
                </a:tc>
                <a:tc>
                  <a:txBody>
                    <a:bodyPr/>
                    <a:lstStyle/>
                    <a:p>
                      <a:pPr marL="0" indent="0">
                        <a:buNone/>
                      </a:pPr>
                      <a:r>
                        <a:rPr lang="fr-CH" sz="890" noProof="0" dirty="0">
                          <a:solidFill>
                            <a:srgbClr val="1F2933"/>
                          </a:solidFill>
                        </a:rPr>
                        <a:t>Que mesure l’indicateur ?</a:t>
                      </a:r>
                      <a:endParaRPr lang="fr-CH" sz="89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FFFFF"/>
                    </a:solidFill>
                  </a:tcPr>
                </a:tc>
                <a:tc>
                  <a:txBody>
                    <a:bodyPr/>
                    <a:lstStyle/>
                    <a:p>
                      <a:pPr marL="0" indent="0">
                        <a:buNone/>
                      </a:pPr>
                      <a:r>
                        <a:rPr lang="fr-CH" sz="890" noProof="0" dirty="0">
                          <a:solidFill>
                            <a:srgbClr val="1F2933"/>
                          </a:solidFill>
                        </a:rPr>
                        <a:t>Référentiel OIT / ODD 1.3.1</a:t>
                      </a:r>
                      <a:endParaRPr lang="fr-CH" sz="89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fr-CH" sz="890" b="1" noProof="0" dirty="0">
                          <a:solidFill>
                            <a:srgbClr val="1428A0"/>
                          </a:solidFill>
                        </a:rPr>
                        <a:t>Numérateur</a:t>
                      </a:r>
                      <a:endParaRPr lang="fr-CH" sz="89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4F7FB"/>
                    </a:solidFill>
                  </a:tcPr>
                </a:tc>
                <a:tc>
                  <a:txBody>
                    <a:bodyPr/>
                    <a:lstStyle/>
                    <a:p>
                      <a:pPr marL="0" indent="0">
                        <a:buNone/>
                      </a:pPr>
                      <a:r>
                        <a:rPr lang="fr-CH" sz="890" noProof="0" dirty="0">
                          <a:solidFill>
                            <a:srgbClr val="1F2933"/>
                          </a:solidFill>
                        </a:rPr>
                        <a:t>Qui est effectivement couvert ou bénéficiaire ?</a:t>
                      </a:r>
                      <a:endParaRPr lang="fr-CH" sz="89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4F7FB"/>
                    </a:solidFill>
                  </a:tcPr>
                </a:tc>
                <a:tc>
                  <a:txBody>
                    <a:bodyPr/>
                    <a:lstStyle/>
                    <a:p>
                      <a:pPr marL="0" indent="0">
                        <a:buNone/>
                      </a:pPr>
                      <a:r>
                        <a:rPr lang="fr-CH" sz="890" noProof="0" dirty="0">
                          <a:solidFill>
                            <a:srgbClr val="1F2933"/>
                          </a:solidFill>
                        </a:rPr>
                        <a:t>Données administratives des institutions</a:t>
                      </a:r>
                      <a:endParaRPr lang="fr-CH" sz="89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4F7FB"/>
                    </a:solidFill>
                  </a:tcPr>
                </a:tc>
                <a:extLst>
                  <a:ext uri="{0D108BD9-81ED-4DB2-BD59-A6C34878D82A}">
                    <a16:rowId xmlns:a16="http://schemas.microsoft.com/office/drawing/2014/main" val="10002"/>
                  </a:ext>
                </a:extLst>
              </a:tr>
              <a:tr h="548640">
                <a:tc>
                  <a:txBody>
                    <a:bodyPr/>
                    <a:lstStyle/>
                    <a:p>
                      <a:pPr marL="0" indent="0">
                        <a:buNone/>
                      </a:pPr>
                      <a:r>
                        <a:rPr lang="fr-CH" sz="890" b="1" noProof="0" dirty="0">
                          <a:solidFill>
                            <a:srgbClr val="1428A0"/>
                          </a:solidFill>
                        </a:rPr>
                        <a:t>Dénominateur</a:t>
                      </a:r>
                      <a:endParaRPr lang="fr-CH" sz="89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FFFFF"/>
                    </a:solidFill>
                  </a:tcPr>
                </a:tc>
                <a:tc>
                  <a:txBody>
                    <a:bodyPr/>
                    <a:lstStyle/>
                    <a:p>
                      <a:pPr marL="0" indent="0">
                        <a:buNone/>
                      </a:pPr>
                      <a:r>
                        <a:rPr lang="fr-CH" sz="890" noProof="0" dirty="0">
                          <a:solidFill>
                            <a:srgbClr val="1F2933"/>
                          </a:solidFill>
                        </a:rPr>
                        <a:t>Quelle est la population cible de référence ?</a:t>
                      </a:r>
                      <a:endParaRPr lang="fr-CH" sz="89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FFFFF"/>
                    </a:solidFill>
                  </a:tcPr>
                </a:tc>
                <a:tc>
                  <a:txBody>
                    <a:bodyPr/>
                    <a:lstStyle/>
                    <a:p>
                      <a:pPr marL="0" indent="0">
                        <a:buNone/>
                      </a:pPr>
                      <a:r>
                        <a:rPr lang="fr-CH" sz="890" noProof="0" dirty="0">
                          <a:solidFill>
                            <a:srgbClr val="1F2933"/>
                          </a:solidFill>
                        </a:rPr>
                        <a:t>INS, recensements, enquêtes, projections, ILOSTAT, WPP</a:t>
                      </a:r>
                      <a:endParaRPr lang="fr-CH" sz="89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fr-CH" sz="890" b="1" noProof="0" dirty="0">
                          <a:solidFill>
                            <a:srgbClr val="1428A0"/>
                          </a:solidFill>
                        </a:rPr>
                        <a:t>Désagrégations</a:t>
                      </a:r>
                      <a:endParaRPr lang="fr-CH" sz="89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4F7FB"/>
                    </a:solidFill>
                  </a:tcPr>
                </a:tc>
                <a:tc>
                  <a:txBody>
                    <a:bodyPr/>
                    <a:lstStyle/>
                    <a:p>
                      <a:pPr marL="0" indent="0">
                        <a:buNone/>
                      </a:pPr>
                      <a:r>
                        <a:rPr lang="fr-CH" sz="890" noProof="0" dirty="0">
                          <a:solidFill>
                            <a:srgbClr val="1F2933"/>
                          </a:solidFill>
                        </a:rPr>
                        <a:t>Total, hommes, femmes, âge, branche, régime ?</a:t>
                      </a:r>
                      <a:endParaRPr lang="fr-CH" sz="89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4F7FB"/>
                    </a:solidFill>
                  </a:tcPr>
                </a:tc>
                <a:tc>
                  <a:txBody>
                    <a:bodyPr/>
                    <a:lstStyle/>
                    <a:p>
                      <a:pPr marL="0" indent="0">
                        <a:buNone/>
                      </a:pPr>
                      <a:r>
                        <a:rPr lang="fr-CH" sz="890" noProof="0" dirty="0">
                          <a:solidFill>
                            <a:srgbClr val="1F2933"/>
                          </a:solidFill>
                        </a:rPr>
                        <a:t>Institutions + sources statistiques</a:t>
                      </a:r>
                      <a:endParaRPr lang="fr-CH" sz="89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4F7FB"/>
                    </a:solidFill>
                  </a:tcPr>
                </a:tc>
                <a:extLst>
                  <a:ext uri="{0D108BD9-81ED-4DB2-BD59-A6C34878D82A}">
                    <a16:rowId xmlns:a16="http://schemas.microsoft.com/office/drawing/2014/main" val="10004"/>
                  </a:ext>
                </a:extLst>
              </a:tr>
              <a:tr h="548640">
                <a:tc>
                  <a:txBody>
                    <a:bodyPr/>
                    <a:lstStyle/>
                    <a:p>
                      <a:pPr marL="0" indent="0">
                        <a:buNone/>
                      </a:pPr>
                      <a:r>
                        <a:rPr lang="fr-CH" sz="890" b="1" noProof="0" dirty="0">
                          <a:solidFill>
                            <a:srgbClr val="1428A0"/>
                          </a:solidFill>
                        </a:rPr>
                        <a:t>Conditions de validité</a:t>
                      </a:r>
                      <a:endParaRPr lang="fr-CH" sz="89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FFFFF"/>
                    </a:solidFill>
                  </a:tcPr>
                </a:tc>
                <a:tc>
                  <a:txBody>
                    <a:bodyPr/>
                    <a:lstStyle/>
                    <a:p>
                      <a:pPr marL="0" indent="0">
                        <a:buNone/>
                      </a:pPr>
                      <a:r>
                        <a:rPr lang="fr-CH" sz="890" noProof="0" dirty="0">
                          <a:solidFill>
                            <a:srgbClr val="1F2933"/>
                          </a:solidFill>
                        </a:rPr>
                        <a:t>Même année, même périmètre, unité de comptage claire ?</a:t>
                      </a:r>
                      <a:endParaRPr lang="fr-CH" sz="89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FFFFF"/>
                    </a:solidFill>
                  </a:tcPr>
                </a:tc>
                <a:tc>
                  <a:txBody>
                    <a:bodyPr/>
                    <a:lstStyle/>
                    <a:p>
                      <a:pPr marL="0" indent="0">
                        <a:buNone/>
                      </a:pPr>
                      <a:r>
                        <a:rPr lang="fr-CH" sz="890" noProof="0" dirty="0">
                          <a:solidFill>
                            <a:srgbClr val="1F2933"/>
                          </a:solidFill>
                        </a:rPr>
                        <a:t>Documentation méthodologique</a:t>
                      </a:r>
                      <a:endParaRPr lang="fr-CH" sz="89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1" name="Shape 7"/>
          <p:cNvSpPr/>
          <p:nvPr/>
        </p:nvSpPr>
        <p:spPr>
          <a:xfrm>
            <a:off x="1920240" y="5074920"/>
            <a:ext cx="8321040" cy="594360"/>
          </a:xfrm>
          <a:prstGeom prst="roundRect">
            <a:avLst/>
          </a:prstGeom>
          <a:solidFill>
            <a:srgbClr val="EAF0FA"/>
          </a:solidFill>
          <a:ln w="12700">
            <a:solidFill>
              <a:srgbClr val="BFD0F0"/>
            </a:solidFill>
            <a:prstDash val="solid"/>
          </a:ln>
        </p:spPr>
        <p:txBody>
          <a:bodyPr/>
          <a:lstStyle/>
          <a:p>
            <a:endParaRPr lang="fr-CH" noProof="0" dirty="0"/>
          </a:p>
        </p:txBody>
      </p:sp>
      <p:sp>
        <p:nvSpPr>
          <p:cNvPr id="12" name="Text 8"/>
          <p:cNvSpPr/>
          <p:nvPr/>
        </p:nvSpPr>
        <p:spPr>
          <a:xfrm>
            <a:off x="2103120" y="5285232"/>
            <a:ext cx="7955280" cy="182880"/>
          </a:xfrm>
          <a:prstGeom prst="rect">
            <a:avLst/>
          </a:prstGeom>
          <a:noFill/>
          <a:ln/>
        </p:spPr>
        <p:txBody>
          <a:bodyPr wrap="square" rtlCol="0" anchor="ctr"/>
          <a:lstStyle/>
          <a:p>
            <a:pPr marL="0" indent="0" algn="ctr">
              <a:buNone/>
            </a:pPr>
            <a:r>
              <a:rPr lang="fr-CH" sz="1800" b="1" noProof="0" dirty="0">
                <a:solidFill>
                  <a:srgbClr val="1428A0"/>
                </a:solidFill>
              </a:rPr>
              <a:t>Taux de couverture = Numérateur / Dénominateur × 100</a:t>
            </a:r>
            <a:endParaRPr lang="fr-CH" sz="1800" noProof="0" dirty="0"/>
          </a:p>
        </p:txBody>
      </p:sp>
      <p:pic>
        <p:nvPicPr>
          <p:cNvPr id="13" name="Image 0" descr="/mnt/data/ref_unzip/ppt/media/image1.png">
            <a:extLst>
              <a:ext uri="{FF2B5EF4-FFF2-40B4-BE49-F238E27FC236}">
                <a16:creationId xmlns:a16="http://schemas.microsoft.com/office/drawing/2014/main" id="{2AC2B436-98D4-8E02-03AD-F8C085FB8383}"/>
              </a:ext>
            </a:extLst>
          </p:cNvPr>
          <p:cNvPicPr>
            <a:picLocks noChangeAspect="1"/>
          </p:cNvPicPr>
          <p:nvPr/>
        </p:nvPicPr>
        <p:blipFill>
          <a:blip r:embed="rId3"/>
          <a:stretch>
            <a:fillRect/>
          </a:stretch>
        </p:blipFill>
        <p:spPr>
          <a:xfrm>
            <a:off x="10088880" y="357645"/>
            <a:ext cx="1508760" cy="52052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428A0"/>
          </a:solidFill>
          <a:ln w="12700">
            <a:solidFill>
              <a:srgbClr val="1428A0"/>
            </a:solidFill>
            <a:prstDash val="solid"/>
          </a:ln>
        </p:spPr>
        <p:txBody>
          <a:bodyPr/>
          <a:lstStyle/>
          <a:p>
            <a:endParaRPr lang="fr-CH" noProof="0" dirty="0"/>
          </a:p>
        </p:txBody>
      </p:sp>
      <p:sp>
        <p:nvSpPr>
          <p:cNvPr id="3" name="Text 1"/>
          <p:cNvSpPr/>
          <p:nvPr/>
        </p:nvSpPr>
        <p:spPr>
          <a:xfrm>
            <a:off x="594360" y="420624"/>
            <a:ext cx="8686800" cy="411480"/>
          </a:xfrm>
          <a:prstGeom prst="rect">
            <a:avLst/>
          </a:prstGeom>
          <a:noFill/>
          <a:ln/>
        </p:spPr>
        <p:txBody>
          <a:bodyPr wrap="square" rtlCol="0" anchor="ctr">
            <a:normAutofit fontScale="92500" lnSpcReduction="10000"/>
          </a:bodyPr>
          <a:lstStyle/>
          <a:p>
            <a:pPr marL="0" indent="0">
              <a:buNone/>
            </a:pPr>
            <a:r>
              <a:rPr lang="fr-CH" sz="2400" b="1" noProof="0" dirty="0">
                <a:solidFill>
                  <a:srgbClr val="1428A0"/>
                </a:solidFill>
                <a:latin typeface="Arial" pitchFamily="34" charset="0"/>
                <a:ea typeface="Arial" pitchFamily="34" charset="-122"/>
                <a:cs typeface="Arial" pitchFamily="34" charset="-120"/>
              </a:rPr>
              <a:t>ODD 1.3.1 : un ensemble d’indicateurs de couverture</a:t>
            </a:r>
            <a:endParaRPr lang="fr-CH" sz="2400" noProof="0" dirty="0"/>
          </a:p>
        </p:txBody>
      </p:sp>
      <p:sp>
        <p:nvSpPr>
          <p:cNvPr id="4" name="Text 2"/>
          <p:cNvSpPr/>
          <p:nvPr/>
        </p:nvSpPr>
        <p:spPr>
          <a:xfrm>
            <a:off x="612648" y="219456"/>
            <a:ext cx="6858000" cy="155448"/>
          </a:xfrm>
          <a:prstGeom prst="rect">
            <a:avLst/>
          </a:prstGeom>
          <a:noFill/>
          <a:ln/>
        </p:spPr>
        <p:txBody>
          <a:bodyPr wrap="square" rtlCol="0" anchor="ctr"/>
          <a:lstStyle/>
          <a:p>
            <a:pPr marL="0" indent="0">
              <a:buNone/>
            </a:pPr>
            <a:r>
              <a:rPr lang="fr-CH" sz="730" noProof="0" dirty="0">
                <a:solidFill>
                  <a:srgbClr val="586069"/>
                </a:solidFill>
              </a:rPr>
              <a:t>ODD 1.3.1</a:t>
            </a:r>
            <a:endParaRPr lang="fr-CH" sz="730" noProof="0" dirty="0"/>
          </a:p>
        </p:txBody>
      </p:sp>
      <p:sp>
        <p:nvSpPr>
          <p:cNvPr id="6" name="Shape 3"/>
          <p:cNvSpPr/>
          <p:nvPr/>
        </p:nvSpPr>
        <p:spPr>
          <a:xfrm>
            <a:off x="594360" y="987552"/>
            <a:ext cx="10972800" cy="0"/>
          </a:xfrm>
          <a:prstGeom prst="line">
            <a:avLst/>
          </a:prstGeom>
          <a:noFill/>
          <a:ln w="12700">
            <a:solidFill>
              <a:srgbClr val="D9E1F2"/>
            </a:solidFill>
            <a:prstDash val="solid"/>
          </a:ln>
        </p:spPr>
        <p:txBody>
          <a:bodyPr/>
          <a:lstStyle/>
          <a:p>
            <a:endParaRPr lang="fr-CH" noProof="0" dirty="0"/>
          </a:p>
        </p:txBody>
      </p:sp>
      <p:sp>
        <p:nvSpPr>
          <p:cNvPr id="7" name="Text 4"/>
          <p:cNvSpPr/>
          <p:nvPr/>
        </p:nvSpPr>
        <p:spPr>
          <a:xfrm>
            <a:off x="594360" y="6510528"/>
            <a:ext cx="6583680" cy="164592"/>
          </a:xfrm>
          <a:prstGeom prst="rect">
            <a:avLst/>
          </a:prstGeom>
          <a:noFill/>
          <a:ln/>
        </p:spPr>
        <p:txBody>
          <a:bodyPr wrap="square" rtlCol="0" anchor="ctr"/>
          <a:lstStyle/>
          <a:p>
            <a:pPr marL="0" indent="0">
              <a:buNone/>
            </a:pPr>
            <a:r>
              <a:rPr lang="fr-CH" sz="750" noProof="0" dirty="0">
                <a:solidFill>
                  <a:srgbClr val="586069"/>
                </a:solidFill>
                <a:latin typeface="Arial" pitchFamily="34" charset="0"/>
                <a:ea typeface="Arial" pitchFamily="34" charset="-122"/>
                <a:cs typeface="Arial" pitchFamily="34" charset="-120"/>
              </a:rPr>
              <a:t>Faire avancer la justice sociale, promouvoir le travail décent</a:t>
            </a:r>
            <a:endParaRPr lang="fr-CH" sz="750" noProof="0" dirty="0"/>
          </a:p>
        </p:txBody>
      </p:sp>
      <p:sp>
        <p:nvSpPr>
          <p:cNvPr id="8" name="Text 5"/>
          <p:cNvSpPr/>
          <p:nvPr/>
        </p:nvSpPr>
        <p:spPr>
          <a:xfrm>
            <a:off x="7543800" y="6510528"/>
            <a:ext cx="3017520" cy="164592"/>
          </a:xfrm>
          <a:prstGeom prst="rect">
            <a:avLst/>
          </a:prstGeom>
          <a:noFill/>
          <a:ln/>
        </p:spPr>
        <p:txBody>
          <a:bodyPr wrap="square" rtlCol="0" anchor="ctr"/>
          <a:lstStyle/>
          <a:p>
            <a:pPr marL="0" indent="0" algn="r">
              <a:buNone/>
            </a:pPr>
            <a:r>
              <a:rPr lang="fr-CH" sz="730" noProof="0" dirty="0">
                <a:solidFill>
                  <a:srgbClr val="586069"/>
                </a:solidFill>
                <a:latin typeface="Arial" pitchFamily="34" charset="0"/>
                <a:ea typeface="Arial" pitchFamily="34" charset="-122"/>
                <a:cs typeface="Arial" pitchFamily="34" charset="-120"/>
              </a:rPr>
              <a:t>Atelier 2e Bulletin Statistique RDC | 14 mai 2026</a:t>
            </a:r>
            <a:endParaRPr lang="fr-CH" sz="730" noProof="0" dirty="0"/>
          </a:p>
        </p:txBody>
      </p:sp>
      <p:sp>
        <p:nvSpPr>
          <p:cNvPr id="9" name="Text 6"/>
          <p:cNvSpPr/>
          <p:nvPr/>
        </p:nvSpPr>
        <p:spPr>
          <a:xfrm>
            <a:off x="11292840" y="6473952"/>
            <a:ext cx="411480" cy="201168"/>
          </a:xfrm>
          <a:prstGeom prst="rect">
            <a:avLst/>
          </a:prstGeom>
          <a:noFill/>
          <a:ln/>
        </p:spPr>
        <p:txBody>
          <a:bodyPr wrap="square" lIns="27432" tIns="18288" rIns="27432" bIns="18288" rtlCol="0" anchor="ctr"/>
          <a:lstStyle/>
          <a:p>
            <a:pPr marL="0" indent="0" algn="r">
              <a:buNone/>
            </a:pPr>
            <a:r>
              <a:rPr lang="fr-CH" sz="850" b="0" noProof="0" dirty="0">
                <a:solidFill>
                  <a:srgbClr val="505050"/>
                </a:solidFill>
                <a:latin typeface="Arial"/>
              </a:rPr>
              <a:t>10</a:t>
            </a:r>
            <a:endParaRPr lang="fr-CH" sz="750" noProof="0" dirty="0"/>
          </a:p>
        </p:txBody>
      </p:sp>
      <p:sp>
        <p:nvSpPr>
          <p:cNvPr id="10" name="Text 7"/>
          <p:cNvSpPr/>
          <p:nvPr/>
        </p:nvSpPr>
        <p:spPr>
          <a:xfrm>
            <a:off x="777240" y="1170432"/>
            <a:ext cx="10881360" cy="502920"/>
          </a:xfrm>
          <a:prstGeom prst="rect">
            <a:avLst/>
          </a:prstGeom>
          <a:noFill/>
          <a:ln/>
        </p:spPr>
        <p:txBody>
          <a:bodyPr wrap="square" lIns="27432" tIns="18288" rIns="27432" bIns="18288" rtlCol="0" anchor="ctr">
            <a:normAutofit/>
          </a:bodyPr>
          <a:lstStyle/>
          <a:p>
            <a:pPr marL="0" indent="0" algn="l">
              <a:buNone/>
            </a:pPr>
            <a:r>
              <a:rPr lang="fr-CH" sz="1330" b="0" noProof="0" dirty="0">
                <a:solidFill>
                  <a:srgbClr val="262626"/>
                </a:solidFill>
                <a:latin typeface="Arial"/>
              </a:rPr>
              <a:t>L’ODD 1.3.1 mesure la couverture effective par des socles ou systèmes de protection sociale, par sexe et par groupe de population.</a:t>
            </a:r>
            <a:endParaRPr lang="fr-CH" sz="1500" noProof="0" dirty="0"/>
          </a:p>
        </p:txBody>
      </p:sp>
      <p:sp>
        <p:nvSpPr>
          <p:cNvPr id="11" name="Rounded Rectangle 10"/>
          <p:cNvSpPr/>
          <p:nvPr/>
        </p:nvSpPr>
        <p:spPr>
          <a:xfrm>
            <a:off x="777240" y="1847088"/>
            <a:ext cx="10881360" cy="566928"/>
          </a:xfrm>
          <a:prstGeom prst="roundRect">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H" noProof="0" dirty="0"/>
          </a:p>
        </p:txBody>
      </p:sp>
      <p:sp>
        <p:nvSpPr>
          <p:cNvPr id="12" name="TextBox 11"/>
          <p:cNvSpPr txBox="1"/>
          <p:nvPr/>
        </p:nvSpPr>
        <p:spPr>
          <a:xfrm>
            <a:off x="960120" y="1920240"/>
            <a:ext cx="10515600" cy="393192"/>
          </a:xfrm>
          <a:prstGeom prst="rect">
            <a:avLst/>
          </a:prstGeom>
          <a:noFill/>
        </p:spPr>
        <p:txBody>
          <a:bodyPr wrap="none" lIns="27432" tIns="18288" rIns="27432" bIns="18288" anchor="ctr">
            <a:spAutoFit/>
          </a:bodyPr>
          <a:lstStyle/>
          <a:p>
            <a:pPr algn="ctr"/>
            <a:r>
              <a:rPr lang="fr-CH" sz="1520" b="1" noProof="0" dirty="0">
                <a:solidFill>
                  <a:srgbClr val="FFFFFF"/>
                </a:solidFill>
                <a:latin typeface="Arial"/>
              </a:rPr>
              <a:t>INDICATEUR AGRÉGÉ — population couverte par au moins une prestation</a:t>
            </a:r>
          </a:p>
        </p:txBody>
      </p:sp>
      <p:sp>
        <p:nvSpPr>
          <p:cNvPr id="13" name="Rounded Rectangle 12"/>
          <p:cNvSpPr/>
          <p:nvPr/>
        </p:nvSpPr>
        <p:spPr>
          <a:xfrm>
            <a:off x="777240" y="2697480"/>
            <a:ext cx="3337560" cy="475488"/>
          </a:xfrm>
          <a:prstGeom prst="roundRect">
            <a:avLst/>
          </a:prstGeom>
          <a:solidFill>
            <a:srgbClr val="FFFFFF"/>
          </a:solidFill>
          <a:ln w="10160">
            <a:solidFill>
              <a:srgbClr val="223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H" noProof="0" dirty="0"/>
          </a:p>
        </p:txBody>
      </p:sp>
      <p:sp>
        <p:nvSpPr>
          <p:cNvPr id="14" name="Rectangle 13"/>
          <p:cNvSpPr/>
          <p:nvPr/>
        </p:nvSpPr>
        <p:spPr>
          <a:xfrm>
            <a:off x="777240" y="2697480"/>
            <a:ext cx="73152" cy="475488"/>
          </a:xfrm>
          <a:prstGeom prst="rect">
            <a:avLst/>
          </a:prstGeom>
          <a:solidFill>
            <a:schemeClr val="bg1">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H" noProof="0" dirty="0">
              <a:solidFill>
                <a:schemeClr val="bg1">
                  <a:lumMod val="50000"/>
                </a:schemeClr>
              </a:solidFill>
            </a:endParaRPr>
          </a:p>
        </p:txBody>
      </p:sp>
      <p:sp>
        <p:nvSpPr>
          <p:cNvPr id="15" name="TextBox 14"/>
          <p:cNvSpPr txBox="1"/>
          <p:nvPr/>
        </p:nvSpPr>
        <p:spPr>
          <a:xfrm>
            <a:off x="941832" y="2746710"/>
            <a:ext cx="2682587" cy="387798"/>
          </a:xfrm>
          <a:prstGeom prst="rect">
            <a:avLst/>
          </a:prstGeom>
          <a:noFill/>
        </p:spPr>
        <p:txBody>
          <a:bodyPr wrap="square" lIns="27432" tIns="18288" rIns="27432" bIns="18288" anchor="ctr">
            <a:spAutoFit/>
          </a:bodyPr>
          <a:lstStyle/>
          <a:p>
            <a:pPr algn="l"/>
            <a:r>
              <a:rPr lang="fr-CH" sz="1140" b="1" noProof="0" dirty="0">
                <a:solidFill>
                  <a:srgbClr val="262626"/>
                </a:solidFill>
                <a:latin typeface="Arial"/>
              </a:rPr>
              <a:t>Population active contribuant à un régime de pension*</a:t>
            </a:r>
          </a:p>
        </p:txBody>
      </p:sp>
      <p:sp>
        <p:nvSpPr>
          <p:cNvPr id="16" name="Rounded Rectangle 15"/>
          <p:cNvSpPr/>
          <p:nvPr/>
        </p:nvSpPr>
        <p:spPr>
          <a:xfrm>
            <a:off x="4389120" y="2697480"/>
            <a:ext cx="3337560" cy="475488"/>
          </a:xfrm>
          <a:prstGeom prst="roundRect">
            <a:avLst/>
          </a:prstGeom>
          <a:solidFill>
            <a:srgbClr val="FFFFFF"/>
          </a:solidFill>
          <a:ln w="10160">
            <a:solidFill>
              <a:srgbClr val="223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H" noProof="0" dirty="0"/>
          </a:p>
        </p:txBody>
      </p:sp>
      <p:sp>
        <p:nvSpPr>
          <p:cNvPr id="17" name="Rectangle 16"/>
          <p:cNvSpPr/>
          <p:nvPr/>
        </p:nvSpPr>
        <p:spPr>
          <a:xfrm>
            <a:off x="4389120" y="2697480"/>
            <a:ext cx="73152" cy="475488"/>
          </a:xfrm>
          <a:prstGeom prst="rect">
            <a:avLst/>
          </a:prstGeom>
          <a:solidFill>
            <a:srgbClr val="223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H" noProof="0" dirty="0"/>
          </a:p>
        </p:txBody>
      </p:sp>
      <p:sp>
        <p:nvSpPr>
          <p:cNvPr id="18" name="TextBox 17"/>
          <p:cNvSpPr txBox="1"/>
          <p:nvPr/>
        </p:nvSpPr>
        <p:spPr>
          <a:xfrm>
            <a:off x="4553712" y="2818268"/>
            <a:ext cx="1158931" cy="233910"/>
          </a:xfrm>
          <a:prstGeom prst="rect">
            <a:avLst/>
          </a:prstGeom>
          <a:noFill/>
        </p:spPr>
        <p:txBody>
          <a:bodyPr wrap="square" lIns="27432" tIns="18288" rIns="27432" bIns="18288" anchor="ctr">
            <a:spAutoFit/>
          </a:bodyPr>
          <a:lstStyle/>
          <a:p>
            <a:pPr algn="l"/>
            <a:r>
              <a:rPr lang="fr-CH" sz="1280" b="1" noProof="0" dirty="0">
                <a:solidFill>
                  <a:srgbClr val="262626"/>
                </a:solidFill>
                <a:latin typeface="Arial"/>
              </a:rPr>
              <a:t>Enfants</a:t>
            </a:r>
          </a:p>
        </p:txBody>
      </p:sp>
      <p:sp>
        <p:nvSpPr>
          <p:cNvPr id="19" name="Rounded Rectangle 18"/>
          <p:cNvSpPr/>
          <p:nvPr/>
        </p:nvSpPr>
        <p:spPr>
          <a:xfrm>
            <a:off x="8001000" y="2697480"/>
            <a:ext cx="3337560" cy="475488"/>
          </a:xfrm>
          <a:prstGeom prst="roundRect">
            <a:avLst/>
          </a:prstGeom>
          <a:solidFill>
            <a:srgbClr val="FFFFFF"/>
          </a:solidFill>
          <a:ln w="10160">
            <a:solidFill>
              <a:srgbClr val="223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H" noProof="0" dirty="0"/>
          </a:p>
        </p:txBody>
      </p:sp>
      <p:sp>
        <p:nvSpPr>
          <p:cNvPr id="20" name="Rectangle 19"/>
          <p:cNvSpPr/>
          <p:nvPr/>
        </p:nvSpPr>
        <p:spPr>
          <a:xfrm>
            <a:off x="8001000" y="2697480"/>
            <a:ext cx="73152" cy="475488"/>
          </a:xfrm>
          <a:prstGeom prst="rect">
            <a:avLst/>
          </a:prstGeom>
          <a:solidFill>
            <a:srgbClr val="223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H" noProof="0" dirty="0"/>
          </a:p>
        </p:txBody>
      </p:sp>
      <p:sp>
        <p:nvSpPr>
          <p:cNvPr id="21" name="TextBox 20"/>
          <p:cNvSpPr txBox="1"/>
          <p:nvPr/>
        </p:nvSpPr>
        <p:spPr>
          <a:xfrm>
            <a:off x="8165592" y="2715768"/>
            <a:ext cx="3081528" cy="438912"/>
          </a:xfrm>
          <a:prstGeom prst="rect">
            <a:avLst/>
          </a:prstGeom>
          <a:noFill/>
        </p:spPr>
        <p:txBody>
          <a:bodyPr wrap="none" lIns="27432" tIns="18288" rIns="27432" bIns="18288" anchor="ctr">
            <a:spAutoFit/>
          </a:bodyPr>
          <a:lstStyle/>
          <a:p>
            <a:pPr algn="l"/>
            <a:r>
              <a:rPr lang="fr-CH" sz="1280" b="1" noProof="0" dirty="0">
                <a:solidFill>
                  <a:srgbClr val="262626"/>
                </a:solidFill>
                <a:latin typeface="Arial"/>
              </a:rPr>
              <a:t>Maternité</a:t>
            </a:r>
          </a:p>
        </p:txBody>
      </p:sp>
      <p:sp>
        <p:nvSpPr>
          <p:cNvPr id="22" name="Rounded Rectangle 21"/>
          <p:cNvSpPr/>
          <p:nvPr/>
        </p:nvSpPr>
        <p:spPr>
          <a:xfrm>
            <a:off x="777240" y="3310128"/>
            <a:ext cx="3337560" cy="475488"/>
          </a:xfrm>
          <a:prstGeom prst="roundRect">
            <a:avLst/>
          </a:prstGeom>
          <a:solidFill>
            <a:srgbClr val="FFFFFF"/>
          </a:solidFill>
          <a:ln w="10160">
            <a:solidFill>
              <a:srgbClr val="223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H" noProof="0" dirty="0"/>
          </a:p>
        </p:txBody>
      </p:sp>
      <p:sp>
        <p:nvSpPr>
          <p:cNvPr id="23" name="Rectangle 22"/>
          <p:cNvSpPr/>
          <p:nvPr/>
        </p:nvSpPr>
        <p:spPr>
          <a:xfrm>
            <a:off x="777240" y="3310128"/>
            <a:ext cx="73152" cy="475488"/>
          </a:xfrm>
          <a:prstGeom prst="rect">
            <a:avLst/>
          </a:prstGeom>
          <a:solidFill>
            <a:srgbClr val="223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H" noProof="0" dirty="0"/>
          </a:p>
        </p:txBody>
      </p:sp>
      <p:sp>
        <p:nvSpPr>
          <p:cNvPr id="24" name="TextBox 23"/>
          <p:cNvSpPr txBox="1"/>
          <p:nvPr/>
        </p:nvSpPr>
        <p:spPr>
          <a:xfrm>
            <a:off x="941832" y="3328416"/>
            <a:ext cx="3081528" cy="438912"/>
          </a:xfrm>
          <a:prstGeom prst="rect">
            <a:avLst/>
          </a:prstGeom>
          <a:noFill/>
        </p:spPr>
        <p:txBody>
          <a:bodyPr wrap="none" lIns="27432" tIns="18288" rIns="27432" bIns="18288" anchor="ctr">
            <a:spAutoFit/>
          </a:bodyPr>
          <a:lstStyle/>
          <a:p>
            <a:pPr algn="l"/>
            <a:r>
              <a:rPr lang="fr-CH" sz="1280" b="1" noProof="0" dirty="0">
                <a:solidFill>
                  <a:srgbClr val="262626"/>
                </a:solidFill>
                <a:latin typeface="Arial"/>
              </a:rPr>
              <a:t>Chômage</a:t>
            </a:r>
          </a:p>
        </p:txBody>
      </p:sp>
      <p:sp>
        <p:nvSpPr>
          <p:cNvPr id="25" name="Rounded Rectangle 24"/>
          <p:cNvSpPr/>
          <p:nvPr/>
        </p:nvSpPr>
        <p:spPr>
          <a:xfrm>
            <a:off x="4389120" y="3310128"/>
            <a:ext cx="3337560" cy="475488"/>
          </a:xfrm>
          <a:prstGeom prst="roundRect">
            <a:avLst/>
          </a:prstGeom>
          <a:solidFill>
            <a:srgbClr val="FFFFFF"/>
          </a:solidFill>
          <a:ln w="10160">
            <a:solidFill>
              <a:srgbClr val="223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H" noProof="0" dirty="0"/>
          </a:p>
        </p:txBody>
      </p:sp>
      <p:sp>
        <p:nvSpPr>
          <p:cNvPr id="26" name="Rectangle 25"/>
          <p:cNvSpPr/>
          <p:nvPr/>
        </p:nvSpPr>
        <p:spPr>
          <a:xfrm>
            <a:off x="4389120" y="3310128"/>
            <a:ext cx="73152" cy="475488"/>
          </a:xfrm>
          <a:prstGeom prst="rect">
            <a:avLst/>
          </a:prstGeom>
          <a:solidFill>
            <a:srgbClr val="223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H" noProof="0" dirty="0"/>
          </a:p>
        </p:txBody>
      </p:sp>
      <p:sp>
        <p:nvSpPr>
          <p:cNvPr id="27" name="TextBox 26"/>
          <p:cNvSpPr txBox="1"/>
          <p:nvPr/>
        </p:nvSpPr>
        <p:spPr>
          <a:xfrm>
            <a:off x="4553712" y="3328416"/>
            <a:ext cx="3081528" cy="438912"/>
          </a:xfrm>
          <a:prstGeom prst="rect">
            <a:avLst/>
          </a:prstGeom>
          <a:noFill/>
        </p:spPr>
        <p:txBody>
          <a:bodyPr wrap="none" lIns="27432" tIns="18288" rIns="27432" bIns="18288" anchor="ctr">
            <a:spAutoFit/>
          </a:bodyPr>
          <a:lstStyle/>
          <a:p>
            <a:pPr algn="l"/>
            <a:r>
              <a:rPr lang="fr-CH" sz="1280" b="1" noProof="0" dirty="0">
                <a:solidFill>
                  <a:srgbClr val="262626"/>
                </a:solidFill>
                <a:latin typeface="Arial"/>
              </a:rPr>
              <a:t>AT/MP</a:t>
            </a:r>
          </a:p>
        </p:txBody>
      </p:sp>
      <p:sp>
        <p:nvSpPr>
          <p:cNvPr id="28" name="Rounded Rectangle 27"/>
          <p:cNvSpPr/>
          <p:nvPr/>
        </p:nvSpPr>
        <p:spPr>
          <a:xfrm>
            <a:off x="8001000" y="3310128"/>
            <a:ext cx="3337560" cy="475488"/>
          </a:xfrm>
          <a:prstGeom prst="roundRect">
            <a:avLst/>
          </a:prstGeom>
          <a:solidFill>
            <a:srgbClr val="FFFFFF"/>
          </a:solidFill>
          <a:ln w="10160">
            <a:solidFill>
              <a:srgbClr val="223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H" noProof="0" dirty="0"/>
          </a:p>
        </p:txBody>
      </p:sp>
      <p:sp>
        <p:nvSpPr>
          <p:cNvPr id="29" name="Rectangle 28"/>
          <p:cNvSpPr/>
          <p:nvPr/>
        </p:nvSpPr>
        <p:spPr>
          <a:xfrm>
            <a:off x="8001000" y="3310128"/>
            <a:ext cx="73152" cy="475488"/>
          </a:xfrm>
          <a:prstGeom prst="rect">
            <a:avLst/>
          </a:prstGeom>
          <a:solidFill>
            <a:srgbClr val="223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H" noProof="0" dirty="0"/>
          </a:p>
        </p:txBody>
      </p:sp>
      <p:sp>
        <p:nvSpPr>
          <p:cNvPr id="30" name="TextBox 29"/>
          <p:cNvSpPr txBox="1"/>
          <p:nvPr/>
        </p:nvSpPr>
        <p:spPr>
          <a:xfrm>
            <a:off x="8165592" y="3328416"/>
            <a:ext cx="3081528" cy="438912"/>
          </a:xfrm>
          <a:prstGeom prst="rect">
            <a:avLst/>
          </a:prstGeom>
          <a:noFill/>
        </p:spPr>
        <p:txBody>
          <a:bodyPr wrap="none" lIns="27432" tIns="18288" rIns="27432" bIns="18288" anchor="ctr">
            <a:spAutoFit/>
          </a:bodyPr>
          <a:lstStyle/>
          <a:p>
            <a:pPr algn="l"/>
            <a:r>
              <a:rPr lang="fr-CH" sz="1280" b="1" noProof="0" dirty="0">
                <a:solidFill>
                  <a:srgbClr val="262626"/>
                </a:solidFill>
                <a:latin typeface="Arial"/>
              </a:rPr>
              <a:t>Invalidité / handicap</a:t>
            </a:r>
          </a:p>
        </p:txBody>
      </p:sp>
      <p:sp>
        <p:nvSpPr>
          <p:cNvPr id="31" name="Rounded Rectangle 30"/>
          <p:cNvSpPr/>
          <p:nvPr/>
        </p:nvSpPr>
        <p:spPr>
          <a:xfrm>
            <a:off x="777240" y="3922776"/>
            <a:ext cx="3337560" cy="475488"/>
          </a:xfrm>
          <a:prstGeom prst="roundRect">
            <a:avLst/>
          </a:prstGeom>
          <a:solidFill>
            <a:srgbClr val="FFFFFF"/>
          </a:solidFill>
          <a:ln w="10160">
            <a:solidFill>
              <a:srgbClr val="223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H" noProof="0" dirty="0"/>
          </a:p>
        </p:txBody>
      </p:sp>
      <p:sp>
        <p:nvSpPr>
          <p:cNvPr id="32" name="Rectangle 31"/>
          <p:cNvSpPr/>
          <p:nvPr/>
        </p:nvSpPr>
        <p:spPr>
          <a:xfrm>
            <a:off x="777240" y="3922776"/>
            <a:ext cx="73152" cy="475488"/>
          </a:xfrm>
          <a:prstGeom prst="rect">
            <a:avLst/>
          </a:prstGeom>
          <a:solidFill>
            <a:srgbClr val="223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H" noProof="0" dirty="0"/>
          </a:p>
        </p:txBody>
      </p:sp>
      <p:sp>
        <p:nvSpPr>
          <p:cNvPr id="33" name="TextBox 32"/>
          <p:cNvSpPr txBox="1"/>
          <p:nvPr/>
        </p:nvSpPr>
        <p:spPr>
          <a:xfrm>
            <a:off x="941832" y="3941063"/>
            <a:ext cx="3081528" cy="438912"/>
          </a:xfrm>
          <a:prstGeom prst="rect">
            <a:avLst/>
          </a:prstGeom>
          <a:noFill/>
        </p:spPr>
        <p:txBody>
          <a:bodyPr wrap="none" lIns="27432" tIns="18288" rIns="27432" bIns="18288" anchor="ctr">
            <a:spAutoFit/>
          </a:bodyPr>
          <a:lstStyle/>
          <a:p>
            <a:pPr algn="l"/>
            <a:r>
              <a:rPr lang="fr-CH" sz="1280" b="1" noProof="0" dirty="0">
                <a:solidFill>
                  <a:srgbClr val="262626"/>
                </a:solidFill>
                <a:latin typeface="Arial"/>
              </a:rPr>
              <a:t>Vieillesse</a:t>
            </a:r>
          </a:p>
        </p:txBody>
      </p:sp>
      <p:sp>
        <p:nvSpPr>
          <p:cNvPr id="34" name="Rounded Rectangle 33"/>
          <p:cNvSpPr/>
          <p:nvPr/>
        </p:nvSpPr>
        <p:spPr>
          <a:xfrm>
            <a:off x="4389120" y="3922776"/>
            <a:ext cx="3337560" cy="475488"/>
          </a:xfrm>
          <a:prstGeom prst="roundRect">
            <a:avLst/>
          </a:prstGeom>
          <a:solidFill>
            <a:srgbClr val="FFFFFF"/>
          </a:solidFill>
          <a:ln w="10160">
            <a:solidFill>
              <a:srgbClr val="223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H" noProof="0" dirty="0"/>
          </a:p>
        </p:txBody>
      </p:sp>
      <p:sp>
        <p:nvSpPr>
          <p:cNvPr id="35" name="Rectangle 34"/>
          <p:cNvSpPr/>
          <p:nvPr/>
        </p:nvSpPr>
        <p:spPr>
          <a:xfrm>
            <a:off x="4389120" y="3922776"/>
            <a:ext cx="73152" cy="475488"/>
          </a:xfrm>
          <a:prstGeom prst="rect">
            <a:avLst/>
          </a:prstGeom>
          <a:solidFill>
            <a:srgbClr val="223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H" noProof="0" dirty="0"/>
          </a:p>
        </p:txBody>
      </p:sp>
      <p:sp>
        <p:nvSpPr>
          <p:cNvPr id="36" name="TextBox 35"/>
          <p:cNvSpPr txBox="1"/>
          <p:nvPr/>
        </p:nvSpPr>
        <p:spPr>
          <a:xfrm>
            <a:off x="4553712" y="3941063"/>
            <a:ext cx="3081528" cy="438912"/>
          </a:xfrm>
          <a:prstGeom prst="rect">
            <a:avLst/>
          </a:prstGeom>
          <a:noFill/>
        </p:spPr>
        <p:txBody>
          <a:bodyPr wrap="none" lIns="27432" tIns="18288" rIns="27432" bIns="18288" anchor="ctr">
            <a:spAutoFit/>
          </a:bodyPr>
          <a:lstStyle/>
          <a:p>
            <a:pPr algn="l"/>
            <a:r>
              <a:rPr lang="fr-CH" sz="1280" b="1" noProof="0" dirty="0">
                <a:solidFill>
                  <a:srgbClr val="262626"/>
                </a:solidFill>
                <a:latin typeface="Arial"/>
              </a:rPr>
              <a:t>Vulnérabilité</a:t>
            </a:r>
          </a:p>
        </p:txBody>
      </p:sp>
      <p:sp>
        <p:nvSpPr>
          <p:cNvPr id="37" name="Rounded Rectangle 36"/>
          <p:cNvSpPr/>
          <p:nvPr/>
        </p:nvSpPr>
        <p:spPr>
          <a:xfrm>
            <a:off x="8001000" y="3922776"/>
            <a:ext cx="3337560" cy="475488"/>
          </a:xfrm>
          <a:prstGeom prst="roundRect">
            <a:avLst/>
          </a:prstGeom>
          <a:solidFill>
            <a:srgbClr val="EAF6EA"/>
          </a:solidFill>
          <a:ln w="10160">
            <a:solidFill>
              <a:srgbClr val="53A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H" noProof="0" dirty="0"/>
          </a:p>
        </p:txBody>
      </p:sp>
      <p:sp>
        <p:nvSpPr>
          <p:cNvPr id="38" name="Rectangle 37"/>
          <p:cNvSpPr/>
          <p:nvPr/>
        </p:nvSpPr>
        <p:spPr>
          <a:xfrm>
            <a:off x="8001000" y="3922776"/>
            <a:ext cx="73152" cy="475488"/>
          </a:xfrm>
          <a:prstGeom prst="rect">
            <a:avLst/>
          </a:prstGeom>
          <a:solidFill>
            <a:srgbClr val="53A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CH" noProof="0" dirty="0"/>
          </a:p>
        </p:txBody>
      </p:sp>
      <p:sp>
        <p:nvSpPr>
          <p:cNvPr id="39" name="TextBox 38"/>
          <p:cNvSpPr txBox="1"/>
          <p:nvPr/>
        </p:nvSpPr>
        <p:spPr>
          <a:xfrm>
            <a:off x="8165592" y="3941063"/>
            <a:ext cx="3081528" cy="438912"/>
          </a:xfrm>
          <a:prstGeom prst="rect">
            <a:avLst/>
          </a:prstGeom>
          <a:noFill/>
        </p:spPr>
        <p:txBody>
          <a:bodyPr wrap="none" lIns="27432" tIns="18288" rIns="27432" bIns="18288" anchor="ctr">
            <a:spAutoFit/>
          </a:bodyPr>
          <a:lstStyle/>
          <a:p>
            <a:pPr algn="l"/>
            <a:r>
              <a:rPr lang="fr-CH" sz="1280" b="1" noProof="0" dirty="0">
                <a:solidFill>
                  <a:srgbClr val="262626"/>
                </a:solidFill>
                <a:latin typeface="Arial"/>
              </a:rPr>
              <a:t>Santé*</a:t>
            </a:r>
          </a:p>
        </p:txBody>
      </p:sp>
      <p:sp>
        <p:nvSpPr>
          <p:cNvPr id="40" name="TextBox 39"/>
          <p:cNvSpPr txBox="1"/>
          <p:nvPr/>
        </p:nvSpPr>
        <p:spPr>
          <a:xfrm>
            <a:off x="708660" y="5874080"/>
            <a:ext cx="6007350" cy="181588"/>
          </a:xfrm>
          <a:prstGeom prst="rect">
            <a:avLst/>
          </a:prstGeom>
          <a:noFill/>
        </p:spPr>
        <p:txBody>
          <a:bodyPr wrap="none" lIns="27432" tIns="18288" rIns="27432" bIns="18288" anchor="ctr">
            <a:spAutoFit/>
          </a:bodyPr>
          <a:lstStyle/>
          <a:p>
            <a:pPr algn="l"/>
            <a:r>
              <a:rPr lang="fr-CH" sz="940" b="0" noProof="0" dirty="0">
                <a:latin typeface="Arial"/>
              </a:rPr>
              <a:t>* Indicateur complémentaire du bulletin : hors noyau ODD 1.3.1 et non pris en compte dans l’indicateur agrégé</a:t>
            </a:r>
            <a:r>
              <a:rPr lang="fr-CH" sz="940" b="0" noProof="0" dirty="0">
                <a:solidFill>
                  <a:srgbClr val="505050"/>
                </a:solidFill>
                <a:latin typeface="Arial"/>
              </a:rPr>
              <a:t>.</a:t>
            </a:r>
          </a:p>
        </p:txBody>
      </p:sp>
      <p:pic>
        <p:nvPicPr>
          <p:cNvPr id="41" name="Image 0" descr="/mnt/data/ref_unzip/ppt/media/image1.png">
            <a:extLst>
              <a:ext uri="{FF2B5EF4-FFF2-40B4-BE49-F238E27FC236}">
                <a16:creationId xmlns:a16="http://schemas.microsoft.com/office/drawing/2014/main" id="{078BB042-95DD-DCBA-7069-5C38AA20BFCB}"/>
              </a:ext>
            </a:extLst>
          </p:cNvPr>
          <p:cNvPicPr>
            <a:picLocks noChangeAspect="1"/>
          </p:cNvPicPr>
          <p:nvPr/>
        </p:nvPicPr>
        <p:blipFill>
          <a:blip r:embed="rId3"/>
          <a:stretch>
            <a:fillRect/>
          </a:stretch>
        </p:blipFill>
        <p:spPr>
          <a:xfrm>
            <a:off x="10088880" y="357645"/>
            <a:ext cx="1508760" cy="52052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428A0"/>
          </a:solidFill>
          <a:ln w="12700">
            <a:solidFill>
              <a:srgbClr val="1428A0"/>
            </a:solidFill>
            <a:prstDash val="solid"/>
          </a:ln>
        </p:spPr>
        <p:txBody>
          <a:bodyPr/>
          <a:lstStyle/>
          <a:p>
            <a:endParaRPr lang="fr-CH" noProof="0" dirty="0"/>
          </a:p>
        </p:txBody>
      </p:sp>
      <p:sp>
        <p:nvSpPr>
          <p:cNvPr id="3" name="Text 1"/>
          <p:cNvSpPr/>
          <p:nvPr/>
        </p:nvSpPr>
        <p:spPr>
          <a:xfrm>
            <a:off x="594360" y="420624"/>
            <a:ext cx="8686800" cy="411480"/>
          </a:xfrm>
          <a:prstGeom prst="rect">
            <a:avLst/>
          </a:prstGeom>
          <a:noFill/>
          <a:ln/>
        </p:spPr>
        <p:txBody>
          <a:bodyPr wrap="square" rtlCol="0" anchor="ctr">
            <a:normAutofit fontScale="92500" lnSpcReduction="10000"/>
          </a:bodyPr>
          <a:lstStyle/>
          <a:p>
            <a:pPr marL="0" indent="0">
              <a:buNone/>
            </a:pPr>
            <a:r>
              <a:rPr lang="fr-CH" sz="2400" b="1" noProof="0" dirty="0">
                <a:solidFill>
                  <a:srgbClr val="1428A0"/>
                </a:solidFill>
                <a:latin typeface="Arial" pitchFamily="34" charset="0"/>
                <a:ea typeface="Arial" pitchFamily="34" charset="-122"/>
                <a:cs typeface="Arial" pitchFamily="34" charset="-120"/>
              </a:rPr>
              <a:t>Liste des indicateurs ODD 1.3.1</a:t>
            </a:r>
            <a:endParaRPr lang="fr-CH" sz="2400" noProof="0" dirty="0"/>
          </a:p>
        </p:txBody>
      </p:sp>
      <p:sp>
        <p:nvSpPr>
          <p:cNvPr id="4" name="Text 2"/>
          <p:cNvSpPr/>
          <p:nvPr/>
        </p:nvSpPr>
        <p:spPr>
          <a:xfrm>
            <a:off x="612648" y="219456"/>
            <a:ext cx="6858000" cy="155448"/>
          </a:xfrm>
          <a:prstGeom prst="rect">
            <a:avLst/>
          </a:prstGeom>
          <a:noFill/>
          <a:ln/>
        </p:spPr>
        <p:txBody>
          <a:bodyPr wrap="square" rtlCol="0" anchor="ctr"/>
          <a:lstStyle/>
          <a:p>
            <a:pPr marL="0" indent="0">
              <a:buNone/>
            </a:pPr>
            <a:r>
              <a:rPr lang="fr-CH" sz="730" noProof="0" dirty="0">
                <a:solidFill>
                  <a:srgbClr val="586069"/>
                </a:solidFill>
              </a:rPr>
              <a:t>ODD 1.3.1</a:t>
            </a:r>
            <a:endParaRPr lang="fr-CH" sz="730" noProof="0" dirty="0"/>
          </a:p>
        </p:txBody>
      </p:sp>
      <p:sp>
        <p:nvSpPr>
          <p:cNvPr id="6" name="Shape 3"/>
          <p:cNvSpPr/>
          <p:nvPr/>
        </p:nvSpPr>
        <p:spPr>
          <a:xfrm>
            <a:off x="594360" y="987552"/>
            <a:ext cx="10972800" cy="0"/>
          </a:xfrm>
          <a:prstGeom prst="line">
            <a:avLst/>
          </a:prstGeom>
          <a:noFill/>
          <a:ln w="12700">
            <a:solidFill>
              <a:srgbClr val="D9E1F2"/>
            </a:solidFill>
            <a:prstDash val="solid"/>
          </a:ln>
        </p:spPr>
        <p:txBody>
          <a:bodyPr/>
          <a:lstStyle/>
          <a:p>
            <a:endParaRPr lang="fr-CH" noProof="0" dirty="0"/>
          </a:p>
        </p:txBody>
      </p:sp>
      <p:sp>
        <p:nvSpPr>
          <p:cNvPr id="7" name="Text 4"/>
          <p:cNvSpPr/>
          <p:nvPr/>
        </p:nvSpPr>
        <p:spPr>
          <a:xfrm>
            <a:off x="594360" y="6510528"/>
            <a:ext cx="6583680" cy="164592"/>
          </a:xfrm>
          <a:prstGeom prst="rect">
            <a:avLst/>
          </a:prstGeom>
          <a:noFill/>
          <a:ln/>
        </p:spPr>
        <p:txBody>
          <a:bodyPr wrap="square" rtlCol="0" anchor="ctr"/>
          <a:lstStyle/>
          <a:p>
            <a:pPr marL="0" indent="0">
              <a:buNone/>
            </a:pPr>
            <a:r>
              <a:rPr lang="fr-CH" sz="750" noProof="0" dirty="0">
                <a:solidFill>
                  <a:srgbClr val="586069"/>
                </a:solidFill>
                <a:latin typeface="Arial" pitchFamily="34" charset="0"/>
                <a:ea typeface="Arial" pitchFamily="34" charset="-122"/>
                <a:cs typeface="Arial" pitchFamily="34" charset="-120"/>
              </a:rPr>
              <a:t>Faire avancer la justice sociale, promouvoir le travail décent</a:t>
            </a:r>
            <a:endParaRPr lang="fr-CH" sz="750" noProof="0" dirty="0"/>
          </a:p>
        </p:txBody>
      </p:sp>
      <p:sp>
        <p:nvSpPr>
          <p:cNvPr id="8" name="Text 5"/>
          <p:cNvSpPr/>
          <p:nvPr/>
        </p:nvSpPr>
        <p:spPr>
          <a:xfrm>
            <a:off x="7543800" y="6510528"/>
            <a:ext cx="3017520" cy="164592"/>
          </a:xfrm>
          <a:prstGeom prst="rect">
            <a:avLst/>
          </a:prstGeom>
          <a:noFill/>
          <a:ln/>
        </p:spPr>
        <p:txBody>
          <a:bodyPr wrap="square" rtlCol="0" anchor="ctr"/>
          <a:lstStyle/>
          <a:p>
            <a:pPr marL="0" indent="0" algn="r">
              <a:buNone/>
            </a:pPr>
            <a:r>
              <a:rPr lang="fr-CH" sz="730" noProof="0" dirty="0">
                <a:solidFill>
                  <a:srgbClr val="586069"/>
                </a:solidFill>
                <a:latin typeface="Arial" pitchFamily="34" charset="0"/>
                <a:ea typeface="Arial" pitchFamily="34" charset="-122"/>
                <a:cs typeface="Arial" pitchFamily="34" charset="-120"/>
              </a:rPr>
              <a:t>Atelier 2e Bulletin Statistique RDC | 14 mai 2026</a:t>
            </a:r>
            <a:endParaRPr lang="fr-CH" sz="730" noProof="0" dirty="0"/>
          </a:p>
        </p:txBody>
      </p:sp>
      <p:sp>
        <p:nvSpPr>
          <p:cNvPr id="9" name="Text 6"/>
          <p:cNvSpPr/>
          <p:nvPr/>
        </p:nvSpPr>
        <p:spPr>
          <a:xfrm>
            <a:off x="11292840" y="6473952"/>
            <a:ext cx="411480" cy="201168"/>
          </a:xfrm>
          <a:prstGeom prst="rect">
            <a:avLst/>
          </a:prstGeom>
          <a:noFill/>
          <a:ln/>
        </p:spPr>
        <p:txBody>
          <a:bodyPr wrap="square" lIns="27432" tIns="18288" rIns="27432" bIns="18288" rtlCol="0" anchor="ctr"/>
          <a:lstStyle/>
          <a:p>
            <a:pPr marL="0" indent="0" algn="r">
              <a:buNone/>
            </a:pPr>
            <a:r>
              <a:rPr lang="fr-CH" sz="850" b="0" noProof="0" dirty="0">
                <a:solidFill>
                  <a:srgbClr val="505050"/>
                </a:solidFill>
                <a:latin typeface="Arial"/>
              </a:rPr>
              <a:t>11</a:t>
            </a:r>
            <a:endParaRPr lang="fr-CH" sz="750" noProof="0" dirty="0"/>
          </a:p>
        </p:txBody>
      </p:sp>
      <p:graphicFrame>
        <p:nvGraphicFramePr>
          <p:cNvPr id="10" name="Table 9"/>
          <p:cNvGraphicFramePr>
            <a:graphicFrameLocks noGrp="1"/>
          </p:cNvGraphicFramePr>
          <p:nvPr>
            <p:extLst>
              <p:ext uri="{D42A27DB-BD31-4B8C-83A1-F6EECF244321}">
                <p14:modId xmlns:p14="http://schemas.microsoft.com/office/powerpoint/2010/main" val="2390591794"/>
              </p:ext>
            </p:extLst>
          </p:nvPr>
        </p:nvGraphicFramePr>
        <p:xfrm>
          <a:off x="777240" y="1133855"/>
          <a:ext cx="10972800" cy="4727782"/>
        </p:xfrm>
        <a:graphic>
          <a:graphicData uri="http://schemas.openxmlformats.org/drawingml/2006/table">
            <a:tbl>
              <a:tblPr firstRow="1" bandRow="1">
                <a:tableStyleId>{5C22544A-7EE6-4342-B048-85BDC9FD1C3A}</a:tableStyleId>
              </a:tblPr>
              <a:tblGrid>
                <a:gridCol w="2464231">
                  <a:extLst>
                    <a:ext uri="{9D8B030D-6E8A-4147-A177-3AD203B41FA5}">
                      <a16:colId xmlns:a16="http://schemas.microsoft.com/office/drawing/2014/main" val="20000"/>
                    </a:ext>
                  </a:extLst>
                </a:gridCol>
                <a:gridCol w="8508569">
                  <a:extLst>
                    <a:ext uri="{9D8B030D-6E8A-4147-A177-3AD203B41FA5}">
                      <a16:colId xmlns:a16="http://schemas.microsoft.com/office/drawing/2014/main" val="20001"/>
                    </a:ext>
                  </a:extLst>
                </a:gridCol>
              </a:tblGrid>
              <a:tr h="390484">
                <a:tc>
                  <a:txBody>
                    <a:bodyPr/>
                    <a:lstStyle/>
                    <a:p>
                      <a:pPr algn="l"/>
                      <a:r>
                        <a:rPr lang="fr-CH" sz="1400" b="1" noProof="0" dirty="0">
                          <a:solidFill>
                            <a:srgbClr val="FFFFFF"/>
                          </a:solidFill>
                          <a:latin typeface="Arial"/>
                        </a:rPr>
                        <a:t>Dimension</a:t>
                      </a:r>
                    </a:p>
                  </a:txBody>
                  <a:tcPr marL="54864" marR="54864" marT="18288" marB="18288" anchor="ctr">
                    <a:solidFill>
                      <a:srgbClr val="223399"/>
                    </a:solidFill>
                  </a:tcPr>
                </a:tc>
                <a:tc>
                  <a:txBody>
                    <a:bodyPr/>
                    <a:lstStyle/>
                    <a:p>
                      <a:pPr algn="l"/>
                      <a:r>
                        <a:rPr lang="fr-CH" sz="1400" b="1" noProof="0" dirty="0">
                          <a:solidFill>
                            <a:srgbClr val="FFFFFF"/>
                          </a:solidFill>
                          <a:latin typeface="Arial"/>
                        </a:rPr>
                        <a:t>Indicateur de couverture</a:t>
                      </a:r>
                    </a:p>
                  </a:txBody>
                  <a:tcPr marL="54864" marR="54864" marT="18288" marB="18288" anchor="ctr">
                    <a:solidFill>
                      <a:srgbClr val="223399"/>
                    </a:solidFill>
                  </a:tcPr>
                </a:tc>
                <a:extLst>
                  <a:ext uri="{0D108BD9-81ED-4DB2-BD59-A6C34878D82A}">
                    <a16:rowId xmlns:a16="http://schemas.microsoft.com/office/drawing/2014/main" val="10000"/>
                  </a:ext>
                </a:extLst>
              </a:tr>
              <a:tr h="822935">
                <a:tc>
                  <a:txBody>
                    <a:bodyPr/>
                    <a:lstStyle/>
                    <a:p>
                      <a:pPr algn="l"/>
                      <a:r>
                        <a:rPr lang="fr-CH" sz="1400" b="1" noProof="0" dirty="0">
                          <a:solidFill>
                            <a:srgbClr val="FFFFFF"/>
                          </a:solidFill>
                          <a:latin typeface="Arial"/>
                        </a:rPr>
                        <a:t>Indicateur ODD 1.3.1</a:t>
                      </a:r>
                    </a:p>
                  </a:txBody>
                  <a:tcPr marL="54864" marR="54864" marT="18288" marB="18288" anchor="ctr">
                    <a:solidFill>
                      <a:srgbClr val="FF5050"/>
                    </a:solidFill>
                  </a:tcPr>
                </a:tc>
                <a:tc>
                  <a:txBody>
                    <a:bodyPr/>
                    <a:lstStyle/>
                    <a:p>
                      <a:pPr algn="l"/>
                      <a:r>
                        <a:rPr lang="fr-CH" sz="1400" b="0" kern="1200" noProof="0" dirty="0">
                          <a:solidFill>
                            <a:srgbClr val="262626"/>
                          </a:solidFill>
                          <a:latin typeface="+mn-lt"/>
                          <a:ea typeface="+mn-ea"/>
                          <a:cs typeface="+mn-cs"/>
                        </a:rPr>
                        <a:t>Proportion de la population bénéficiant de socles ou systèmes de protection sociale, par sexe et par groupe de population (enfants, chômeurs, personnes âgées, personnes handicapées, femmes enceintes et nouveau-nés, victimes d’un accident du travail, pauvres et personnes vulnérables)</a:t>
                      </a:r>
                      <a:endParaRPr lang="fr-CH" sz="1400" b="0" noProof="0" dirty="0">
                        <a:solidFill>
                          <a:srgbClr val="262626"/>
                        </a:solidFill>
                        <a:latin typeface="Arial"/>
                      </a:endParaRPr>
                    </a:p>
                  </a:txBody>
                  <a:tcPr marL="54864" marR="54864" marT="18288" marB="18288" anchor="ctr">
                    <a:solidFill>
                      <a:srgbClr val="FF5050"/>
                    </a:solidFill>
                  </a:tcPr>
                </a:tc>
                <a:extLst>
                  <a:ext uri="{0D108BD9-81ED-4DB2-BD59-A6C34878D82A}">
                    <a16:rowId xmlns:a16="http://schemas.microsoft.com/office/drawing/2014/main" val="10001"/>
                  </a:ext>
                </a:extLst>
              </a:tr>
              <a:tr h="390484">
                <a:tc>
                  <a:txBody>
                    <a:bodyPr/>
                    <a:lstStyle/>
                    <a:p>
                      <a:pPr algn="l"/>
                      <a:r>
                        <a:rPr lang="fr-CH" sz="1400" b="0" noProof="0" dirty="0">
                          <a:solidFill>
                            <a:schemeClr val="bg1">
                              <a:lumMod val="65000"/>
                            </a:schemeClr>
                          </a:solidFill>
                          <a:latin typeface="Arial"/>
                        </a:rPr>
                        <a:t>Retraite*</a:t>
                      </a:r>
                    </a:p>
                  </a:txBody>
                  <a:tcPr marL="54864" marR="54864" marT="18288" marB="18288" anchor="ctr">
                    <a:solidFill>
                      <a:srgbClr val="F8F9FC"/>
                    </a:solidFill>
                  </a:tcPr>
                </a:tc>
                <a:tc>
                  <a:txBody>
                    <a:bodyPr/>
                    <a:lstStyle/>
                    <a:p>
                      <a:pPr algn="l"/>
                      <a:r>
                        <a:rPr lang="fr-CH" sz="1400" b="0" kern="1200" noProof="0" dirty="0">
                          <a:solidFill>
                            <a:schemeClr val="bg1">
                              <a:lumMod val="65000"/>
                            </a:schemeClr>
                          </a:solidFill>
                          <a:latin typeface="Arial"/>
                          <a:ea typeface="+mn-ea"/>
                          <a:cs typeface="+mn-cs"/>
                        </a:rPr>
                        <a:t>% de la population active contribuant à un régime de pension</a:t>
                      </a:r>
                    </a:p>
                  </a:txBody>
                  <a:tcPr marL="54864" marR="54864" marT="18288" marB="18288" anchor="ctr">
                    <a:solidFill>
                      <a:srgbClr val="F8F9FC"/>
                    </a:solidFill>
                  </a:tcPr>
                </a:tc>
                <a:extLst>
                  <a:ext uri="{0D108BD9-81ED-4DB2-BD59-A6C34878D82A}">
                    <a16:rowId xmlns:a16="http://schemas.microsoft.com/office/drawing/2014/main" val="10002"/>
                  </a:ext>
                </a:extLst>
              </a:tr>
              <a:tr h="390484">
                <a:tc>
                  <a:txBody>
                    <a:bodyPr/>
                    <a:lstStyle/>
                    <a:p>
                      <a:pPr algn="l"/>
                      <a:r>
                        <a:rPr lang="fr-CH" sz="1400" b="0" noProof="0" dirty="0">
                          <a:solidFill>
                            <a:srgbClr val="262626"/>
                          </a:solidFill>
                          <a:latin typeface="Arial"/>
                        </a:rPr>
                        <a:t>Enfants</a:t>
                      </a:r>
                    </a:p>
                  </a:txBody>
                  <a:tcPr marL="54864" marR="54864" marT="18288" marB="18288" anchor="c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tabLst>
                          <a:tab pos="228600" algn="l"/>
                        </a:tabLst>
                      </a:pPr>
                      <a:r>
                        <a:rPr lang="fr-CH" sz="1400" b="0" kern="1200" noProof="0" dirty="0">
                          <a:solidFill>
                            <a:srgbClr val="262626"/>
                          </a:solidFill>
                          <a:latin typeface="Arial"/>
                          <a:ea typeface="+mn-ea"/>
                          <a:cs typeface="+mn-cs"/>
                        </a:rPr>
                        <a:t>% d'enfants bénéficiant d'une protection sociale</a:t>
                      </a:r>
                    </a:p>
                  </a:txBody>
                  <a:tcPr marL="54864" marR="54864" marT="18288" marB="18288" anchor="ctr">
                    <a:solidFill>
                      <a:srgbClr val="FFFFFF"/>
                    </a:solidFill>
                  </a:tcPr>
                </a:tc>
                <a:extLst>
                  <a:ext uri="{0D108BD9-81ED-4DB2-BD59-A6C34878D82A}">
                    <a16:rowId xmlns:a16="http://schemas.microsoft.com/office/drawing/2014/main" val="10003"/>
                  </a:ext>
                </a:extLst>
              </a:tr>
              <a:tr h="390484">
                <a:tc>
                  <a:txBody>
                    <a:bodyPr/>
                    <a:lstStyle/>
                    <a:p>
                      <a:pPr algn="l"/>
                      <a:r>
                        <a:rPr lang="fr-CH" sz="1400" b="0" noProof="0" dirty="0">
                          <a:solidFill>
                            <a:srgbClr val="262626"/>
                          </a:solidFill>
                          <a:latin typeface="Arial"/>
                        </a:rPr>
                        <a:t>Maternité</a:t>
                      </a:r>
                    </a:p>
                  </a:txBody>
                  <a:tcPr marL="54864" marR="54864" marT="18288" marB="18288" anchor="ctr">
                    <a:solidFill>
                      <a:srgbClr val="F8F9FC"/>
                    </a:solidFill>
                  </a:tcPr>
                </a:tc>
                <a:tc>
                  <a:txBody>
                    <a:bodyPr/>
                    <a:lstStyle/>
                    <a:p>
                      <a:pPr marL="0" marR="0" lvl="0" indent="0" algn="l" defTabSz="914400" rtl="0" eaLnBrk="1" fontAlgn="base" latinLnBrk="0" hangingPunct="1">
                        <a:lnSpc>
                          <a:spcPct val="100000"/>
                        </a:lnSpc>
                        <a:spcBef>
                          <a:spcPct val="0"/>
                        </a:spcBef>
                        <a:spcAft>
                          <a:spcPct val="0"/>
                        </a:spcAft>
                        <a:buClrTx/>
                        <a:buSzTx/>
                        <a:tabLst>
                          <a:tab pos="228600" algn="l"/>
                        </a:tabLst>
                      </a:pPr>
                      <a:r>
                        <a:rPr lang="fr-CH" sz="1400" b="0" kern="1200" noProof="0" dirty="0">
                          <a:solidFill>
                            <a:srgbClr val="262626"/>
                          </a:solidFill>
                          <a:latin typeface="+mn-lt"/>
                          <a:ea typeface="+mn-ea"/>
                          <a:cs typeface="+mn-cs"/>
                        </a:rPr>
                        <a:t>% </a:t>
                      </a:r>
                      <a:r>
                        <a:rPr lang="fr-CH" sz="1400" b="0" kern="1200" noProof="0" dirty="0">
                          <a:solidFill>
                            <a:srgbClr val="262626"/>
                          </a:solidFill>
                          <a:latin typeface="Arial"/>
                          <a:ea typeface="+mn-ea"/>
                          <a:cs typeface="+mn-cs"/>
                        </a:rPr>
                        <a:t>de femmes qui accouchent et reçoivent des allocations de maternité</a:t>
                      </a:r>
                    </a:p>
                  </a:txBody>
                  <a:tcPr marL="54864" marR="54864" marT="18288" marB="18288" anchor="ctr">
                    <a:solidFill>
                      <a:srgbClr val="F8F9FC"/>
                    </a:solidFill>
                  </a:tcPr>
                </a:tc>
                <a:extLst>
                  <a:ext uri="{0D108BD9-81ED-4DB2-BD59-A6C34878D82A}">
                    <a16:rowId xmlns:a16="http://schemas.microsoft.com/office/drawing/2014/main" val="10004"/>
                  </a:ext>
                </a:extLst>
              </a:tr>
              <a:tr h="390484">
                <a:tc>
                  <a:txBody>
                    <a:bodyPr/>
                    <a:lstStyle/>
                    <a:p>
                      <a:pPr algn="l"/>
                      <a:r>
                        <a:rPr lang="fr-CH" sz="1400" b="0" noProof="0" dirty="0">
                          <a:solidFill>
                            <a:srgbClr val="262626"/>
                          </a:solidFill>
                          <a:latin typeface="Arial"/>
                        </a:rPr>
                        <a:t>Chômage</a:t>
                      </a:r>
                    </a:p>
                  </a:txBody>
                  <a:tcPr marL="54864" marR="54864" marT="18288" marB="18288" anchor="c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tabLst>
                          <a:tab pos="228600" algn="l"/>
                        </a:tabLst>
                      </a:pPr>
                      <a:r>
                        <a:rPr lang="fr-CH" sz="1400" b="0" kern="1200" noProof="0" dirty="0">
                          <a:solidFill>
                            <a:srgbClr val="262626"/>
                          </a:solidFill>
                          <a:latin typeface="Arial"/>
                          <a:ea typeface="+mn-ea"/>
                          <a:cs typeface="+mn-cs"/>
                        </a:rPr>
                        <a:t>% de chômeurs bénéficiant d'allocations de chômage</a:t>
                      </a:r>
                    </a:p>
                  </a:txBody>
                  <a:tcPr marL="54864" marR="54864" marT="18288" marB="18288" anchor="ctr">
                    <a:solidFill>
                      <a:srgbClr val="FFFFFF"/>
                    </a:solidFill>
                  </a:tcPr>
                </a:tc>
                <a:extLst>
                  <a:ext uri="{0D108BD9-81ED-4DB2-BD59-A6C34878D82A}">
                    <a16:rowId xmlns:a16="http://schemas.microsoft.com/office/drawing/2014/main" val="10005"/>
                  </a:ext>
                </a:extLst>
              </a:tr>
              <a:tr h="390484">
                <a:tc>
                  <a:txBody>
                    <a:bodyPr/>
                    <a:lstStyle/>
                    <a:p>
                      <a:pPr algn="l"/>
                      <a:r>
                        <a:rPr lang="fr-CH" sz="1400" b="0" noProof="0" dirty="0">
                          <a:solidFill>
                            <a:srgbClr val="262626"/>
                          </a:solidFill>
                          <a:latin typeface="Arial"/>
                        </a:rPr>
                        <a:t>Vieillesse</a:t>
                      </a:r>
                    </a:p>
                  </a:txBody>
                  <a:tcPr marL="54864" marR="54864" marT="18288" marB="18288" anchor="ctr">
                    <a:solidFill>
                      <a:srgbClr val="F8F9FC"/>
                    </a:solidFill>
                  </a:tcPr>
                </a:tc>
                <a:tc>
                  <a:txBody>
                    <a:bodyPr/>
                    <a:lstStyle/>
                    <a:p>
                      <a:pPr marL="0" marR="0" lvl="0" indent="0" algn="l" defTabSz="914400" rtl="0" eaLnBrk="1" fontAlgn="base" latinLnBrk="0" hangingPunct="1">
                        <a:lnSpc>
                          <a:spcPct val="100000"/>
                        </a:lnSpc>
                        <a:spcBef>
                          <a:spcPct val="0"/>
                        </a:spcBef>
                        <a:spcAft>
                          <a:spcPct val="0"/>
                        </a:spcAft>
                        <a:buClrTx/>
                        <a:buSzTx/>
                        <a:tabLst>
                          <a:tab pos="228600" algn="l"/>
                        </a:tabLst>
                      </a:pPr>
                      <a:r>
                        <a:rPr lang="fr-CH" sz="1400" b="0" kern="1200" noProof="0" dirty="0">
                          <a:solidFill>
                            <a:srgbClr val="262626"/>
                          </a:solidFill>
                          <a:latin typeface="Arial"/>
                          <a:ea typeface="+mn-ea"/>
                          <a:cs typeface="+mn-cs"/>
                        </a:rPr>
                        <a:t>% de personnes âgées bénéficiant d'une pension ou d'une prestation</a:t>
                      </a:r>
                    </a:p>
                  </a:txBody>
                  <a:tcPr marL="54864" marR="54864" marT="18288" marB="18288" anchor="ctr">
                    <a:solidFill>
                      <a:srgbClr val="F8F9FC"/>
                    </a:solidFill>
                  </a:tcPr>
                </a:tc>
                <a:extLst>
                  <a:ext uri="{0D108BD9-81ED-4DB2-BD59-A6C34878D82A}">
                    <a16:rowId xmlns:a16="http://schemas.microsoft.com/office/drawing/2014/main" val="10006"/>
                  </a:ext>
                </a:extLst>
              </a:tr>
              <a:tr h="390484">
                <a:tc>
                  <a:txBody>
                    <a:bodyPr/>
                    <a:lstStyle/>
                    <a:p>
                      <a:pPr algn="l"/>
                      <a:r>
                        <a:rPr lang="fr-CH" sz="1400" b="0" noProof="0" dirty="0">
                          <a:solidFill>
                            <a:srgbClr val="262626"/>
                          </a:solidFill>
                          <a:latin typeface="Arial"/>
                        </a:rPr>
                        <a:t>Invalidité / handicap</a:t>
                      </a:r>
                    </a:p>
                  </a:txBody>
                  <a:tcPr marL="54864" marR="54864" marT="18288" marB="18288" anchor="c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tabLst>
                          <a:tab pos="228600" algn="l"/>
                        </a:tabLst>
                      </a:pPr>
                      <a:r>
                        <a:rPr lang="fr-CH" sz="1400" b="0" kern="1200" noProof="0" dirty="0">
                          <a:solidFill>
                            <a:srgbClr val="262626"/>
                          </a:solidFill>
                          <a:latin typeface="+mn-lt"/>
                          <a:ea typeface="+mn-ea"/>
                          <a:cs typeface="+mn-cs"/>
                        </a:rPr>
                        <a:t>% </a:t>
                      </a:r>
                      <a:r>
                        <a:rPr lang="fr-CH" sz="1400" b="0" kern="1200" noProof="0" dirty="0">
                          <a:solidFill>
                            <a:srgbClr val="262626"/>
                          </a:solidFill>
                          <a:latin typeface="Arial"/>
                          <a:ea typeface="+mn-ea"/>
                          <a:cs typeface="+mn-cs"/>
                        </a:rPr>
                        <a:t>de personnes gravement handicapées bénéficiant de prestations</a:t>
                      </a:r>
                    </a:p>
                  </a:txBody>
                  <a:tcPr marL="54864" marR="54864" marT="18288" marB="18288" anchor="ctr">
                    <a:solidFill>
                      <a:srgbClr val="FFFFFF"/>
                    </a:solidFill>
                  </a:tcPr>
                </a:tc>
                <a:extLst>
                  <a:ext uri="{0D108BD9-81ED-4DB2-BD59-A6C34878D82A}">
                    <a16:rowId xmlns:a16="http://schemas.microsoft.com/office/drawing/2014/main" val="10007"/>
                  </a:ext>
                </a:extLst>
              </a:tr>
              <a:tr h="390484">
                <a:tc>
                  <a:txBody>
                    <a:bodyPr/>
                    <a:lstStyle/>
                    <a:p>
                      <a:pPr algn="l"/>
                      <a:r>
                        <a:rPr lang="fr-CH" sz="1400" b="0" noProof="0" dirty="0">
                          <a:solidFill>
                            <a:srgbClr val="262626"/>
                          </a:solidFill>
                          <a:latin typeface="Arial"/>
                        </a:rPr>
                        <a:t>Accidents du travail</a:t>
                      </a:r>
                    </a:p>
                  </a:txBody>
                  <a:tcPr marL="54864" marR="54864" marT="18288" marB="18288" anchor="ctr">
                    <a:solidFill>
                      <a:srgbClr val="F8F9FC"/>
                    </a:solidFill>
                  </a:tcPr>
                </a:tc>
                <a:tc>
                  <a:txBody>
                    <a:bodyPr/>
                    <a:lstStyle/>
                    <a:p>
                      <a:pPr marL="0" marR="0" lvl="0" indent="0" algn="l" defTabSz="914400" rtl="0" eaLnBrk="1" fontAlgn="base" latinLnBrk="0" hangingPunct="1">
                        <a:lnSpc>
                          <a:spcPct val="100000"/>
                        </a:lnSpc>
                        <a:spcBef>
                          <a:spcPct val="0"/>
                        </a:spcBef>
                        <a:spcAft>
                          <a:spcPct val="0"/>
                        </a:spcAft>
                        <a:buClrTx/>
                        <a:buSzTx/>
                        <a:tabLst>
                          <a:tab pos="228600" algn="l"/>
                        </a:tabLst>
                      </a:pPr>
                      <a:r>
                        <a:rPr lang="fr-CH" sz="1400" b="0" kern="1200" noProof="0" dirty="0">
                          <a:solidFill>
                            <a:srgbClr val="262626"/>
                          </a:solidFill>
                          <a:latin typeface="Arial"/>
                          <a:ea typeface="+mn-ea"/>
                          <a:cs typeface="+mn-cs"/>
                        </a:rPr>
                        <a:t>% de travailleurs couverts en cas d'accidents du travail ou de maladies professionnelles</a:t>
                      </a:r>
                    </a:p>
                  </a:txBody>
                  <a:tcPr marL="54864" marR="54864" marT="18288" marB="18288" anchor="ctr">
                    <a:solidFill>
                      <a:srgbClr val="F8F9FC"/>
                    </a:solidFill>
                  </a:tcPr>
                </a:tc>
                <a:extLst>
                  <a:ext uri="{0D108BD9-81ED-4DB2-BD59-A6C34878D82A}">
                    <a16:rowId xmlns:a16="http://schemas.microsoft.com/office/drawing/2014/main" val="10008"/>
                  </a:ext>
                </a:extLst>
              </a:tr>
              <a:tr h="390484">
                <a:tc>
                  <a:txBody>
                    <a:bodyPr/>
                    <a:lstStyle/>
                    <a:p>
                      <a:pPr algn="l"/>
                      <a:r>
                        <a:rPr lang="fr-CH" sz="1400" b="0" noProof="0" dirty="0">
                          <a:solidFill>
                            <a:srgbClr val="262626"/>
                          </a:solidFill>
                          <a:latin typeface="Arial"/>
                        </a:rPr>
                        <a:t>Vulnérabilité</a:t>
                      </a:r>
                    </a:p>
                  </a:txBody>
                  <a:tcPr marL="54864" marR="54864" marT="18288" marB="18288" anchor="c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tabLst>
                          <a:tab pos="228600" algn="l"/>
                        </a:tabLst>
                      </a:pPr>
                      <a:r>
                        <a:rPr lang="fr-CH" sz="1400" b="0" kern="1200" noProof="0" dirty="0">
                          <a:solidFill>
                            <a:srgbClr val="262626"/>
                          </a:solidFill>
                          <a:latin typeface="Arial"/>
                          <a:ea typeface="+mn-ea"/>
                          <a:cs typeface="+mn-cs"/>
                        </a:rPr>
                        <a:t>% de personnes en situation de pauvreté bénéficiant de systèmes de protection sociale </a:t>
                      </a:r>
                    </a:p>
                  </a:txBody>
                  <a:tcPr marL="54864" marR="54864" marT="18288" marB="18288" anchor="ctr">
                    <a:solidFill>
                      <a:srgbClr val="FFFFFF"/>
                    </a:solidFill>
                  </a:tcPr>
                </a:tc>
                <a:extLst>
                  <a:ext uri="{0D108BD9-81ED-4DB2-BD59-A6C34878D82A}">
                    <a16:rowId xmlns:a16="http://schemas.microsoft.com/office/drawing/2014/main" val="10009"/>
                  </a:ext>
                </a:extLst>
              </a:tr>
              <a:tr h="390491">
                <a:tc>
                  <a:txBody>
                    <a:bodyPr/>
                    <a:lstStyle/>
                    <a:p>
                      <a:pPr algn="l"/>
                      <a:r>
                        <a:rPr lang="fr-CH" sz="1400" b="1" noProof="0" dirty="0">
                          <a:solidFill>
                            <a:schemeClr val="accent6">
                              <a:lumMod val="50000"/>
                            </a:schemeClr>
                          </a:solidFill>
                          <a:latin typeface="Arial"/>
                        </a:rPr>
                        <a:t>Santé*</a:t>
                      </a:r>
                    </a:p>
                  </a:txBody>
                  <a:tcPr marL="54864" marR="54864" marT="18288" marB="18288" anchor="ctr">
                    <a:solidFill>
                      <a:schemeClr val="accent6">
                        <a:lumMod val="40000"/>
                        <a:lumOff val="60000"/>
                      </a:schemeClr>
                    </a:solidFill>
                  </a:tcPr>
                </a:tc>
                <a:tc>
                  <a:txBody>
                    <a:bodyPr/>
                    <a:lstStyle/>
                    <a:p>
                      <a:pPr algn="l"/>
                      <a:r>
                        <a:rPr lang="fr-CH" sz="1400" b="0" noProof="0" dirty="0">
                          <a:solidFill>
                            <a:schemeClr val="accent6">
                              <a:lumMod val="50000"/>
                            </a:schemeClr>
                          </a:solidFill>
                          <a:latin typeface="Arial"/>
                        </a:rPr>
                        <a:t>Population protégée par un régime social de protection de la santé</a:t>
                      </a:r>
                    </a:p>
                  </a:txBody>
                  <a:tcPr marL="54864" marR="54864" marT="18288" marB="18288" anchor="ctr">
                    <a:solidFill>
                      <a:schemeClr val="accent6">
                        <a:lumMod val="40000"/>
                        <a:lumOff val="60000"/>
                      </a:schemeClr>
                    </a:solidFill>
                  </a:tcPr>
                </a:tc>
                <a:extLst>
                  <a:ext uri="{0D108BD9-81ED-4DB2-BD59-A6C34878D82A}">
                    <a16:rowId xmlns:a16="http://schemas.microsoft.com/office/drawing/2014/main" val="10010"/>
                  </a:ext>
                </a:extLst>
              </a:tr>
            </a:tbl>
          </a:graphicData>
        </a:graphic>
      </p:graphicFrame>
      <p:sp>
        <p:nvSpPr>
          <p:cNvPr id="11" name="TextBox 10"/>
          <p:cNvSpPr txBox="1"/>
          <p:nvPr/>
        </p:nvSpPr>
        <p:spPr>
          <a:xfrm>
            <a:off x="868680" y="5897879"/>
            <a:ext cx="10607040" cy="329184"/>
          </a:xfrm>
          <a:prstGeom prst="rect">
            <a:avLst/>
          </a:prstGeom>
          <a:noFill/>
        </p:spPr>
        <p:txBody>
          <a:bodyPr wrap="none" lIns="27432" tIns="18288" rIns="27432" bIns="18288" anchor="ctr">
            <a:spAutoFit/>
          </a:bodyPr>
          <a:lstStyle/>
          <a:p>
            <a:pPr algn="l"/>
            <a:r>
              <a:rPr lang="fr-CH" sz="919" b="0" noProof="0" dirty="0">
                <a:solidFill>
                  <a:srgbClr val="505050"/>
                </a:solidFill>
                <a:latin typeface="Arial"/>
              </a:rPr>
              <a:t>* Indicateur complémentaire du bulletin : hors noyau ODD 1.3.1 et non pris en compte dans l’indicateur agrégé.</a:t>
            </a:r>
          </a:p>
        </p:txBody>
      </p:sp>
      <p:pic>
        <p:nvPicPr>
          <p:cNvPr id="12" name="Image 0" descr="/mnt/data/ref_unzip/ppt/media/image1.png">
            <a:extLst>
              <a:ext uri="{FF2B5EF4-FFF2-40B4-BE49-F238E27FC236}">
                <a16:creationId xmlns:a16="http://schemas.microsoft.com/office/drawing/2014/main" id="{C1D86856-B903-D0B7-AB35-88451BC2C273}"/>
              </a:ext>
            </a:extLst>
          </p:cNvPr>
          <p:cNvPicPr>
            <a:picLocks noChangeAspect="1"/>
          </p:cNvPicPr>
          <p:nvPr/>
        </p:nvPicPr>
        <p:blipFill>
          <a:blip r:embed="rId3"/>
          <a:stretch>
            <a:fillRect/>
          </a:stretch>
        </p:blipFill>
        <p:spPr>
          <a:xfrm>
            <a:off x="10088880" y="357645"/>
            <a:ext cx="1508760" cy="52052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51771-B931-B655-DCE8-39AD4113E63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36656FF-F15D-90D2-6C05-ACDC001DEC52}"/>
              </a:ext>
            </a:extLst>
          </p:cNvPr>
          <p:cNvSpPr/>
          <p:nvPr/>
        </p:nvSpPr>
        <p:spPr>
          <a:xfrm>
            <a:off x="0" y="0"/>
            <a:ext cx="12191695" cy="164592"/>
          </a:xfrm>
          <a:prstGeom prst="rect">
            <a:avLst/>
          </a:prstGeom>
          <a:solidFill>
            <a:srgbClr val="1428A0"/>
          </a:solidFill>
          <a:ln w="12700">
            <a:solidFill>
              <a:srgbClr val="1428A0"/>
            </a:solidFill>
            <a:prstDash val="solid"/>
          </a:ln>
        </p:spPr>
        <p:txBody>
          <a:bodyPr/>
          <a:lstStyle/>
          <a:p>
            <a:endParaRPr lang="fr-CH" noProof="0" dirty="0"/>
          </a:p>
        </p:txBody>
      </p:sp>
      <p:sp>
        <p:nvSpPr>
          <p:cNvPr id="3" name="Text 1">
            <a:extLst>
              <a:ext uri="{FF2B5EF4-FFF2-40B4-BE49-F238E27FC236}">
                <a16:creationId xmlns:a16="http://schemas.microsoft.com/office/drawing/2014/main" id="{7DEFDC88-D34A-E6E5-5908-BE9D3594471A}"/>
              </a:ext>
            </a:extLst>
          </p:cNvPr>
          <p:cNvSpPr/>
          <p:nvPr/>
        </p:nvSpPr>
        <p:spPr>
          <a:xfrm>
            <a:off x="594360" y="420624"/>
            <a:ext cx="8686800" cy="411480"/>
          </a:xfrm>
          <a:prstGeom prst="rect">
            <a:avLst/>
          </a:prstGeom>
          <a:noFill/>
          <a:ln/>
        </p:spPr>
        <p:txBody>
          <a:bodyPr wrap="square" rtlCol="0" anchor="ctr">
            <a:normAutofit fontScale="92500" lnSpcReduction="10000"/>
          </a:bodyPr>
          <a:lstStyle/>
          <a:p>
            <a:pPr marL="0" indent="0">
              <a:buNone/>
            </a:pPr>
            <a:r>
              <a:rPr lang="fr-CH" sz="2400" b="1" noProof="0" dirty="0">
                <a:solidFill>
                  <a:srgbClr val="1428A0"/>
                </a:solidFill>
                <a:latin typeface="Arial" pitchFamily="34" charset="0"/>
                <a:ea typeface="Arial" pitchFamily="34" charset="-122"/>
                <a:cs typeface="Arial" pitchFamily="34" charset="-120"/>
              </a:rPr>
              <a:t>Liste des indicateurs ODD 1.3.1</a:t>
            </a:r>
            <a:endParaRPr lang="fr-CH" sz="2400" noProof="0" dirty="0"/>
          </a:p>
        </p:txBody>
      </p:sp>
      <p:sp>
        <p:nvSpPr>
          <p:cNvPr id="4" name="Text 2">
            <a:extLst>
              <a:ext uri="{FF2B5EF4-FFF2-40B4-BE49-F238E27FC236}">
                <a16:creationId xmlns:a16="http://schemas.microsoft.com/office/drawing/2014/main" id="{1DE81113-E3AA-7AE2-8CEB-08B1A0FA2C4F}"/>
              </a:ext>
            </a:extLst>
          </p:cNvPr>
          <p:cNvSpPr/>
          <p:nvPr/>
        </p:nvSpPr>
        <p:spPr>
          <a:xfrm>
            <a:off x="612648" y="219456"/>
            <a:ext cx="6858000" cy="155448"/>
          </a:xfrm>
          <a:prstGeom prst="rect">
            <a:avLst/>
          </a:prstGeom>
          <a:noFill/>
          <a:ln/>
        </p:spPr>
        <p:txBody>
          <a:bodyPr wrap="square" rtlCol="0" anchor="ctr"/>
          <a:lstStyle/>
          <a:p>
            <a:pPr marL="0" indent="0">
              <a:buNone/>
            </a:pPr>
            <a:r>
              <a:rPr lang="fr-CH" sz="730" noProof="0" dirty="0">
                <a:solidFill>
                  <a:srgbClr val="586069"/>
                </a:solidFill>
              </a:rPr>
              <a:t>ODD 1.3.1</a:t>
            </a:r>
            <a:endParaRPr lang="fr-CH" sz="730" noProof="0" dirty="0"/>
          </a:p>
        </p:txBody>
      </p:sp>
      <p:pic>
        <p:nvPicPr>
          <p:cNvPr id="5" name="Image 0" descr="/mnt/data/ref_extract/ppt/media/image1.png">
            <a:extLst>
              <a:ext uri="{FF2B5EF4-FFF2-40B4-BE49-F238E27FC236}">
                <a16:creationId xmlns:a16="http://schemas.microsoft.com/office/drawing/2014/main" id="{102BA3FB-F9B7-979B-5366-6C68769FD1B4}"/>
              </a:ext>
            </a:extLst>
          </p:cNvPr>
          <p:cNvPicPr>
            <a:picLocks noChangeAspect="1"/>
          </p:cNvPicPr>
          <p:nvPr/>
        </p:nvPicPr>
        <p:blipFill>
          <a:blip r:embed="rId3"/>
          <a:stretch>
            <a:fillRect/>
          </a:stretch>
        </p:blipFill>
        <p:spPr>
          <a:xfrm>
            <a:off x="9921240" y="393192"/>
            <a:ext cx="1737360" cy="457200"/>
          </a:xfrm>
          <a:prstGeom prst="rect">
            <a:avLst/>
          </a:prstGeom>
        </p:spPr>
      </p:pic>
      <p:sp>
        <p:nvSpPr>
          <p:cNvPr id="6" name="Shape 3">
            <a:extLst>
              <a:ext uri="{FF2B5EF4-FFF2-40B4-BE49-F238E27FC236}">
                <a16:creationId xmlns:a16="http://schemas.microsoft.com/office/drawing/2014/main" id="{19E98C82-4A21-FDD7-979C-02FBE41CE6A5}"/>
              </a:ext>
            </a:extLst>
          </p:cNvPr>
          <p:cNvSpPr/>
          <p:nvPr/>
        </p:nvSpPr>
        <p:spPr>
          <a:xfrm>
            <a:off x="594360" y="987552"/>
            <a:ext cx="10972800" cy="0"/>
          </a:xfrm>
          <a:prstGeom prst="line">
            <a:avLst/>
          </a:prstGeom>
          <a:noFill/>
          <a:ln w="12700">
            <a:solidFill>
              <a:srgbClr val="D9E1F2"/>
            </a:solidFill>
            <a:prstDash val="solid"/>
          </a:ln>
        </p:spPr>
        <p:txBody>
          <a:bodyPr/>
          <a:lstStyle/>
          <a:p>
            <a:endParaRPr lang="fr-CH" noProof="0" dirty="0"/>
          </a:p>
        </p:txBody>
      </p:sp>
      <p:sp>
        <p:nvSpPr>
          <p:cNvPr id="7" name="Text 4">
            <a:extLst>
              <a:ext uri="{FF2B5EF4-FFF2-40B4-BE49-F238E27FC236}">
                <a16:creationId xmlns:a16="http://schemas.microsoft.com/office/drawing/2014/main" id="{FFB95871-B622-8C7F-CC8B-1B7E214AD52C}"/>
              </a:ext>
            </a:extLst>
          </p:cNvPr>
          <p:cNvSpPr/>
          <p:nvPr/>
        </p:nvSpPr>
        <p:spPr>
          <a:xfrm>
            <a:off x="594360" y="6510528"/>
            <a:ext cx="6583680" cy="164592"/>
          </a:xfrm>
          <a:prstGeom prst="rect">
            <a:avLst/>
          </a:prstGeom>
          <a:noFill/>
          <a:ln/>
        </p:spPr>
        <p:txBody>
          <a:bodyPr wrap="square" rtlCol="0" anchor="ctr"/>
          <a:lstStyle/>
          <a:p>
            <a:pPr marL="0" indent="0">
              <a:buNone/>
            </a:pPr>
            <a:r>
              <a:rPr lang="fr-CH" sz="750" noProof="0" dirty="0">
                <a:solidFill>
                  <a:srgbClr val="586069"/>
                </a:solidFill>
                <a:latin typeface="Arial" pitchFamily="34" charset="0"/>
                <a:ea typeface="Arial" pitchFamily="34" charset="-122"/>
                <a:cs typeface="Arial" pitchFamily="34" charset="-120"/>
              </a:rPr>
              <a:t>Faire avancer la justice sociale, promouvoir le travail décent</a:t>
            </a:r>
            <a:endParaRPr lang="fr-CH" sz="750" noProof="0" dirty="0"/>
          </a:p>
        </p:txBody>
      </p:sp>
      <p:sp>
        <p:nvSpPr>
          <p:cNvPr id="8" name="Text 5">
            <a:extLst>
              <a:ext uri="{FF2B5EF4-FFF2-40B4-BE49-F238E27FC236}">
                <a16:creationId xmlns:a16="http://schemas.microsoft.com/office/drawing/2014/main" id="{DCA559E7-B114-C056-3199-2127C6F364EF}"/>
              </a:ext>
            </a:extLst>
          </p:cNvPr>
          <p:cNvSpPr/>
          <p:nvPr/>
        </p:nvSpPr>
        <p:spPr>
          <a:xfrm>
            <a:off x="7543800" y="6510528"/>
            <a:ext cx="3017520" cy="164592"/>
          </a:xfrm>
          <a:prstGeom prst="rect">
            <a:avLst/>
          </a:prstGeom>
          <a:noFill/>
          <a:ln/>
        </p:spPr>
        <p:txBody>
          <a:bodyPr wrap="square" rtlCol="0" anchor="ctr"/>
          <a:lstStyle/>
          <a:p>
            <a:pPr marL="0" indent="0" algn="r">
              <a:buNone/>
            </a:pPr>
            <a:r>
              <a:rPr lang="fr-CH" sz="730" noProof="0" dirty="0">
                <a:solidFill>
                  <a:srgbClr val="586069"/>
                </a:solidFill>
                <a:latin typeface="Arial" pitchFamily="34" charset="0"/>
                <a:ea typeface="Arial" pitchFamily="34" charset="-122"/>
                <a:cs typeface="Arial" pitchFamily="34" charset="-120"/>
              </a:rPr>
              <a:t>Atelier 2e Bulletin Statistique RDC | 14 mai 2026</a:t>
            </a:r>
            <a:endParaRPr lang="fr-CH" sz="730" noProof="0" dirty="0"/>
          </a:p>
        </p:txBody>
      </p:sp>
      <p:sp>
        <p:nvSpPr>
          <p:cNvPr id="9" name="Text 6">
            <a:extLst>
              <a:ext uri="{FF2B5EF4-FFF2-40B4-BE49-F238E27FC236}">
                <a16:creationId xmlns:a16="http://schemas.microsoft.com/office/drawing/2014/main" id="{35D0DB8F-8A6C-3FFD-BA65-F7AAB99238BE}"/>
              </a:ext>
            </a:extLst>
          </p:cNvPr>
          <p:cNvSpPr/>
          <p:nvPr/>
        </p:nvSpPr>
        <p:spPr>
          <a:xfrm>
            <a:off x="11292840" y="6473952"/>
            <a:ext cx="411480" cy="201168"/>
          </a:xfrm>
          <a:prstGeom prst="rect">
            <a:avLst/>
          </a:prstGeom>
          <a:noFill/>
          <a:ln/>
        </p:spPr>
        <p:txBody>
          <a:bodyPr wrap="square" lIns="27432" tIns="18288" rIns="27432" bIns="18288" rtlCol="0" anchor="ctr"/>
          <a:lstStyle/>
          <a:p>
            <a:pPr marL="0" indent="0" algn="r">
              <a:buNone/>
            </a:pPr>
            <a:r>
              <a:rPr lang="fr-CH" sz="850" b="0" noProof="0" dirty="0">
                <a:solidFill>
                  <a:srgbClr val="505050"/>
                </a:solidFill>
                <a:latin typeface="Arial"/>
              </a:rPr>
              <a:t>11</a:t>
            </a:r>
            <a:endParaRPr lang="fr-CH" sz="750" noProof="0" dirty="0"/>
          </a:p>
        </p:txBody>
      </p:sp>
      <p:graphicFrame>
        <p:nvGraphicFramePr>
          <p:cNvPr id="10" name="Table 9">
            <a:extLst>
              <a:ext uri="{FF2B5EF4-FFF2-40B4-BE49-F238E27FC236}">
                <a16:creationId xmlns:a16="http://schemas.microsoft.com/office/drawing/2014/main" id="{412A4B18-9140-B4D3-641C-2CC9083013E0}"/>
              </a:ext>
            </a:extLst>
          </p:cNvPr>
          <p:cNvGraphicFramePr>
            <a:graphicFrameLocks noGrp="1"/>
          </p:cNvGraphicFramePr>
          <p:nvPr>
            <p:extLst>
              <p:ext uri="{D42A27DB-BD31-4B8C-83A1-F6EECF244321}">
                <p14:modId xmlns:p14="http://schemas.microsoft.com/office/powerpoint/2010/main" val="1165092394"/>
              </p:ext>
            </p:extLst>
          </p:nvPr>
        </p:nvGraphicFramePr>
        <p:xfrm>
          <a:off x="777240" y="1133855"/>
          <a:ext cx="10972800" cy="4654296"/>
        </p:xfrm>
        <a:graphic>
          <a:graphicData uri="http://schemas.openxmlformats.org/drawingml/2006/table">
            <a:tbl>
              <a:tblPr firstRow="1" bandRow="1">
                <a:tableStyleId>{5C22544A-7EE6-4342-B048-85BDC9FD1C3A}</a:tableStyleId>
              </a:tblPr>
              <a:tblGrid>
                <a:gridCol w="1588888">
                  <a:extLst>
                    <a:ext uri="{9D8B030D-6E8A-4147-A177-3AD203B41FA5}">
                      <a16:colId xmlns:a16="http://schemas.microsoft.com/office/drawing/2014/main" val="20000"/>
                    </a:ext>
                  </a:extLst>
                </a:gridCol>
                <a:gridCol w="9383912">
                  <a:extLst>
                    <a:ext uri="{9D8B030D-6E8A-4147-A177-3AD203B41FA5}">
                      <a16:colId xmlns:a16="http://schemas.microsoft.com/office/drawing/2014/main" val="20001"/>
                    </a:ext>
                  </a:extLst>
                </a:gridCol>
              </a:tblGrid>
              <a:tr h="390484">
                <a:tc>
                  <a:txBody>
                    <a:bodyPr/>
                    <a:lstStyle/>
                    <a:p>
                      <a:pPr algn="l"/>
                      <a:r>
                        <a:rPr lang="fr-CH" sz="1400" b="1" noProof="0" dirty="0">
                          <a:solidFill>
                            <a:srgbClr val="FFFFFF"/>
                          </a:solidFill>
                          <a:latin typeface="Arial"/>
                        </a:rPr>
                        <a:t>Dimension</a:t>
                      </a:r>
                    </a:p>
                  </a:txBody>
                  <a:tcPr marL="54864" marR="54864" marT="18288" marB="18288" anchor="ctr">
                    <a:solidFill>
                      <a:srgbClr val="223399"/>
                    </a:solidFill>
                  </a:tcPr>
                </a:tc>
                <a:tc>
                  <a:txBody>
                    <a:bodyPr/>
                    <a:lstStyle/>
                    <a:p>
                      <a:pPr algn="l"/>
                      <a:r>
                        <a:rPr lang="fr-CH" sz="1400" b="1" noProof="0" dirty="0">
                          <a:solidFill>
                            <a:srgbClr val="FFFFFF"/>
                          </a:solidFill>
                          <a:latin typeface="Arial"/>
                        </a:rPr>
                        <a:t>Indicateur de couverture</a:t>
                      </a:r>
                    </a:p>
                  </a:txBody>
                  <a:tcPr marL="54864" marR="54864" marT="18288" marB="18288" anchor="ctr">
                    <a:solidFill>
                      <a:srgbClr val="223399"/>
                    </a:solidFill>
                  </a:tcPr>
                </a:tc>
                <a:extLst>
                  <a:ext uri="{0D108BD9-81ED-4DB2-BD59-A6C34878D82A}">
                    <a16:rowId xmlns:a16="http://schemas.microsoft.com/office/drawing/2014/main" val="10000"/>
                  </a:ext>
                </a:extLst>
              </a:tr>
              <a:tr h="4263812">
                <a:tc>
                  <a:txBody>
                    <a:bodyPr/>
                    <a:lstStyle/>
                    <a:p>
                      <a:pPr algn="l"/>
                      <a:r>
                        <a:rPr lang="fr-CH" sz="2000" b="1" noProof="0" dirty="0">
                          <a:solidFill>
                            <a:schemeClr val="bg1"/>
                          </a:solidFill>
                          <a:latin typeface="Arial"/>
                        </a:rPr>
                        <a:t>Indicateur agrégé</a:t>
                      </a:r>
                    </a:p>
                  </a:txBody>
                  <a:tcPr marL="54864" marR="54864" marT="18288" marB="18288" anchor="ctr">
                    <a:solidFill>
                      <a:srgbClr val="FF5050"/>
                    </a:solidFill>
                  </a:tcPr>
                </a:tc>
                <a:tc>
                  <a:txBody>
                    <a:bodyPr/>
                    <a:lstStyle/>
                    <a:p>
                      <a:pPr marL="0" indent="0">
                        <a:buFontTx/>
                        <a:buNone/>
                      </a:pPr>
                      <a:r>
                        <a:rPr lang="fr-FR" sz="2000" dirty="0">
                          <a:solidFill>
                            <a:schemeClr val="bg1"/>
                          </a:solidFill>
                        </a:rPr>
                        <a:t>Proportion de la population couverte par au moins une prestation </a:t>
                      </a:r>
                      <a:r>
                        <a:rPr lang="fr-FR" sz="2000" u="sng" dirty="0">
                          <a:solidFill>
                            <a:schemeClr val="bg1"/>
                          </a:solidFill>
                        </a:rPr>
                        <a:t>en espèces</a:t>
                      </a:r>
                      <a:r>
                        <a:rPr lang="fr-FR" sz="2000" dirty="0">
                          <a:solidFill>
                            <a:schemeClr val="bg1"/>
                          </a:solidFill>
                        </a:rPr>
                        <a:t>: pourcentage de la population qui bénéficie de prestations en espèces pour au moins une des éventualités ou un des domaines de la sécurité sociale (prestations contributives ou non contributives), ou bien cotisant activement à au moins un régime de sécurité sociale. </a:t>
                      </a:r>
                    </a:p>
                  </a:txBody>
                  <a:tcPr marL="54864" marR="54864" marT="18288" marB="18288" anchor="ctr">
                    <a:solidFill>
                      <a:srgbClr val="FF5050"/>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9040477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2A136-6828-47BC-2CA8-F56690E5B18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894B6EF-C1A5-D620-8369-B73934194515}"/>
              </a:ext>
            </a:extLst>
          </p:cNvPr>
          <p:cNvSpPr/>
          <p:nvPr/>
        </p:nvSpPr>
        <p:spPr>
          <a:xfrm>
            <a:off x="0" y="0"/>
            <a:ext cx="12191695" cy="164592"/>
          </a:xfrm>
          <a:prstGeom prst="rect">
            <a:avLst/>
          </a:prstGeom>
          <a:solidFill>
            <a:srgbClr val="1428A0"/>
          </a:solidFill>
          <a:ln w="12700">
            <a:solidFill>
              <a:srgbClr val="1428A0"/>
            </a:solidFill>
            <a:prstDash val="solid"/>
          </a:ln>
        </p:spPr>
        <p:txBody>
          <a:bodyPr/>
          <a:lstStyle/>
          <a:p>
            <a:endParaRPr lang="fr-CH" noProof="0" dirty="0"/>
          </a:p>
        </p:txBody>
      </p:sp>
      <p:sp>
        <p:nvSpPr>
          <p:cNvPr id="3" name="Text 1">
            <a:extLst>
              <a:ext uri="{FF2B5EF4-FFF2-40B4-BE49-F238E27FC236}">
                <a16:creationId xmlns:a16="http://schemas.microsoft.com/office/drawing/2014/main" id="{4CE6374D-5F5E-3E99-1FCB-959960C1EFA2}"/>
              </a:ext>
            </a:extLst>
          </p:cNvPr>
          <p:cNvSpPr/>
          <p:nvPr/>
        </p:nvSpPr>
        <p:spPr>
          <a:xfrm>
            <a:off x="594360" y="420624"/>
            <a:ext cx="8686800" cy="411480"/>
          </a:xfrm>
          <a:prstGeom prst="rect">
            <a:avLst/>
          </a:prstGeom>
          <a:noFill/>
          <a:ln/>
        </p:spPr>
        <p:txBody>
          <a:bodyPr wrap="square" rtlCol="0" anchor="ctr">
            <a:normAutofit fontScale="92500" lnSpcReduction="10000"/>
          </a:bodyPr>
          <a:lstStyle/>
          <a:p>
            <a:pPr marL="0" indent="0">
              <a:buNone/>
            </a:pPr>
            <a:r>
              <a:rPr lang="fr-CH" sz="2400" b="1" noProof="0" dirty="0">
                <a:solidFill>
                  <a:srgbClr val="1428A0"/>
                </a:solidFill>
                <a:latin typeface="Arial" pitchFamily="34" charset="0"/>
                <a:ea typeface="Arial" pitchFamily="34" charset="-122"/>
                <a:cs typeface="Arial" pitchFamily="34" charset="-120"/>
              </a:rPr>
              <a:t>Liste des indicateurs ODD 1.3.1</a:t>
            </a:r>
            <a:endParaRPr lang="fr-CH" sz="2400" noProof="0" dirty="0"/>
          </a:p>
        </p:txBody>
      </p:sp>
      <p:sp>
        <p:nvSpPr>
          <p:cNvPr id="4" name="Text 2">
            <a:extLst>
              <a:ext uri="{FF2B5EF4-FFF2-40B4-BE49-F238E27FC236}">
                <a16:creationId xmlns:a16="http://schemas.microsoft.com/office/drawing/2014/main" id="{B214CAA5-E709-1541-5797-BD18D0D71822}"/>
              </a:ext>
            </a:extLst>
          </p:cNvPr>
          <p:cNvSpPr/>
          <p:nvPr/>
        </p:nvSpPr>
        <p:spPr>
          <a:xfrm>
            <a:off x="612648" y="219456"/>
            <a:ext cx="6858000" cy="155448"/>
          </a:xfrm>
          <a:prstGeom prst="rect">
            <a:avLst/>
          </a:prstGeom>
          <a:noFill/>
          <a:ln/>
        </p:spPr>
        <p:txBody>
          <a:bodyPr wrap="square" rtlCol="0" anchor="ctr"/>
          <a:lstStyle/>
          <a:p>
            <a:pPr marL="0" indent="0">
              <a:buNone/>
            </a:pPr>
            <a:r>
              <a:rPr lang="fr-CH" sz="730" noProof="0" dirty="0">
                <a:solidFill>
                  <a:srgbClr val="586069"/>
                </a:solidFill>
              </a:rPr>
              <a:t>ODD 1.3.1</a:t>
            </a:r>
            <a:endParaRPr lang="fr-CH" sz="730" noProof="0" dirty="0"/>
          </a:p>
        </p:txBody>
      </p:sp>
      <p:sp>
        <p:nvSpPr>
          <p:cNvPr id="6" name="Shape 3">
            <a:extLst>
              <a:ext uri="{FF2B5EF4-FFF2-40B4-BE49-F238E27FC236}">
                <a16:creationId xmlns:a16="http://schemas.microsoft.com/office/drawing/2014/main" id="{AA2E04D6-7C2D-B4C6-296E-B1D9CE34518E}"/>
              </a:ext>
            </a:extLst>
          </p:cNvPr>
          <p:cNvSpPr/>
          <p:nvPr/>
        </p:nvSpPr>
        <p:spPr>
          <a:xfrm>
            <a:off x="594360" y="987552"/>
            <a:ext cx="10972800" cy="0"/>
          </a:xfrm>
          <a:prstGeom prst="line">
            <a:avLst/>
          </a:prstGeom>
          <a:noFill/>
          <a:ln w="12700">
            <a:solidFill>
              <a:srgbClr val="D9E1F2"/>
            </a:solidFill>
            <a:prstDash val="solid"/>
          </a:ln>
        </p:spPr>
        <p:txBody>
          <a:bodyPr/>
          <a:lstStyle/>
          <a:p>
            <a:endParaRPr lang="fr-CH" noProof="0" dirty="0"/>
          </a:p>
        </p:txBody>
      </p:sp>
      <p:sp>
        <p:nvSpPr>
          <p:cNvPr id="8" name="Text 5">
            <a:extLst>
              <a:ext uri="{FF2B5EF4-FFF2-40B4-BE49-F238E27FC236}">
                <a16:creationId xmlns:a16="http://schemas.microsoft.com/office/drawing/2014/main" id="{20383A39-345E-09C4-BFF4-F14C2B6EA863}"/>
              </a:ext>
            </a:extLst>
          </p:cNvPr>
          <p:cNvSpPr/>
          <p:nvPr/>
        </p:nvSpPr>
        <p:spPr>
          <a:xfrm>
            <a:off x="7543800" y="6510528"/>
            <a:ext cx="3017520" cy="164592"/>
          </a:xfrm>
          <a:prstGeom prst="rect">
            <a:avLst/>
          </a:prstGeom>
          <a:noFill/>
          <a:ln/>
        </p:spPr>
        <p:txBody>
          <a:bodyPr wrap="square" rtlCol="0" anchor="ctr"/>
          <a:lstStyle/>
          <a:p>
            <a:pPr marL="0" indent="0" algn="r">
              <a:buNone/>
            </a:pPr>
            <a:r>
              <a:rPr lang="fr-CH" sz="730" noProof="0" dirty="0">
                <a:solidFill>
                  <a:srgbClr val="586069"/>
                </a:solidFill>
                <a:latin typeface="Arial" pitchFamily="34" charset="0"/>
                <a:ea typeface="Arial" pitchFamily="34" charset="-122"/>
                <a:cs typeface="Arial" pitchFamily="34" charset="-120"/>
              </a:rPr>
              <a:t>Atelier 2e Bulletin Statistique RDC | 14 mai 2026</a:t>
            </a:r>
            <a:endParaRPr lang="fr-CH" sz="730" noProof="0" dirty="0"/>
          </a:p>
        </p:txBody>
      </p:sp>
      <p:sp>
        <p:nvSpPr>
          <p:cNvPr id="9" name="Text 6">
            <a:extLst>
              <a:ext uri="{FF2B5EF4-FFF2-40B4-BE49-F238E27FC236}">
                <a16:creationId xmlns:a16="http://schemas.microsoft.com/office/drawing/2014/main" id="{CF685D18-47DC-0517-5876-9A8B56D535B9}"/>
              </a:ext>
            </a:extLst>
          </p:cNvPr>
          <p:cNvSpPr/>
          <p:nvPr/>
        </p:nvSpPr>
        <p:spPr>
          <a:xfrm>
            <a:off x="11292840" y="6473952"/>
            <a:ext cx="411480" cy="201168"/>
          </a:xfrm>
          <a:prstGeom prst="rect">
            <a:avLst/>
          </a:prstGeom>
          <a:noFill/>
          <a:ln/>
        </p:spPr>
        <p:txBody>
          <a:bodyPr wrap="square" lIns="27432" tIns="18288" rIns="27432" bIns="18288" rtlCol="0" anchor="ctr"/>
          <a:lstStyle/>
          <a:p>
            <a:pPr marL="0" indent="0" algn="r">
              <a:buNone/>
            </a:pPr>
            <a:r>
              <a:rPr lang="fr-CH" sz="850" b="0" noProof="0" dirty="0">
                <a:solidFill>
                  <a:srgbClr val="505050"/>
                </a:solidFill>
                <a:latin typeface="Arial"/>
              </a:rPr>
              <a:t>11</a:t>
            </a:r>
            <a:endParaRPr lang="fr-CH" sz="750" noProof="0" dirty="0"/>
          </a:p>
        </p:txBody>
      </p:sp>
      <p:graphicFrame>
        <p:nvGraphicFramePr>
          <p:cNvPr id="10" name="Table 9">
            <a:extLst>
              <a:ext uri="{FF2B5EF4-FFF2-40B4-BE49-F238E27FC236}">
                <a16:creationId xmlns:a16="http://schemas.microsoft.com/office/drawing/2014/main" id="{1D347A1F-311E-8F7F-781A-7CE92FB53EF9}"/>
              </a:ext>
            </a:extLst>
          </p:cNvPr>
          <p:cNvGraphicFramePr>
            <a:graphicFrameLocks noGrp="1"/>
          </p:cNvGraphicFramePr>
          <p:nvPr>
            <p:extLst>
              <p:ext uri="{D42A27DB-BD31-4B8C-83A1-F6EECF244321}">
                <p14:modId xmlns:p14="http://schemas.microsoft.com/office/powerpoint/2010/main" val="506556101"/>
              </p:ext>
            </p:extLst>
          </p:nvPr>
        </p:nvGraphicFramePr>
        <p:xfrm>
          <a:off x="265176" y="911685"/>
          <a:ext cx="11777472" cy="5494398"/>
        </p:xfrm>
        <a:graphic>
          <a:graphicData uri="http://schemas.openxmlformats.org/drawingml/2006/table">
            <a:tbl>
              <a:tblPr firstRow="1" bandRow="1">
                <a:tableStyleId>{5C22544A-7EE6-4342-B048-85BDC9FD1C3A}</a:tableStyleId>
              </a:tblPr>
              <a:tblGrid>
                <a:gridCol w="1752160">
                  <a:extLst>
                    <a:ext uri="{9D8B030D-6E8A-4147-A177-3AD203B41FA5}">
                      <a16:colId xmlns:a16="http://schemas.microsoft.com/office/drawing/2014/main" val="20000"/>
                    </a:ext>
                  </a:extLst>
                </a:gridCol>
                <a:gridCol w="10025312">
                  <a:extLst>
                    <a:ext uri="{9D8B030D-6E8A-4147-A177-3AD203B41FA5}">
                      <a16:colId xmlns:a16="http://schemas.microsoft.com/office/drawing/2014/main" val="20001"/>
                    </a:ext>
                  </a:extLst>
                </a:gridCol>
              </a:tblGrid>
              <a:tr h="294946">
                <a:tc>
                  <a:txBody>
                    <a:bodyPr/>
                    <a:lstStyle/>
                    <a:p>
                      <a:pPr algn="l"/>
                      <a:endParaRPr lang="fr-CH" sz="1100" b="1" noProof="0" dirty="0">
                        <a:solidFill>
                          <a:srgbClr val="FFFFFF"/>
                        </a:solidFill>
                        <a:latin typeface="Arial"/>
                      </a:endParaRPr>
                    </a:p>
                  </a:txBody>
                  <a:tcPr marL="54864" marR="54864" marT="18288" marB="18288" anchor="ctr">
                    <a:solidFill>
                      <a:srgbClr val="223399"/>
                    </a:solidFill>
                  </a:tcPr>
                </a:tc>
                <a:tc>
                  <a:txBody>
                    <a:bodyPr/>
                    <a:lstStyle/>
                    <a:p>
                      <a:pPr algn="l"/>
                      <a:r>
                        <a:rPr lang="fr-CH" sz="1100" b="1" noProof="0" dirty="0">
                          <a:solidFill>
                            <a:srgbClr val="FFFFFF"/>
                          </a:solidFill>
                          <a:latin typeface="Arial"/>
                        </a:rPr>
                        <a:t>Indicateur de couverture</a:t>
                      </a:r>
                    </a:p>
                  </a:txBody>
                  <a:tcPr marL="54864" marR="54864" marT="18288" marB="18288" anchor="ctr">
                    <a:solidFill>
                      <a:srgbClr val="223399"/>
                    </a:solidFill>
                  </a:tcPr>
                </a:tc>
                <a:extLst>
                  <a:ext uri="{0D108BD9-81ED-4DB2-BD59-A6C34878D82A}">
                    <a16:rowId xmlns:a16="http://schemas.microsoft.com/office/drawing/2014/main" val="10000"/>
                  </a:ext>
                </a:extLst>
              </a:tr>
              <a:tr h="303021">
                <a:tc>
                  <a:txBody>
                    <a:bodyPr/>
                    <a:lstStyle/>
                    <a:p>
                      <a:pPr algn="l"/>
                      <a:r>
                        <a:rPr lang="fr-CH" sz="1200" b="0" noProof="0" dirty="0">
                          <a:solidFill>
                            <a:schemeClr val="tx1"/>
                          </a:solidFill>
                          <a:latin typeface="+mn-lt"/>
                        </a:rPr>
                        <a:t>Retraite*</a:t>
                      </a:r>
                    </a:p>
                  </a:txBody>
                  <a:tcPr marL="54864" marR="54864" marT="18288" marB="18288" anchor="ctr">
                    <a:solidFill>
                      <a:srgbClr val="F8F9FC"/>
                    </a:solidFill>
                  </a:tcPr>
                </a:tc>
                <a:tc>
                  <a:txBody>
                    <a:bodyPr/>
                    <a:lstStyle/>
                    <a:p>
                      <a:pPr algn="l"/>
                      <a:r>
                        <a:rPr lang="fr-CH" sz="1200" b="0" noProof="0" dirty="0">
                          <a:solidFill>
                            <a:schemeClr val="tx1"/>
                          </a:solidFill>
                          <a:latin typeface="+mn-lt"/>
                        </a:rPr>
                        <a:t>Population active contribuant à un régime de retraite.</a:t>
                      </a:r>
                    </a:p>
                  </a:txBody>
                  <a:tcPr marL="54864" marR="54864" marT="18288" marB="18288" anchor="ctr">
                    <a:solidFill>
                      <a:srgbClr val="F8F9FC"/>
                    </a:solidFill>
                  </a:tcPr>
                </a:tc>
                <a:extLst>
                  <a:ext uri="{0D108BD9-81ED-4DB2-BD59-A6C34878D82A}">
                    <a16:rowId xmlns:a16="http://schemas.microsoft.com/office/drawing/2014/main" val="10002"/>
                  </a:ext>
                </a:extLst>
              </a:tr>
              <a:tr h="690664">
                <a:tc>
                  <a:txBody>
                    <a:bodyPr/>
                    <a:lstStyle/>
                    <a:p>
                      <a:pPr algn="l"/>
                      <a:r>
                        <a:rPr lang="fr-CH" sz="1200" b="1" kern="1200" noProof="0" dirty="0">
                          <a:solidFill>
                            <a:srgbClr val="1E2DBE"/>
                          </a:solidFill>
                          <a:latin typeface="+mn-lt"/>
                          <a:ea typeface="+mn-ea"/>
                          <a:cs typeface="+mn-cs"/>
                        </a:rPr>
                        <a:t>1. </a:t>
                      </a:r>
                      <a:r>
                        <a:rPr lang="fr-CH" sz="1200" b="0" noProof="0" dirty="0">
                          <a:solidFill>
                            <a:srgbClr val="262626"/>
                          </a:solidFill>
                          <a:latin typeface="+mn-lt"/>
                        </a:rPr>
                        <a:t>Enfants</a:t>
                      </a:r>
                    </a:p>
                  </a:txBody>
                  <a:tcPr marL="54864" marR="54864" marT="18288" marB="18288" anchor="ctr">
                    <a:solidFill>
                      <a:srgbClr val="FFFFFF"/>
                    </a:solidFill>
                  </a:tcPr>
                </a:tc>
                <a:tc>
                  <a:txBody>
                    <a:bodyPr/>
                    <a:lstStyle/>
                    <a:p>
                      <a:pPr marL="0" indent="0">
                        <a:buFontTx/>
                        <a:buNone/>
                      </a:pPr>
                      <a:r>
                        <a:rPr lang="fr-FR" sz="1200" dirty="0">
                          <a:latin typeface="+mn-lt"/>
                        </a:rPr>
                        <a:t>Proportion de la population couverte par au moins une prestation </a:t>
                      </a:r>
                      <a:r>
                        <a:rPr lang="fr-FR" sz="1200" u="sng" dirty="0">
                          <a:latin typeface="+mn-lt"/>
                        </a:rPr>
                        <a:t>en espèces</a:t>
                      </a:r>
                      <a:r>
                        <a:rPr lang="fr-FR" sz="1200" dirty="0">
                          <a:latin typeface="+mn-lt"/>
                        </a:rPr>
                        <a:t>: pourcentage de la population qui bénéficie de prestations en espèces pour au moins une des éventualités ou un des domaines de la sécurité sociale (prestations contributives ou non contributives), ou bien cotisant activement à au moins un régime de sécurité sociale.</a:t>
                      </a:r>
                    </a:p>
                  </a:txBody>
                  <a:tcPr marL="54864" marR="54864" marT="18288" marB="18288" anchor="ctr">
                    <a:solidFill>
                      <a:srgbClr val="FFFFFF"/>
                    </a:solidFill>
                  </a:tcPr>
                </a:tc>
                <a:extLst>
                  <a:ext uri="{0D108BD9-81ED-4DB2-BD59-A6C34878D82A}">
                    <a16:rowId xmlns:a16="http://schemas.microsoft.com/office/drawing/2014/main" val="10003"/>
                  </a:ext>
                </a:extLst>
              </a:tr>
              <a:tr h="856234">
                <a:tc>
                  <a:txBody>
                    <a:bodyPr/>
                    <a:lstStyle/>
                    <a:p>
                      <a:pPr algn="l"/>
                      <a:r>
                        <a:rPr lang="fr-CH" sz="1200" b="1" noProof="0" dirty="0">
                          <a:solidFill>
                            <a:srgbClr val="1E2DBE"/>
                          </a:solidFill>
                          <a:latin typeface="+mn-lt"/>
                        </a:rPr>
                        <a:t>2. </a:t>
                      </a:r>
                      <a:r>
                        <a:rPr lang="fr-CH" sz="1200" b="0" noProof="0" dirty="0">
                          <a:solidFill>
                            <a:srgbClr val="262626"/>
                          </a:solidFill>
                          <a:latin typeface="+mn-lt"/>
                        </a:rPr>
                        <a:t>Maternité</a:t>
                      </a:r>
                    </a:p>
                  </a:txBody>
                  <a:tcPr marL="54864" marR="54864" marT="18288" marB="18288" anchor="ctr">
                    <a:solidFill>
                      <a:srgbClr val="F8F9FC"/>
                    </a:solidFill>
                  </a:tcPr>
                </a:tc>
                <a:tc>
                  <a:txBody>
                    <a:bodyPr/>
                    <a:lstStyle/>
                    <a:p>
                      <a:pPr marL="0" indent="0">
                        <a:buFontTx/>
                        <a:buNone/>
                      </a:pPr>
                      <a:r>
                        <a:rPr lang="fr-FR" sz="1200" dirty="0">
                          <a:latin typeface="+mn-lt"/>
                        </a:rPr>
                        <a:t>Proportion de femmes ayant accouché bénéficiant de prestations de maternité: nombre de femmes qui perçoivent des prestations de maternité </a:t>
                      </a:r>
                      <a:r>
                        <a:rPr lang="fr-FR" sz="1200" u="sng" dirty="0">
                          <a:latin typeface="+mn-lt"/>
                        </a:rPr>
                        <a:t>en espèces </a:t>
                      </a:r>
                      <a:r>
                        <a:rPr lang="fr-FR" sz="1200" dirty="0">
                          <a:latin typeface="+mn-lt"/>
                        </a:rPr>
                        <a:t>rapporté au nombre de femmes ayant accouché au cours de la même année (estimation fondée sur les taux de fécondité en fonction de l’âge publiés par les Nations Unies dans leurs perspectives de la population mondiale (World Population Prospects) ou du nombre de naissances vivantes corrigé de la part de naissances de jumeaux ou de triplés). </a:t>
                      </a:r>
                    </a:p>
                  </a:txBody>
                  <a:tcPr marL="54864" marR="54864" marT="18288" marB="18288" anchor="ctr">
                    <a:solidFill>
                      <a:srgbClr val="F8F9FC"/>
                    </a:solidFill>
                  </a:tcPr>
                </a:tc>
                <a:extLst>
                  <a:ext uri="{0D108BD9-81ED-4DB2-BD59-A6C34878D82A}">
                    <a16:rowId xmlns:a16="http://schemas.microsoft.com/office/drawing/2014/main" val="10004"/>
                  </a:ext>
                </a:extLst>
              </a:tr>
              <a:tr h="690664">
                <a:tc>
                  <a:txBody>
                    <a:bodyPr/>
                    <a:lstStyle/>
                    <a:p>
                      <a:pPr marL="0" algn="l" defTabSz="914400" rtl="0" eaLnBrk="1" latinLnBrk="0" hangingPunct="1"/>
                      <a:r>
                        <a:rPr lang="fr-CH" sz="1200" b="1" kern="1200" noProof="0" dirty="0">
                          <a:solidFill>
                            <a:srgbClr val="1E2DBE"/>
                          </a:solidFill>
                          <a:latin typeface="+mn-lt"/>
                          <a:ea typeface="+mn-ea"/>
                          <a:cs typeface="+mn-cs"/>
                        </a:rPr>
                        <a:t>3. </a:t>
                      </a:r>
                      <a:r>
                        <a:rPr lang="fr-CH" sz="1200" b="0" kern="1200" noProof="0" dirty="0">
                          <a:solidFill>
                            <a:srgbClr val="262626"/>
                          </a:solidFill>
                          <a:latin typeface="+mn-lt"/>
                          <a:ea typeface="+mn-ea"/>
                          <a:cs typeface="+mn-cs"/>
                        </a:rPr>
                        <a:t>Invalidité / handicap</a:t>
                      </a:r>
                    </a:p>
                  </a:txBody>
                  <a:tcPr marL="54864" marR="54864" marT="18288" marB="18288" anchor="ctr">
                    <a:solidFill>
                      <a:schemeClr val="bg1"/>
                    </a:solidFill>
                  </a:tcPr>
                </a:tc>
                <a:tc>
                  <a:txBody>
                    <a:bodyPr/>
                    <a:lstStyle/>
                    <a:p>
                      <a:pPr marL="0" indent="0" algn="l" defTabSz="914400" rtl="0" eaLnBrk="1" latinLnBrk="0" hangingPunct="1">
                        <a:buFontTx/>
                        <a:buNone/>
                      </a:pPr>
                      <a:r>
                        <a:rPr lang="fr-FR" sz="1200" b="0" kern="1200" dirty="0">
                          <a:solidFill>
                            <a:srgbClr val="262626"/>
                          </a:solidFill>
                          <a:latin typeface="+mn-lt"/>
                          <a:ea typeface="+mn-ea"/>
                          <a:cs typeface="+mn-cs"/>
                        </a:rPr>
                        <a:t>Proportion de personnes handicapées bénéficiant de prestations: nombre de personnes qui perçoivent des prestations d’invalidité  rapporté au nombre de personnes lourdement handicapées. Ce dernier est calculé comme le produit des ratios de prévalence du handicap établis par l’OMS pour chaque groupe de pays) et de la population de chaque pays.</a:t>
                      </a:r>
                    </a:p>
                  </a:txBody>
                  <a:tcPr marL="54864" marR="54864" marT="18288" marB="18288" anchor="ctr">
                    <a:solidFill>
                      <a:schemeClr val="bg1"/>
                    </a:solidFill>
                  </a:tcPr>
                </a:tc>
                <a:extLst>
                  <a:ext uri="{0D108BD9-81ED-4DB2-BD59-A6C34878D82A}">
                    <a16:rowId xmlns:a16="http://schemas.microsoft.com/office/drawing/2014/main" val="2026652294"/>
                  </a:ext>
                </a:extLst>
              </a:tr>
              <a:tr h="435088">
                <a:tc>
                  <a:txBody>
                    <a:bodyPr/>
                    <a:lstStyle/>
                    <a:p>
                      <a:pPr algn="l"/>
                      <a:r>
                        <a:rPr lang="fr-CH" sz="1200" b="1" kern="1200" noProof="0" dirty="0">
                          <a:solidFill>
                            <a:srgbClr val="1E2DBE"/>
                          </a:solidFill>
                          <a:latin typeface="+mn-lt"/>
                          <a:ea typeface="+mn-ea"/>
                          <a:cs typeface="+mn-cs"/>
                        </a:rPr>
                        <a:t>4. </a:t>
                      </a:r>
                      <a:r>
                        <a:rPr lang="fr-CH" sz="1200" b="0" noProof="0" dirty="0">
                          <a:solidFill>
                            <a:srgbClr val="262626"/>
                          </a:solidFill>
                          <a:latin typeface="+mn-lt"/>
                        </a:rPr>
                        <a:t>Chômage</a:t>
                      </a:r>
                    </a:p>
                  </a:txBody>
                  <a:tcPr marL="54864" marR="54864" marT="18288" marB="18288" anchor="ctr">
                    <a:solidFill>
                      <a:srgbClr val="F8F9FC"/>
                    </a:solidFill>
                  </a:tcPr>
                </a:tc>
                <a:tc>
                  <a:txBody>
                    <a:bodyPr/>
                    <a:lstStyle/>
                    <a:p>
                      <a:pPr marL="0" indent="0">
                        <a:buFontTx/>
                        <a:buNone/>
                      </a:pPr>
                      <a:r>
                        <a:rPr lang="fr-FR" sz="1200" dirty="0">
                          <a:latin typeface="+mn-lt"/>
                        </a:rPr>
                        <a:t>Proportion de chômeurs indemnisés: part des bénéficiaires de prestations de chômage </a:t>
                      </a:r>
                      <a:r>
                        <a:rPr lang="fr-FR" sz="1200" u="sng" dirty="0">
                          <a:latin typeface="+mn-lt"/>
                        </a:rPr>
                        <a:t>en espèces </a:t>
                      </a:r>
                      <a:r>
                        <a:rPr lang="fr-FR" sz="1200" dirty="0">
                          <a:latin typeface="+mn-lt"/>
                        </a:rPr>
                        <a:t>par rapport au nombre de personnes sans emploi. </a:t>
                      </a:r>
                    </a:p>
                  </a:txBody>
                  <a:tcPr marL="54864" marR="54864" marT="18288" marB="18288" anchor="ctr">
                    <a:solidFill>
                      <a:srgbClr val="F8F9FC"/>
                    </a:solidFill>
                  </a:tcPr>
                </a:tc>
                <a:extLst>
                  <a:ext uri="{0D108BD9-81ED-4DB2-BD59-A6C34878D82A}">
                    <a16:rowId xmlns:a16="http://schemas.microsoft.com/office/drawing/2014/main" val="10005"/>
                  </a:ext>
                </a:extLst>
              </a:tr>
              <a:tr h="539428">
                <a:tc>
                  <a:txBody>
                    <a:bodyPr/>
                    <a:lstStyle/>
                    <a:p>
                      <a:pPr algn="l"/>
                      <a:r>
                        <a:rPr lang="fr-CH" sz="1200" b="1" kern="1200" noProof="0" dirty="0">
                          <a:solidFill>
                            <a:srgbClr val="1E2DBE"/>
                          </a:solidFill>
                          <a:latin typeface="+mn-lt"/>
                          <a:ea typeface="+mn-ea"/>
                          <a:cs typeface="+mn-cs"/>
                        </a:rPr>
                        <a:t>5. </a:t>
                      </a:r>
                      <a:r>
                        <a:rPr lang="fr-CH" sz="1200" b="0" noProof="0" dirty="0">
                          <a:solidFill>
                            <a:srgbClr val="262626"/>
                          </a:solidFill>
                          <a:latin typeface="+mn-lt"/>
                        </a:rPr>
                        <a:t>Accidents du travail</a:t>
                      </a:r>
                    </a:p>
                  </a:txBody>
                  <a:tcPr marL="54864" marR="54864" marT="18288" marB="18288" anchor="ctr">
                    <a:solidFill>
                      <a:srgbClr val="FFFFFF"/>
                    </a:solidFill>
                  </a:tcPr>
                </a:tc>
                <a:tc>
                  <a:txBody>
                    <a:bodyPr/>
                    <a:lstStyle/>
                    <a:p>
                      <a:pPr marL="0" indent="0">
                        <a:buFontTx/>
                        <a:buNone/>
                      </a:pPr>
                      <a:r>
                        <a:rPr lang="fr-FR" sz="1200" dirty="0">
                          <a:latin typeface="+mn-lt"/>
                        </a:rPr>
                        <a:t>Proportion de travailleurs couverts en cas d’accident du travail: pourcentage de la main-d’œuvre assurée contre les accidents du travail dans la main-d’œuvre totale.</a:t>
                      </a:r>
                    </a:p>
                  </a:txBody>
                  <a:tcPr marL="54864" marR="54864" marT="18288" marB="18288" anchor="ctr">
                    <a:solidFill>
                      <a:srgbClr val="FFFFFF"/>
                    </a:solidFill>
                  </a:tcPr>
                </a:tc>
                <a:extLst>
                  <a:ext uri="{0D108BD9-81ED-4DB2-BD59-A6C34878D82A}">
                    <a16:rowId xmlns:a16="http://schemas.microsoft.com/office/drawing/2014/main" val="2654406849"/>
                  </a:ext>
                </a:extLst>
              </a:tr>
              <a:tr h="525093">
                <a:tc>
                  <a:txBody>
                    <a:bodyPr/>
                    <a:lstStyle/>
                    <a:p>
                      <a:pPr algn="l"/>
                      <a:r>
                        <a:rPr lang="fr-CH" sz="1200" b="1" kern="1200" noProof="0" dirty="0">
                          <a:solidFill>
                            <a:srgbClr val="1E2DBE"/>
                          </a:solidFill>
                          <a:latin typeface="+mn-lt"/>
                          <a:ea typeface="+mn-ea"/>
                          <a:cs typeface="+mn-cs"/>
                        </a:rPr>
                        <a:t>6. </a:t>
                      </a:r>
                      <a:r>
                        <a:rPr lang="fr-CH" sz="1200" b="0" noProof="0" dirty="0">
                          <a:solidFill>
                            <a:srgbClr val="262626"/>
                          </a:solidFill>
                          <a:latin typeface="+mn-lt"/>
                        </a:rPr>
                        <a:t>Vieillesse</a:t>
                      </a:r>
                    </a:p>
                  </a:txBody>
                  <a:tcPr marL="54864" marR="54864" marT="18288" marB="18288" anchor="ctr">
                    <a:solidFill>
                      <a:srgbClr val="F8F9FC"/>
                    </a:solidFill>
                  </a:tcPr>
                </a:tc>
                <a:tc>
                  <a:txBody>
                    <a:bodyPr/>
                    <a:lstStyle/>
                    <a:p>
                      <a:pPr marL="0" indent="0">
                        <a:buFontTx/>
                        <a:buNone/>
                      </a:pPr>
                      <a:r>
                        <a:rPr lang="fr-FR" sz="1200" dirty="0">
                          <a:latin typeface="+mn-lt"/>
                        </a:rPr>
                        <a:t>Proportion de personnes âgées bénéficiant de prestations de vieillesse: pourcentage de personnes ayant atteint l’âge légal de départ à la retraite qui perçoivent des prestations de vieillesse (contributives ou non contributives).</a:t>
                      </a:r>
                    </a:p>
                  </a:txBody>
                  <a:tcPr marL="54864" marR="54864" marT="18288" marB="18288" anchor="ctr">
                    <a:solidFill>
                      <a:srgbClr val="F8F9FC"/>
                    </a:solidFill>
                  </a:tcPr>
                </a:tc>
                <a:extLst>
                  <a:ext uri="{0D108BD9-81ED-4DB2-BD59-A6C34878D82A}">
                    <a16:rowId xmlns:a16="http://schemas.microsoft.com/office/drawing/2014/main" val="10006"/>
                  </a:ext>
                </a:extLst>
              </a:tr>
              <a:tr h="856234">
                <a:tc>
                  <a:txBody>
                    <a:bodyPr/>
                    <a:lstStyle/>
                    <a:p>
                      <a:pPr algn="l"/>
                      <a:r>
                        <a:rPr lang="fr-CH" sz="1200" b="1" kern="1200" noProof="0" dirty="0">
                          <a:solidFill>
                            <a:srgbClr val="1E2DBE"/>
                          </a:solidFill>
                          <a:latin typeface="+mn-lt"/>
                          <a:ea typeface="+mn-ea"/>
                          <a:cs typeface="+mn-cs"/>
                        </a:rPr>
                        <a:t>7. </a:t>
                      </a:r>
                      <a:r>
                        <a:rPr lang="fr-CH" sz="1200" b="0" noProof="0" dirty="0">
                          <a:solidFill>
                            <a:srgbClr val="262626"/>
                          </a:solidFill>
                          <a:latin typeface="+mn-lt"/>
                        </a:rPr>
                        <a:t>Vulnérabilité</a:t>
                      </a:r>
                    </a:p>
                  </a:txBody>
                  <a:tcPr marL="54864" marR="54864" marT="18288" marB="18288" anchor="ctr">
                    <a:solidFill>
                      <a:srgbClr val="FFFFFF"/>
                    </a:solidFill>
                  </a:tcPr>
                </a:tc>
                <a:tc>
                  <a:txBody>
                    <a:bodyPr/>
                    <a:lstStyle/>
                    <a:p>
                      <a:pPr marL="0" indent="0">
                        <a:buFontTx/>
                        <a:buNone/>
                      </a:pPr>
                      <a:r>
                        <a:rPr lang="fr-FR" sz="1200" dirty="0">
                          <a:latin typeface="+mn-lt"/>
                        </a:rPr>
                        <a:t>Proportion de personnes vulnérables bénéficiant de prestations: pourcentage de personnes vulnérables percevant une prestation d’assistance sociale en </a:t>
                      </a:r>
                      <a:r>
                        <a:rPr lang="fr-FR" sz="1200" u="sng" dirty="0">
                          <a:latin typeface="+mn-lt"/>
                        </a:rPr>
                        <a:t>espèces</a:t>
                      </a:r>
                      <a:r>
                        <a:rPr lang="fr-FR" sz="1200" dirty="0">
                          <a:latin typeface="+mn-lt"/>
                        </a:rPr>
                        <a:t>. Le nombre de personnes vulnérables s’obtient en retranchant de la population totale les personnes en âge de travailler qui cotisent à un régime d’assurance sociale ou qui perçoivent des prestations contributives, et les personnes ayant atteint l’âge de la retraite qui perçoivent des prestations contributives.</a:t>
                      </a:r>
                      <a:endParaRPr lang="en-US" sz="1200" dirty="0">
                        <a:latin typeface="+mn-lt"/>
                      </a:endParaRPr>
                    </a:p>
                  </a:txBody>
                  <a:tcPr marL="54864" marR="54864" marT="18288" marB="18288" anchor="ctr">
                    <a:solidFill>
                      <a:srgbClr val="FFFFFF"/>
                    </a:solidFill>
                  </a:tcPr>
                </a:tc>
                <a:extLst>
                  <a:ext uri="{0D108BD9-81ED-4DB2-BD59-A6C34878D82A}">
                    <a16:rowId xmlns:a16="http://schemas.microsoft.com/office/drawing/2014/main" val="10009"/>
                  </a:ext>
                </a:extLst>
              </a:tr>
              <a:tr h="303026">
                <a:tc>
                  <a:txBody>
                    <a:bodyPr/>
                    <a:lstStyle/>
                    <a:p>
                      <a:pPr algn="l"/>
                      <a:r>
                        <a:rPr lang="fr-CH" sz="1200" b="0" noProof="0" dirty="0">
                          <a:solidFill>
                            <a:schemeClr val="tx1"/>
                          </a:solidFill>
                          <a:latin typeface="Arial"/>
                        </a:rPr>
                        <a:t>Santé*</a:t>
                      </a:r>
                    </a:p>
                  </a:txBody>
                  <a:tcPr marL="54864" marR="54864" marT="18288" marB="18288" anchor="ctr">
                    <a:solidFill>
                      <a:schemeClr val="accent6">
                        <a:lumMod val="40000"/>
                        <a:lumOff val="60000"/>
                      </a:schemeClr>
                    </a:solidFill>
                  </a:tcPr>
                </a:tc>
                <a:tc>
                  <a:txBody>
                    <a:bodyPr/>
                    <a:lstStyle/>
                    <a:p>
                      <a:pPr algn="l"/>
                      <a:r>
                        <a:rPr lang="fr-CH" sz="1200" b="0" noProof="0" dirty="0">
                          <a:solidFill>
                            <a:schemeClr val="tx1"/>
                          </a:solidFill>
                          <a:latin typeface="Arial"/>
                        </a:rPr>
                        <a:t>Population protégée par un régime social de protection de la santé</a:t>
                      </a:r>
                    </a:p>
                  </a:txBody>
                  <a:tcPr marL="54864" marR="54864" marT="18288" marB="18288" anchor="ctr">
                    <a:solidFill>
                      <a:schemeClr val="accent6">
                        <a:lumMod val="40000"/>
                        <a:lumOff val="60000"/>
                      </a:schemeClr>
                    </a:solidFill>
                  </a:tcPr>
                </a:tc>
                <a:extLst>
                  <a:ext uri="{0D108BD9-81ED-4DB2-BD59-A6C34878D82A}">
                    <a16:rowId xmlns:a16="http://schemas.microsoft.com/office/drawing/2014/main" val="10010"/>
                  </a:ext>
                </a:extLst>
              </a:tr>
            </a:tbl>
          </a:graphicData>
        </a:graphic>
      </p:graphicFrame>
      <p:sp>
        <p:nvSpPr>
          <p:cNvPr id="11" name="TextBox 10">
            <a:extLst>
              <a:ext uri="{FF2B5EF4-FFF2-40B4-BE49-F238E27FC236}">
                <a16:creationId xmlns:a16="http://schemas.microsoft.com/office/drawing/2014/main" id="{417DB5CC-E4FB-EC2A-4455-73FA876297FD}"/>
              </a:ext>
            </a:extLst>
          </p:cNvPr>
          <p:cNvSpPr txBox="1"/>
          <p:nvPr/>
        </p:nvSpPr>
        <p:spPr>
          <a:xfrm>
            <a:off x="265176" y="6510528"/>
            <a:ext cx="6814260" cy="178382"/>
          </a:xfrm>
          <a:prstGeom prst="rect">
            <a:avLst/>
          </a:prstGeom>
          <a:noFill/>
        </p:spPr>
        <p:txBody>
          <a:bodyPr wrap="square" lIns="27432" tIns="18288" rIns="27432" bIns="18288" anchor="ctr">
            <a:spAutoFit/>
          </a:bodyPr>
          <a:lstStyle/>
          <a:p>
            <a:pPr algn="l"/>
            <a:r>
              <a:rPr lang="fr-CH" sz="919" b="0" noProof="0" dirty="0">
                <a:solidFill>
                  <a:srgbClr val="505050"/>
                </a:solidFill>
                <a:latin typeface="Arial"/>
              </a:rPr>
              <a:t>* Indicateur complémentaire du bulletin : hors noyau ODD 1.3.1 et non pris en compte dans l’indicateur agrégé.</a:t>
            </a:r>
          </a:p>
        </p:txBody>
      </p:sp>
      <p:pic>
        <p:nvPicPr>
          <p:cNvPr id="5" name="Image 0" descr="/mnt/data/ref_unzip/ppt/media/image1.png">
            <a:extLst>
              <a:ext uri="{FF2B5EF4-FFF2-40B4-BE49-F238E27FC236}">
                <a16:creationId xmlns:a16="http://schemas.microsoft.com/office/drawing/2014/main" id="{6CBF6D7D-7662-6DDC-C7AE-E1A2BEC65C95}"/>
              </a:ext>
            </a:extLst>
          </p:cNvPr>
          <p:cNvPicPr>
            <a:picLocks noChangeAspect="1"/>
          </p:cNvPicPr>
          <p:nvPr/>
        </p:nvPicPr>
        <p:blipFill>
          <a:blip r:embed="rId3"/>
          <a:stretch>
            <a:fillRect/>
          </a:stretch>
        </p:blipFill>
        <p:spPr>
          <a:xfrm>
            <a:off x="10088880" y="357645"/>
            <a:ext cx="1508760" cy="520522"/>
          </a:xfrm>
          <a:prstGeom prst="rect">
            <a:avLst/>
          </a:prstGeom>
        </p:spPr>
      </p:pic>
    </p:spTree>
    <p:extLst>
      <p:ext uri="{BB962C8B-B14F-4D97-AF65-F5344CB8AC3E}">
        <p14:creationId xmlns:p14="http://schemas.microsoft.com/office/powerpoint/2010/main" val="5651845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40FD8-9419-D689-18C2-70771ADCC7D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94C0F47-3FD9-2C23-324D-7E82EFA82F1D}"/>
              </a:ext>
            </a:extLst>
          </p:cNvPr>
          <p:cNvSpPr/>
          <p:nvPr/>
        </p:nvSpPr>
        <p:spPr>
          <a:xfrm>
            <a:off x="0" y="0"/>
            <a:ext cx="12191695" cy="164592"/>
          </a:xfrm>
          <a:prstGeom prst="rect">
            <a:avLst/>
          </a:prstGeom>
          <a:solidFill>
            <a:srgbClr val="1428A0"/>
          </a:solidFill>
          <a:ln w="12700">
            <a:solidFill>
              <a:srgbClr val="1428A0"/>
            </a:solidFill>
            <a:prstDash val="solid"/>
          </a:ln>
        </p:spPr>
        <p:txBody>
          <a:bodyPr/>
          <a:lstStyle/>
          <a:p>
            <a:endParaRPr lang="fr-CH" noProof="0" dirty="0"/>
          </a:p>
        </p:txBody>
      </p:sp>
      <p:sp>
        <p:nvSpPr>
          <p:cNvPr id="3" name="Text 1">
            <a:extLst>
              <a:ext uri="{FF2B5EF4-FFF2-40B4-BE49-F238E27FC236}">
                <a16:creationId xmlns:a16="http://schemas.microsoft.com/office/drawing/2014/main" id="{324EA2C0-0773-9627-40FE-805B31B22A6C}"/>
              </a:ext>
            </a:extLst>
          </p:cNvPr>
          <p:cNvSpPr/>
          <p:nvPr/>
        </p:nvSpPr>
        <p:spPr>
          <a:xfrm>
            <a:off x="594360" y="420624"/>
            <a:ext cx="8686800" cy="411480"/>
          </a:xfrm>
          <a:prstGeom prst="rect">
            <a:avLst/>
          </a:prstGeom>
          <a:noFill/>
          <a:ln/>
        </p:spPr>
        <p:txBody>
          <a:bodyPr wrap="square" rtlCol="0" anchor="ctr">
            <a:normAutofit fontScale="92500" lnSpcReduction="10000"/>
          </a:bodyPr>
          <a:lstStyle/>
          <a:p>
            <a:pPr marL="0" indent="0">
              <a:buNone/>
            </a:pPr>
            <a:r>
              <a:rPr lang="fr-CH" sz="2400" b="1" noProof="0" dirty="0">
                <a:solidFill>
                  <a:srgbClr val="1428A0"/>
                </a:solidFill>
                <a:latin typeface="Arial" pitchFamily="34" charset="0"/>
                <a:ea typeface="Arial" pitchFamily="34" charset="-122"/>
                <a:cs typeface="Arial" pitchFamily="34" charset="-120"/>
              </a:rPr>
              <a:t>Liste des indicateurs ODD 1.3.1</a:t>
            </a:r>
            <a:endParaRPr lang="fr-CH" sz="2400" noProof="0" dirty="0"/>
          </a:p>
        </p:txBody>
      </p:sp>
      <p:sp>
        <p:nvSpPr>
          <p:cNvPr id="4" name="Text 2">
            <a:extLst>
              <a:ext uri="{FF2B5EF4-FFF2-40B4-BE49-F238E27FC236}">
                <a16:creationId xmlns:a16="http://schemas.microsoft.com/office/drawing/2014/main" id="{4C51C323-5342-D8C2-938E-E2FA5A6EF45F}"/>
              </a:ext>
            </a:extLst>
          </p:cNvPr>
          <p:cNvSpPr/>
          <p:nvPr/>
        </p:nvSpPr>
        <p:spPr>
          <a:xfrm>
            <a:off x="612648" y="219456"/>
            <a:ext cx="6858000" cy="155448"/>
          </a:xfrm>
          <a:prstGeom prst="rect">
            <a:avLst/>
          </a:prstGeom>
          <a:noFill/>
          <a:ln/>
        </p:spPr>
        <p:txBody>
          <a:bodyPr wrap="square" rtlCol="0" anchor="ctr"/>
          <a:lstStyle/>
          <a:p>
            <a:pPr marL="0" indent="0">
              <a:buNone/>
            </a:pPr>
            <a:r>
              <a:rPr lang="fr-CH" sz="730" noProof="0" dirty="0">
                <a:solidFill>
                  <a:srgbClr val="586069"/>
                </a:solidFill>
              </a:rPr>
              <a:t>ODD 1.3.1</a:t>
            </a:r>
            <a:endParaRPr lang="fr-CH" sz="730" noProof="0" dirty="0"/>
          </a:p>
        </p:txBody>
      </p:sp>
      <p:sp>
        <p:nvSpPr>
          <p:cNvPr id="6" name="Shape 3">
            <a:extLst>
              <a:ext uri="{FF2B5EF4-FFF2-40B4-BE49-F238E27FC236}">
                <a16:creationId xmlns:a16="http://schemas.microsoft.com/office/drawing/2014/main" id="{54D8710E-8C97-EB7E-ADC5-5C5E35681EC4}"/>
              </a:ext>
            </a:extLst>
          </p:cNvPr>
          <p:cNvSpPr/>
          <p:nvPr/>
        </p:nvSpPr>
        <p:spPr>
          <a:xfrm>
            <a:off x="594360" y="987552"/>
            <a:ext cx="10972800" cy="0"/>
          </a:xfrm>
          <a:prstGeom prst="line">
            <a:avLst/>
          </a:prstGeom>
          <a:noFill/>
          <a:ln w="12700">
            <a:solidFill>
              <a:srgbClr val="D9E1F2"/>
            </a:solidFill>
            <a:prstDash val="solid"/>
          </a:ln>
        </p:spPr>
        <p:txBody>
          <a:bodyPr/>
          <a:lstStyle/>
          <a:p>
            <a:endParaRPr lang="fr-CH" noProof="0" dirty="0"/>
          </a:p>
        </p:txBody>
      </p:sp>
      <p:sp>
        <p:nvSpPr>
          <p:cNvPr id="7" name="Text 4">
            <a:extLst>
              <a:ext uri="{FF2B5EF4-FFF2-40B4-BE49-F238E27FC236}">
                <a16:creationId xmlns:a16="http://schemas.microsoft.com/office/drawing/2014/main" id="{23D76325-EAA0-F64D-58E5-600D0A287F52}"/>
              </a:ext>
            </a:extLst>
          </p:cNvPr>
          <p:cNvSpPr/>
          <p:nvPr/>
        </p:nvSpPr>
        <p:spPr>
          <a:xfrm>
            <a:off x="594360" y="6510528"/>
            <a:ext cx="6583680" cy="164592"/>
          </a:xfrm>
          <a:prstGeom prst="rect">
            <a:avLst/>
          </a:prstGeom>
          <a:noFill/>
          <a:ln/>
        </p:spPr>
        <p:txBody>
          <a:bodyPr wrap="square" rtlCol="0" anchor="ctr"/>
          <a:lstStyle/>
          <a:p>
            <a:pPr marL="0" indent="0">
              <a:buNone/>
            </a:pPr>
            <a:r>
              <a:rPr lang="fr-CH" sz="750" noProof="0" dirty="0">
                <a:solidFill>
                  <a:srgbClr val="586069"/>
                </a:solidFill>
                <a:latin typeface="Arial" pitchFamily="34" charset="0"/>
                <a:ea typeface="Arial" pitchFamily="34" charset="-122"/>
                <a:cs typeface="Arial" pitchFamily="34" charset="-120"/>
              </a:rPr>
              <a:t>Faire avancer la justice sociale, promouvoir le travail décent</a:t>
            </a:r>
            <a:endParaRPr lang="fr-CH" sz="750" noProof="0" dirty="0"/>
          </a:p>
        </p:txBody>
      </p:sp>
      <p:sp>
        <p:nvSpPr>
          <p:cNvPr id="8" name="Text 5">
            <a:extLst>
              <a:ext uri="{FF2B5EF4-FFF2-40B4-BE49-F238E27FC236}">
                <a16:creationId xmlns:a16="http://schemas.microsoft.com/office/drawing/2014/main" id="{36492E56-3BF2-C017-C998-6E996918550B}"/>
              </a:ext>
            </a:extLst>
          </p:cNvPr>
          <p:cNvSpPr/>
          <p:nvPr/>
        </p:nvSpPr>
        <p:spPr>
          <a:xfrm>
            <a:off x="7543800" y="6510528"/>
            <a:ext cx="3017520" cy="164592"/>
          </a:xfrm>
          <a:prstGeom prst="rect">
            <a:avLst/>
          </a:prstGeom>
          <a:noFill/>
          <a:ln/>
        </p:spPr>
        <p:txBody>
          <a:bodyPr wrap="square" rtlCol="0" anchor="ctr"/>
          <a:lstStyle/>
          <a:p>
            <a:pPr marL="0" indent="0" algn="r">
              <a:buNone/>
            </a:pPr>
            <a:r>
              <a:rPr lang="fr-CH" sz="730" noProof="0" dirty="0">
                <a:solidFill>
                  <a:srgbClr val="586069"/>
                </a:solidFill>
                <a:latin typeface="Arial" pitchFamily="34" charset="0"/>
                <a:ea typeface="Arial" pitchFamily="34" charset="-122"/>
                <a:cs typeface="Arial" pitchFamily="34" charset="-120"/>
              </a:rPr>
              <a:t>Atelier 2e Bulletin Statistique RDC | 14 mai 2026</a:t>
            </a:r>
            <a:endParaRPr lang="fr-CH" sz="730" noProof="0" dirty="0"/>
          </a:p>
        </p:txBody>
      </p:sp>
      <p:sp>
        <p:nvSpPr>
          <p:cNvPr id="9" name="Text 6">
            <a:extLst>
              <a:ext uri="{FF2B5EF4-FFF2-40B4-BE49-F238E27FC236}">
                <a16:creationId xmlns:a16="http://schemas.microsoft.com/office/drawing/2014/main" id="{AF5954EF-A066-3774-F677-20FA848B8D4A}"/>
              </a:ext>
            </a:extLst>
          </p:cNvPr>
          <p:cNvSpPr/>
          <p:nvPr/>
        </p:nvSpPr>
        <p:spPr>
          <a:xfrm>
            <a:off x="11292840" y="6473952"/>
            <a:ext cx="411480" cy="201168"/>
          </a:xfrm>
          <a:prstGeom prst="rect">
            <a:avLst/>
          </a:prstGeom>
          <a:noFill/>
          <a:ln/>
        </p:spPr>
        <p:txBody>
          <a:bodyPr wrap="square" lIns="27432" tIns="18288" rIns="27432" bIns="18288" rtlCol="0" anchor="ctr"/>
          <a:lstStyle/>
          <a:p>
            <a:pPr marL="0" indent="0" algn="r">
              <a:buNone/>
            </a:pPr>
            <a:r>
              <a:rPr lang="fr-CH" sz="850" b="0" noProof="0" dirty="0">
                <a:solidFill>
                  <a:srgbClr val="505050"/>
                </a:solidFill>
                <a:latin typeface="Arial"/>
              </a:rPr>
              <a:t>11</a:t>
            </a:r>
            <a:endParaRPr lang="fr-CH" sz="750" noProof="0" dirty="0"/>
          </a:p>
        </p:txBody>
      </p:sp>
      <p:pic>
        <p:nvPicPr>
          <p:cNvPr id="12" name="Picture 11">
            <a:extLst>
              <a:ext uri="{FF2B5EF4-FFF2-40B4-BE49-F238E27FC236}">
                <a16:creationId xmlns:a16="http://schemas.microsoft.com/office/drawing/2014/main" id="{FCA67292-A1F7-2FD5-CBF1-183A34A39A1B}"/>
              </a:ext>
            </a:extLst>
          </p:cNvPr>
          <p:cNvPicPr>
            <a:picLocks noChangeAspect="1"/>
          </p:cNvPicPr>
          <p:nvPr/>
        </p:nvPicPr>
        <p:blipFill>
          <a:blip r:embed="rId3"/>
          <a:stretch>
            <a:fillRect/>
          </a:stretch>
        </p:blipFill>
        <p:spPr>
          <a:xfrm>
            <a:off x="787401" y="1270000"/>
            <a:ext cx="10542251" cy="4287519"/>
          </a:xfrm>
          <a:prstGeom prst="rect">
            <a:avLst/>
          </a:prstGeom>
        </p:spPr>
      </p:pic>
      <p:pic>
        <p:nvPicPr>
          <p:cNvPr id="10" name="Image 0" descr="/mnt/data/ref_unzip/ppt/media/image1.png">
            <a:extLst>
              <a:ext uri="{FF2B5EF4-FFF2-40B4-BE49-F238E27FC236}">
                <a16:creationId xmlns:a16="http://schemas.microsoft.com/office/drawing/2014/main" id="{809786AE-E46A-7B49-DEDB-9C98CCE8A113}"/>
              </a:ext>
            </a:extLst>
          </p:cNvPr>
          <p:cNvPicPr>
            <a:picLocks noChangeAspect="1"/>
          </p:cNvPicPr>
          <p:nvPr/>
        </p:nvPicPr>
        <p:blipFill>
          <a:blip r:embed="rId4"/>
          <a:stretch>
            <a:fillRect/>
          </a:stretch>
        </p:blipFill>
        <p:spPr>
          <a:xfrm>
            <a:off x="10088880" y="357645"/>
            <a:ext cx="1508760" cy="520522"/>
          </a:xfrm>
          <a:prstGeom prst="rect">
            <a:avLst/>
          </a:prstGeom>
        </p:spPr>
      </p:pic>
    </p:spTree>
    <p:extLst>
      <p:ext uri="{BB962C8B-B14F-4D97-AF65-F5344CB8AC3E}">
        <p14:creationId xmlns:p14="http://schemas.microsoft.com/office/powerpoint/2010/main" val="9489335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428A0"/>
          </a:solidFill>
          <a:ln w="12700">
            <a:solidFill>
              <a:srgbClr val="1428A0"/>
            </a:solidFill>
            <a:prstDash val="solid"/>
          </a:ln>
        </p:spPr>
        <p:txBody>
          <a:bodyPr/>
          <a:lstStyle/>
          <a:p>
            <a:endParaRPr lang="fr-CH" noProof="0" dirty="0"/>
          </a:p>
        </p:txBody>
      </p:sp>
      <p:sp>
        <p:nvSpPr>
          <p:cNvPr id="3" name="Text 1"/>
          <p:cNvSpPr/>
          <p:nvPr/>
        </p:nvSpPr>
        <p:spPr>
          <a:xfrm>
            <a:off x="594360" y="420624"/>
            <a:ext cx="8686800" cy="411480"/>
          </a:xfrm>
          <a:prstGeom prst="rect">
            <a:avLst/>
          </a:prstGeom>
          <a:noFill/>
          <a:ln/>
        </p:spPr>
        <p:txBody>
          <a:bodyPr wrap="square" rtlCol="0" anchor="ctr">
            <a:normAutofit fontScale="92500" lnSpcReduction="10000"/>
          </a:bodyPr>
          <a:lstStyle/>
          <a:p>
            <a:pPr marL="0" indent="0">
              <a:buNone/>
            </a:pPr>
            <a:r>
              <a:rPr lang="fr-CH" sz="2400" b="1" noProof="0" dirty="0">
                <a:solidFill>
                  <a:srgbClr val="1428A0"/>
                </a:solidFill>
                <a:latin typeface="Arial" pitchFamily="34" charset="0"/>
                <a:ea typeface="Arial" pitchFamily="34" charset="-122"/>
                <a:cs typeface="Arial" pitchFamily="34" charset="-120"/>
              </a:rPr>
              <a:t>Exemple 1 : personnes âgées recevant une pension</a:t>
            </a:r>
            <a:endParaRPr lang="fr-CH" sz="2400" noProof="0" dirty="0"/>
          </a:p>
        </p:txBody>
      </p:sp>
      <p:sp>
        <p:nvSpPr>
          <p:cNvPr id="4" name="Text 2"/>
          <p:cNvSpPr/>
          <p:nvPr/>
        </p:nvSpPr>
        <p:spPr>
          <a:xfrm>
            <a:off x="612648" y="219456"/>
            <a:ext cx="6858000" cy="155448"/>
          </a:xfrm>
          <a:prstGeom prst="rect">
            <a:avLst/>
          </a:prstGeom>
          <a:noFill/>
          <a:ln/>
        </p:spPr>
        <p:txBody>
          <a:bodyPr wrap="square" rtlCol="0" anchor="ctr"/>
          <a:lstStyle/>
          <a:p>
            <a:pPr marL="0" indent="0">
              <a:buNone/>
            </a:pPr>
            <a:r>
              <a:rPr lang="fr-CH" sz="730" noProof="0" dirty="0">
                <a:solidFill>
                  <a:srgbClr val="586069"/>
                </a:solidFill>
              </a:rPr>
              <a:t>EXEMPLE CHIFFRÉ</a:t>
            </a:r>
            <a:endParaRPr lang="fr-CH" sz="730" noProof="0" dirty="0"/>
          </a:p>
        </p:txBody>
      </p:sp>
      <p:sp>
        <p:nvSpPr>
          <p:cNvPr id="6" name="Shape 3"/>
          <p:cNvSpPr/>
          <p:nvPr/>
        </p:nvSpPr>
        <p:spPr>
          <a:xfrm>
            <a:off x="594360" y="987552"/>
            <a:ext cx="10972800" cy="0"/>
          </a:xfrm>
          <a:prstGeom prst="line">
            <a:avLst/>
          </a:prstGeom>
          <a:noFill/>
          <a:ln w="12700">
            <a:solidFill>
              <a:srgbClr val="D9E1F2"/>
            </a:solidFill>
            <a:prstDash val="solid"/>
          </a:ln>
        </p:spPr>
        <p:txBody>
          <a:bodyPr/>
          <a:lstStyle/>
          <a:p>
            <a:endParaRPr lang="fr-CH" noProof="0" dirty="0"/>
          </a:p>
        </p:txBody>
      </p:sp>
      <p:sp>
        <p:nvSpPr>
          <p:cNvPr id="7" name="Text 4"/>
          <p:cNvSpPr/>
          <p:nvPr/>
        </p:nvSpPr>
        <p:spPr>
          <a:xfrm>
            <a:off x="594360" y="6510528"/>
            <a:ext cx="6583680" cy="164592"/>
          </a:xfrm>
          <a:prstGeom prst="rect">
            <a:avLst/>
          </a:prstGeom>
          <a:noFill/>
          <a:ln/>
        </p:spPr>
        <p:txBody>
          <a:bodyPr wrap="square" rtlCol="0" anchor="ctr"/>
          <a:lstStyle/>
          <a:p>
            <a:pPr marL="0" indent="0">
              <a:buNone/>
            </a:pPr>
            <a:r>
              <a:rPr lang="fr-CH" sz="750" noProof="0" dirty="0">
                <a:solidFill>
                  <a:srgbClr val="586069"/>
                </a:solidFill>
                <a:latin typeface="Arial" pitchFamily="34" charset="0"/>
                <a:ea typeface="Arial" pitchFamily="34" charset="-122"/>
                <a:cs typeface="Arial" pitchFamily="34" charset="-120"/>
              </a:rPr>
              <a:t>Faire avancer la justice sociale, promouvoir le travail décent</a:t>
            </a:r>
            <a:endParaRPr lang="fr-CH" sz="750" noProof="0" dirty="0"/>
          </a:p>
        </p:txBody>
      </p:sp>
      <p:sp>
        <p:nvSpPr>
          <p:cNvPr id="8" name="Text 5"/>
          <p:cNvSpPr/>
          <p:nvPr/>
        </p:nvSpPr>
        <p:spPr>
          <a:xfrm>
            <a:off x="7543800" y="6510528"/>
            <a:ext cx="3017520" cy="164592"/>
          </a:xfrm>
          <a:prstGeom prst="rect">
            <a:avLst/>
          </a:prstGeom>
          <a:noFill/>
          <a:ln/>
        </p:spPr>
        <p:txBody>
          <a:bodyPr wrap="square" rtlCol="0" anchor="ctr"/>
          <a:lstStyle/>
          <a:p>
            <a:pPr marL="0" indent="0" algn="r">
              <a:buNone/>
            </a:pPr>
            <a:r>
              <a:rPr lang="fr-CH" sz="730" noProof="0" dirty="0">
                <a:solidFill>
                  <a:srgbClr val="586069"/>
                </a:solidFill>
                <a:latin typeface="Arial" pitchFamily="34" charset="0"/>
                <a:ea typeface="Arial" pitchFamily="34" charset="-122"/>
                <a:cs typeface="Arial" pitchFamily="34" charset="-120"/>
              </a:rPr>
              <a:t>Atelier 2e Bulletin Statistique RDC | 14 mai 2026</a:t>
            </a:r>
            <a:endParaRPr lang="fr-CH" sz="730" noProof="0" dirty="0"/>
          </a:p>
        </p:txBody>
      </p:sp>
      <p:sp>
        <p:nvSpPr>
          <p:cNvPr id="9" name="Text 6"/>
          <p:cNvSpPr/>
          <p:nvPr/>
        </p:nvSpPr>
        <p:spPr>
          <a:xfrm>
            <a:off x="11292840" y="6473952"/>
            <a:ext cx="411480" cy="201168"/>
          </a:xfrm>
          <a:prstGeom prst="rect">
            <a:avLst/>
          </a:prstGeom>
          <a:noFill/>
          <a:ln/>
        </p:spPr>
        <p:txBody>
          <a:bodyPr wrap="square" lIns="27432" tIns="18288" rIns="27432" bIns="18288" rtlCol="0" anchor="ctr"/>
          <a:lstStyle/>
          <a:p>
            <a:pPr marL="0" indent="0" algn="r">
              <a:buNone/>
            </a:pPr>
            <a:r>
              <a:rPr lang="fr-CH" sz="850" b="0" noProof="0" dirty="0">
                <a:solidFill>
                  <a:srgbClr val="505050"/>
                </a:solidFill>
                <a:latin typeface="Arial"/>
              </a:rPr>
              <a:t>12</a:t>
            </a:r>
            <a:endParaRPr lang="fr-CH" sz="750" noProof="0" dirty="0"/>
          </a:p>
        </p:txBody>
      </p:sp>
      <p:graphicFrame>
        <p:nvGraphicFramePr>
          <p:cNvPr id="13" name="Table 0"/>
          <p:cNvGraphicFramePr>
            <a:graphicFrameLocks noGrp="1"/>
          </p:cNvGraphicFramePr>
          <p:nvPr>
            <p:extLst>
              <p:ext uri="{D42A27DB-BD31-4B8C-83A1-F6EECF244321}">
                <p14:modId xmlns:p14="http://schemas.microsoft.com/office/powerpoint/2010/main" val="172041966"/>
              </p:ext>
            </p:extLst>
          </p:nvPr>
        </p:nvGraphicFramePr>
        <p:xfrm>
          <a:off x="731520" y="1325880"/>
          <a:ext cx="10881360" cy="3514344"/>
        </p:xfrm>
        <a:graphic>
          <a:graphicData uri="http://schemas.openxmlformats.org/drawingml/2006/table">
            <a:tbl>
              <a:tblPr/>
              <a:tblGrid>
                <a:gridCol w="2560320">
                  <a:extLst>
                    <a:ext uri="{9D8B030D-6E8A-4147-A177-3AD203B41FA5}">
                      <a16:colId xmlns:a16="http://schemas.microsoft.com/office/drawing/2014/main" val="20000"/>
                    </a:ext>
                  </a:extLst>
                </a:gridCol>
                <a:gridCol w="8321040">
                  <a:extLst>
                    <a:ext uri="{9D8B030D-6E8A-4147-A177-3AD203B41FA5}">
                      <a16:colId xmlns:a16="http://schemas.microsoft.com/office/drawing/2014/main" val="20001"/>
                    </a:ext>
                  </a:extLst>
                </a:gridCol>
              </a:tblGrid>
              <a:tr h="530352">
                <a:tc>
                  <a:txBody>
                    <a:bodyPr/>
                    <a:lstStyle/>
                    <a:p>
                      <a:pPr marL="0" indent="0">
                        <a:buNone/>
                      </a:pPr>
                      <a:r>
                        <a:rPr lang="fr-CH" sz="950" b="1" noProof="0" dirty="0">
                          <a:solidFill>
                            <a:srgbClr val="FFFFFF"/>
                          </a:solidFill>
                        </a:rPr>
                        <a:t>Élément</a:t>
                      </a:r>
                      <a:endParaRPr lang="fr-CH" sz="95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1428A0"/>
                    </a:solidFill>
                  </a:tcPr>
                </a:tc>
                <a:tc>
                  <a:txBody>
                    <a:bodyPr/>
                    <a:lstStyle/>
                    <a:p>
                      <a:pPr marL="0" indent="0">
                        <a:buNone/>
                      </a:pPr>
                      <a:r>
                        <a:rPr lang="fr-CH" sz="950" b="1" noProof="0" dirty="0">
                          <a:solidFill>
                            <a:srgbClr val="FFFFFF"/>
                          </a:solidFill>
                        </a:rPr>
                        <a:t>Application — RDC 2022</a:t>
                      </a:r>
                      <a:endParaRPr lang="fr-CH" sz="95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1428A0"/>
                    </a:solidFill>
                  </a:tcPr>
                </a:tc>
                <a:extLst>
                  <a:ext uri="{0D108BD9-81ED-4DB2-BD59-A6C34878D82A}">
                    <a16:rowId xmlns:a16="http://schemas.microsoft.com/office/drawing/2014/main" val="10000"/>
                  </a:ext>
                </a:extLst>
              </a:tr>
              <a:tr h="530352">
                <a:tc>
                  <a:txBody>
                    <a:bodyPr/>
                    <a:lstStyle/>
                    <a:p>
                      <a:pPr marL="0" indent="0">
                        <a:buNone/>
                      </a:pPr>
                      <a:r>
                        <a:rPr lang="fr-CH" sz="1500" b="1" noProof="0" dirty="0">
                          <a:solidFill>
                            <a:srgbClr val="1428A0"/>
                          </a:solidFill>
                        </a:rPr>
                        <a:t>Définition</a:t>
                      </a:r>
                      <a:endParaRPr lang="fr-CH" sz="150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FFFFF"/>
                    </a:solidFill>
                  </a:tcPr>
                </a:tc>
                <a:tc>
                  <a:txBody>
                    <a:bodyPr/>
                    <a:lstStyle/>
                    <a:p>
                      <a:pPr marL="0" indent="0">
                        <a:buNone/>
                      </a:pPr>
                      <a:r>
                        <a:rPr lang="fr-CH" sz="1500" noProof="0" dirty="0">
                          <a:solidFill>
                            <a:srgbClr val="1F2933"/>
                          </a:solidFill>
                        </a:rPr>
                        <a:t>Part des personnes âgées recevant une pension de vieillesse</a:t>
                      </a:r>
                      <a:endParaRPr lang="fr-CH" sz="150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0352">
                <a:tc>
                  <a:txBody>
                    <a:bodyPr/>
                    <a:lstStyle/>
                    <a:p>
                      <a:pPr marL="0" indent="0">
                        <a:buNone/>
                      </a:pPr>
                      <a:r>
                        <a:rPr lang="fr-CH" sz="1500" b="1" noProof="0" dirty="0">
                          <a:solidFill>
                            <a:srgbClr val="1428A0"/>
                          </a:solidFill>
                        </a:rPr>
                        <a:t>Numérateur</a:t>
                      </a:r>
                      <a:endParaRPr lang="fr-CH" sz="150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4F7FB"/>
                    </a:solidFill>
                  </a:tcPr>
                </a:tc>
                <a:tc>
                  <a:txBody>
                    <a:bodyPr/>
                    <a:lstStyle/>
                    <a:p>
                      <a:pPr marL="0" indent="0">
                        <a:buNone/>
                      </a:pPr>
                      <a:r>
                        <a:rPr lang="fr-CH" sz="1500" noProof="0" dirty="0">
                          <a:solidFill>
                            <a:srgbClr val="1F2933"/>
                          </a:solidFill>
                        </a:rPr>
                        <a:t>46 658 personnes couvertes</a:t>
                      </a:r>
                      <a:endParaRPr lang="fr-CH" sz="150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4F7FB"/>
                    </a:solidFill>
                  </a:tcPr>
                </a:tc>
                <a:extLst>
                  <a:ext uri="{0D108BD9-81ED-4DB2-BD59-A6C34878D82A}">
                    <a16:rowId xmlns:a16="http://schemas.microsoft.com/office/drawing/2014/main" val="10002"/>
                  </a:ext>
                </a:extLst>
              </a:tr>
              <a:tr h="530352">
                <a:tc>
                  <a:txBody>
                    <a:bodyPr/>
                    <a:lstStyle/>
                    <a:p>
                      <a:pPr marL="457200" lvl="1" indent="0">
                        <a:buNone/>
                      </a:pPr>
                      <a:r>
                        <a:rPr lang="fr-CH" sz="1500" b="0" noProof="0" dirty="0">
                          <a:solidFill>
                            <a:schemeClr val="tx1"/>
                          </a:solidFill>
                        </a:rPr>
                        <a:t>Composition du numérateur</a:t>
                      </a:r>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FFFFF"/>
                    </a:solidFill>
                  </a:tcPr>
                </a:tc>
                <a:tc>
                  <a:txBody>
                    <a:bodyPr/>
                    <a:lstStyle/>
                    <a:p>
                      <a:pPr marL="285750" indent="-285750" algn="l" defTabSz="914400" rtl="0" eaLnBrk="1" latinLnBrk="0" hangingPunct="1">
                        <a:buClr>
                          <a:srgbClr val="FF5050"/>
                        </a:buClr>
                        <a:buFont typeface="Wingdings" panose="05000000000000000000" pitchFamily="2" charset="2"/>
                        <a:buChar char="§"/>
                      </a:pPr>
                      <a:r>
                        <a:rPr lang="fr-CH" sz="1500" kern="1200" noProof="0" dirty="0">
                          <a:solidFill>
                            <a:srgbClr val="1F2933"/>
                          </a:solidFill>
                          <a:latin typeface="+mn-lt"/>
                          <a:ea typeface="+mn-ea"/>
                          <a:cs typeface="+mn-cs"/>
                        </a:rPr>
                        <a:t>Retraite CNSS : 44 094 ; </a:t>
                      </a:r>
                    </a:p>
                    <a:p>
                      <a:pPr marL="285750" indent="-285750" algn="l" defTabSz="914400" rtl="0" eaLnBrk="1" latinLnBrk="0" hangingPunct="1">
                        <a:buClr>
                          <a:srgbClr val="FF5050"/>
                        </a:buClr>
                        <a:buFont typeface="Wingdings" panose="05000000000000000000" pitchFamily="2" charset="2"/>
                        <a:buChar char="§"/>
                      </a:pPr>
                      <a:r>
                        <a:rPr lang="fr-CH" sz="1500" kern="1200" noProof="0" dirty="0">
                          <a:solidFill>
                            <a:srgbClr val="1F2933"/>
                          </a:solidFill>
                          <a:latin typeface="+mn-lt"/>
                          <a:ea typeface="+mn-ea"/>
                          <a:cs typeface="+mn-cs"/>
                        </a:rPr>
                        <a:t>retraite anticipée CNSS: 1 235 ; </a:t>
                      </a:r>
                    </a:p>
                    <a:p>
                      <a:pPr marL="285750" indent="-285750" algn="l" defTabSz="914400" rtl="0" eaLnBrk="1" latinLnBrk="0" hangingPunct="1">
                        <a:buClr>
                          <a:srgbClr val="FF5050"/>
                        </a:buClr>
                        <a:buFont typeface="Wingdings" panose="05000000000000000000" pitchFamily="2" charset="2"/>
                        <a:buChar char="§"/>
                      </a:pPr>
                      <a:r>
                        <a:rPr lang="fr-CH" sz="1500" kern="1200" noProof="0" dirty="0">
                          <a:solidFill>
                            <a:srgbClr val="1F2933"/>
                          </a:solidFill>
                          <a:latin typeface="+mn-lt"/>
                          <a:ea typeface="+mn-ea"/>
                          <a:cs typeface="+mn-cs"/>
                        </a:rPr>
                        <a:t>retraite CNSSAP: 1 329</a:t>
                      </a:r>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0352">
                <a:tc>
                  <a:txBody>
                    <a:bodyPr/>
                    <a:lstStyle/>
                    <a:p>
                      <a:pPr marL="0" indent="0">
                        <a:buNone/>
                      </a:pPr>
                      <a:r>
                        <a:rPr lang="fr-CH" sz="1500" b="1" noProof="0" dirty="0">
                          <a:solidFill>
                            <a:srgbClr val="1428A0"/>
                          </a:solidFill>
                        </a:rPr>
                        <a:t>Dénominateur</a:t>
                      </a:r>
                      <a:endParaRPr lang="fr-CH" sz="150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4F7FB"/>
                    </a:solidFill>
                  </a:tcPr>
                </a:tc>
                <a:tc>
                  <a:txBody>
                    <a:bodyPr/>
                    <a:lstStyle/>
                    <a:p>
                      <a:pPr marL="0" indent="0">
                        <a:buNone/>
                      </a:pPr>
                      <a:r>
                        <a:rPr lang="fr-CH" sz="1500" noProof="0" dirty="0">
                          <a:solidFill>
                            <a:srgbClr val="1F2933"/>
                          </a:solidFill>
                        </a:rPr>
                        <a:t>4 519 266 personnes âgées de plus de 60 ans </a:t>
                      </a:r>
                    </a:p>
                    <a:p>
                      <a:pPr marL="0" marR="0" lvl="0" indent="0" algn="l" defTabSz="914400" rtl="0" eaLnBrk="1" fontAlgn="auto" latinLnBrk="0" hangingPunct="1">
                        <a:lnSpc>
                          <a:spcPct val="100000"/>
                        </a:lnSpc>
                        <a:spcBef>
                          <a:spcPts val="600"/>
                        </a:spcBef>
                        <a:spcAft>
                          <a:spcPts val="0"/>
                        </a:spcAft>
                        <a:buClrTx/>
                        <a:buSzTx/>
                        <a:buFontTx/>
                        <a:buNone/>
                        <a:tabLst/>
                        <a:defRPr/>
                      </a:pPr>
                      <a:r>
                        <a:rPr lang="fr-CH" sz="1200" i="1" kern="1200" noProof="0" dirty="0">
                          <a:solidFill>
                            <a:srgbClr val="1F2933"/>
                          </a:solidFill>
                          <a:latin typeface="+mn-lt"/>
                          <a:ea typeface="+mn-ea"/>
                          <a:cs typeface="+mn-cs"/>
                        </a:rPr>
                        <a:t>Source : </a:t>
                      </a:r>
                      <a:r>
                        <a:rPr lang="fr-FR" sz="1200" i="1" kern="1200" dirty="0">
                          <a:solidFill>
                            <a:srgbClr val="1F2933"/>
                          </a:solidFill>
                          <a:latin typeface="+mn-lt"/>
                          <a:ea typeface="+mn-ea"/>
                          <a:cs typeface="+mn-cs"/>
                        </a:rPr>
                        <a:t>Division de la population des Nations Unies, Perspectives de la population mondiale 2022</a:t>
                      </a:r>
                      <a:endParaRPr lang="fr-CH" sz="1200" i="1" kern="1200" noProof="0" dirty="0">
                        <a:solidFill>
                          <a:srgbClr val="1F2933"/>
                        </a:solidFill>
                        <a:latin typeface="+mn-lt"/>
                        <a:ea typeface="+mn-ea"/>
                        <a:cs typeface="+mn-cs"/>
                      </a:endParaRPr>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4F7FB"/>
                    </a:solidFill>
                  </a:tcPr>
                </a:tc>
                <a:extLst>
                  <a:ext uri="{0D108BD9-81ED-4DB2-BD59-A6C34878D82A}">
                    <a16:rowId xmlns:a16="http://schemas.microsoft.com/office/drawing/2014/main" val="10004"/>
                  </a:ext>
                </a:extLst>
              </a:tr>
              <a:tr h="530352">
                <a:tc>
                  <a:txBody>
                    <a:bodyPr/>
                    <a:lstStyle/>
                    <a:p>
                      <a:pPr marL="0" indent="0">
                        <a:buNone/>
                      </a:pPr>
                      <a:r>
                        <a:rPr lang="fr-CH" sz="1500" b="1" noProof="0" dirty="0">
                          <a:solidFill>
                            <a:srgbClr val="1428A0"/>
                          </a:solidFill>
                        </a:rPr>
                        <a:t>Résultat</a:t>
                      </a:r>
                      <a:endParaRPr lang="fr-CH" sz="150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FFFFF"/>
                    </a:solidFill>
                  </a:tcPr>
                </a:tc>
                <a:tc>
                  <a:txBody>
                    <a:bodyPr/>
                    <a:lstStyle/>
                    <a:p>
                      <a:pPr marL="0" indent="0">
                        <a:buNone/>
                      </a:pPr>
                      <a:r>
                        <a:rPr lang="fr-CH" sz="1500" noProof="0" dirty="0">
                          <a:solidFill>
                            <a:srgbClr val="1F2933"/>
                          </a:solidFill>
                        </a:rPr>
                        <a:t>46 658 / 4 519 266 = </a:t>
                      </a:r>
                      <a:r>
                        <a:rPr lang="fr-CH" sz="1500" b="1" noProof="0" dirty="0">
                          <a:solidFill>
                            <a:srgbClr val="FF0000"/>
                          </a:solidFill>
                        </a:rPr>
                        <a:t>1,03 %</a:t>
                      </a:r>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1" name="Shape 7"/>
          <p:cNvSpPr/>
          <p:nvPr/>
        </p:nvSpPr>
        <p:spPr>
          <a:xfrm>
            <a:off x="731520" y="5806440"/>
            <a:ext cx="10881360" cy="347472"/>
          </a:xfrm>
          <a:prstGeom prst="roundRect">
            <a:avLst/>
          </a:prstGeom>
          <a:solidFill>
            <a:srgbClr val="F4F7FC"/>
          </a:solidFill>
          <a:ln w="12700">
            <a:solidFill>
              <a:srgbClr val="D8E1F0"/>
            </a:solidFill>
            <a:prstDash val="solid"/>
          </a:ln>
        </p:spPr>
        <p:txBody>
          <a:bodyPr/>
          <a:lstStyle/>
          <a:p>
            <a:endParaRPr lang="fr-CH" noProof="0" dirty="0"/>
          </a:p>
        </p:txBody>
      </p:sp>
      <p:sp>
        <p:nvSpPr>
          <p:cNvPr id="12" name="Text 8"/>
          <p:cNvSpPr/>
          <p:nvPr/>
        </p:nvSpPr>
        <p:spPr>
          <a:xfrm>
            <a:off x="914400" y="5888736"/>
            <a:ext cx="10332720" cy="146304"/>
          </a:xfrm>
          <a:prstGeom prst="rect">
            <a:avLst/>
          </a:prstGeom>
          <a:noFill/>
          <a:ln/>
        </p:spPr>
        <p:txBody>
          <a:bodyPr wrap="square" rtlCol="0" anchor="ctr">
            <a:normAutofit fontScale="47500" lnSpcReduction="20000"/>
          </a:bodyPr>
          <a:lstStyle/>
          <a:p>
            <a:pPr marL="0" indent="0">
              <a:buNone/>
            </a:pPr>
            <a:r>
              <a:rPr lang="fr-CH" sz="880" noProof="0" dirty="0">
                <a:solidFill>
                  <a:srgbClr val="586069"/>
                </a:solidFill>
              </a:rPr>
              <a:t>Lecture : la qualité de l’indicateur dépend autant du numérateur institutionnel que du dénominateur et des hypothèses retenues.</a:t>
            </a:r>
            <a:endParaRPr lang="fr-CH" sz="880" noProof="0" dirty="0"/>
          </a:p>
        </p:txBody>
      </p:sp>
      <p:sp>
        <p:nvSpPr>
          <p:cNvPr id="10" name="TextBox 9">
            <a:extLst>
              <a:ext uri="{FF2B5EF4-FFF2-40B4-BE49-F238E27FC236}">
                <a16:creationId xmlns:a16="http://schemas.microsoft.com/office/drawing/2014/main" id="{3B1E0F50-C037-AB40-7AD4-356B34F1AAFB}"/>
              </a:ext>
            </a:extLst>
          </p:cNvPr>
          <p:cNvSpPr txBox="1"/>
          <p:nvPr/>
        </p:nvSpPr>
        <p:spPr>
          <a:xfrm>
            <a:off x="868681" y="4985178"/>
            <a:ext cx="10789920" cy="467820"/>
          </a:xfrm>
          <a:prstGeom prst="rect">
            <a:avLst/>
          </a:prstGeom>
          <a:noFill/>
        </p:spPr>
        <p:txBody>
          <a:bodyPr wrap="square" lIns="27432" tIns="18288" rIns="27432" bIns="18288" anchor="ctr">
            <a:spAutoFit/>
          </a:bodyPr>
          <a:lstStyle/>
          <a:p>
            <a:pPr algn="l"/>
            <a:r>
              <a:rPr lang="fr-CH" sz="1400" dirty="0">
                <a:solidFill>
                  <a:srgbClr val="505050"/>
                </a:solidFill>
                <a:latin typeface="Arial"/>
              </a:rPr>
              <a:t>Le premier bulletin indique que dans ce cas seul les régimes statutaire et contributifs ont été pris en compte. Les régimes octroyé sont discutés séparément faute de données. La réforme de basculement est aussi discuté séparément.</a:t>
            </a:r>
            <a:endParaRPr lang="fr-CH" sz="1400" b="0" noProof="0" dirty="0">
              <a:solidFill>
                <a:srgbClr val="505050"/>
              </a:solidFill>
              <a:latin typeface="Arial"/>
            </a:endParaRPr>
          </a:p>
        </p:txBody>
      </p:sp>
      <p:pic>
        <p:nvPicPr>
          <p:cNvPr id="14" name="Image 0" descr="/mnt/data/ref_unzip/ppt/media/image1.png">
            <a:extLst>
              <a:ext uri="{FF2B5EF4-FFF2-40B4-BE49-F238E27FC236}">
                <a16:creationId xmlns:a16="http://schemas.microsoft.com/office/drawing/2014/main" id="{B2E85940-B275-A4E0-F447-AEEB14D9A3C3}"/>
              </a:ext>
            </a:extLst>
          </p:cNvPr>
          <p:cNvPicPr>
            <a:picLocks noChangeAspect="1"/>
          </p:cNvPicPr>
          <p:nvPr/>
        </p:nvPicPr>
        <p:blipFill>
          <a:blip r:embed="rId3"/>
          <a:stretch>
            <a:fillRect/>
          </a:stretch>
        </p:blipFill>
        <p:spPr>
          <a:xfrm>
            <a:off x="10088880" y="357645"/>
            <a:ext cx="1508760" cy="52052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428A0"/>
          </a:solidFill>
          <a:ln w="12700">
            <a:solidFill>
              <a:srgbClr val="1428A0"/>
            </a:solidFill>
            <a:prstDash val="solid"/>
          </a:ln>
        </p:spPr>
        <p:txBody>
          <a:bodyPr/>
          <a:lstStyle/>
          <a:p>
            <a:endParaRPr lang="fr-CH" noProof="0" dirty="0"/>
          </a:p>
        </p:txBody>
      </p:sp>
      <p:sp>
        <p:nvSpPr>
          <p:cNvPr id="3" name="Text 1"/>
          <p:cNvSpPr/>
          <p:nvPr/>
        </p:nvSpPr>
        <p:spPr>
          <a:xfrm>
            <a:off x="594360" y="420624"/>
            <a:ext cx="8686800" cy="411480"/>
          </a:xfrm>
          <a:prstGeom prst="rect">
            <a:avLst/>
          </a:prstGeom>
          <a:noFill/>
          <a:ln/>
        </p:spPr>
        <p:txBody>
          <a:bodyPr wrap="square" rtlCol="0" anchor="ctr">
            <a:normAutofit fontScale="92500" lnSpcReduction="10000"/>
          </a:bodyPr>
          <a:lstStyle/>
          <a:p>
            <a:pPr marL="0" indent="0">
              <a:buNone/>
            </a:pPr>
            <a:r>
              <a:rPr lang="fr-CH" sz="2400" b="1" noProof="0" dirty="0">
                <a:solidFill>
                  <a:srgbClr val="1428A0"/>
                </a:solidFill>
                <a:latin typeface="Arial" pitchFamily="34" charset="0"/>
                <a:ea typeface="Arial" pitchFamily="34" charset="-122"/>
                <a:cs typeface="Arial" pitchFamily="34" charset="-120"/>
              </a:rPr>
              <a:t>Exemple 2 : enfants bénéficiant d’une protection sociale</a:t>
            </a:r>
            <a:endParaRPr lang="fr-CH" sz="2400" noProof="0" dirty="0"/>
          </a:p>
        </p:txBody>
      </p:sp>
      <p:sp>
        <p:nvSpPr>
          <p:cNvPr id="4" name="Text 2"/>
          <p:cNvSpPr/>
          <p:nvPr/>
        </p:nvSpPr>
        <p:spPr>
          <a:xfrm>
            <a:off x="612648" y="219456"/>
            <a:ext cx="6858000" cy="155448"/>
          </a:xfrm>
          <a:prstGeom prst="rect">
            <a:avLst/>
          </a:prstGeom>
          <a:noFill/>
          <a:ln/>
        </p:spPr>
        <p:txBody>
          <a:bodyPr wrap="square" rtlCol="0" anchor="ctr"/>
          <a:lstStyle/>
          <a:p>
            <a:pPr marL="0" indent="0">
              <a:buNone/>
            </a:pPr>
            <a:r>
              <a:rPr lang="fr-CH" sz="730" noProof="0" dirty="0">
                <a:solidFill>
                  <a:srgbClr val="586069"/>
                </a:solidFill>
              </a:rPr>
              <a:t>EXEMPLE CHIFFRÉ</a:t>
            </a:r>
            <a:endParaRPr lang="fr-CH" sz="730" noProof="0" dirty="0"/>
          </a:p>
        </p:txBody>
      </p:sp>
      <p:sp>
        <p:nvSpPr>
          <p:cNvPr id="6" name="Shape 3"/>
          <p:cNvSpPr/>
          <p:nvPr/>
        </p:nvSpPr>
        <p:spPr>
          <a:xfrm>
            <a:off x="594360" y="987552"/>
            <a:ext cx="10972800" cy="0"/>
          </a:xfrm>
          <a:prstGeom prst="line">
            <a:avLst/>
          </a:prstGeom>
          <a:noFill/>
          <a:ln w="12700">
            <a:solidFill>
              <a:srgbClr val="D9E1F2"/>
            </a:solidFill>
            <a:prstDash val="solid"/>
          </a:ln>
        </p:spPr>
        <p:txBody>
          <a:bodyPr/>
          <a:lstStyle/>
          <a:p>
            <a:endParaRPr lang="fr-CH" noProof="0" dirty="0"/>
          </a:p>
        </p:txBody>
      </p:sp>
      <p:sp>
        <p:nvSpPr>
          <p:cNvPr id="7" name="Text 4"/>
          <p:cNvSpPr/>
          <p:nvPr/>
        </p:nvSpPr>
        <p:spPr>
          <a:xfrm>
            <a:off x="594360" y="6510528"/>
            <a:ext cx="6583680" cy="164592"/>
          </a:xfrm>
          <a:prstGeom prst="rect">
            <a:avLst/>
          </a:prstGeom>
          <a:noFill/>
          <a:ln/>
        </p:spPr>
        <p:txBody>
          <a:bodyPr wrap="square" rtlCol="0" anchor="ctr"/>
          <a:lstStyle/>
          <a:p>
            <a:pPr marL="0" indent="0">
              <a:buNone/>
            </a:pPr>
            <a:r>
              <a:rPr lang="fr-CH" sz="750" noProof="0" dirty="0">
                <a:solidFill>
                  <a:srgbClr val="586069"/>
                </a:solidFill>
                <a:latin typeface="Arial" pitchFamily="34" charset="0"/>
                <a:ea typeface="Arial" pitchFamily="34" charset="-122"/>
                <a:cs typeface="Arial" pitchFamily="34" charset="-120"/>
              </a:rPr>
              <a:t>Faire avancer la justice sociale, promouvoir le travail décent</a:t>
            </a:r>
            <a:endParaRPr lang="fr-CH" sz="750" noProof="0" dirty="0"/>
          </a:p>
        </p:txBody>
      </p:sp>
      <p:sp>
        <p:nvSpPr>
          <p:cNvPr id="8" name="Text 5"/>
          <p:cNvSpPr/>
          <p:nvPr/>
        </p:nvSpPr>
        <p:spPr>
          <a:xfrm>
            <a:off x="7543800" y="6510528"/>
            <a:ext cx="3017520" cy="164592"/>
          </a:xfrm>
          <a:prstGeom prst="rect">
            <a:avLst/>
          </a:prstGeom>
          <a:noFill/>
          <a:ln/>
        </p:spPr>
        <p:txBody>
          <a:bodyPr wrap="square" rtlCol="0" anchor="ctr"/>
          <a:lstStyle/>
          <a:p>
            <a:pPr marL="0" indent="0" algn="r">
              <a:buNone/>
            </a:pPr>
            <a:r>
              <a:rPr lang="fr-CH" sz="730" noProof="0" dirty="0">
                <a:solidFill>
                  <a:srgbClr val="586069"/>
                </a:solidFill>
                <a:latin typeface="Arial" pitchFamily="34" charset="0"/>
                <a:ea typeface="Arial" pitchFamily="34" charset="-122"/>
                <a:cs typeface="Arial" pitchFamily="34" charset="-120"/>
              </a:rPr>
              <a:t>Atelier 2e Bulletin Statistique RDC | 14 mai 2026</a:t>
            </a:r>
            <a:endParaRPr lang="fr-CH" sz="730" noProof="0" dirty="0"/>
          </a:p>
        </p:txBody>
      </p:sp>
      <p:sp>
        <p:nvSpPr>
          <p:cNvPr id="9" name="Text 6"/>
          <p:cNvSpPr/>
          <p:nvPr/>
        </p:nvSpPr>
        <p:spPr>
          <a:xfrm>
            <a:off x="11292840" y="6473952"/>
            <a:ext cx="411480" cy="201168"/>
          </a:xfrm>
          <a:prstGeom prst="rect">
            <a:avLst/>
          </a:prstGeom>
          <a:noFill/>
          <a:ln/>
        </p:spPr>
        <p:txBody>
          <a:bodyPr wrap="square" lIns="27432" tIns="18288" rIns="27432" bIns="18288" rtlCol="0" anchor="ctr"/>
          <a:lstStyle/>
          <a:p>
            <a:pPr marL="0" indent="0" algn="r">
              <a:buNone/>
            </a:pPr>
            <a:r>
              <a:rPr lang="fr-CH" sz="850" b="0" noProof="0" dirty="0">
                <a:solidFill>
                  <a:srgbClr val="505050"/>
                </a:solidFill>
                <a:latin typeface="Arial"/>
              </a:rPr>
              <a:t>13</a:t>
            </a:r>
            <a:endParaRPr lang="fr-CH" sz="750" noProof="0" dirty="0"/>
          </a:p>
        </p:txBody>
      </p:sp>
      <p:graphicFrame>
        <p:nvGraphicFramePr>
          <p:cNvPr id="14" name="Table 0"/>
          <p:cNvGraphicFramePr>
            <a:graphicFrameLocks noGrp="1"/>
          </p:cNvGraphicFramePr>
          <p:nvPr>
            <p:extLst>
              <p:ext uri="{D42A27DB-BD31-4B8C-83A1-F6EECF244321}">
                <p14:modId xmlns:p14="http://schemas.microsoft.com/office/powerpoint/2010/main" val="3356645600"/>
              </p:ext>
            </p:extLst>
          </p:nvPr>
        </p:nvGraphicFramePr>
        <p:xfrm>
          <a:off x="731520" y="1325880"/>
          <a:ext cx="10881360" cy="3544824"/>
        </p:xfrm>
        <a:graphic>
          <a:graphicData uri="http://schemas.openxmlformats.org/drawingml/2006/table">
            <a:tbl>
              <a:tblPr/>
              <a:tblGrid>
                <a:gridCol w="2286000">
                  <a:extLst>
                    <a:ext uri="{9D8B030D-6E8A-4147-A177-3AD203B41FA5}">
                      <a16:colId xmlns:a16="http://schemas.microsoft.com/office/drawing/2014/main" val="20000"/>
                    </a:ext>
                  </a:extLst>
                </a:gridCol>
                <a:gridCol w="8595360">
                  <a:extLst>
                    <a:ext uri="{9D8B030D-6E8A-4147-A177-3AD203B41FA5}">
                      <a16:colId xmlns:a16="http://schemas.microsoft.com/office/drawing/2014/main" val="20001"/>
                    </a:ext>
                  </a:extLst>
                </a:gridCol>
              </a:tblGrid>
              <a:tr h="530352">
                <a:tc>
                  <a:txBody>
                    <a:bodyPr/>
                    <a:lstStyle/>
                    <a:p>
                      <a:pPr marL="0" indent="0">
                        <a:buNone/>
                      </a:pPr>
                      <a:r>
                        <a:rPr lang="fr-CH" sz="950" b="1" noProof="0" dirty="0">
                          <a:solidFill>
                            <a:srgbClr val="FFFFFF"/>
                          </a:solidFill>
                        </a:rPr>
                        <a:t>Élément</a:t>
                      </a:r>
                      <a:endParaRPr lang="fr-CH" sz="95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1428A0"/>
                    </a:solidFill>
                  </a:tcPr>
                </a:tc>
                <a:tc>
                  <a:txBody>
                    <a:bodyPr/>
                    <a:lstStyle/>
                    <a:p>
                      <a:pPr marL="0" indent="0">
                        <a:buNone/>
                      </a:pPr>
                      <a:r>
                        <a:rPr lang="fr-CH" sz="950" b="1" noProof="0" dirty="0">
                          <a:solidFill>
                            <a:srgbClr val="FFFFFF"/>
                          </a:solidFill>
                        </a:rPr>
                        <a:t>Application — RDC 2022</a:t>
                      </a:r>
                      <a:endParaRPr lang="fr-CH" sz="95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1428A0"/>
                    </a:solidFill>
                  </a:tcPr>
                </a:tc>
                <a:extLst>
                  <a:ext uri="{0D108BD9-81ED-4DB2-BD59-A6C34878D82A}">
                    <a16:rowId xmlns:a16="http://schemas.microsoft.com/office/drawing/2014/main" val="10000"/>
                  </a:ext>
                </a:extLst>
              </a:tr>
              <a:tr h="530352">
                <a:tc>
                  <a:txBody>
                    <a:bodyPr/>
                    <a:lstStyle/>
                    <a:p>
                      <a:pPr marL="0" indent="0">
                        <a:buNone/>
                      </a:pPr>
                      <a:r>
                        <a:rPr lang="fr-CH" sz="1500" b="1" noProof="0" dirty="0">
                          <a:solidFill>
                            <a:srgbClr val="1428A0"/>
                          </a:solidFill>
                        </a:rPr>
                        <a:t>Définition</a:t>
                      </a:r>
                      <a:endParaRPr lang="fr-CH" sz="150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FFFFF"/>
                    </a:solidFill>
                  </a:tcPr>
                </a:tc>
                <a:tc>
                  <a:txBody>
                    <a:bodyPr/>
                    <a:lstStyle/>
                    <a:p>
                      <a:pPr marL="0" indent="0">
                        <a:buNone/>
                      </a:pPr>
                      <a:r>
                        <a:rPr lang="fr-CH" sz="1500" noProof="0" dirty="0">
                          <a:solidFill>
                            <a:srgbClr val="1F2933"/>
                          </a:solidFill>
                        </a:rPr>
                        <a:t>Part des enfants bénéficiant d’une prestation de protection sociale</a:t>
                      </a:r>
                      <a:endParaRPr lang="fr-CH" sz="150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0352">
                <a:tc>
                  <a:txBody>
                    <a:bodyPr/>
                    <a:lstStyle/>
                    <a:p>
                      <a:pPr marL="0" indent="0">
                        <a:buNone/>
                      </a:pPr>
                      <a:r>
                        <a:rPr lang="fr-CH" sz="1500" b="1" noProof="0" dirty="0">
                          <a:solidFill>
                            <a:srgbClr val="1428A0"/>
                          </a:solidFill>
                        </a:rPr>
                        <a:t>Numérateur</a:t>
                      </a:r>
                      <a:endParaRPr lang="fr-CH" sz="150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4F7FB"/>
                    </a:solidFill>
                  </a:tcPr>
                </a:tc>
                <a:tc>
                  <a:txBody>
                    <a:bodyPr/>
                    <a:lstStyle/>
                    <a:p>
                      <a:pPr marL="0" indent="0">
                        <a:buNone/>
                      </a:pPr>
                      <a:r>
                        <a:rPr lang="fr-CH" sz="1500" noProof="0" dirty="0">
                          <a:solidFill>
                            <a:srgbClr val="1F2933"/>
                          </a:solidFill>
                        </a:rPr>
                        <a:t>1 130 048 enfants couverts</a:t>
                      </a:r>
                      <a:endParaRPr lang="fr-CH" sz="150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4F7FB"/>
                    </a:solidFill>
                  </a:tcPr>
                </a:tc>
                <a:extLst>
                  <a:ext uri="{0D108BD9-81ED-4DB2-BD59-A6C34878D82A}">
                    <a16:rowId xmlns:a16="http://schemas.microsoft.com/office/drawing/2014/main" val="10002"/>
                  </a:ext>
                </a:extLst>
              </a:tr>
              <a:tr h="530352">
                <a:tc>
                  <a:txBody>
                    <a:bodyPr/>
                    <a:lstStyle/>
                    <a:p>
                      <a:pPr marL="457200" lvl="1" indent="0">
                        <a:buNone/>
                      </a:pPr>
                      <a:r>
                        <a:rPr lang="fr-CH" sz="1500" b="0" noProof="0" dirty="0">
                          <a:solidFill>
                            <a:schemeClr val="tx1"/>
                          </a:solidFill>
                        </a:rPr>
                        <a:t>Composition du numérateur</a:t>
                      </a:r>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FFFFF"/>
                    </a:solidFill>
                  </a:tcPr>
                </a:tc>
                <a:tc>
                  <a:txBody>
                    <a:bodyPr/>
                    <a:lstStyle/>
                    <a:p>
                      <a:pPr marL="285750" indent="-285750">
                        <a:buClr>
                          <a:srgbClr val="FF5050"/>
                        </a:buClr>
                        <a:buFont typeface="Wingdings" panose="05000000000000000000" pitchFamily="2" charset="2"/>
                        <a:buChar char="§"/>
                      </a:pPr>
                      <a:r>
                        <a:rPr lang="fr-CH" sz="1500" noProof="0" dirty="0">
                          <a:solidFill>
                            <a:srgbClr val="1F2933"/>
                          </a:solidFill>
                        </a:rPr>
                        <a:t>Allocations familiales CNSS : 1 129 861 ;</a:t>
                      </a:r>
                    </a:p>
                    <a:p>
                      <a:pPr marL="285750" indent="-285750">
                        <a:buClr>
                          <a:srgbClr val="FF5050"/>
                        </a:buClr>
                        <a:buFont typeface="Wingdings" panose="05000000000000000000" pitchFamily="2" charset="2"/>
                        <a:buChar char="§"/>
                      </a:pPr>
                      <a:r>
                        <a:rPr lang="fr-CH" sz="1500" noProof="0" dirty="0">
                          <a:solidFill>
                            <a:srgbClr val="1F2933"/>
                          </a:solidFill>
                        </a:rPr>
                        <a:t>Rentes d’orphelins CNSSAP : 187</a:t>
                      </a:r>
                    </a:p>
                    <a:p>
                      <a:pPr marL="216000" marR="0" lvl="0" indent="0" algn="l" defTabSz="914400" rtl="0" eaLnBrk="1" fontAlgn="auto" latinLnBrk="0" hangingPunct="1">
                        <a:lnSpc>
                          <a:spcPct val="100000"/>
                        </a:lnSpc>
                        <a:spcBef>
                          <a:spcPts val="600"/>
                        </a:spcBef>
                        <a:spcAft>
                          <a:spcPts val="0"/>
                        </a:spcAft>
                        <a:buClrTx/>
                        <a:buSzTx/>
                        <a:buFontTx/>
                        <a:buNone/>
                        <a:tabLst/>
                        <a:defRPr/>
                      </a:pPr>
                      <a:r>
                        <a:rPr lang="fr-CH" sz="1200" i="1" kern="1200" noProof="0" dirty="0">
                          <a:solidFill>
                            <a:srgbClr val="1F2933"/>
                          </a:solidFill>
                          <a:latin typeface="+mn-lt"/>
                          <a:ea typeface="+mn-ea"/>
                          <a:cs typeface="+mn-cs"/>
                        </a:rPr>
                        <a:t>Estimation faite à partir du nombre moyen d’enfants par affiliés.</a:t>
                      </a:r>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0352">
                <a:tc>
                  <a:txBody>
                    <a:bodyPr/>
                    <a:lstStyle/>
                    <a:p>
                      <a:pPr marL="0" indent="0">
                        <a:buNone/>
                      </a:pPr>
                      <a:r>
                        <a:rPr lang="fr-CH" sz="1500" b="1" noProof="0" dirty="0">
                          <a:solidFill>
                            <a:srgbClr val="1428A0"/>
                          </a:solidFill>
                        </a:rPr>
                        <a:t>Dénominateur</a:t>
                      </a:r>
                      <a:endParaRPr lang="fr-CH" sz="150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4F7FB"/>
                    </a:solidFill>
                  </a:tcPr>
                </a:tc>
                <a:tc>
                  <a:txBody>
                    <a:bodyPr/>
                    <a:lstStyle/>
                    <a:p>
                      <a:pPr marL="0" indent="0">
                        <a:buNone/>
                      </a:pPr>
                      <a:r>
                        <a:rPr lang="fr-CH" sz="1500" noProof="0" dirty="0">
                          <a:solidFill>
                            <a:srgbClr val="1F2933"/>
                          </a:solidFill>
                        </a:rPr>
                        <a:t>52 490 412 personnes de moins de 18 ans</a:t>
                      </a:r>
                    </a:p>
                    <a:p>
                      <a:pPr marL="216000" marR="0" lvl="0" indent="0" algn="l" defTabSz="914400" rtl="0" eaLnBrk="1" fontAlgn="auto" latinLnBrk="0" hangingPunct="1">
                        <a:lnSpc>
                          <a:spcPct val="100000"/>
                        </a:lnSpc>
                        <a:spcBef>
                          <a:spcPts val="600"/>
                        </a:spcBef>
                        <a:spcAft>
                          <a:spcPts val="0"/>
                        </a:spcAft>
                        <a:buClrTx/>
                        <a:buSzTx/>
                        <a:buFontTx/>
                        <a:buNone/>
                        <a:tabLst/>
                        <a:defRPr/>
                      </a:pPr>
                      <a:r>
                        <a:rPr lang="fr-CH" sz="1200" i="1" kern="1200" noProof="0" dirty="0">
                          <a:solidFill>
                            <a:srgbClr val="1F2933"/>
                          </a:solidFill>
                          <a:latin typeface="+mn-lt"/>
                          <a:ea typeface="+mn-ea"/>
                          <a:cs typeface="+mn-cs"/>
                        </a:rPr>
                        <a:t>Source : </a:t>
                      </a:r>
                      <a:r>
                        <a:rPr lang="fr-FR" sz="1200" i="1" kern="1200" dirty="0">
                          <a:solidFill>
                            <a:srgbClr val="1F2933"/>
                          </a:solidFill>
                          <a:latin typeface="+mn-lt"/>
                          <a:ea typeface="+mn-ea"/>
                          <a:cs typeface="+mn-cs"/>
                        </a:rPr>
                        <a:t>Division de la population des Nations Unies, Perspectives de la population mondiale 2022</a:t>
                      </a:r>
                      <a:endParaRPr lang="fr-CH" sz="1200" i="1" kern="1200" noProof="0" dirty="0">
                        <a:solidFill>
                          <a:srgbClr val="1F2933"/>
                        </a:solidFill>
                        <a:latin typeface="+mn-lt"/>
                        <a:ea typeface="+mn-ea"/>
                        <a:cs typeface="+mn-cs"/>
                      </a:endParaRPr>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4F7FB"/>
                    </a:solidFill>
                  </a:tcPr>
                </a:tc>
                <a:extLst>
                  <a:ext uri="{0D108BD9-81ED-4DB2-BD59-A6C34878D82A}">
                    <a16:rowId xmlns:a16="http://schemas.microsoft.com/office/drawing/2014/main" val="10004"/>
                  </a:ext>
                </a:extLst>
              </a:tr>
              <a:tr h="530352">
                <a:tc>
                  <a:txBody>
                    <a:bodyPr/>
                    <a:lstStyle/>
                    <a:p>
                      <a:pPr marL="0" indent="0">
                        <a:buNone/>
                      </a:pPr>
                      <a:r>
                        <a:rPr lang="fr-CH" sz="1500" b="1" noProof="0" dirty="0">
                          <a:solidFill>
                            <a:srgbClr val="1428A0"/>
                          </a:solidFill>
                        </a:rPr>
                        <a:t>Résultat</a:t>
                      </a:r>
                      <a:endParaRPr lang="fr-CH" sz="150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FFFFF"/>
                    </a:solidFill>
                  </a:tcPr>
                </a:tc>
                <a:tc>
                  <a:txBody>
                    <a:bodyPr/>
                    <a:lstStyle/>
                    <a:p>
                      <a:pPr marL="0" indent="0">
                        <a:buNone/>
                      </a:pPr>
                      <a:r>
                        <a:rPr lang="fr-CH" sz="1500" noProof="0" dirty="0">
                          <a:solidFill>
                            <a:srgbClr val="1F2933"/>
                          </a:solidFill>
                        </a:rPr>
                        <a:t>1 130 048 / 52 490 412 = </a:t>
                      </a:r>
                      <a:r>
                        <a:rPr lang="fr-CH" sz="1500" b="1" noProof="0" dirty="0">
                          <a:solidFill>
                            <a:srgbClr val="FF0000"/>
                          </a:solidFill>
                        </a:rPr>
                        <a:t>2,15 %</a:t>
                      </a:r>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1" name="Shape 7"/>
          <p:cNvSpPr/>
          <p:nvPr/>
        </p:nvSpPr>
        <p:spPr>
          <a:xfrm>
            <a:off x="708660" y="5888736"/>
            <a:ext cx="10881360" cy="347472"/>
          </a:xfrm>
          <a:prstGeom prst="roundRect">
            <a:avLst/>
          </a:prstGeom>
          <a:solidFill>
            <a:srgbClr val="F4F7FC"/>
          </a:solidFill>
          <a:ln w="12700">
            <a:solidFill>
              <a:srgbClr val="D8E1F0"/>
            </a:solidFill>
            <a:prstDash val="solid"/>
          </a:ln>
        </p:spPr>
        <p:txBody>
          <a:bodyPr/>
          <a:lstStyle/>
          <a:p>
            <a:endParaRPr lang="fr-CH" noProof="0" dirty="0"/>
          </a:p>
        </p:txBody>
      </p:sp>
      <p:sp>
        <p:nvSpPr>
          <p:cNvPr id="12" name="Text 8"/>
          <p:cNvSpPr/>
          <p:nvPr/>
        </p:nvSpPr>
        <p:spPr>
          <a:xfrm>
            <a:off x="914400" y="5989320"/>
            <a:ext cx="10332720" cy="146304"/>
          </a:xfrm>
          <a:prstGeom prst="rect">
            <a:avLst/>
          </a:prstGeom>
          <a:noFill/>
          <a:ln/>
        </p:spPr>
        <p:txBody>
          <a:bodyPr wrap="square" rtlCol="0" anchor="ctr">
            <a:normAutofit fontScale="25000" lnSpcReduction="20000"/>
          </a:bodyPr>
          <a:lstStyle/>
          <a:p>
            <a:pPr marL="0" indent="0">
              <a:buNone/>
            </a:pPr>
            <a:r>
              <a:rPr lang="fr-CH" sz="5600" noProof="0" dirty="0">
                <a:solidFill>
                  <a:srgbClr val="586069"/>
                </a:solidFill>
              </a:rPr>
              <a:t>La qualité de l’indicateur dépend autant du numérateur institutionnel que du dénominateur et des hypothèses retenues</a:t>
            </a:r>
            <a:r>
              <a:rPr lang="fr-CH" sz="880" noProof="0" dirty="0">
                <a:solidFill>
                  <a:srgbClr val="586069"/>
                </a:solidFill>
              </a:rPr>
              <a:t>.</a:t>
            </a:r>
            <a:endParaRPr lang="fr-CH" sz="880" noProof="0" dirty="0"/>
          </a:p>
        </p:txBody>
      </p:sp>
      <p:sp>
        <p:nvSpPr>
          <p:cNvPr id="10" name="TextBox 9">
            <a:extLst>
              <a:ext uri="{FF2B5EF4-FFF2-40B4-BE49-F238E27FC236}">
                <a16:creationId xmlns:a16="http://schemas.microsoft.com/office/drawing/2014/main" id="{BBC29BAD-E29B-6EA8-914A-589FC4F0198B}"/>
              </a:ext>
            </a:extLst>
          </p:cNvPr>
          <p:cNvSpPr txBox="1"/>
          <p:nvPr/>
        </p:nvSpPr>
        <p:spPr>
          <a:xfrm>
            <a:off x="708660" y="5104888"/>
            <a:ext cx="10904220" cy="467820"/>
          </a:xfrm>
          <a:prstGeom prst="rect">
            <a:avLst/>
          </a:prstGeom>
          <a:noFill/>
        </p:spPr>
        <p:txBody>
          <a:bodyPr wrap="square" lIns="27432" tIns="18288" rIns="27432" bIns="18288" anchor="ctr">
            <a:spAutoFit/>
          </a:bodyPr>
          <a:lstStyle/>
          <a:p>
            <a:r>
              <a:rPr lang="fr-CH" sz="1400" dirty="0">
                <a:solidFill>
                  <a:srgbClr val="505050"/>
                </a:solidFill>
                <a:latin typeface="Arial"/>
              </a:rPr>
              <a:t>Couverture effective vs couverture légale. </a:t>
            </a:r>
            <a:r>
              <a:rPr lang="fr-CH" sz="1400" dirty="0">
                <a:solidFill>
                  <a:srgbClr val="505050"/>
                </a:solidFill>
              </a:rPr>
              <a:t>LA CNSAPP ne versait pas d’allocation de prestation familiale. L’hypothèse du nombre d’enfant bénéficiaire de la CNSS peut être précisé. </a:t>
            </a:r>
            <a:r>
              <a:rPr lang="fr-CH" sz="1400" b="1" dirty="0">
                <a:solidFill>
                  <a:srgbClr val="FF0000"/>
                </a:solidFill>
              </a:rPr>
              <a:t>Discuter</a:t>
            </a:r>
            <a:endParaRPr lang="fr-CH" sz="1400" dirty="0">
              <a:solidFill>
                <a:srgbClr val="505050"/>
              </a:solidFill>
              <a:latin typeface="Arial"/>
            </a:endParaRPr>
          </a:p>
        </p:txBody>
      </p:sp>
      <p:pic>
        <p:nvPicPr>
          <p:cNvPr id="13" name="Image 0" descr="/mnt/data/ref_unzip/ppt/media/image1.png">
            <a:extLst>
              <a:ext uri="{FF2B5EF4-FFF2-40B4-BE49-F238E27FC236}">
                <a16:creationId xmlns:a16="http://schemas.microsoft.com/office/drawing/2014/main" id="{FE179F9D-3B46-4CE4-506B-571AB7AE08C6}"/>
              </a:ext>
            </a:extLst>
          </p:cNvPr>
          <p:cNvPicPr>
            <a:picLocks noChangeAspect="1"/>
          </p:cNvPicPr>
          <p:nvPr/>
        </p:nvPicPr>
        <p:blipFill>
          <a:blip r:embed="rId3"/>
          <a:stretch>
            <a:fillRect/>
          </a:stretch>
        </p:blipFill>
        <p:spPr>
          <a:xfrm>
            <a:off x="10088880" y="357645"/>
            <a:ext cx="1508760" cy="52052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428A0"/>
          </a:solidFill>
          <a:ln w="12700">
            <a:solidFill>
              <a:srgbClr val="1428A0"/>
            </a:solidFill>
            <a:prstDash val="solid"/>
          </a:ln>
        </p:spPr>
        <p:txBody>
          <a:bodyPr/>
          <a:lstStyle/>
          <a:p>
            <a:endParaRPr lang="fr-CH" noProof="0" dirty="0"/>
          </a:p>
        </p:txBody>
      </p:sp>
      <p:sp>
        <p:nvSpPr>
          <p:cNvPr id="3" name="Text 1"/>
          <p:cNvSpPr/>
          <p:nvPr/>
        </p:nvSpPr>
        <p:spPr>
          <a:xfrm>
            <a:off x="594360" y="420624"/>
            <a:ext cx="8686800" cy="411480"/>
          </a:xfrm>
          <a:prstGeom prst="rect">
            <a:avLst/>
          </a:prstGeom>
          <a:noFill/>
          <a:ln/>
        </p:spPr>
        <p:txBody>
          <a:bodyPr wrap="square" lIns="27432" tIns="18288" rIns="27432" bIns="18288" rtlCol="0" anchor="ctr">
            <a:normAutofit lnSpcReduction="10000"/>
          </a:bodyPr>
          <a:lstStyle/>
          <a:p>
            <a:pPr algn="l"/>
            <a:r>
              <a:rPr lang="fr-CH" sz="2500" b="0" noProof="0" dirty="0">
                <a:solidFill>
                  <a:srgbClr val="223399"/>
                </a:solidFill>
                <a:latin typeface="Arial"/>
              </a:rPr>
              <a:t>Exemple 3 : protection sociale en santé*</a:t>
            </a:r>
          </a:p>
        </p:txBody>
      </p:sp>
      <p:sp>
        <p:nvSpPr>
          <p:cNvPr id="4" name="Text 2"/>
          <p:cNvSpPr/>
          <p:nvPr/>
        </p:nvSpPr>
        <p:spPr>
          <a:xfrm>
            <a:off x="612648" y="219456"/>
            <a:ext cx="6858000" cy="155448"/>
          </a:xfrm>
          <a:prstGeom prst="rect">
            <a:avLst/>
          </a:prstGeom>
          <a:noFill/>
          <a:ln/>
        </p:spPr>
        <p:txBody>
          <a:bodyPr wrap="square" lIns="27432" tIns="18288" rIns="27432" bIns="18288" rtlCol="0" anchor="ctr"/>
          <a:lstStyle/>
          <a:p>
            <a:pPr algn="l"/>
            <a:r>
              <a:rPr lang="fr-CH" sz="850" b="0" noProof="0" dirty="0">
                <a:solidFill>
                  <a:schemeClr val="bg1">
                    <a:lumMod val="65000"/>
                  </a:schemeClr>
                </a:solidFill>
                <a:latin typeface="Arial"/>
              </a:rPr>
              <a:t>EXEMPLE CHIFFRÉ — INDICATEUR COMPLÉMENTAIRE</a:t>
            </a:r>
          </a:p>
        </p:txBody>
      </p:sp>
      <p:sp>
        <p:nvSpPr>
          <p:cNvPr id="6" name="Shape 3"/>
          <p:cNvSpPr/>
          <p:nvPr/>
        </p:nvSpPr>
        <p:spPr>
          <a:xfrm>
            <a:off x="594360" y="987552"/>
            <a:ext cx="10972800" cy="0"/>
          </a:xfrm>
          <a:prstGeom prst="line">
            <a:avLst/>
          </a:prstGeom>
          <a:noFill/>
          <a:ln w="12700">
            <a:solidFill>
              <a:srgbClr val="D9E1F2"/>
            </a:solidFill>
            <a:prstDash val="solid"/>
          </a:ln>
        </p:spPr>
        <p:txBody>
          <a:bodyPr/>
          <a:lstStyle/>
          <a:p>
            <a:endParaRPr lang="fr-CH" noProof="0" dirty="0"/>
          </a:p>
        </p:txBody>
      </p:sp>
      <p:sp>
        <p:nvSpPr>
          <p:cNvPr id="7" name="Text 4"/>
          <p:cNvSpPr/>
          <p:nvPr/>
        </p:nvSpPr>
        <p:spPr>
          <a:xfrm>
            <a:off x="594360" y="6510528"/>
            <a:ext cx="6583680" cy="164592"/>
          </a:xfrm>
          <a:prstGeom prst="rect">
            <a:avLst/>
          </a:prstGeom>
          <a:noFill/>
          <a:ln/>
        </p:spPr>
        <p:txBody>
          <a:bodyPr wrap="square" rtlCol="0" anchor="ctr"/>
          <a:lstStyle/>
          <a:p>
            <a:pPr marL="0" indent="0">
              <a:buNone/>
            </a:pPr>
            <a:r>
              <a:rPr lang="fr-CH" sz="750" noProof="0" dirty="0">
                <a:solidFill>
                  <a:srgbClr val="586069"/>
                </a:solidFill>
                <a:latin typeface="Arial" pitchFamily="34" charset="0"/>
                <a:ea typeface="Arial" pitchFamily="34" charset="-122"/>
                <a:cs typeface="Arial" pitchFamily="34" charset="-120"/>
              </a:rPr>
              <a:t>Faire avancer la justice sociale, promouvoir le travail décent</a:t>
            </a:r>
            <a:endParaRPr lang="fr-CH" sz="750" noProof="0" dirty="0"/>
          </a:p>
        </p:txBody>
      </p:sp>
      <p:sp>
        <p:nvSpPr>
          <p:cNvPr id="8" name="Text 5"/>
          <p:cNvSpPr/>
          <p:nvPr/>
        </p:nvSpPr>
        <p:spPr>
          <a:xfrm>
            <a:off x="7543800" y="6510528"/>
            <a:ext cx="3017520" cy="164592"/>
          </a:xfrm>
          <a:prstGeom prst="rect">
            <a:avLst/>
          </a:prstGeom>
          <a:noFill/>
          <a:ln/>
        </p:spPr>
        <p:txBody>
          <a:bodyPr wrap="square" rtlCol="0" anchor="ctr"/>
          <a:lstStyle/>
          <a:p>
            <a:pPr marL="0" indent="0" algn="r">
              <a:buNone/>
            </a:pPr>
            <a:r>
              <a:rPr lang="fr-CH" sz="730" noProof="0" dirty="0">
                <a:solidFill>
                  <a:srgbClr val="586069"/>
                </a:solidFill>
                <a:latin typeface="Arial" pitchFamily="34" charset="0"/>
                <a:ea typeface="Arial" pitchFamily="34" charset="-122"/>
                <a:cs typeface="Arial" pitchFamily="34" charset="-120"/>
              </a:rPr>
              <a:t>Atelier 2e Bulletin Statistique RDC | 14 mai 2026</a:t>
            </a:r>
            <a:endParaRPr lang="fr-CH" sz="730" noProof="0" dirty="0"/>
          </a:p>
        </p:txBody>
      </p:sp>
      <p:sp>
        <p:nvSpPr>
          <p:cNvPr id="9" name="Text 6"/>
          <p:cNvSpPr/>
          <p:nvPr/>
        </p:nvSpPr>
        <p:spPr>
          <a:xfrm>
            <a:off x="11292840" y="6473952"/>
            <a:ext cx="411480" cy="201168"/>
          </a:xfrm>
          <a:prstGeom prst="rect">
            <a:avLst/>
          </a:prstGeom>
          <a:noFill/>
          <a:ln/>
        </p:spPr>
        <p:txBody>
          <a:bodyPr wrap="square" lIns="27432" tIns="18288" rIns="27432" bIns="18288" rtlCol="0" anchor="ctr"/>
          <a:lstStyle/>
          <a:p>
            <a:pPr marL="0" indent="0" algn="r">
              <a:buNone/>
            </a:pPr>
            <a:r>
              <a:rPr lang="fr-CH" sz="850" b="0" noProof="0" dirty="0">
                <a:solidFill>
                  <a:srgbClr val="505050"/>
                </a:solidFill>
                <a:latin typeface="Arial"/>
              </a:rPr>
              <a:t>14</a:t>
            </a:r>
            <a:endParaRPr lang="fr-CH" sz="750" noProof="0" dirty="0"/>
          </a:p>
        </p:txBody>
      </p:sp>
      <p:graphicFrame>
        <p:nvGraphicFramePr>
          <p:cNvPr id="15" name="Table 0"/>
          <p:cNvGraphicFramePr>
            <a:graphicFrameLocks noGrp="1"/>
          </p:cNvGraphicFramePr>
          <p:nvPr>
            <p:extLst>
              <p:ext uri="{D42A27DB-BD31-4B8C-83A1-F6EECF244321}">
                <p14:modId xmlns:p14="http://schemas.microsoft.com/office/powerpoint/2010/main" val="2177771461"/>
              </p:ext>
            </p:extLst>
          </p:nvPr>
        </p:nvGraphicFramePr>
        <p:xfrm>
          <a:off x="731520" y="1325880"/>
          <a:ext cx="10881360" cy="3182112"/>
        </p:xfrm>
        <a:graphic>
          <a:graphicData uri="http://schemas.openxmlformats.org/drawingml/2006/table">
            <a:tbl>
              <a:tblPr/>
              <a:tblGrid>
                <a:gridCol w="2286000">
                  <a:extLst>
                    <a:ext uri="{9D8B030D-6E8A-4147-A177-3AD203B41FA5}">
                      <a16:colId xmlns:a16="http://schemas.microsoft.com/office/drawing/2014/main" val="20000"/>
                    </a:ext>
                  </a:extLst>
                </a:gridCol>
                <a:gridCol w="8595360">
                  <a:extLst>
                    <a:ext uri="{9D8B030D-6E8A-4147-A177-3AD203B41FA5}">
                      <a16:colId xmlns:a16="http://schemas.microsoft.com/office/drawing/2014/main" val="20001"/>
                    </a:ext>
                  </a:extLst>
                </a:gridCol>
              </a:tblGrid>
              <a:tr h="530352">
                <a:tc>
                  <a:txBody>
                    <a:bodyPr/>
                    <a:lstStyle/>
                    <a:p>
                      <a:pPr marL="0" indent="0">
                        <a:buNone/>
                      </a:pPr>
                      <a:r>
                        <a:rPr lang="fr-CH" sz="1500" b="1" noProof="0" dirty="0">
                          <a:solidFill>
                            <a:srgbClr val="FFFFFF"/>
                          </a:solidFill>
                          <a:latin typeface="Arial"/>
                        </a:rPr>
                        <a:t>Élément</a:t>
                      </a:r>
                      <a:endParaRPr lang="fr-CH" sz="150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53A055"/>
                    </a:solidFill>
                  </a:tcPr>
                </a:tc>
                <a:tc>
                  <a:txBody>
                    <a:bodyPr/>
                    <a:lstStyle/>
                    <a:p>
                      <a:pPr marL="0" indent="0">
                        <a:buNone/>
                      </a:pPr>
                      <a:r>
                        <a:rPr lang="fr-CH" sz="1500" b="1" noProof="0" dirty="0">
                          <a:solidFill>
                            <a:srgbClr val="FFFFFF"/>
                          </a:solidFill>
                          <a:latin typeface="Arial"/>
                        </a:rPr>
                        <a:t>Application — RDC 2022</a:t>
                      </a:r>
                      <a:endParaRPr lang="fr-CH" sz="150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53A055"/>
                    </a:solidFill>
                  </a:tcPr>
                </a:tc>
                <a:extLst>
                  <a:ext uri="{0D108BD9-81ED-4DB2-BD59-A6C34878D82A}">
                    <a16:rowId xmlns:a16="http://schemas.microsoft.com/office/drawing/2014/main" val="10000"/>
                  </a:ext>
                </a:extLst>
              </a:tr>
              <a:tr h="530352">
                <a:tc>
                  <a:txBody>
                    <a:bodyPr/>
                    <a:lstStyle/>
                    <a:p>
                      <a:pPr marL="0" indent="0">
                        <a:buNone/>
                      </a:pPr>
                      <a:r>
                        <a:rPr lang="fr-CH" sz="1500" b="1" noProof="0" dirty="0">
                          <a:solidFill>
                            <a:srgbClr val="1428A0"/>
                          </a:solidFill>
                          <a:latin typeface="Arial"/>
                        </a:rPr>
                        <a:t>Définition</a:t>
                      </a:r>
                      <a:endParaRPr lang="fr-CH" sz="150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FFFFF"/>
                    </a:solidFill>
                  </a:tcPr>
                </a:tc>
                <a:tc>
                  <a:txBody>
                    <a:bodyPr/>
                    <a:lstStyle/>
                    <a:p>
                      <a:r>
                        <a:rPr lang="fr-CH" sz="1500" noProof="0" dirty="0">
                          <a:latin typeface="Arial"/>
                        </a:rPr>
                        <a:t>Part de la population protégée par un régime social de protection de la santé*</a:t>
                      </a:r>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0352">
                <a:tc>
                  <a:txBody>
                    <a:bodyPr/>
                    <a:lstStyle/>
                    <a:p>
                      <a:pPr marL="0" indent="0">
                        <a:buNone/>
                      </a:pPr>
                      <a:r>
                        <a:rPr lang="fr-CH" sz="1500" b="1" noProof="0" dirty="0">
                          <a:solidFill>
                            <a:srgbClr val="1428A0"/>
                          </a:solidFill>
                          <a:latin typeface="Arial"/>
                        </a:rPr>
                        <a:t>Numérateur</a:t>
                      </a:r>
                      <a:endParaRPr lang="fr-CH" sz="150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4F7FB"/>
                    </a:solidFill>
                  </a:tcPr>
                </a:tc>
                <a:tc>
                  <a:txBody>
                    <a:bodyPr/>
                    <a:lstStyle/>
                    <a:p>
                      <a:pPr marL="0" indent="0">
                        <a:buNone/>
                      </a:pPr>
                      <a:r>
                        <a:rPr lang="fr-CH" sz="1500" noProof="0" dirty="0">
                          <a:solidFill>
                            <a:srgbClr val="1F2933"/>
                          </a:solidFill>
                          <a:latin typeface="Arial"/>
                        </a:rPr>
                        <a:t>164 877 personnes couvertes par la MESP</a:t>
                      </a:r>
                      <a:endParaRPr lang="fr-CH" sz="150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4F7FB"/>
                    </a:solidFill>
                  </a:tcPr>
                </a:tc>
                <a:extLst>
                  <a:ext uri="{0D108BD9-81ED-4DB2-BD59-A6C34878D82A}">
                    <a16:rowId xmlns:a16="http://schemas.microsoft.com/office/drawing/2014/main" val="10002"/>
                  </a:ext>
                </a:extLst>
              </a:tr>
              <a:tr h="530352">
                <a:tc>
                  <a:txBody>
                    <a:bodyPr/>
                    <a:lstStyle/>
                    <a:p>
                      <a:pPr marL="0" indent="0">
                        <a:buNone/>
                      </a:pPr>
                      <a:r>
                        <a:rPr lang="fr-CH" sz="1500" b="1" noProof="0" dirty="0">
                          <a:solidFill>
                            <a:srgbClr val="1428A0"/>
                          </a:solidFill>
                          <a:latin typeface="Arial"/>
                        </a:rPr>
                        <a:t>Composition</a:t>
                      </a:r>
                      <a:endParaRPr lang="fr-CH" sz="150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FFFFF"/>
                    </a:solidFill>
                  </a:tcPr>
                </a:tc>
                <a:tc>
                  <a:txBody>
                    <a:bodyPr/>
                    <a:lstStyle/>
                    <a:p>
                      <a:pPr marL="0" indent="0">
                        <a:buNone/>
                      </a:pPr>
                      <a:r>
                        <a:rPr lang="fr-CH" sz="1500" noProof="0" dirty="0">
                          <a:solidFill>
                            <a:srgbClr val="1F2933"/>
                          </a:solidFill>
                          <a:latin typeface="Arial"/>
                        </a:rPr>
                        <a:t>Contributeurs MESP : 80 041 ; membres de famille : 84 836</a:t>
                      </a:r>
                      <a:endParaRPr lang="fr-CH" sz="150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0352">
                <a:tc>
                  <a:txBody>
                    <a:bodyPr/>
                    <a:lstStyle/>
                    <a:p>
                      <a:pPr marL="0" indent="0">
                        <a:buNone/>
                      </a:pPr>
                      <a:r>
                        <a:rPr lang="fr-CH" sz="1500" b="1" noProof="0" dirty="0">
                          <a:solidFill>
                            <a:srgbClr val="1428A0"/>
                          </a:solidFill>
                          <a:latin typeface="Arial"/>
                        </a:rPr>
                        <a:t>Dénominateur</a:t>
                      </a:r>
                      <a:endParaRPr lang="fr-CH" sz="150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4F7FB"/>
                    </a:solidFill>
                  </a:tcPr>
                </a:tc>
                <a:tc>
                  <a:txBody>
                    <a:bodyPr/>
                    <a:lstStyle/>
                    <a:p>
                      <a:pPr marL="0" indent="0">
                        <a:buNone/>
                      </a:pPr>
                      <a:r>
                        <a:rPr lang="fr-CH" sz="1500" noProof="0" dirty="0">
                          <a:solidFill>
                            <a:srgbClr val="1F2933"/>
                          </a:solidFill>
                          <a:latin typeface="Arial"/>
                        </a:rPr>
                        <a:t>99 010 212 personnes — population totale</a:t>
                      </a:r>
                      <a:endParaRPr lang="fr-CH" sz="150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4F7FB"/>
                    </a:solidFill>
                  </a:tcPr>
                </a:tc>
                <a:extLst>
                  <a:ext uri="{0D108BD9-81ED-4DB2-BD59-A6C34878D82A}">
                    <a16:rowId xmlns:a16="http://schemas.microsoft.com/office/drawing/2014/main" val="10004"/>
                  </a:ext>
                </a:extLst>
              </a:tr>
              <a:tr h="530352">
                <a:tc>
                  <a:txBody>
                    <a:bodyPr/>
                    <a:lstStyle/>
                    <a:p>
                      <a:pPr marL="0" indent="0">
                        <a:buNone/>
                      </a:pPr>
                      <a:r>
                        <a:rPr lang="fr-CH" sz="1500" b="1" noProof="0" dirty="0">
                          <a:solidFill>
                            <a:srgbClr val="1428A0"/>
                          </a:solidFill>
                          <a:latin typeface="Arial"/>
                        </a:rPr>
                        <a:t>Résultat</a:t>
                      </a:r>
                      <a:endParaRPr lang="fr-CH" sz="150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FFFFF"/>
                    </a:solidFill>
                  </a:tcPr>
                </a:tc>
                <a:tc>
                  <a:txBody>
                    <a:bodyPr/>
                    <a:lstStyle/>
                    <a:p>
                      <a:pPr marL="0" indent="0">
                        <a:buNone/>
                      </a:pPr>
                      <a:r>
                        <a:rPr lang="fr-CH" sz="1500" noProof="0" dirty="0">
                          <a:solidFill>
                            <a:srgbClr val="1F2933"/>
                          </a:solidFill>
                          <a:latin typeface="Arial"/>
                        </a:rPr>
                        <a:t>164 877 / 99 010 212 = </a:t>
                      </a:r>
                      <a:r>
                        <a:rPr lang="fr-CH" sz="1500" b="1" kern="1200" noProof="0" dirty="0">
                          <a:solidFill>
                            <a:srgbClr val="FF0000"/>
                          </a:solidFill>
                          <a:latin typeface="+mn-lt"/>
                          <a:ea typeface="+mn-ea"/>
                          <a:cs typeface="+mn-cs"/>
                        </a:rPr>
                        <a:t>0,17 %</a:t>
                      </a:r>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1" name="Shape 7"/>
          <p:cNvSpPr/>
          <p:nvPr/>
        </p:nvSpPr>
        <p:spPr>
          <a:xfrm>
            <a:off x="731520" y="5596128"/>
            <a:ext cx="10881360" cy="475488"/>
          </a:xfrm>
          <a:prstGeom prst="roundRect">
            <a:avLst/>
          </a:prstGeom>
          <a:solidFill>
            <a:srgbClr val="F4F7FC"/>
          </a:solidFill>
          <a:ln w="12700">
            <a:solidFill>
              <a:srgbClr val="D8E1F0"/>
            </a:solidFill>
            <a:prstDash val="solid"/>
          </a:ln>
        </p:spPr>
        <p:txBody>
          <a:bodyPr/>
          <a:lstStyle/>
          <a:p>
            <a:endParaRPr lang="fr-CH" noProof="0" dirty="0"/>
          </a:p>
        </p:txBody>
      </p:sp>
      <p:sp>
        <p:nvSpPr>
          <p:cNvPr id="12" name="Text 8"/>
          <p:cNvSpPr/>
          <p:nvPr/>
        </p:nvSpPr>
        <p:spPr>
          <a:xfrm>
            <a:off x="1024128" y="5660136"/>
            <a:ext cx="10424160" cy="320040"/>
          </a:xfrm>
          <a:prstGeom prst="rect">
            <a:avLst/>
          </a:prstGeom>
          <a:noFill/>
          <a:ln/>
        </p:spPr>
        <p:txBody>
          <a:bodyPr wrap="square" lIns="27432" tIns="18288" rIns="27432" bIns="18288" rtlCol="0" anchor="ctr">
            <a:normAutofit/>
          </a:bodyPr>
          <a:lstStyle/>
          <a:p>
            <a:pPr algn="l"/>
            <a:r>
              <a:rPr lang="fr-CH" sz="919" b="0" noProof="0" dirty="0">
                <a:solidFill>
                  <a:srgbClr val="505050"/>
                </a:solidFill>
                <a:latin typeface="Arial"/>
              </a:rPr>
              <a:t>* Indicateur complémentaire du bulletin : hors noyau ODD 1.3.1 et non pris en compte dans l’indicateur agrégé.</a:t>
            </a:r>
          </a:p>
        </p:txBody>
      </p:sp>
      <p:sp>
        <p:nvSpPr>
          <p:cNvPr id="10" name="TextBox 9">
            <a:extLst>
              <a:ext uri="{FF2B5EF4-FFF2-40B4-BE49-F238E27FC236}">
                <a16:creationId xmlns:a16="http://schemas.microsoft.com/office/drawing/2014/main" id="{7387B6E9-33C7-68D0-097F-C5D9B1A514DD}"/>
              </a:ext>
            </a:extLst>
          </p:cNvPr>
          <p:cNvSpPr txBox="1"/>
          <p:nvPr/>
        </p:nvSpPr>
        <p:spPr>
          <a:xfrm>
            <a:off x="731520" y="4797878"/>
            <a:ext cx="10789920" cy="467820"/>
          </a:xfrm>
          <a:prstGeom prst="rect">
            <a:avLst/>
          </a:prstGeom>
          <a:noFill/>
        </p:spPr>
        <p:txBody>
          <a:bodyPr wrap="square" lIns="27432" tIns="18288" rIns="27432" bIns="18288" anchor="ctr">
            <a:spAutoFit/>
          </a:bodyPr>
          <a:lstStyle/>
          <a:p>
            <a:pPr algn="l"/>
            <a:r>
              <a:rPr lang="fr-CH" sz="1400" dirty="0">
                <a:solidFill>
                  <a:srgbClr val="505050"/>
                </a:solidFill>
                <a:latin typeface="Arial"/>
              </a:rPr>
              <a:t>Le bulletin indique que dans ce cas seul les régimes statutaire, contributifs et obligatoire ont été pris en compte. Les mutuelles ont été volontairement ignoré (POMUCO) car volontaires bien que supervisé par l’état. </a:t>
            </a:r>
            <a:r>
              <a:rPr lang="fr-CH" sz="1400" b="1" noProof="0" dirty="0">
                <a:solidFill>
                  <a:srgbClr val="FF0000"/>
                </a:solidFill>
                <a:latin typeface="Arial"/>
              </a:rPr>
              <a:t>Discuter</a:t>
            </a:r>
            <a:r>
              <a:rPr lang="fr-CH" sz="1400" b="0" noProof="0" dirty="0">
                <a:solidFill>
                  <a:srgbClr val="505050"/>
                </a:solidFill>
                <a:latin typeface="Arial"/>
              </a:rPr>
              <a:t> </a:t>
            </a:r>
          </a:p>
        </p:txBody>
      </p:sp>
      <p:pic>
        <p:nvPicPr>
          <p:cNvPr id="13" name="Image 0" descr="/mnt/data/ref_unzip/ppt/media/image1.png">
            <a:extLst>
              <a:ext uri="{FF2B5EF4-FFF2-40B4-BE49-F238E27FC236}">
                <a16:creationId xmlns:a16="http://schemas.microsoft.com/office/drawing/2014/main" id="{06B0B720-8475-D8B9-20AF-6D32BE91ED17}"/>
              </a:ext>
            </a:extLst>
          </p:cNvPr>
          <p:cNvPicPr>
            <a:picLocks noChangeAspect="1"/>
          </p:cNvPicPr>
          <p:nvPr/>
        </p:nvPicPr>
        <p:blipFill>
          <a:blip r:embed="rId3"/>
          <a:stretch>
            <a:fillRect/>
          </a:stretch>
        </p:blipFill>
        <p:spPr>
          <a:xfrm>
            <a:off x="10088880" y="357645"/>
            <a:ext cx="1508760" cy="52052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428A0"/>
          </a:solidFill>
          <a:ln w="12700">
            <a:solidFill>
              <a:srgbClr val="1428A0"/>
            </a:solidFill>
            <a:prstDash val="solid"/>
          </a:ln>
        </p:spPr>
        <p:txBody>
          <a:bodyPr/>
          <a:lstStyle/>
          <a:p>
            <a:endParaRPr lang="fr-CH" noProof="0" dirty="0"/>
          </a:p>
        </p:txBody>
      </p:sp>
      <p:sp>
        <p:nvSpPr>
          <p:cNvPr id="3" name="Text 1"/>
          <p:cNvSpPr/>
          <p:nvPr/>
        </p:nvSpPr>
        <p:spPr>
          <a:xfrm>
            <a:off x="594360" y="420624"/>
            <a:ext cx="8686800" cy="411480"/>
          </a:xfrm>
          <a:prstGeom prst="rect">
            <a:avLst/>
          </a:prstGeom>
          <a:noFill/>
          <a:ln/>
        </p:spPr>
        <p:txBody>
          <a:bodyPr wrap="square" rtlCol="0" anchor="ctr">
            <a:normAutofit fontScale="92500" lnSpcReduction="10000"/>
          </a:bodyPr>
          <a:lstStyle/>
          <a:p>
            <a:pPr marL="0" indent="0">
              <a:buNone/>
            </a:pPr>
            <a:r>
              <a:rPr lang="fr-CH" sz="2400" b="1" noProof="0" dirty="0">
                <a:solidFill>
                  <a:srgbClr val="1428A0"/>
                </a:solidFill>
                <a:latin typeface="Arial" pitchFamily="34" charset="0"/>
                <a:ea typeface="Arial" pitchFamily="34" charset="-122"/>
                <a:cs typeface="Arial" pitchFamily="34" charset="-120"/>
              </a:rPr>
              <a:t>Exemple 4 : indicateur agrégé ODD 1.3.1</a:t>
            </a:r>
            <a:endParaRPr lang="fr-CH" sz="2400" noProof="0" dirty="0"/>
          </a:p>
        </p:txBody>
      </p:sp>
      <p:sp>
        <p:nvSpPr>
          <p:cNvPr id="4" name="Text 2"/>
          <p:cNvSpPr/>
          <p:nvPr/>
        </p:nvSpPr>
        <p:spPr>
          <a:xfrm>
            <a:off x="612648" y="219456"/>
            <a:ext cx="6858000" cy="155448"/>
          </a:xfrm>
          <a:prstGeom prst="rect">
            <a:avLst/>
          </a:prstGeom>
          <a:noFill/>
          <a:ln/>
        </p:spPr>
        <p:txBody>
          <a:bodyPr wrap="square" rtlCol="0" anchor="ctr"/>
          <a:lstStyle/>
          <a:p>
            <a:pPr marL="0" indent="0">
              <a:buNone/>
            </a:pPr>
            <a:r>
              <a:rPr lang="fr-CH" sz="730" noProof="0" dirty="0">
                <a:solidFill>
                  <a:srgbClr val="586069"/>
                </a:solidFill>
              </a:rPr>
              <a:t>EXEMPLE CHIFFRÉ</a:t>
            </a:r>
            <a:endParaRPr lang="fr-CH" sz="730" noProof="0" dirty="0"/>
          </a:p>
        </p:txBody>
      </p:sp>
      <p:sp>
        <p:nvSpPr>
          <p:cNvPr id="6" name="Shape 3"/>
          <p:cNvSpPr/>
          <p:nvPr/>
        </p:nvSpPr>
        <p:spPr>
          <a:xfrm>
            <a:off x="594360" y="987552"/>
            <a:ext cx="10972800" cy="0"/>
          </a:xfrm>
          <a:prstGeom prst="line">
            <a:avLst/>
          </a:prstGeom>
          <a:noFill/>
          <a:ln w="12700">
            <a:solidFill>
              <a:srgbClr val="D9E1F2"/>
            </a:solidFill>
            <a:prstDash val="solid"/>
          </a:ln>
        </p:spPr>
        <p:txBody>
          <a:bodyPr/>
          <a:lstStyle/>
          <a:p>
            <a:endParaRPr lang="fr-CH" noProof="0" dirty="0"/>
          </a:p>
        </p:txBody>
      </p:sp>
      <p:sp>
        <p:nvSpPr>
          <p:cNvPr id="7" name="Text 4"/>
          <p:cNvSpPr/>
          <p:nvPr/>
        </p:nvSpPr>
        <p:spPr>
          <a:xfrm>
            <a:off x="594360" y="6510528"/>
            <a:ext cx="6583680" cy="164592"/>
          </a:xfrm>
          <a:prstGeom prst="rect">
            <a:avLst/>
          </a:prstGeom>
          <a:noFill/>
          <a:ln/>
        </p:spPr>
        <p:txBody>
          <a:bodyPr wrap="square" rtlCol="0" anchor="ctr"/>
          <a:lstStyle/>
          <a:p>
            <a:pPr marL="0" indent="0">
              <a:buNone/>
            </a:pPr>
            <a:r>
              <a:rPr lang="fr-CH" sz="750" noProof="0" dirty="0">
                <a:solidFill>
                  <a:srgbClr val="586069"/>
                </a:solidFill>
                <a:latin typeface="Arial" pitchFamily="34" charset="0"/>
                <a:ea typeface="Arial" pitchFamily="34" charset="-122"/>
                <a:cs typeface="Arial" pitchFamily="34" charset="-120"/>
              </a:rPr>
              <a:t>Faire avancer la justice sociale, promouvoir le travail décent</a:t>
            </a:r>
            <a:endParaRPr lang="fr-CH" sz="750" noProof="0" dirty="0"/>
          </a:p>
        </p:txBody>
      </p:sp>
      <p:sp>
        <p:nvSpPr>
          <p:cNvPr id="8" name="Text 5"/>
          <p:cNvSpPr/>
          <p:nvPr/>
        </p:nvSpPr>
        <p:spPr>
          <a:xfrm>
            <a:off x="7543800" y="6510528"/>
            <a:ext cx="3017520" cy="164592"/>
          </a:xfrm>
          <a:prstGeom prst="rect">
            <a:avLst/>
          </a:prstGeom>
          <a:noFill/>
          <a:ln/>
        </p:spPr>
        <p:txBody>
          <a:bodyPr wrap="square" rtlCol="0" anchor="ctr"/>
          <a:lstStyle/>
          <a:p>
            <a:pPr marL="0" indent="0" algn="r">
              <a:buNone/>
            </a:pPr>
            <a:r>
              <a:rPr lang="fr-CH" sz="730" noProof="0" dirty="0">
                <a:solidFill>
                  <a:srgbClr val="586069"/>
                </a:solidFill>
                <a:latin typeface="Arial" pitchFamily="34" charset="0"/>
                <a:ea typeface="Arial" pitchFamily="34" charset="-122"/>
                <a:cs typeface="Arial" pitchFamily="34" charset="-120"/>
              </a:rPr>
              <a:t>Atelier 2e Bulletin Statistique RDC | 14 mai 2026</a:t>
            </a:r>
            <a:endParaRPr lang="fr-CH" sz="730" noProof="0" dirty="0"/>
          </a:p>
        </p:txBody>
      </p:sp>
      <p:sp>
        <p:nvSpPr>
          <p:cNvPr id="9" name="Text 6"/>
          <p:cNvSpPr/>
          <p:nvPr/>
        </p:nvSpPr>
        <p:spPr>
          <a:xfrm>
            <a:off x="11292840" y="6473952"/>
            <a:ext cx="411480" cy="201168"/>
          </a:xfrm>
          <a:prstGeom prst="rect">
            <a:avLst/>
          </a:prstGeom>
          <a:noFill/>
          <a:ln/>
        </p:spPr>
        <p:txBody>
          <a:bodyPr wrap="square" lIns="27432" tIns="18288" rIns="27432" bIns="18288" rtlCol="0" anchor="ctr"/>
          <a:lstStyle/>
          <a:p>
            <a:pPr marL="0" indent="0" algn="r">
              <a:buNone/>
            </a:pPr>
            <a:r>
              <a:rPr lang="fr-CH" sz="850" b="0" noProof="0" dirty="0">
                <a:solidFill>
                  <a:srgbClr val="505050"/>
                </a:solidFill>
                <a:latin typeface="Arial"/>
              </a:rPr>
              <a:t>15</a:t>
            </a:r>
            <a:endParaRPr lang="fr-CH" sz="750" noProof="0" dirty="0"/>
          </a:p>
        </p:txBody>
      </p:sp>
      <p:graphicFrame>
        <p:nvGraphicFramePr>
          <p:cNvPr id="16" name="Table 0"/>
          <p:cNvGraphicFramePr>
            <a:graphicFrameLocks noGrp="1"/>
          </p:cNvGraphicFramePr>
          <p:nvPr>
            <p:extLst>
              <p:ext uri="{D42A27DB-BD31-4B8C-83A1-F6EECF244321}">
                <p14:modId xmlns:p14="http://schemas.microsoft.com/office/powerpoint/2010/main" val="3675353341"/>
              </p:ext>
            </p:extLst>
          </p:nvPr>
        </p:nvGraphicFramePr>
        <p:xfrm>
          <a:off x="731520" y="1325879"/>
          <a:ext cx="10881360" cy="3794762"/>
        </p:xfrm>
        <a:graphic>
          <a:graphicData uri="http://schemas.openxmlformats.org/drawingml/2006/table">
            <a:tbl>
              <a:tblPr/>
              <a:tblGrid>
                <a:gridCol w="2749099">
                  <a:extLst>
                    <a:ext uri="{9D8B030D-6E8A-4147-A177-3AD203B41FA5}">
                      <a16:colId xmlns:a16="http://schemas.microsoft.com/office/drawing/2014/main" val="20000"/>
                    </a:ext>
                  </a:extLst>
                </a:gridCol>
                <a:gridCol w="8132261">
                  <a:extLst>
                    <a:ext uri="{9D8B030D-6E8A-4147-A177-3AD203B41FA5}">
                      <a16:colId xmlns:a16="http://schemas.microsoft.com/office/drawing/2014/main" val="20001"/>
                    </a:ext>
                  </a:extLst>
                </a:gridCol>
              </a:tblGrid>
              <a:tr h="475554">
                <a:tc>
                  <a:txBody>
                    <a:bodyPr/>
                    <a:lstStyle/>
                    <a:p>
                      <a:pPr marL="0" indent="0">
                        <a:buNone/>
                      </a:pPr>
                      <a:r>
                        <a:rPr lang="fr-CH" sz="1500" b="1" noProof="0" dirty="0">
                          <a:solidFill>
                            <a:srgbClr val="FFFFFF"/>
                          </a:solidFill>
                        </a:rPr>
                        <a:t>Élément</a:t>
                      </a:r>
                      <a:endParaRPr lang="fr-CH" sz="1500" noProof="0" dirty="0"/>
                    </a:p>
                  </a:txBody>
                  <a:tcPr marL="54864" marR="54864" marT="54864" marB="54864">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1428A0"/>
                    </a:solidFill>
                  </a:tcPr>
                </a:tc>
                <a:tc>
                  <a:txBody>
                    <a:bodyPr/>
                    <a:lstStyle/>
                    <a:p>
                      <a:pPr marL="0" indent="0">
                        <a:buNone/>
                      </a:pPr>
                      <a:r>
                        <a:rPr lang="fr-CH" sz="1500" b="1" noProof="0" dirty="0">
                          <a:solidFill>
                            <a:srgbClr val="FFFFFF"/>
                          </a:solidFill>
                        </a:rPr>
                        <a:t>Application — RDC 2022</a:t>
                      </a:r>
                      <a:endParaRPr lang="fr-CH" sz="1500" noProof="0" dirty="0"/>
                    </a:p>
                  </a:txBody>
                  <a:tcPr marL="54864" marR="54864" marT="54864" marB="54864">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1428A0"/>
                    </a:solidFill>
                  </a:tcPr>
                </a:tc>
                <a:extLst>
                  <a:ext uri="{0D108BD9-81ED-4DB2-BD59-A6C34878D82A}">
                    <a16:rowId xmlns:a16="http://schemas.microsoft.com/office/drawing/2014/main" val="10000"/>
                  </a:ext>
                </a:extLst>
              </a:tr>
              <a:tr h="747394">
                <a:tc>
                  <a:txBody>
                    <a:bodyPr/>
                    <a:lstStyle/>
                    <a:p>
                      <a:pPr marL="0" indent="0">
                        <a:buNone/>
                      </a:pPr>
                      <a:r>
                        <a:rPr lang="fr-CH" sz="1500" b="1" noProof="0" dirty="0">
                          <a:solidFill>
                            <a:srgbClr val="1428A0"/>
                          </a:solidFill>
                        </a:rPr>
                        <a:t>Définition</a:t>
                      </a:r>
                      <a:endParaRPr lang="fr-CH" sz="150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FFFFF"/>
                    </a:solidFill>
                  </a:tcPr>
                </a:tc>
                <a:tc>
                  <a:txBody>
                    <a:bodyPr/>
                    <a:lstStyle/>
                    <a:p>
                      <a:pPr marL="0" indent="0">
                        <a:buNone/>
                      </a:pPr>
                      <a:r>
                        <a:rPr lang="fr-CH" sz="1500" noProof="0" dirty="0">
                          <a:solidFill>
                            <a:srgbClr val="1F2933"/>
                          </a:solidFill>
                        </a:rPr>
                        <a:t>Population couverte par au moins une prestation de protection sociale, hors santé</a:t>
                      </a:r>
                      <a:endParaRPr lang="fr-CH" sz="150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46068">
                <a:tc>
                  <a:txBody>
                    <a:bodyPr/>
                    <a:lstStyle/>
                    <a:p>
                      <a:pPr marL="0" indent="0">
                        <a:buNone/>
                      </a:pPr>
                      <a:r>
                        <a:rPr lang="fr-CH" sz="1500" b="1" noProof="0" dirty="0">
                          <a:solidFill>
                            <a:srgbClr val="1428A0"/>
                          </a:solidFill>
                        </a:rPr>
                        <a:t>Résultat publié</a:t>
                      </a:r>
                      <a:endParaRPr lang="fr-CH" sz="150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4F7FB"/>
                    </a:solidFill>
                  </a:tcPr>
                </a:tc>
                <a:tc>
                  <a:txBody>
                    <a:bodyPr/>
                    <a:lstStyle/>
                    <a:p>
                      <a:pPr marL="0" indent="0">
                        <a:buNone/>
                      </a:pPr>
                      <a:r>
                        <a:rPr lang="fr-CH" sz="1500" noProof="0" dirty="0">
                          <a:solidFill>
                            <a:srgbClr val="1F2933"/>
                          </a:solidFill>
                        </a:rPr>
                        <a:t>5,2 % de la population couverte par au moins une prestation</a:t>
                      </a:r>
                      <a:endParaRPr lang="fr-CH" sz="150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4F7FB"/>
                    </a:solidFill>
                  </a:tcPr>
                </a:tc>
                <a:extLst>
                  <a:ext uri="{0D108BD9-81ED-4DB2-BD59-A6C34878D82A}">
                    <a16:rowId xmlns:a16="http://schemas.microsoft.com/office/drawing/2014/main" val="10002"/>
                  </a:ext>
                </a:extLst>
              </a:tr>
              <a:tr h="809045">
                <a:tc>
                  <a:txBody>
                    <a:bodyPr/>
                    <a:lstStyle/>
                    <a:p>
                      <a:pPr marL="0" indent="0">
                        <a:buNone/>
                      </a:pPr>
                      <a:r>
                        <a:rPr lang="fr-CH" sz="1500" b="1" noProof="0" dirty="0">
                          <a:solidFill>
                            <a:srgbClr val="1428A0"/>
                          </a:solidFill>
                        </a:rPr>
                        <a:t>Point méthodologique clé</a:t>
                      </a:r>
                      <a:endParaRPr lang="fr-CH" sz="150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FFFFF"/>
                    </a:solidFill>
                  </a:tcPr>
                </a:tc>
                <a:tc>
                  <a:txBody>
                    <a:bodyPr/>
                    <a:lstStyle/>
                    <a:p>
                      <a:pPr marL="0" indent="0">
                        <a:buNone/>
                      </a:pPr>
                      <a:r>
                        <a:rPr lang="fr-CH" sz="1500" noProof="0" dirty="0">
                          <a:solidFill>
                            <a:srgbClr val="1F2933"/>
                          </a:solidFill>
                        </a:rPr>
                        <a:t>L’agrégé n’est pas la somme brute de tous les cotisants et bénéficiaires des régimes d’assurance sociales</a:t>
                      </a:r>
                      <a:endParaRPr lang="fr-CH" sz="150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016701">
                <a:tc>
                  <a:txBody>
                    <a:bodyPr/>
                    <a:lstStyle/>
                    <a:p>
                      <a:pPr marL="0" indent="0">
                        <a:buNone/>
                      </a:pPr>
                      <a:r>
                        <a:rPr lang="fr-CH" sz="1500" b="1" noProof="0" dirty="0">
                          <a:solidFill>
                            <a:srgbClr val="1428A0"/>
                          </a:solidFill>
                        </a:rPr>
                        <a:t>Point d’attention</a:t>
                      </a:r>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4F7FB"/>
                    </a:solidFill>
                  </a:tcPr>
                </a:tc>
                <a:tc>
                  <a:txBody>
                    <a:bodyPr/>
                    <a:lstStyle/>
                    <a:p>
                      <a:pPr marL="0" indent="0">
                        <a:buNone/>
                      </a:pPr>
                      <a:r>
                        <a:rPr lang="fr-CH" sz="1500" noProof="0" dirty="0">
                          <a:solidFill>
                            <a:srgbClr val="1F2933"/>
                          </a:solidFill>
                        </a:rPr>
                        <a:t>Le calcul tient compte d’hypothèses, notamment sur les contributeurs CNSSAP et certaines prestations non contributives</a:t>
                      </a:r>
                      <a:endParaRPr lang="fr-CH" sz="1500" noProof="0" dirty="0"/>
                    </a:p>
                  </a:txBody>
                  <a:tcPr marL="54864" marR="54864" marT="54864" marB="54864" anchor="ctr">
                    <a:lnL w="6350" cap="flat" cmpd="sng" algn="ctr">
                      <a:solidFill>
                        <a:srgbClr val="B9C3D6"/>
                      </a:solidFill>
                      <a:prstDash val="solid"/>
                      <a:round/>
                      <a:headEnd type="none" w="med" len="med"/>
                      <a:tailEnd type="none" w="med" len="med"/>
                    </a:lnL>
                    <a:lnR w="6350" cap="flat" cmpd="sng" algn="ctr">
                      <a:solidFill>
                        <a:srgbClr val="B9C3D6"/>
                      </a:solidFill>
                      <a:prstDash val="solid"/>
                      <a:round/>
                      <a:headEnd type="none" w="med" len="med"/>
                      <a:tailEnd type="none" w="med" len="med"/>
                    </a:lnR>
                    <a:lnT w="6350" cap="flat" cmpd="sng" algn="ctr">
                      <a:solidFill>
                        <a:srgbClr val="B9C3D6"/>
                      </a:solidFill>
                      <a:prstDash val="solid"/>
                      <a:round/>
                      <a:headEnd type="none" w="med" len="med"/>
                      <a:tailEnd type="none" w="med" len="med"/>
                    </a:lnT>
                    <a:lnB w="6350" cap="flat" cmpd="sng" algn="ctr">
                      <a:solidFill>
                        <a:srgbClr val="B9C3D6"/>
                      </a:solidFill>
                      <a:prstDash val="solid"/>
                      <a:round/>
                      <a:headEnd type="none" w="med" len="med"/>
                      <a:tailEnd type="none" w="med" len="med"/>
                    </a:lnB>
                    <a:solidFill>
                      <a:srgbClr val="F4F7FB"/>
                    </a:solidFill>
                  </a:tcPr>
                </a:tc>
                <a:extLst>
                  <a:ext uri="{0D108BD9-81ED-4DB2-BD59-A6C34878D82A}">
                    <a16:rowId xmlns:a16="http://schemas.microsoft.com/office/drawing/2014/main" val="10004"/>
                  </a:ext>
                </a:extLst>
              </a:tr>
            </a:tbl>
          </a:graphicData>
        </a:graphic>
      </p:graphicFrame>
      <p:sp>
        <p:nvSpPr>
          <p:cNvPr id="11" name="Shape 7"/>
          <p:cNvSpPr/>
          <p:nvPr/>
        </p:nvSpPr>
        <p:spPr>
          <a:xfrm>
            <a:off x="731520" y="5806440"/>
            <a:ext cx="10881360" cy="347472"/>
          </a:xfrm>
          <a:prstGeom prst="roundRect">
            <a:avLst/>
          </a:prstGeom>
          <a:solidFill>
            <a:srgbClr val="F4F7FC"/>
          </a:solidFill>
          <a:ln w="12700">
            <a:solidFill>
              <a:srgbClr val="D8E1F0"/>
            </a:solidFill>
            <a:prstDash val="solid"/>
          </a:ln>
        </p:spPr>
        <p:txBody>
          <a:bodyPr/>
          <a:lstStyle/>
          <a:p>
            <a:endParaRPr lang="fr-CH" noProof="0" dirty="0"/>
          </a:p>
        </p:txBody>
      </p:sp>
      <p:sp>
        <p:nvSpPr>
          <p:cNvPr id="12" name="Text 8"/>
          <p:cNvSpPr/>
          <p:nvPr/>
        </p:nvSpPr>
        <p:spPr>
          <a:xfrm>
            <a:off x="914400" y="5888736"/>
            <a:ext cx="10332720" cy="146304"/>
          </a:xfrm>
          <a:prstGeom prst="rect">
            <a:avLst/>
          </a:prstGeom>
          <a:noFill/>
          <a:ln/>
        </p:spPr>
        <p:txBody>
          <a:bodyPr wrap="square" rtlCol="0" anchor="ctr">
            <a:noAutofit/>
          </a:bodyPr>
          <a:lstStyle/>
          <a:p>
            <a:pPr marL="0" indent="0">
              <a:buNone/>
            </a:pPr>
            <a:r>
              <a:rPr lang="fr-CH" sz="1200" noProof="0" dirty="0">
                <a:solidFill>
                  <a:srgbClr val="586069"/>
                </a:solidFill>
              </a:rPr>
              <a:t>Montrer le fichier Calc.</a:t>
            </a:r>
            <a:endParaRPr lang="fr-CH" sz="1200" noProof="0" dirty="0"/>
          </a:p>
        </p:txBody>
      </p:sp>
      <p:pic>
        <p:nvPicPr>
          <p:cNvPr id="10" name="Image 0" descr="/mnt/data/ref_unzip/ppt/media/image1.png">
            <a:extLst>
              <a:ext uri="{FF2B5EF4-FFF2-40B4-BE49-F238E27FC236}">
                <a16:creationId xmlns:a16="http://schemas.microsoft.com/office/drawing/2014/main" id="{BACA9F80-BE46-D627-63C9-4C3D0CAE27EF}"/>
              </a:ext>
            </a:extLst>
          </p:cNvPr>
          <p:cNvPicPr>
            <a:picLocks noChangeAspect="1"/>
          </p:cNvPicPr>
          <p:nvPr/>
        </p:nvPicPr>
        <p:blipFill>
          <a:blip r:embed="rId3"/>
          <a:stretch>
            <a:fillRect/>
          </a:stretch>
        </p:blipFill>
        <p:spPr>
          <a:xfrm>
            <a:off x="10088880" y="357645"/>
            <a:ext cx="1508760" cy="52052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428A0"/>
          </a:solidFill>
          <a:ln w="12700">
            <a:solidFill>
              <a:srgbClr val="1428A0"/>
            </a:solidFill>
            <a:prstDash val="solid"/>
          </a:ln>
        </p:spPr>
        <p:txBody>
          <a:bodyPr/>
          <a:lstStyle/>
          <a:p>
            <a:endParaRPr lang="fr-CH" noProof="0" dirty="0"/>
          </a:p>
        </p:txBody>
      </p:sp>
      <p:sp>
        <p:nvSpPr>
          <p:cNvPr id="3" name="Text 1"/>
          <p:cNvSpPr/>
          <p:nvPr/>
        </p:nvSpPr>
        <p:spPr>
          <a:xfrm>
            <a:off x="594360" y="420624"/>
            <a:ext cx="8686800" cy="411480"/>
          </a:xfrm>
          <a:prstGeom prst="rect">
            <a:avLst/>
          </a:prstGeom>
          <a:noFill/>
          <a:ln/>
        </p:spPr>
        <p:txBody>
          <a:bodyPr wrap="square" rtlCol="0" anchor="ctr">
            <a:normAutofit fontScale="92500" lnSpcReduction="10000"/>
          </a:bodyPr>
          <a:lstStyle/>
          <a:p>
            <a:pPr marL="0" indent="0">
              <a:buNone/>
            </a:pPr>
            <a:r>
              <a:rPr lang="fr-CH" sz="2400" b="1" noProof="0" dirty="0">
                <a:solidFill>
                  <a:srgbClr val="1428A0"/>
                </a:solidFill>
                <a:latin typeface="Arial" pitchFamily="34" charset="0"/>
                <a:ea typeface="Arial" pitchFamily="34" charset="-122"/>
                <a:cs typeface="Arial" pitchFamily="34" charset="-120"/>
              </a:rPr>
              <a:t>En bref : messages clés</a:t>
            </a:r>
            <a:endParaRPr lang="fr-CH" sz="2400" noProof="0" dirty="0"/>
          </a:p>
        </p:txBody>
      </p:sp>
      <p:sp>
        <p:nvSpPr>
          <p:cNvPr id="4" name="Text 2"/>
          <p:cNvSpPr/>
          <p:nvPr/>
        </p:nvSpPr>
        <p:spPr>
          <a:xfrm>
            <a:off x="612648" y="219456"/>
            <a:ext cx="6858000" cy="155448"/>
          </a:xfrm>
          <a:prstGeom prst="rect">
            <a:avLst/>
          </a:prstGeom>
          <a:noFill/>
          <a:ln/>
        </p:spPr>
        <p:txBody>
          <a:bodyPr wrap="square" rtlCol="0" anchor="ctr"/>
          <a:lstStyle/>
          <a:p>
            <a:pPr marL="0" indent="0">
              <a:buNone/>
            </a:pPr>
            <a:r>
              <a:rPr lang="fr-CH" sz="730" noProof="0" dirty="0">
                <a:solidFill>
                  <a:srgbClr val="586069"/>
                </a:solidFill>
              </a:rPr>
              <a:t>SYNTHÈSE</a:t>
            </a:r>
            <a:endParaRPr lang="fr-CH" sz="730" noProof="0" dirty="0"/>
          </a:p>
        </p:txBody>
      </p:sp>
      <p:sp>
        <p:nvSpPr>
          <p:cNvPr id="6" name="Shape 3"/>
          <p:cNvSpPr/>
          <p:nvPr/>
        </p:nvSpPr>
        <p:spPr>
          <a:xfrm>
            <a:off x="594360" y="987552"/>
            <a:ext cx="10972800" cy="0"/>
          </a:xfrm>
          <a:prstGeom prst="line">
            <a:avLst/>
          </a:prstGeom>
          <a:noFill/>
          <a:ln w="12700">
            <a:solidFill>
              <a:srgbClr val="D9E1F2"/>
            </a:solidFill>
            <a:prstDash val="solid"/>
          </a:ln>
        </p:spPr>
        <p:txBody>
          <a:bodyPr/>
          <a:lstStyle/>
          <a:p>
            <a:endParaRPr lang="fr-CH" noProof="0" dirty="0"/>
          </a:p>
        </p:txBody>
      </p:sp>
      <p:sp>
        <p:nvSpPr>
          <p:cNvPr id="7" name="Text 4"/>
          <p:cNvSpPr/>
          <p:nvPr/>
        </p:nvSpPr>
        <p:spPr>
          <a:xfrm>
            <a:off x="594360" y="6510528"/>
            <a:ext cx="6583680" cy="164592"/>
          </a:xfrm>
          <a:prstGeom prst="rect">
            <a:avLst/>
          </a:prstGeom>
          <a:noFill/>
          <a:ln/>
        </p:spPr>
        <p:txBody>
          <a:bodyPr wrap="square" rtlCol="0" anchor="ctr"/>
          <a:lstStyle/>
          <a:p>
            <a:pPr marL="0" indent="0">
              <a:buNone/>
            </a:pPr>
            <a:r>
              <a:rPr lang="fr-CH" sz="750" noProof="0" dirty="0">
                <a:solidFill>
                  <a:srgbClr val="586069"/>
                </a:solidFill>
                <a:latin typeface="Arial" pitchFamily="34" charset="0"/>
                <a:ea typeface="Arial" pitchFamily="34" charset="-122"/>
                <a:cs typeface="Arial" pitchFamily="34" charset="-120"/>
              </a:rPr>
              <a:t>Faire avancer la justice sociale, promouvoir le travail décent</a:t>
            </a:r>
            <a:endParaRPr lang="fr-CH" sz="750" noProof="0" dirty="0"/>
          </a:p>
        </p:txBody>
      </p:sp>
      <p:sp>
        <p:nvSpPr>
          <p:cNvPr id="8" name="Text 5"/>
          <p:cNvSpPr/>
          <p:nvPr/>
        </p:nvSpPr>
        <p:spPr>
          <a:xfrm>
            <a:off x="7543800" y="6510528"/>
            <a:ext cx="3017520" cy="164592"/>
          </a:xfrm>
          <a:prstGeom prst="rect">
            <a:avLst/>
          </a:prstGeom>
          <a:noFill/>
          <a:ln/>
        </p:spPr>
        <p:txBody>
          <a:bodyPr wrap="square" rtlCol="0" anchor="ctr"/>
          <a:lstStyle/>
          <a:p>
            <a:pPr marL="0" indent="0" algn="r">
              <a:buNone/>
            </a:pPr>
            <a:r>
              <a:rPr lang="fr-CH" sz="730" noProof="0" dirty="0">
                <a:solidFill>
                  <a:srgbClr val="586069"/>
                </a:solidFill>
                <a:latin typeface="Arial" pitchFamily="34" charset="0"/>
                <a:ea typeface="Arial" pitchFamily="34" charset="-122"/>
                <a:cs typeface="Arial" pitchFamily="34" charset="-120"/>
              </a:rPr>
              <a:t>Atelier 2e Bulletin Statistique RDC | 14 mai 2026</a:t>
            </a:r>
            <a:endParaRPr lang="fr-CH" sz="730" noProof="0" dirty="0"/>
          </a:p>
        </p:txBody>
      </p:sp>
      <p:sp>
        <p:nvSpPr>
          <p:cNvPr id="9" name="Text 6"/>
          <p:cNvSpPr/>
          <p:nvPr/>
        </p:nvSpPr>
        <p:spPr>
          <a:xfrm>
            <a:off x="11292840" y="6473952"/>
            <a:ext cx="411480" cy="201168"/>
          </a:xfrm>
          <a:prstGeom prst="rect">
            <a:avLst/>
          </a:prstGeom>
          <a:noFill/>
          <a:ln/>
        </p:spPr>
        <p:txBody>
          <a:bodyPr wrap="square" lIns="27432" tIns="18288" rIns="27432" bIns="18288" rtlCol="0" anchor="ctr"/>
          <a:lstStyle/>
          <a:p>
            <a:pPr marL="0" indent="0" algn="r">
              <a:buNone/>
            </a:pPr>
            <a:r>
              <a:rPr lang="fr-CH" sz="850" b="0" noProof="0" dirty="0">
                <a:solidFill>
                  <a:srgbClr val="505050"/>
                </a:solidFill>
                <a:latin typeface="Arial"/>
              </a:rPr>
              <a:t>18</a:t>
            </a:r>
            <a:endParaRPr lang="fr-CH" sz="750" noProof="0" dirty="0"/>
          </a:p>
        </p:txBody>
      </p:sp>
      <p:sp>
        <p:nvSpPr>
          <p:cNvPr id="10" name="Shape 7"/>
          <p:cNvSpPr/>
          <p:nvPr/>
        </p:nvSpPr>
        <p:spPr>
          <a:xfrm>
            <a:off x="868680" y="1325880"/>
            <a:ext cx="292608" cy="292608"/>
          </a:xfrm>
          <a:prstGeom prst="ellipse">
            <a:avLst/>
          </a:prstGeom>
          <a:solidFill>
            <a:srgbClr val="1428A0"/>
          </a:solidFill>
          <a:ln w="12700">
            <a:solidFill>
              <a:srgbClr val="1428A0"/>
            </a:solidFill>
            <a:prstDash val="solid"/>
          </a:ln>
        </p:spPr>
        <p:txBody>
          <a:bodyPr/>
          <a:lstStyle/>
          <a:p>
            <a:endParaRPr lang="fr-CH" noProof="0" dirty="0"/>
          </a:p>
        </p:txBody>
      </p:sp>
      <p:sp>
        <p:nvSpPr>
          <p:cNvPr id="11" name="Text 8"/>
          <p:cNvSpPr/>
          <p:nvPr/>
        </p:nvSpPr>
        <p:spPr>
          <a:xfrm>
            <a:off x="941832" y="1385316"/>
            <a:ext cx="146304" cy="137160"/>
          </a:xfrm>
          <a:prstGeom prst="rect">
            <a:avLst/>
          </a:prstGeom>
          <a:noFill/>
          <a:ln/>
        </p:spPr>
        <p:txBody>
          <a:bodyPr wrap="square" rtlCol="0" anchor="ctr"/>
          <a:lstStyle/>
          <a:p>
            <a:pPr marL="0" indent="0" algn="ctr">
              <a:buNone/>
            </a:pPr>
            <a:r>
              <a:rPr lang="fr-CH" sz="850" b="1" noProof="0" dirty="0">
                <a:solidFill>
                  <a:srgbClr val="FFFFFF"/>
                </a:solidFill>
              </a:rPr>
              <a:t>1</a:t>
            </a:r>
            <a:endParaRPr lang="fr-CH" sz="850" noProof="0" dirty="0"/>
          </a:p>
        </p:txBody>
      </p:sp>
      <p:sp>
        <p:nvSpPr>
          <p:cNvPr id="12" name="Text 9"/>
          <p:cNvSpPr/>
          <p:nvPr/>
        </p:nvSpPr>
        <p:spPr>
          <a:xfrm>
            <a:off x="1325880" y="1344168"/>
            <a:ext cx="9784080" cy="292608"/>
          </a:xfrm>
          <a:prstGeom prst="rect">
            <a:avLst/>
          </a:prstGeom>
          <a:noFill/>
          <a:ln/>
        </p:spPr>
        <p:txBody>
          <a:bodyPr wrap="square" rtlCol="0" anchor="ctr">
            <a:normAutofit lnSpcReduction="10000"/>
          </a:bodyPr>
          <a:lstStyle/>
          <a:p>
            <a:pPr marL="0" indent="0">
              <a:buNone/>
            </a:pPr>
            <a:r>
              <a:rPr lang="fr-CH" sz="1400" noProof="0" dirty="0">
                <a:solidFill>
                  <a:srgbClr val="1F2933"/>
                </a:solidFill>
              </a:rPr>
              <a:t>Le bulletin repose sur une méthodologie commune.</a:t>
            </a:r>
            <a:endParaRPr lang="fr-CH" sz="1400" noProof="0" dirty="0"/>
          </a:p>
        </p:txBody>
      </p:sp>
      <p:sp>
        <p:nvSpPr>
          <p:cNvPr id="13" name="Shape 10"/>
          <p:cNvSpPr/>
          <p:nvPr/>
        </p:nvSpPr>
        <p:spPr>
          <a:xfrm>
            <a:off x="868680" y="2039112"/>
            <a:ext cx="292608" cy="292608"/>
          </a:xfrm>
          <a:prstGeom prst="ellipse">
            <a:avLst/>
          </a:prstGeom>
          <a:solidFill>
            <a:srgbClr val="1428A0"/>
          </a:solidFill>
          <a:ln w="12700">
            <a:solidFill>
              <a:srgbClr val="1428A0"/>
            </a:solidFill>
            <a:prstDash val="solid"/>
          </a:ln>
        </p:spPr>
        <p:txBody>
          <a:bodyPr/>
          <a:lstStyle/>
          <a:p>
            <a:endParaRPr lang="fr-CH" noProof="0" dirty="0"/>
          </a:p>
        </p:txBody>
      </p:sp>
      <p:sp>
        <p:nvSpPr>
          <p:cNvPr id="14" name="Text 11"/>
          <p:cNvSpPr/>
          <p:nvPr/>
        </p:nvSpPr>
        <p:spPr>
          <a:xfrm>
            <a:off x="941832" y="2098548"/>
            <a:ext cx="146304" cy="137160"/>
          </a:xfrm>
          <a:prstGeom prst="rect">
            <a:avLst/>
          </a:prstGeom>
          <a:noFill/>
          <a:ln/>
        </p:spPr>
        <p:txBody>
          <a:bodyPr wrap="square" rtlCol="0" anchor="ctr"/>
          <a:lstStyle/>
          <a:p>
            <a:pPr marL="0" indent="0" algn="ctr">
              <a:buNone/>
            </a:pPr>
            <a:r>
              <a:rPr lang="fr-CH" sz="850" b="1" noProof="0" dirty="0">
                <a:solidFill>
                  <a:srgbClr val="FFFFFF"/>
                </a:solidFill>
              </a:rPr>
              <a:t>2</a:t>
            </a:r>
            <a:endParaRPr lang="fr-CH" sz="850" noProof="0" dirty="0"/>
          </a:p>
        </p:txBody>
      </p:sp>
      <p:sp>
        <p:nvSpPr>
          <p:cNvPr id="15" name="Text 12"/>
          <p:cNvSpPr/>
          <p:nvPr/>
        </p:nvSpPr>
        <p:spPr>
          <a:xfrm>
            <a:off x="1325880" y="2039112"/>
            <a:ext cx="9784080" cy="292608"/>
          </a:xfrm>
          <a:prstGeom prst="rect">
            <a:avLst/>
          </a:prstGeom>
          <a:noFill/>
          <a:ln/>
        </p:spPr>
        <p:txBody>
          <a:bodyPr wrap="square" rtlCol="0" anchor="ctr">
            <a:normAutofit lnSpcReduction="10000"/>
          </a:bodyPr>
          <a:lstStyle/>
          <a:p>
            <a:pPr marL="0" indent="0">
              <a:buNone/>
            </a:pPr>
            <a:r>
              <a:rPr lang="fr-CH" sz="1400" noProof="0" dirty="0">
                <a:solidFill>
                  <a:srgbClr val="1F2933"/>
                </a:solidFill>
              </a:rPr>
              <a:t>Le noyau statistique doit rester comparable et neutre.</a:t>
            </a:r>
            <a:endParaRPr lang="fr-CH" sz="1400" noProof="0" dirty="0"/>
          </a:p>
        </p:txBody>
      </p:sp>
      <p:sp>
        <p:nvSpPr>
          <p:cNvPr id="16" name="Shape 13"/>
          <p:cNvSpPr/>
          <p:nvPr/>
        </p:nvSpPr>
        <p:spPr>
          <a:xfrm>
            <a:off x="868680" y="2752344"/>
            <a:ext cx="292608" cy="292608"/>
          </a:xfrm>
          <a:prstGeom prst="ellipse">
            <a:avLst/>
          </a:prstGeom>
          <a:solidFill>
            <a:srgbClr val="1428A0"/>
          </a:solidFill>
          <a:ln w="12700">
            <a:solidFill>
              <a:srgbClr val="1428A0"/>
            </a:solidFill>
            <a:prstDash val="solid"/>
          </a:ln>
        </p:spPr>
        <p:txBody>
          <a:bodyPr/>
          <a:lstStyle/>
          <a:p>
            <a:endParaRPr lang="fr-CH" noProof="0" dirty="0"/>
          </a:p>
        </p:txBody>
      </p:sp>
      <p:sp>
        <p:nvSpPr>
          <p:cNvPr id="17" name="Text 14"/>
          <p:cNvSpPr/>
          <p:nvPr/>
        </p:nvSpPr>
        <p:spPr>
          <a:xfrm>
            <a:off x="941832" y="2811780"/>
            <a:ext cx="146304" cy="137160"/>
          </a:xfrm>
          <a:prstGeom prst="rect">
            <a:avLst/>
          </a:prstGeom>
          <a:noFill/>
          <a:ln/>
        </p:spPr>
        <p:txBody>
          <a:bodyPr wrap="square" rtlCol="0" anchor="ctr"/>
          <a:lstStyle/>
          <a:p>
            <a:pPr marL="0" indent="0" algn="ctr">
              <a:buNone/>
            </a:pPr>
            <a:r>
              <a:rPr lang="fr-CH" sz="850" b="1" noProof="0" dirty="0">
                <a:solidFill>
                  <a:srgbClr val="FFFFFF"/>
                </a:solidFill>
              </a:rPr>
              <a:t>3</a:t>
            </a:r>
            <a:endParaRPr lang="fr-CH" sz="850" noProof="0" dirty="0"/>
          </a:p>
        </p:txBody>
      </p:sp>
      <p:sp>
        <p:nvSpPr>
          <p:cNvPr id="18" name="Text 15"/>
          <p:cNvSpPr/>
          <p:nvPr/>
        </p:nvSpPr>
        <p:spPr>
          <a:xfrm>
            <a:off x="1325880" y="2724912"/>
            <a:ext cx="9784080" cy="292608"/>
          </a:xfrm>
          <a:prstGeom prst="rect">
            <a:avLst/>
          </a:prstGeom>
          <a:noFill/>
          <a:ln/>
        </p:spPr>
        <p:txBody>
          <a:bodyPr wrap="square" rtlCol="0" anchor="ctr">
            <a:normAutofit lnSpcReduction="10000"/>
          </a:bodyPr>
          <a:lstStyle/>
          <a:p>
            <a:pPr marL="0" indent="0">
              <a:buNone/>
            </a:pPr>
            <a:r>
              <a:rPr lang="fr-CH" sz="1400" noProof="0" dirty="0">
                <a:solidFill>
                  <a:srgbClr val="1F2933"/>
                </a:solidFill>
              </a:rPr>
              <a:t>Les initiatives nationales peuvent être présentées dans des encadrés ou annexes clairement distincts.</a:t>
            </a:r>
            <a:endParaRPr lang="fr-CH" sz="1400" noProof="0" dirty="0"/>
          </a:p>
        </p:txBody>
      </p:sp>
      <p:sp>
        <p:nvSpPr>
          <p:cNvPr id="19" name="Shape 16"/>
          <p:cNvSpPr/>
          <p:nvPr/>
        </p:nvSpPr>
        <p:spPr>
          <a:xfrm>
            <a:off x="868680" y="3465576"/>
            <a:ext cx="292608" cy="292608"/>
          </a:xfrm>
          <a:prstGeom prst="ellipse">
            <a:avLst/>
          </a:prstGeom>
          <a:solidFill>
            <a:srgbClr val="1428A0"/>
          </a:solidFill>
          <a:ln w="12700">
            <a:solidFill>
              <a:srgbClr val="1428A0"/>
            </a:solidFill>
            <a:prstDash val="solid"/>
          </a:ln>
        </p:spPr>
        <p:txBody>
          <a:bodyPr/>
          <a:lstStyle/>
          <a:p>
            <a:endParaRPr lang="fr-CH" noProof="0" dirty="0"/>
          </a:p>
        </p:txBody>
      </p:sp>
      <p:sp>
        <p:nvSpPr>
          <p:cNvPr id="20" name="Text 17"/>
          <p:cNvSpPr/>
          <p:nvPr/>
        </p:nvSpPr>
        <p:spPr>
          <a:xfrm>
            <a:off x="941832" y="3525012"/>
            <a:ext cx="146304" cy="137160"/>
          </a:xfrm>
          <a:prstGeom prst="rect">
            <a:avLst/>
          </a:prstGeom>
          <a:noFill/>
          <a:ln/>
        </p:spPr>
        <p:txBody>
          <a:bodyPr wrap="square" rtlCol="0" anchor="ctr"/>
          <a:lstStyle/>
          <a:p>
            <a:pPr marL="0" indent="0" algn="ctr">
              <a:buNone/>
            </a:pPr>
            <a:r>
              <a:rPr lang="fr-CH" sz="850" b="1" noProof="0" dirty="0">
                <a:solidFill>
                  <a:srgbClr val="FFFFFF"/>
                </a:solidFill>
              </a:rPr>
              <a:t>4</a:t>
            </a:r>
            <a:endParaRPr lang="fr-CH" sz="850" noProof="0" dirty="0"/>
          </a:p>
        </p:txBody>
      </p:sp>
      <p:sp>
        <p:nvSpPr>
          <p:cNvPr id="21" name="Text 18"/>
          <p:cNvSpPr/>
          <p:nvPr/>
        </p:nvSpPr>
        <p:spPr>
          <a:xfrm>
            <a:off x="1325880" y="3438144"/>
            <a:ext cx="9784080" cy="292608"/>
          </a:xfrm>
          <a:prstGeom prst="rect">
            <a:avLst/>
          </a:prstGeom>
          <a:noFill/>
          <a:ln/>
        </p:spPr>
        <p:txBody>
          <a:bodyPr wrap="square" rtlCol="0" anchor="ctr">
            <a:normAutofit lnSpcReduction="10000"/>
          </a:bodyPr>
          <a:lstStyle/>
          <a:p>
            <a:pPr marL="0" indent="0">
              <a:buNone/>
            </a:pPr>
            <a:r>
              <a:rPr lang="fr-CH" sz="1400" noProof="0" dirty="0">
                <a:solidFill>
                  <a:srgbClr val="1F2933"/>
                </a:solidFill>
              </a:rPr>
              <a:t>Chaque indicateur repose sur une définition précise.</a:t>
            </a:r>
            <a:endParaRPr lang="fr-CH" sz="1400" noProof="0" dirty="0"/>
          </a:p>
        </p:txBody>
      </p:sp>
      <p:sp>
        <p:nvSpPr>
          <p:cNvPr id="22" name="Shape 19"/>
          <p:cNvSpPr/>
          <p:nvPr/>
        </p:nvSpPr>
        <p:spPr>
          <a:xfrm>
            <a:off x="868680" y="4178808"/>
            <a:ext cx="292608" cy="292608"/>
          </a:xfrm>
          <a:prstGeom prst="ellipse">
            <a:avLst/>
          </a:prstGeom>
          <a:solidFill>
            <a:srgbClr val="1428A0"/>
          </a:solidFill>
          <a:ln w="12700">
            <a:solidFill>
              <a:srgbClr val="1428A0"/>
            </a:solidFill>
            <a:prstDash val="solid"/>
          </a:ln>
        </p:spPr>
        <p:txBody>
          <a:bodyPr/>
          <a:lstStyle/>
          <a:p>
            <a:endParaRPr lang="fr-CH" noProof="0" dirty="0"/>
          </a:p>
        </p:txBody>
      </p:sp>
      <p:sp>
        <p:nvSpPr>
          <p:cNvPr id="23" name="Text 20"/>
          <p:cNvSpPr/>
          <p:nvPr/>
        </p:nvSpPr>
        <p:spPr>
          <a:xfrm>
            <a:off x="941832" y="4238244"/>
            <a:ext cx="146304" cy="137160"/>
          </a:xfrm>
          <a:prstGeom prst="rect">
            <a:avLst/>
          </a:prstGeom>
          <a:noFill/>
          <a:ln/>
        </p:spPr>
        <p:txBody>
          <a:bodyPr wrap="square" rtlCol="0" anchor="ctr"/>
          <a:lstStyle/>
          <a:p>
            <a:pPr marL="0" indent="0" algn="ctr">
              <a:buNone/>
            </a:pPr>
            <a:r>
              <a:rPr lang="fr-CH" sz="850" b="1" noProof="0" dirty="0">
                <a:solidFill>
                  <a:srgbClr val="FFFFFF"/>
                </a:solidFill>
              </a:rPr>
              <a:t>5</a:t>
            </a:r>
            <a:endParaRPr lang="fr-CH" sz="850" noProof="0" dirty="0"/>
          </a:p>
        </p:txBody>
      </p:sp>
      <p:sp>
        <p:nvSpPr>
          <p:cNvPr id="24" name="Text 21"/>
          <p:cNvSpPr/>
          <p:nvPr/>
        </p:nvSpPr>
        <p:spPr>
          <a:xfrm>
            <a:off x="1325880" y="4151376"/>
            <a:ext cx="9784080" cy="292608"/>
          </a:xfrm>
          <a:prstGeom prst="rect">
            <a:avLst/>
          </a:prstGeom>
          <a:noFill/>
          <a:ln/>
        </p:spPr>
        <p:txBody>
          <a:bodyPr wrap="square" rtlCol="0" anchor="ctr">
            <a:normAutofit lnSpcReduction="10000"/>
          </a:bodyPr>
          <a:lstStyle/>
          <a:p>
            <a:pPr marL="0" indent="0">
              <a:buNone/>
            </a:pPr>
            <a:r>
              <a:rPr lang="fr-CH" sz="1400" noProof="0" dirty="0">
                <a:solidFill>
                  <a:srgbClr val="1F2933"/>
                </a:solidFill>
              </a:rPr>
              <a:t>Les exemples ci dessus montrent l’importance du choix du périmètre et de la méthodologie.</a:t>
            </a:r>
            <a:endParaRPr lang="fr-CH" sz="1400" noProof="0" dirty="0"/>
          </a:p>
        </p:txBody>
      </p:sp>
      <p:sp>
        <p:nvSpPr>
          <p:cNvPr id="25" name="Shape 22"/>
          <p:cNvSpPr/>
          <p:nvPr/>
        </p:nvSpPr>
        <p:spPr>
          <a:xfrm>
            <a:off x="868680" y="4892040"/>
            <a:ext cx="292608" cy="292608"/>
          </a:xfrm>
          <a:prstGeom prst="ellipse">
            <a:avLst/>
          </a:prstGeom>
          <a:solidFill>
            <a:srgbClr val="1428A0"/>
          </a:solidFill>
          <a:ln w="12700">
            <a:solidFill>
              <a:srgbClr val="1428A0"/>
            </a:solidFill>
            <a:prstDash val="solid"/>
          </a:ln>
        </p:spPr>
        <p:txBody>
          <a:bodyPr/>
          <a:lstStyle/>
          <a:p>
            <a:endParaRPr lang="fr-CH" noProof="0" dirty="0"/>
          </a:p>
        </p:txBody>
      </p:sp>
      <p:sp>
        <p:nvSpPr>
          <p:cNvPr id="26" name="Text 23"/>
          <p:cNvSpPr/>
          <p:nvPr/>
        </p:nvSpPr>
        <p:spPr>
          <a:xfrm>
            <a:off x="941832" y="4951476"/>
            <a:ext cx="146304" cy="137160"/>
          </a:xfrm>
          <a:prstGeom prst="rect">
            <a:avLst/>
          </a:prstGeom>
          <a:noFill/>
          <a:ln/>
        </p:spPr>
        <p:txBody>
          <a:bodyPr wrap="square" rtlCol="0" anchor="ctr"/>
          <a:lstStyle/>
          <a:p>
            <a:pPr marL="0" indent="0" algn="ctr">
              <a:buNone/>
            </a:pPr>
            <a:r>
              <a:rPr lang="fr-CH" sz="850" b="1" noProof="0" dirty="0">
                <a:solidFill>
                  <a:srgbClr val="FFFFFF"/>
                </a:solidFill>
              </a:rPr>
              <a:t>6</a:t>
            </a:r>
            <a:endParaRPr lang="fr-CH" sz="850" noProof="0" dirty="0"/>
          </a:p>
        </p:txBody>
      </p:sp>
      <p:sp>
        <p:nvSpPr>
          <p:cNvPr id="27" name="Text 24"/>
          <p:cNvSpPr/>
          <p:nvPr/>
        </p:nvSpPr>
        <p:spPr>
          <a:xfrm>
            <a:off x="1325880" y="4892040"/>
            <a:ext cx="9784080" cy="292608"/>
          </a:xfrm>
          <a:prstGeom prst="rect">
            <a:avLst/>
          </a:prstGeom>
          <a:noFill/>
          <a:ln/>
        </p:spPr>
        <p:txBody>
          <a:bodyPr wrap="square" rtlCol="0" anchor="ctr">
            <a:normAutofit lnSpcReduction="10000"/>
          </a:bodyPr>
          <a:lstStyle/>
          <a:p>
            <a:pPr marL="0" indent="0">
              <a:buNone/>
            </a:pPr>
            <a:r>
              <a:rPr lang="fr-CH" sz="1400" noProof="0" dirty="0">
                <a:solidFill>
                  <a:srgbClr val="1F2933"/>
                </a:solidFill>
              </a:rPr>
              <a:t>L’outil ESS structure la compilation des données pour le bulletin et le </a:t>
            </a:r>
            <a:r>
              <a:rPr lang="fr-CH" sz="1400" noProof="0" dirty="0" err="1">
                <a:solidFill>
                  <a:srgbClr val="1F2933"/>
                </a:solidFill>
              </a:rPr>
              <a:t>reporting</a:t>
            </a:r>
            <a:r>
              <a:rPr lang="fr-CH" sz="1400" noProof="0" dirty="0">
                <a:solidFill>
                  <a:srgbClr val="1F2933"/>
                </a:solidFill>
              </a:rPr>
              <a:t> international.</a:t>
            </a:r>
            <a:endParaRPr lang="fr-CH" sz="1400" noProof="0" dirty="0"/>
          </a:p>
        </p:txBody>
      </p:sp>
      <p:pic>
        <p:nvPicPr>
          <p:cNvPr id="28" name="Image 0" descr="/mnt/data/ref_unzip/ppt/media/image1.png">
            <a:extLst>
              <a:ext uri="{FF2B5EF4-FFF2-40B4-BE49-F238E27FC236}">
                <a16:creationId xmlns:a16="http://schemas.microsoft.com/office/drawing/2014/main" id="{23DE1C3A-FBDA-BCB4-1115-A43FADBE406E}"/>
              </a:ext>
            </a:extLst>
          </p:cNvPr>
          <p:cNvPicPr>
            <a:picLocks noChangeAspect="1"/>
          </p:cNvPicPr>
          <p:nvPr/>
        </p:nvPicPr>
        <p:blipFill>
          <a:blip r:embed="rId3"/>
          <a:stretch>
            <a:fillRect/>
          </a:stretch>
        </p:blipFill>
        <p:spPr>
          <a:xfrm>
            <a:off x="10088880" y="357645"/>
            <a:ext cx="1508760" cy="520522"/>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428A0"/>
          </a:solidFill>
          <a:ln w="12700">
            <a:solidFill>
              <a:srgbClr val="1428A0"/>
            </a:solidFill>
            <a:prstDash val="solid"/>
          </a:ln>
        </p:spPr>
        <p:txBody>
          <a:bodyPr/>
          <a:lstStyle/>
          <a:p>
            <a:endParaRPr lang="fr-CH" noProof="0" dirty="0"/>
          </a:p>
        </p:txBody>
      </p:sp>
      <p:sp>
        <p:nvSpPr>
          <p:cNvPr id="3" name="Text 1"/>
          <p:cNvSpPr/>
          <p:nvPr/>
        </p:nvSpPr>
        <p:spPr>
          <a:xfrm>
            <a:off x="594360" y="420624"/>
            <a:ext cx="8686800" cy="411480"/>
          </a:xfrm>
          <a:prstGeom prst="rect">
            <a:avLst/>
          </a:prstGeom>
          <a:noFill/>
          <a:ln/>
        </p:spPr>
        <p:txBody>
          <a:bodyPr wrap="square" rtlCol="0" anchor="ctr">
            <a:normAutofit fontScale="92500" lnSpcReduction="10000"/>
          </a:bodyPr>
          <a:lstStyle/>
          <a:p>
            <a:pPr marL="0" indent="0">
              <a:buNone/>
            </a:pPr>
            <a:r>
              <a:rPr lang="fr-CH" sz="2400" b="1" noProof="0" dirty="0">
                <a:solidFill>
                  <a:srgbClr val="1428A0"/>
                </a:solidFill>
                <a:latin typeface="Arial" pitchFamily="34" charset="0"/>
                <a:ea typeface="Arial" pitchFamily="34" charset="-122"/>
                <a:cs typeface="Arial" pitchFamily="34" charset="-120"/>
              </a:rPr>
              <a:t>De la méthode aux outils</a:t>
            </a:r>
            <a:endParaRPr lang="fr-CH" sz="2400" noProof="0" dirty="0"/>
          </a:p>
        </p:txBody>
      </p:sp>
      <p:sp>
        <p:nvSpPr>
          <p:cNvPr id="4" name="Text 2"/>
          <p:cNvSpPr/>
          <p:nvPr/>
        </p:nvSpPr>
        <p:spPr>
          <a:xfrm>
            <a:off x="612648" y="219456"/>
            <a:ext cx="6858000" cy="155448"/>
          </a:xfrm>
          <a:prstGeom prst="rect">
            <a:avLst/>
          </a:prstGeom>
          <a:noFill/>
          <a:ln/>
        </p:spPr>
        <p:txBody>
          <a:bodyPr wrap="square" rtlCol="0" anchor="ctr"/>
          <a:lstStyle/>
          <a:p>
            <a:pPr marL="0" indent="0">
              <a:buNone/>
            </a:pPr>
            <a:r>
              <a:rPr lang="fr-CH" sz="730" noProof="0" dirty="0">
                <a:solidFill>
                  <a:srgbClr val="586069"/>
                </a:solidFill>
              </a:rPr>
              <a:t>TRANSITION</a:t>
            </a:r>
            <a:endParaRPr lang="fr-CH" sz="730" noProof="0" dirty="0"/>
          </a:p>
        </p:txBody>
      </p:sp>
      <p:sp>
        <p:nvSpPr>
          <p:cNvPr id="6" name="Shape 3"/>
          <p:cNvSpPr/>
          <p:nvPr/>
        </p:nvSpPr>
        <p:spPr>
          <a:xfrm>
            <a:off x="594360" y="987552"/>
            <a:ext cx="10972800" cy="0"/>
          </a:xfrm>
          <a:prstGeom prst="line">
            <a:avLst/>
          </a:prstGeom>
          <a:noFill/>
          <a:ln w="12700">
            <a:solidFill>
              <a:srgbClr val="D9E1F2"/>
            </a:solidFill>
            <a:prstDash val="solid"/>
          </a:ln>
        </p:spPr>
        <p:txBody>
          <a:bodyPr/>
          <a:lstStyle/>
          <a:p>
            <a:endParaRPr lang="fr-CH" noProof="0" dirty="0"/>
          </a:p>
        </p:txBody>
      </p:sp>
      <p:sp>
        <p:nvSpPr>
          <p:cNvPr id="7" name="Text 4"/>
          <p:cNvSpPr/>
          <p:nvPr/>
        </p:nvSpPr>
        <p:spPr>
          <a:xfrm>
            <a:off x="594360" y="6510528"/>
            <a:ext cx="6583680" cy="164592"/>
          </a:xfrm>
          <a:prstGeom prst="rect">
            <a:avLst/>
          </a:prstGeom>
          <a:noFill/>
          <a:ln/>
        </p:spPr>
        <p:txBody>
          <a:bodyPr wrap="square" rtlCol="0" anchor="ctr"/>
          <a:lstStyle/>
          <a:p>
            <a:pPr marL="0" indent="0">
              <a:buNone/>
            </a:pPr>
            <a:r>
              <a:rPr lang="fr-CH" sz="750" noProof="0" dirty="0">
                <a:solidFill>
                  <a:srgbClr val="586069"/>
                </a:solidFill>
                <a:latin typeface="Arial" pitchFamily="34" charset="0"/>
                <a:ea typeface="Arial" pitchFamily="34" charset="-122"/>
                <a:cs typeface="Arial" pitchFamily="34" charset="-120"/>
              </a:rPr>
              <a:t>Faire avancer la justice sociale, promouvoir le travail décent</a:t>
            </a:r>
            <a:endParaRPr lang="fr-CH" sz="750" noProof="0" dirty="0"/>
          </a:p>
        </p:txBody>
      </p:sp>
      <p:sp>
        <p:nvSpPr>
          <p:cNvPr id="8" name="Text 5"/>
          <p:cNvSpPr/>
          <p:nvPr/>
        </p:nvSpPr>
        <p:spPr>
          <a:xfrm>
            <a:off x="7543800" y="6510528"/>
            <a:ext cx="3017520" cy="164592"/>
          </a:xfrm>
          <a:prstGeom prst="rect">
            <a:avLst/>
          </a:prstGeom>
          <a:noFill/>
          <a:ln/>
        </p:spPr>
        <p:txBody>
          <a:bodyPr wrap="square" rtlCol="0" anchor="ctr"/>
          <a:lstStyle/>
          <a:p>
            <a:pPr marL="0" indent="0" algn="r">
              <a:buNone/>
            </a:pPr>
            <a:r>
              <a:rPr lang="fr-CH" sz="730" noProof="0" dirty="0">
                <a:solidFill>
                  <a:srgbClr val="586069"/>
                </a:solidFill>
                <a:latin typeface="Arial" pitchFamily="34" charset="0"/>
                <a:ea typeface="Arial" pitchFamily="34" charset="-122"/>
                <a:cs typeface="Arial" pitchFamily="34" charset="-120"/>
              </a:rPr>
              <a:t>Atelier 2e Bulletin Statistique RDC | 14 mai 2026</a:t>
            </a:r>
            <a:endParaRPr lang="fr-CH" sz="730" noProof="0" dirty="0"/>
          </a:p>
        </p:txBody>
      </p:sp>
      <p:sp>
        <p:nvSpPr>
          <p:cNvPr id="9" name="Text 6"/>
          <p:cNvSpPr/>
          <p:nvPr/>
        </p:nvSpPr>
        <p:spPr>
          <a:xfrm>
            <a:off x="11292840" y="6473952"/>
            <a:ext cx="411480" cy="201168"/>
          </a:xfrm>
          <a:prstGeom prst="rect">
            <a:avLst/>
          </a:prstGeom>
          <a:noFill/>
          <a:ln/>
        </p:spPr>
        <p:txBody>
          <a:bodyPr wrap="square" lIns="27432" tIns="18288" rIns="27432" bIns="18288" rtlCol="0" anchor="ctr"/>
          <a:lstStyle/>
          <a:p>
            <a:pPr marL="0" indent="0" algn="r">
              <a:buNone/>
            </a:pPr>
            <a:r>
              <a:rPr lang="fr-CH" sz="850" b="0" noProof="0" dirty="0">
                <a:solidFill>
                  <a:srgbClr val="505050"/>
                </a:solidFill>
                <a:latin typeface="Arial"/>
              </a:rPr>
              <a:t>19</a:t>
            </a:r>
            <a:endParaRPr lang="fr-CH" sz="750" noProof="0" dirty="0"/>
          </a:p>
        </p:txBody>
      </p:sp>
      <p:sp>
        <p:nvSpPr>
          <p:cNvPr id="10" name="Text 7"/>
          <p:cNvSpPr/>
          <p:nvPr/>
        </p:nvSpPr>
        <p:spPr>
          <a:xfrm>
            <a:off x="822960" y="1449324"/>
            <a:ext cx="10607040" cy="411480"/>
          </a:xfrm>
          <a:prstGeom prst="rect">
            <a:avLst/>
          </a:prstGeom>
          <a:noFill/>
          <a:ln/>
        </p:spPr>
        <p:txBody>
          <a:bodyPr wrap="square" rtlCol="0" anchor="ctr">
            <a:normAutofit fontScale="77500" lnSpcReduction="20000"/>
          </a:bodyPr>
          <a:lstStyle/>
          <a:p>
            <a:pPr marL="0" indent="0" algn="ctr">
              <a:buNone/>
            </a:pPr>
            <a:r>
              <a:rPr lang="fr-CH" sz="1600" b="1" noProof="0" dirty="0">
                <a:solidFill>
                  <a:srgbClr val="1F2933"/>
                </a:solidFill>
              </a:rPr>
              <a:t>La prochaine présentation montrera comment les données nécessaires aux indicateurs seront collectées, structurées et consolidées.</a:t>
            </a:r>
            <a:endParaRPr lang="fr-CH" sz="1600" noProof="0" dirty="0"/>
          </a:p>
        </p:txBody>
      </p:sp>
      <p:sp>
        <p:nvSpPr>
          <p:cNvPr id="11" name="Shape 8"/>
          <p:cNvSpPr/>
          <p:nvPr/>
        </p:nvSpPr>
        <p:spPr>
          <a:xfrm>
            <a:off x="914400" y="2240280"/>
            <a:ext cx="2468880" cy="1371600"/>
          </a:xfrm>
          <a:prstGeom prst="roundRect">
            <a:avLst>
              <a:gd name="adj" fmla="val 4667"/>
            </a:avLst>
          </a:prstGeom>
          <a:solidFill>
            <a:srgbClr val="FFFFFF"/>
          </a:solidFill>
          <a:ln w="12700">
            <a:solidFill>
              <a:srgbClr val="D1D8E8"/>
            </a:solidFill>
            <a:prstDash val="solid"/>
          </a:ln>
        </p:spPr>
        <p:txBody>
          <a:bodyPr/>
          <a:lstStyle/>
          <a:p>
            <a:endParaRPr lang="fr-CH" noProof="0" dirty="0"/>
          </a:p>
        </p:txBody>
      </p:sp>
      <p:sp>
        <p:nvSpPr>
          <p:cNvPr id="12" name="Shape 9"/>
          <p:cNvSpPr/>
          <p:nvPr/>
        </p:nvSpPr>
        <p:spPr>
          <a:xfrm>
            <a:off x="914400" y="2240280"/>
            <a:ext cx="73152" cy="1371600"/>
          </a:xfrm>
          <a:prstGeom prst="rect">
            <a:avLst/>
          </a:prstGeom>
          <a:solidFill>
            <a:srgbClr val="1428A0"/>
          </a:solidFill>
          <a:ln w="12700">
            <a:solidFill>
              <a:srgbClr val="1428A0"/>
            </a:solidFill>
            <a:prstDash val="solid"/>
          </a:ln>
        </p:spPr>
        <p:txBody>
          <a:bodyPr/>
          <a:lstStyle/>
          <a:p>
            <a:endParaRPr lang="fr-CH" noProof="0" dirty="0"/>
          </a:p>
        </p:txBody>
      </p:sp>
      <p:sp>
        <p:nvSpPr>
          <p:cNvPr id="13" name="Text 10"/>
          <p:cNvSpPr/>
          <p:nvPr/>
        </p:nvSpPr>
        <p:spPr>
          <a:xfrm>
            <a:off x="1124712" y="2386584"/>
            <a:ext cx="2148840" cy="228600"/>
          </a:xfrm>
          <a:prstGeom prst="rect">
            <a:avLst/>
          </a:prstGeom>
          <a:noFill/>
          <a:ln/>
        </p:spPr>
        <p:txBody>
          <a:bodyPr wrap="square" rtlCol="0" anchor="ctr">
            <a:normAutofit fontScale="92500" lnSpcReduction="20000"/>
          </a:bodyPr>
          <a:lstStyle/>
          <a:p>
            <a:pPr marL="0" indent="0">
              <a:buNone/>
            </a:pPr>
            <a:r>
              <a:rPr lang="fr-CH" sz="1230" b="1" noProof="0" dirty="0">
                <a:solidFill>
                  <a:srgbClr val="1428A0"/>
                </a:solidFill>
              </a:rPr>
              <a:t>ESS</a:t>
            </a:r>
            <a:endParaRPr lang="fr-CH" sz="1230" noProof="0" dirty="0"/>
          </a:p>
        </p:txBody>
      </p:sp>
      <p:sp>
        <p:nvSpPr>
          <p:cNvPr id="14" name="Text 11"/>
          <p:cNvSpPr/>
          <p:nvPr/>
        </p:nvSpPr>
        <p:spPr>
          <a:xfrm>
            <a:off x="1124712" y="2807208"/>
            <a:ext cx="2148840" cy="685800"/>
          </a:xfrm>
          <a:prstGeom prst="rect">
            <a:avLst/>
          </a:prstGeom>
          <a:noFill/>
          <a:ln/>
        </p:spPr>
        <p:txBody>
          <a:bodyPr wrap="square" rtlCol="0" anchor="ctr">
            <a:normAutofit/>
          </a:bodyPr>
          <a:lstStyle/>
          <a:p>
            <a:pPr marL="0" indent="0">
              <a:buNone/>
            </a:pPr>
            <a:r>
              <a:rPr lang="fr-CH" sz="1080" noProof="0" dirty="0">
                <a:solidFill>
                  <a:srgbClr val="1F2933"/>
                </a:solidFill>
              </a:rPr>
              <a:t>Canevas de compilation des données administratives</a:t>
            </a:r>
            <a:endParaRPr lang="fr-CH" sz="1080" noProof="0" dirty="0"/>
          </a:p>
        </p:txBody>
      </p:sp>
      <p:sp>
        <p:nvSpPr>
          <p:cNvPr id="15" name="Shape 12"/>
          <p:cNvSpPr/>
          <p:nvPr/>
        </p:nvSpPr>
        <p:spPr>
          <a:xfrm>
            <a:off x="3611880" y="2240280"/>
            <a:ext cx="2468880" cy="1371600"/>
          </a:xfrm>
          <a:prstGeom prst="roundRect">
            <a:avLst>
              <a:gd name="adj" fmla="val 4667"/>
            </a:avLst>
          </a:prstGeom>
          <a:solidFill>
            <a:srgbClr val="FFFFFF"/>
          </a:solidFill>
          <a:ln w="12700">
            <a:solidFill>
              <a:srgbClr val="D1D8E8"/>
            </a:solidFill>
            <a:prstDash val="solid"/>
          </a:ln>
        </p:spPr>
        <p:txBody>
          <a:bodyPr/>
          <a:lstStyle/>
          <a:p>
            <a:endParaRPr lang="fr-CH" noProof="0" dirty="0"/>
          </a:p>
        </p:txBody>
      </p:sp>
      <p:sp>
        <p:nvSpPr>
          <p:cNvPr id="16" name="Shape 13"/>
          <p:cNvSpPr/>
          <p:nvPr/>
        </p:nvSpPr>
        <p:spPr>
          <a:xfrm>
            <a:off x="3611880" y="2240280"/>
            <a:ext cx="73152" cy="1371600"/>
          </a:xfrm>
          <a:prstGeom prst="rect">
            <a:avLst/>
          </a:prstGeom>
          <a:solidFill>
            <a:srgbClr val="1428A0"/>
          </a:solidFill>
          <a:ln w="12700">
            <a:solidFill>
              <a:srgbClr val="1428A0"/>
            </a:solidFill>
            <a:prstDash val="solid"/>
          </a:ln>
        </p:spPr>
        <p:txBody>
          <a:bodyPr/>
          <a:lstStyle/>
          <a:p>
            <a:endParaRPr lang="fr-CH" noProof="0" dirty="0"/>
          </a:p>
        </p:txBody>
      </p:sp>
      <p:sp>
        <p:nvSpPr>
          <p:cNvPr id="17" name="Text 14"/>
          <p:cNvSpPr/>
          <p:nvPr/>
        </p:nvSpPr>
        <p:spPr>
          <a:xfrm>
            <a:off x="3822192" y="2386584"/>
            <a:ext cx="2148840" cy="228600"/>
          </a:xfrm>
          <a:prstGeom prst="rect">
            <a:avLst/>
          </a:prstGeom>
          <a:noFill/>
          <a:ln/>
        </p:spPr>
        <p:txBody>
          <a:bodyPr wrap="square" rtlCol="0" anchor="ctr">
            <a:normAutofit fontScale="92500" lnSpcReduction="20000"/>
          </a:bodyPr>
          <a:lstStyle/>
          <a:p>
            <a:pPr marL="0" indent="0">
              <a:buNone/>
            </a:pPr>
            <a:r>
              <a:rPr lang="fr-CH" sz="1230" b="1" noProof="0" dirty="0">
                <a:solidFill>
                  <a:srgbClr val="1428A0"/>
                </a:solidFill>
              </a:rPr>
              <a:t>QPSS</a:t>
            </a:r>
            <a:endParaRPr lang="fr-CH" sz="1230" noProof="0" dirty="0"/>
          </a:p>
        </p:txBody>
      </p:sp>
      <p:sp>
        <p:nvSpPr>
          <p:cNvPr id="18" name="Text 15"/>
          <p:cNvSpPr/>
          <p:nvPr/>
        </p:nvSpPr>
        <p:spPr>
          <a:xfrm>
            <a:off x="3822192" y="2807208"/>
            <a:ext cx="2148840" cy="685800"/>
          </a:xfrm>
          <a:prstGeom prst="rect">
            <a:avLst/>
          </a:prstGeom>
          <a:noFill/>
          <a:ln/>
        </p:spPr>
        <p:txBody>
          <a:bodyPr wrap="square" rtlCol="0" anchor="ctr">
            <a:normAutofit/>
          </a:bodyPr>
          <a:lstStyle/>
          <a:p>
            <a:pPr marL="0" indent="0">
              <a:buNone/>
            </a:pPr>
            <a:r>
              <a:rPr lang="fr-CH" sz="1080" noProof="0" dirty="0">
                <a:solidFill>
                  <a:srgbClr val="1F2933"/>
                </a:solidFill>
              </a:rPr>
              <a:t>Plateforme de structuration et de suivi</a:t>
            </a:r>
            <a:endParaRPr lang="fr-CH" sz="1080" noProof="0" dirty="0"/>
          </a:p>
        </p:txBody>
      </p:sp>
      <p:sp>
        <p:nvSpPr>
          <p:cNvPr id="19" name="Shape 16"/>
          <p:cNvSpPr/>
          <p:nvPr/>
        </p:nvSpPr>
        <p:spPr>
          <a:xfrm>
            <a:off x="6309360" y="2240280"/>
            <a:ext cx="2468880" cy="1371600"/>
          </a:xfrm>
          <a:prstGeom prst="roundRect">
            <a:avLst>
              <a:gd name="adj" fmla="val 4667"/>
            </a:avLst>
          </a:prstGeom>
          <a:solidFill>
            <a:srgbClr val="FFFFFF"/>
          </a:solidFill>
          <a:ln w="12700">
            <a:solidFill>
              <a:srgbClr val="D1D8E8"/>
            </a:solidFill>
            <a:prstDash val="solid"/>
          </a:ln>
        </p:spPr>
        <p:txBody>
          <a:bodyPr/>
          <a:lstStyle/>
          <a:p>
            <a:endParaRPr lang="fr-CH" noProof="0" dirty="0"/>
          </a:p>
        </p:txBody>
      </p:sp>
      <p:sp>
        <p:nvSpPr>
          <p:cNvPr id="20" name="Shape 17"/>
          <p:cNvSpPr/>
          <p:nvPr/>
        </p:nvSpPr>
        <p:spPr>
          <a:xfrm>
            <a:off x="6309360" y="2240280"/>
            <a:ext cx="73152" cy="1371600"/>
          </a:xfrm>
          <a:prstGeom prst="rect">
            <a:avLst/>
          </a:prstGeom>
          <a:solidFill>
            <a:srgbClr val="1428A0"/>
          </a:solidFill>
          <a:ln w="12700">
            <a:solidFill>
              <a:srgbClr val="1428A0"/>
            </a:solidFill>
            <a:prstDash val="solid"/>
          </a:ln>
        </p:spPr>
        <p:txBody>
          <a:bodyPr/>
          <a:lstStyle/>
          <a:p>
            <a:endParaRPr lang="fr-CH" noProof="0" dirty="0"/>
          </a:p>
        </p:txBody>
      </p:sp>
      <p:sp>
        <p:nvSpPr>
          <p:cNvPr id="21" name="Text 18"/>
          <p:cNvSpPr/>
          <p:nvPr/>
        </p:nvSpPr>
        <p:spPr>
          <a:xfrm>
            <a:off x="6519672" y="2386584"/>
            <a:ext cx="2148840" cy="228600"/>
          </a:xfrm>
          <a:prstGeom prst="rect">
            <a:avLst/>
          </a:prstGeom>
          <a:noFill/>
          <a:ln/>
        </p:spPr>
        <p:txBody>
          <a:bodyPr wrap="square" rtlCol="0" anchor="ctr">
            <a:normAutofit fontScale="92500" lnSpcReduction="20000"/>
          </a:bodyPr>
          <a:lstStyle/>
          <a:p>
            <a:pPr marL="0" indent="0">
              <a:buNone/>
            </a:pPr>
            <a:r>
              <a:rPr lang="fr-CH" sz="1230" b="1" noProof="0" dirty="0" err="1">
                <a:solidFill>
                  <a:srgbClr val="1428A0"/>
                </a:solidFill>
              </a:rPr>
              <a:t>EC_Calc</a:t>
            </a:r>
            <a:endParaRPr lang="fr-CH" sz="1230" noProof="0" dirty="0"/>
          </a:p>
        </p:txBody>
      </p:sp>
      <p:sp>
        <p:nvSpPr>
          <p:cNvPr id="22" name="Text 19"/>
          <p:cNvSpPr/>
          <p:nvPr/>
        </p:nvSpPr>
        <p:spPr>
          <a:xfrm>
            <a:off x="6519672" y="2807208"/>
            <a:ext cx="2148840" cy="685800"/>
          </a:xfrm>
          <a:prstGeom prst="rect">
            <a:avLst/>
          </a:prstGeom>
          <a:noFill/>
          <a:ln/>
        </p:spPr>
        <p:txBody>
          <a:bodyPr wrap="square" rtlCol="0" anchor="ctr">
            <a:normAutofit/>
          </a:bodyPr>
          <a:lstStyle/>
          <a:p>
            <a:pPr marL="0" indent="0">
              <a:buNone/>
            </a:pPr>
            <a:r>
              <a:rPr lang="fr-CH" sz="1080" noProof="0" dirty="0">
                <a:solidFill>
                  <a:srgbClr val="1F2933"/>
                </a:solidFill>
              </a:rPr>
              <a:t>Calculs et consolidation des indicateurs</a:t>
            </a:r>
            <a:endParaRPr lang="fr-CH" sz="1080" noProof="0" dirty="0"/>
          </a:p>
        </p:txBody>
      </p:sp>
      <p:sp>
        <p:nvSpPr>
          <p:cNvPr id="23" name="Shape 20"/>
          <p:cNvSpPr/>
          <p:nvPr/>
        </p:nvSpPr>
        <p:spPr>
          <a:xfrm>
            <a:off x="9006840" y="2240280"/>
            <a:ext cx="2468880" cy="1371600"/>
          </a:xfrm>
          <a:prstGeom prst="roundRect">
            <a:avLst>
              <a:gd name="adj" fmla="val 4667"/>
            </a:avLst>
          </a:prstGeom>
          <a:solidFill>
            <a:srgbClr val="FFFFFF"/>
          </a:solidFill>
          <a:ln w="12700">
            <a:solidFill>
              <a:srgbClr val="D1D8E8"/>
            </a:solidFill>
            <a:prstDash val="solid"/>
          </a:ln>
        </p:spPr>
        <p:txBody>
          <a:bodyPr/>
          <a:lstStyle/>
          <a:p>
            <a:endParaRPr lang="fr-CH" noProof="0" dirty="0"/>
          </a:p>
        </p:txBody>
      </p:sp>
      <p:sp>
        <p:nvSpPr>
          <p:cNvPr id="24" name="Shape 21"/>
          <p:cNvSpPr/>
          <p:nvPr/>
        </p:nvSpPr>
        <p:spPr>
          <a:xfrm>
            <a:off x="9006840" y="2240280"/>
            <a:ext cx="73152" cy="1371600"/>
          </a:xfrm>
          <a:prstGeom prst="rect">
            <a:avLst/>
          </a:prstGeom>
          <a:solidFill>
            <a:srgbClr val="1428A0"/>
          </a:solidFill>
          <a:ln w="12700">
            <a:solidFill>
              <a:srgbClr val="1428A0"/>
            </a:solidFill>
            <a:prstDash val="solid"/>
          </a:ln>
        </p:spPr>
        <p:txBody>
          <a:bodyPr/>
          <a:lstStyle/>
          <a:p>
            <a:endParaRPr lang="fr-CH" noProof="0" dirty="0"/>
          </a:p>
        </p:txBody>
      </p:sp>
      <p:sp>
        <p:nvSpPr>
          <p:cNvPr id="25" name="Text 22"/>
          <p:cNvSpPr/>
          <p:nvPr/>
        </p:nvSpPr>
        <p:spPr>
          <a:xfrm>
            <a:off x="9217152" y="2386584"/>
            <a:ext cx="2148840" cy="228600"/>
          </a:xfrm>
          <a:prstGeom prst="rect">
            <a:avLst/>
          </a:prstGeom>
          <a:noFill/>
          <a:ln/>
        </p:spPr>
        <p:txBody>
          <a:bodyPr wrap="square" rtlCol="0" anchor="ctr">
            <a:normAutofit fontScale="92500" lnSpcReduction="20000"/>
          </a:bodyPr>
          <a:lstStyle/>
          <a:p>
            <a:pPr marL="0" indent="0">
              <a:buNone/>
            </a:pPr>
            <a:r>
              <a:rPr lang="fr-CH" sz="1230" b="1" noProof="0" dirty="0">
                <a:solidFill>
                  <a:srgbClr val="1428A0"/>
                </a:solidFill>
              </a:rPr>
              <a:t>Validation</a:t>
            </a:r>
            <a:endParaRPr lang="fr-CH" sz="1230" noProof="0" dirty="0"/>
          </a:p>
        </p:txBody>
      </p:sp>
      <p:sp>
        <p:nvSpPr>
          <p:cNvPr id="26" name="Text 23"/>
          <p:cNvSpPr/>
          <p:nvPr/>
        </p:nvSpPr>
        <p:spPr>
          <a:xfrm>
            <a:off x="9217152" y="2807208"/>
            <a:ext cx="2148840" cy="685800"/>
          </a:xfrm>
          <a:prstGeom prst="rect">
            <a:avLst/>
          </a:prstGeom>
          <a:noFill/>
          <a:ln/>
        </p:spPr>
        <p:txBody>
          <a:bodyPr wrap="square" rtlCol="0" anchor="ctr">
            <a:normAutofit/>
          </a:bodyPr>
          <a:lstStyle/>
          <a:p>
            <a:pPr marL="0" indent="0">
              <a:buNone/>
            </a:pPr>
            <a:r>
              <a:rPr lang="fr-CH" sz="1080" noProof="0" dirty="0">
                <a:solidFill>
                  <a:srgbClr val="1F2933"/>
                </a:solidFill>
              </a:rPr>
              <a:t>Circuits de contrôle, correction et suivi</a:t>
            </a:r>
            <a:endParaRPr lang="fr-CH" sz="1080" noProof="0" dirty="0"/>
          </a:p>
        </p:txBody>
      </p:sp>
      <p:sp>
        <p:nvSpPr>
          <p:cNvPr id="27" name="Shape 24"/>
          <p:cNvSpPr/>
          <p:nvPr/>
        </p:nvSpPr>
        <p:spPr>
          <a:xfrm>
            <a:off x="1097280" y="4800600"/>
            <a:ext cx="9966960" cy="685800"/>
          </a:xfrm>
          <a:prstGeom prst="roundRect">
            <a:avLst/>
          </a:prstGeom>
          <a:solidFill>
            <a:srgbClr val="EAF0FA"/>
          </a:solidFill>
          <a:ln w="12700">
            <a:solidFill>
              <a:srgbClr val="BFD0F0"/>
            </a:solidFill>
            <a:prstDash val="solid"/>
          </a:ln>
        </p:spPr>
        <p:txBody>
          <a:bodyPr/>
          <a:lstStyle/>
          <a:p>
            <a:endParaRPr lang="fr-CH" noProof="0" dirty="0"/>
          </a:p>
        </p:txBody>
      </p:sp>
      <p:sp>
        <p:nvSpPr>
          <p:cNvPr id="28" name="Text 25"/>
          <p:cNvSpPr/>
          <p:nvPr/>
        </p:nvSpPr>
        <p:spPr>
          <a:xfrm>
            <a:off x="1371600" y="5047488"/>
            <a:ext cx="9418320" cy="182880"/>
          </a:xfrm>
          <a:prstGeom prst="rect">
            <a:avLst/>
          </a:prstGeom>
          <a:noFill/>
          <a:ln/>
        </p:spPr>
        <p:txBody>
          <a:bodyPr wrap="square" rtlCol="0" anchor="ctr"/>
          <a:lstStyle/>
          <a:p>
            <a:pPr marL="0" indent="0" algn="ctr">
              <a:buNone/>
            </a:pPr>
            <a:r>
              <a:rPr lang="fr-CH" sz="1500" b="1" noProof="0" dirty="0">
                <a:solidFill>
                  <a:srgbClr val="1428A0"/>
                </a:solidFill>
              </a:rPr>
              <a:t>Transition vers la Présentation 3 — Outils, collecte et feuille de route</a:t>
            </a:r>
            <a:endParaRPr lang="fr-CH" sz="1500" noProof="0" dirty="0"/>
          </a:p>
        </p:txBody>
      </p:sp>
      <p:pic>
        <p:nvPicPr>
          <p:cNvPr id="29" name="Image 0" descr="/mnt/data/ref_unzip/ppt/media/image1.png">
            <a:extLst>
              <a:ext uri="{FF2B5EF4-FFF2-40B4-BE49-F238E27FC236}">
                <a16:creationId xmlns:a16="http://schemas.microsoft.com/office/drawing/2014/main" id="{04BCED86-3620-CD1A-357E-14BD67636D04}"/>
              </a:ext>
            </a:extLst>
          </p:cNvPr>
          <p:cNvPicPr>
            <a:picLocks noChangeAspect="1"/>
          </p:cNvPicPr>
          <p:nvPr/>
        </p:nvPicPr>
        <p:blipFill>
          <a:blip r:embed="rId3"/>
          <a:stretch>
            <a:fillRect/>
          </a:stretch>
        </p:blipFill>
        <p:spPr>
          <a:xfrm>
            <a:off x="10088880" y="357645"/>
            <a:ext cx="1508760" cy="52052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428A0"/>
          </a:solidFill>
          <a:ln w="12700">
            <a:solidFill>
              <a:srgbClr val="1428A0"/>
            </a:solidFill>
            <a:prstDash val="solid"/>
          </a:ln>
        </p:spPr>
        <p:txBody>
          <a:bodyPr/>
          <a:lstStyle/>
          <a:p>
            <a:endParaRPr lang="fr-CH" noProof="0" dirty="0"/>
          </a:p>
        </p:txBody>
      </p:sp>
      <p:sp>
        <p:nvSpPr>
          <p:cNvPr id="3" name="Text 1"/>
          <p:cNvSpPr/>
          <p:nvPr/>
        </p:nvSpPr>
        <p:spPr>
          <a:xfrm>
            <a:off x="594360" y="420624"/>
            <a:ext cx="8686800" cy="411480"/>
          </a:xfrm>
          <a:prstGeom prst="rect">
            <a:avLst/>
          </a:prstGeom>
          <a:noFill/>
          <a:ln/>
        </p:spPr>
        <p:txBody>
          <a:bodyPr wrap="square" rtlCol="0" anchor="ctr">
            <a:normAutofit fontScale="92500" lnSpcReduction="10000"/>
          </a:bodyPr>
          <a:lstStyle/>
          <a:p>
            <a:pPr marL="0" indent="0">
              <a:buNone/>
            </a:pPr>
            <a:r>
              <a:rPr lang="fr-CH" sz="2400" b="1" noProof="0" dirty="0">
                <a:solidFill>
                  <a:srgbClr val="1428A0"/>
                </a:solidFill>
                <a:latin typeface="Arial" pitchFamily="34" charset="0"/>
                <a:ea typeface="Arial" pitchFamily="34" charset="-122"/>
                <a:cs typeface="Arial" pitchFamily="34" charset="-120"/>
              </a:rPr>
              <a:t>ESS : l’outil de compilation des données</a:t>
            </a:r>
            <a:endParaRPr lang="fr-CH" sz="2400" noProof="0" dirty="0"/>
          </a:p>
        </p:txBody>
      </p:sp>
      <p:sp>
        <p:nvSpPr>
          <p:cNvPr id="4" name="Text 2"/>
          <p:cNvSpPr/>
          <p:nvPr/>
        </p:nvSpPr>
        <p:spPr>
          <a:xfrm>
            <a:off x="612648" y="219456"/>
            <a:ext cx="6858000" cy="155448"/>
          </a:xfrm>
          <a:prstGeom prst="rect">
            <a:avLst/>
          </a:prstGeom>
          <a:noFill/>
          <a:ln/>
        </p:spPr>
        <p:txBody>
          <a:bodyPr wrap="square" rtlCol="0" anchor="ctr"/>
          <a:lstStyle/>
          <a:p>
            <a:pPr marL="0" indent="0">
              <a:buNone/>
            </a:pPr>
            <a:r>
              <a:rPr lang="fr-CH" sz="730" noProof="0" dirty="0">
                <a:solidFill>
                  <a:srgbClr val="586069"/>
                </a:solidFill>
              </a:rPr>
              <a:t>OUTIL</a:t>
            </a:r>
            <a:endParaRPr lang="fr-CH" sz="730" noProof="0" dirty="0"/>
          </a:p>
        </p:txBody>
      </p:sp>
      <p:sp>
        <p:nvSpPr>
          <p:cNvPr id="6" name="Shape 3"/>
          <p:cNvSpPr/>
          <p:nvPr/>
        </p:nvSpPr>
        <p:spPr>
          <a:xfrm>
            <a:off x="594360" y="987552"/>
            <a:ext cx="10972800" cy="0"/>
          </a:xfrm>
          <a:prstGeom prst="line">
            <a:avLst/>
          </a:prstGeom>
          <a:noFill/>
          <a:ln w="12700">
            <a:solidFill>
              <a:srgbClr val="D9E1F2"/>
            </a:solidFill>
            <a:prstDash val="solid"/>
          </a:ln>
        </p:spPr>
        <p:txBody>
          <a:bodyPr/>
          <a:lstStyle/>
          <a:p>
            <a:endParaRPr lang="fr-CH" noProof="0" dirty="0"/>
          </a:p>
        </p:txBody>
      </p:sp>
      <p:sp>
        <p:nvSpPr>
          <p:cNvPr id="7" name="Text 4"/>
          <p:cNvSpPr/>
          <p:nvPr/>
        </p:nvSpPr>
        <p:spPr>
          <a:xfrm>
            <a:off x="594360" y="6510528"/>
            <a:ext cx="6583680" cy="164592"/>
          </a:xfrm>
          <a:prstGeom prst="rect">
            <a:avLst/>
          </a:prstGeom>
          <a:noFill/>
          <a:ln/>
        </p:spPr>
        <p:txBody>
          <a:bodyPr wrap="square" rtlCol="0" anchor="ctr"/>
          <a:lstStyle/>
          <a:p>
            <a:pPr marL="0" indent="0">
              <a:buNone/>
            </a:pPr>
            <a:r>
              <a:rPr lang="fr-CH" sz="750" noProof="0" dirty="0">
                <a:solidFill>
                  <a:srgbClr val="586069"/>
                </a:solidFill>
                <a:latin typeface="Arial" pitchFamily="34" charset="0"/>
                <a:ea typeface="Arial" pitchFamily="34" charset="-122"/>
                <a:cs typeface="Arial" pitchFamily="34" charset="-120"/>
              </a:rPr>
              <a:t>Faire avancer la justice sociale, promouvoir le travail décent</a:t>
            </a:r>
            <a:endParaRPr lang="fr-CH" sz="750" noProof="0" dirty="0"/>
          </a:p>
        </p:txBody>
      </p:sp>
      <p:sp>
        <p:nvSpPr>
          <p:cNvPr id="8" name="Text 5"/>
          <p:cNvSpPr/>
          <p:nvPr/>
        </p:nvSpPr>
        <p:spPr>
          <a:xfrm>
            <a:off x="7543800" y="6510528"/>
            <a:ext cx="3017520" cy="164592"/>
          </a:xfrm>
          <a:prstGeom prst="rect">
            <a:avLst/>
          </a:prstGeom>
          <a:noFill/>
          <a:ln/>
        </p:spPr>
        <p:txBody>
          <a:bodyPr wrap="square" rtlCol="0" anchor="ctr"/>
          <a:lstStyle/>
          <a:p>
            <a:pPr marL="0" indent="0" algn="r">
              <a:buNone/>
            </a:pPr>
            <a:r>
              <a:rPr lang="fr-CH" sz="730" noProof="0" dirty="0">
                <a:solidFill>
                  <a:srgbClr val="586069"/>
                </a:solidFill>
                <a:latin typeface="Arial" pitchFamily="34" charset="0"/>
                <a:ea typeface="Arial" pitchFamily="34" charset="-122"/>
                <a:cs typeface="Arial" pitchFamily="34" charset="-120"/>
              </a:rPr>
              <a:t>Atelier 2e Bulletin Statistique RDC | 14 mai 2026</a:t>
            </a:r>
            <a:endParaRPr lang="fr-CH" sz="730" noProof="0" dirty="0"/>
          </a:p>
        </p:txBody>
      </p:sp>
      <p:sp>
        <p:nvSpPr>
          <p:cNvPr id="9" name="Text 6"/>
          <p:cNvSpPr/>
          <p:nvPr/>
        </p:nvSpPr>
        <p:spPr>
          <a:xfrm>
            <a:off x="11292840" y="6473952"/>
            <a:ext cx="411480" cy="201168"/>
          </a:xfrm>
          <a:prstGeom prst="rect">
            <a:avLst/>
          </a:prstGeom>
          <a:noFill/>
          <a:ln/>
        </p:spPr>
        <p:txBody>
          <a:bodyPr wrap="square" lIns="27432" tIns="18288" rIns="27432" bIns="18288" rtlCol="0" anchor="ctr"/>
          <a:lstStyle/>
          <a:p>
            <a:pPr marL="0" indent="0" algn="r">
              <a:buNone/>
            </a:pPr>
            <a:r>
              <a:rPr lang="fr-CH" sz="850" b="0" noProof="0" dirty="0">
                <a:solidFill>
                  <a:srgbClr val="505050"/>
                </a:solidFill>
                <a:latin typeface="Arial"/>
              </a:rPr>
              <a:t>16</a:t>
            </a:r>
            <a:endParaRPr lang="fr-CH" sz="750" noProof="0" dirty="0"/>
          </a:p>
        </p:txBody>
      </p:sp>
      <p:sp>
        <p:nvSpPr>
          <p:cNvPr id="10" name="Text 7"/>
          <p:cNvSpPr/>
          <p:nvPr/>
        </p:nvSpPr>
        <p:spPr>
          <a:xfrm>
            <a:off x="777240" y="1234440"/>
            <a:ext cx="10607040" cy="365760"/>
          </a:xfrm>
          <a:prstGeom prst="rect">
            <a:avLst/>
          </a:prstGeom>
          <a:noFill/>
          <a:ln/>
        </p:spPr>
        <p:txBody>
          <a:bodyPr wrap="square" rtlCol="0" anchor="ctr"/>
          <a:lstStyle/>
          <a:p>
            <a:pPr marL="0" indent="0">
              <a:buNone/>
            </a:pPr>
            <a:r>
              <a:rPr lang="fr-CH" sz="1500" b="1" noProof="0" dirty="0">
                <a:solidFill>
                  <a:srgbClr val="1F2933"/>
                </a:solidFill>
              </a:rPr>
              <a:t>L’Enquête de Sécurité Sociale (ESS) permet de compiler les données nécessaires :</a:t>
            </a:r>
            <a:endParaRPr lang="fr-CH" sz="1500" noProof="0" dirty="0"/>
          </a:p>
        </p:txBody>
      </p:sp>
      <p:sp>
        <p:nvSpPr>
          <p:cNvPr id="12" name="Text 9"/>
          <p:cNvSpPr/>
          <p:nvPr/>
        </p:nvSpPr>
        <p:spPr>
          <a:xfrm>
            <a:off x="1280160" y="1938527"/>
            <a:ext cx="9966960" cy="1591055"/>
          </a:xfrm>
          <a:prstGeom prst="rect">
            <a:avLst/>
          </a:prstGeom>
          <a:noFill/>
          <a:ln/>
        </p:spPr>
        <p:txBody>
          <a:bodyPr wrap="square" lIns="127" tIns="127" rIns="127" bIns="127" rtlCol="0" anchor="ctr">
            <a:normAutofit fontScale="92500"/>
          </a:bodyPr>
          <a:lstStyle/>
          <a:p>
            <a:pPr marL="285750" indent="-285750">
              <a:lnSpc>
                <a:spcPct val="200000"/>
              </a:lnSpc>
              <a:buClr>
                <a:srgbClr val="1E2DBE"/>
              </a:buClr>
              <a:buSzPct val="150000"/>
              <a:buFont typeface="Wingdings" panose="05000000000000000000" pitchFamily="2" charset="2"/>
              <a:buChar char="§"/>
            </a:pPr>
            <a:r>
              <a:rPr lang="fr-CH" sz="1400" noProof="0" dirty="0">
                <a:solidFill>
                  <a:srgbClr val="1F2933"/>
                </a:solidFill>
              </a:rPr>
              <a:t>au Bulletin statistique national ; </a:t>
            </a:r>
          </a:p>
          <a:p>
            <a:pPr marL="285750" indent="-285750">
              <a:lnSpc>
                <a:spcPct val="200000"/>
              </a:lnSpc>
              <a:buClr>
                <a:srgbClr val="1E2DBE"/>
              </a:buClr>
              <a:buSzPct val="150000"/>
              <a:buFont typeface="Wingdings" panose="05000000000000000000" pitchFamily="2" charset="2"/>
              <a:buChar char="§"/>
            </a:pPr>
            <a:r>
              <a:rPr lang="fr-CH" sz="1400" dirty="0">
                <a:solidFill>
                  <a:srgbClr val="1F2933"/>
                </a:solidFill>
              </a:rPr>
              <a:t>au suivi des indicateurs ODD 1.3.1</a:t>
            </a:r>
          </a:p>
          <a:p>
            <a:pPr marL="285750" indent="-285750">
              <a:lnSpc>
                <a:spcPct val="200000"/>
              </a:lnSpc>
              <a:buClr>
                <a:srgbClr val="1E2DBE"/>
              </a:buClr>
              <a:buSzPct val="150000"/>
              <a:buFont typeface="Wingdings" panose="05000000000000000000" pitchFamily="2" charset="2"/>
              <a:buChar char="§"/>
            </a:pPr>
            <a:r>
              <a:rPr lang="fr-CH" sz="1400" dirty="0">
                <a:solidFill>
                  <a:srgbClr val="1F2933"/>
                </a:solidFill>
              </a:rPr>
              <a:t>au Rapport mondial sur la protection sociale de l’OIT</a:t>
            </a:r>
          </a:p>
          <a:p>
            <a:pPr marL="285750" indent="-285750">
              <a:lnSpc>
                <a:spcPct val="200000"/>
              </a:lnSpc>
              <a:buClr>
                <a:srgbClr val="1E2DBE"/>
              </a:buClr>
              <a:buSzPct val="150000"/>
              <a:buFont typeface="Wingdings" panose="05000000000000000000" pitchFamily="2" charset="2"/>
              <a:buChar char="§"/>
            </a:pPr>
            <a:r>
              <a:rPr lang="fr-CH" sz="1400" dirty="0">
                <a:solidFill>
                  <a:srgbClr val="1F2933"/>
                </a:solidFill>
              </a:rPr>
              <a:t>à l’analyse des régimes, prestations, bénéficiaires, cotisants, recettes et dépenses.</a:t>
            </a:r>
            <a:endParaRPr lang="fr-CH" sz="1400" dirty="0"/>
          </a:p>
          <a:p>
            <a:endParaRPr lang="fr-CH" sz="1400" noProof="0" dirty="0"/>
          </a:p>
        </p:txBody>
      </p:sp>
      <p:sp>
        <p:nvSpPr>
          <p:cNvPr id="18" name="Text 15"/>
          <p:cNvSpPr/>
          <p:nvPr/>
        </p:nvSpPr>
        <p:spPr>
          <a:xfrm>
            <a:off x="1280160" y="3447288"/>
            <a:ext cx="9966960" cy="228600"/>
          </a:xfrm>
          <a:prstGeom prst="rect">
            <a:avLst/>
          </a:prstGeom>
          <a:noFill/>
          <a:ln/>
        </p:spPr>
        <p:txBody>
          <a:bodyPr wrap="square" lIns="127" tIns="127" rIns="127" bIns="127" rtlCol="0" anchor="ctr">
            <a:normAutofit/>
          </a:bodyPr>
          <a:lstStyle/>
          <a:p>
            <a:pPr marL="0" indent="0">
              <a:buNone/>
            </a:pPr>
            <a:endParaRPr lang="fr-CH" sz="1400" noProof="0" dirty="0"/>
          </a:p>
        </p:txBody>
      </p:sp>
      <p:sp>
        <p:nvSpPr>
          <p:cNvPr id="19" name="Shape 16"/>
          <p:cNvSpPr/>
          <p:nvPr/>
        </p:nvSpPr>
        <p:spPr>
          <a:xfrm>
            <a:off x="1051560" y="4754879"/>
            <a:ext cx="9966960" cy="1143000"/>
          </a:xfrm>
          <a:prstGeom prst="roundRect">
            <a:avLst/>
          </a:prstGeom>
          <a:solidFill>
            <a:srgbClr val="EAF0FA"/>
          </a:solidFill>
          <a:ln w="12700">
            <a:solidFill>
              <a:srgbClr val="BFD0F0"/>
            </a:solidFill>
            <a:prstDash val="solid"/>
          </a:ln>
        </p:spPr>
        <p:txBody>
          <a:bodyPr/>
          <a:lstStyle/>
          <a:p>
            <a:endParaRPr lang="fr-CH" noProof="0" dirty="0"/>
          </a:p>
        </p:txBody>
      </p:sp>
      <p:sp>
        <p:nvSpPr>
          <p:cNvPr id="20" name="Text 17"/>
          <p:cNvSpPr/>
          <p:nvPr/>
        </p:nvSpPr>
        <p:spPr>
          <a:xfrm>
            <a:off x="1280160" y="5193792"/>
            <a:ext cx="9509760" cy="182880"/>
          </a:xfrm>
          <a:prstGeom prst="rect">
            <a:avLst/>
          </a:prstGeom>
          <a:noFill/>
          <a:ln/>
        </p:spPr>
        <p:txBody>
          <a:bodyPr wrap="square" rtlCol="0" anchor="ctr"/>
          <a:lstStyle/>
          <a:p>
            <a:pPr marL="0" indent="0">
              <a:buNone/>
            </a:pPr>
            <a:r>
              <a:rPr lang="fr-CH" sz="1400" b="1" noProof="0" dirty="0">
                <a:solidFill>
                  <a:srgbClr val="1428A0"/>
                </a:solidFill>
              </a:rPr>
              <a:t>L’ESS est un outil de compilation de données administrative : ce n’est pas une enquête auprès des ménages, ni une base de donnée. </a:t>
            </a:r>
          </a:p>
          <a:p>
            <a:pPr marL="0" indent="0">
              <a:buNone/>
            </a:pPr>
            <a:endParaRPr lang="fr-CH" sz="1400" b="1" noProof="0" dirty="0">
              <a:solidFill>
                <a:srgbClr val="1428A0"/>
              </a:solidFill>
            </a:endParaRPr>
          </a:p>
          <a:p>
            <a:pPr marL="0" indent="0">
              <a:buNone/>
            </a:pPr>
            <a:r>
              <a:rPr lang="fr-CH" sz="1400" b="1" noProof="0" dirty="0">
                <a:solidFill>
                  <a:srgbClr val="1428A0"/>
                </a:solidFill>
              </a:rPr>
              <a:t>L’ESS existe en temps que fichier Excel et sur la plateforme en ligne.</a:t>
            </a:r>
            <a:endParaRPr lang="fr-CH" sz="1400" noProof="0" dirty="0"/>
          </a:p>
        </p:txBody>
      </p:sp>
      <p:pic>
        <p:nvPicPr>
          <p:cNvPr id="11" name="Image 0" descr="/mnt/data/ref_unzip/ppt/media/image1.png">
            <a:extLst>
              <a:ext uri="{FF2B5EF4-FFF2-40B4-BE49-F238E27FC236}">
                <a16:creationId xmlns:a16="http://schemas.microsoft.com/office/drawing/2014/main" id="{AA970B26-AC84-A6AC-132A-AD1A2F0AB54C}"/>
              </a:ext>
            </a:extLst>
          </p:cNvPr>
          <p:cNvPicPr>
            <a:picLocks noChangeAspect="1"/>
          </p:cNvPicPr>
          <p:nvPr/>
        </p:nvPicPr>
        <p:blipFill>
          <a:blip r:embed="rId3"/>
          <a:stretch>
            <a:fillRect/>
          </a:stretch>
        </p:blipFill>
        <p:spPr>
          <a:xfrm>
            <a:off x="10088880" y="357645"/>
            <a:ext cx="1508760" cy="520522"/>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428A0"/>
          </a:solidFill>
          <a:ln w="12700">
            <a:solidFill>
              <a:srgbClr val="1428A0"/>
            </a:solidFill>
            <a:prstDash val="solid"/>
          </a:ln>
        </p:spPr>
        <p:txBody>
          <a:bodyPr/>
          <a:lstStyle/>
          <a:p>
            <a:endParaRPr lang="fr-CH" noProof="0" dirty="0"/>
          </a:p>
        </p:txBody>
      </p:sp>
      <p:sp>
        <p:nvSpPr>
          <p:cNvPr id="3" name="Text 1"/>
          <p:cNvSpPr/>
          <p:nvPr/>
        </p:nvSpPr>
        <p:spPr>
          <a:xfrm>
            <a:off x="594360" y="420624"/>
            <a:ext cx="8686800" cy="411480"/>
          </a:xfrm>
          <a:prstGeom prst="rect">
            <a:avLst/>
          </a:prstGeom>
          <a:noFill/>
          <a:ln/>
        </p:spPr>
        <p:txBody>
          <a:bodyPr wrap="square" rtlCol="0" anchor="ctr">
            <a:normAutofit fontScale="92500" lnSpcReduction="10000"/>
          </a:bodyPr>
          <a:lstStyle/>
          <a:p>
            <a:pPr marL="0" indent="0">
              <a:buNone/>
            </a:pPr>
            <a:r>
              <a:rPr lang="fr-CH" sz="2400" b="1" noProof="0" dirty="0">
                <a:solidFill>
                  <a:srgbClr val="1428A0"/>
                </a:solidFill>
                <a:latin typeface="Arial" pitchFamily="34" charset="0"/>
                <a:ea typeface="Arial" pitchFamily="34" charset="-122"/>
                <a:cs typeface="Arial" pitchFamily="34" charset="-120"/>
              </a:rPr>
              <a:t>Ce que l’ESS demande aux institutions</a:t>
            </a:r>
            <a:endParaRPr lang="fr-CH" sz="2400" noProof="0" dirty="0"/>
          </a:p>
        </p:txBody>
      </p:sp>
      <p:sp>
        <p:nvSpPr>
          <p:cNvPr id="4" name="Text 2"/>
          <p:cNvSpPr/>
          <p:nvPr/>
        </p:nvSpPr>
        <p:spPr>
          <a:xfrm>
            <a:off x="612648" y="219456"/>
            <a:ext cx="6858000" cy="155448"/>
          </a:xfrm>
          <a:prstGeom prst="rect">
            <a:avLst/>
          </a:prstGeom>
          <a:noFill/>
          <a:ln/>
        </p:spPr>
        <p:txBody>
          <a:bodyPr wrap="square" rtlCol="0" anchor="ctr"/>
          <a:lstStyle/>
          <a:p>
            <a:pPr marL="0" indent="0">
              <a:buNone/>
            </a:pPr>
            <a:r>
              <a:rPr lang="fr-CH" sz="730" noProof="0" dirty="0">
                <a:solidFill>
                  <a:srgbClr val="586069"/>
                </a:solidFill>
              </a:rPr>
              <a:t>OUTIL</a:t>
            </a:r>
            <a:endParaRPr lang="fr-CH" sz="730" noProof="0" dirty="0"/>
          </a:p>
        </p:txBody>
      </p:sp>
      <p:sp>
        <p:nvSpPr>
          <p:cNvPr id="6" name="Shape 3"/>
          <p:cNvSpPr/>
          <p:nvPr/>
        </p:nvSpPr>
        <p:spPr>
          <a:xfrm>
            <a:off x="594360" y="987552"/>
            <a:ext cx="10972800" cy="0"/>
          </a:xfrm>
          <a:prstGeom prst="line">
            <a:avLst/>
          </a:prstGeom>
          <a:noFill/>
          <a:ln w="12700">
            <a:solidFill>
              <a:srgbClr val="D9E1F2"/>
            </a:solidFill>
            <a:prstDash val="solid"/>
          </a:ln>
        </p:spPr>
        <p:txBody>
          <a:bodyPr/>
          <a:lstStyle/>
          <a:p>
            <a:endParaRPr lang="fr-CH" noProof="0" dirty="0"/>
          </a:p>
        </p:txBody>
      </p:sp>
      <p:sp>
        <p:nvSpPr>
          <p:cNvPr id="7" name="Text 4"/>
          <p:cNvSpPr/>
          <p:nvPr/>
        </p:nvSpPr>
        <p:spPr>
          <a:xfrm>
            <a:off x="594360" y="6510528"/>
            <a:ext cx="6583680" cy="164592"/>
          </a:xfrm>
          <a:prstGeom prst="rect">
            <a:avLst/>
          </a:prstGeom>
          <a:noFill/>
          <a:ln/>
        </p:spPr>
        <p:txBody>
          <a:bodyPr wrap="square" rtlCol="0" anchor="ctr"/>
          <a:lstStyle/>
          <a:p>
            <a:pPr marL="0" indent="0">
              <a:buNone/>
            </a:pPr>
            <a:r>
              <a:rPr lang="fr-CH" sz="750" noProof="0" dirty="0">
                <a:solidFill>
                  <a:srgbClr val="586069"/>
                </a:solidFill>
                <a:latin typeface="Arial" pitchFamily="34" charset="0"/>
                <a:ea typeface="Arial" pitchFamily="34" charset="-122"/>
                <a:cs typeface="Arial" pitchFamily="34" charset="-120"/>
              </a:rPr>
              <a:t>Faire avancer la justice sociale, promouvoir le travail décent</a:t>
            </a:r>
            <a:endParaRPr lang="fr-CH" sz="750" noProof="0" dirty="0"/>
          </a:p>
        </p:txBody>
      </p:sp>
      <p:sp>
        <p:nvSpPr>
          <p:cNvPr id="8" name="Text 5"/>
          <p:cNvSpPr/>
          <p:nvPr/>
        </p:nvSpPr>
        <p:spPr>
          <a:xfrm>
            <a:off x="7543800" y="6510528"/>
            <a:ext cx="3017520" cy="164592"/>
          </a:xfrm>
          <a:prstGeom prst="rect">
            <a:avLst/>
          </a:prstGeom>
          <a:noFill/>
          <a:ln/>
        </p:spPr>
        <p:txBody>
          <a:bodyPr wrap="square" rtlCol="0" anchor="ctr"/>
          <a:lstStyle/>
          <a:p>
            <a:pPr marL="0" indent="0" algn="r">
              <a:buNone/>
            </a:pPr>
            <a:r>
              <a:rPr lang="fr-CH" sz="730" noProof="0" dirty="0">
                <a:solidFill>
                  <a:srgbClr val="586069"/>
                </a:solidFill>
                <a:latin typeface="Arial" pitchFamily="34" charset="0"/>
                <a:ea typeface="Arial" pitchFamily="34" charset="-122"/>
                <a:cs typeface="Arial" pitchFamily="34" charset="-120"/>
              </a:rPr>
              <a:t>Atelier 2e Bulletin Statistique RDC | 14 mai 2026</a:t>
            </a:r>
            <a:endParaRPr lang="fr-CH" sz="730" noProof="0" dirty="0"/>
          </a:p>
        </p:txBody>
      </p:sp>
      <p:sp>
        <p:nvSpPr>
          <p:cNvPr id="9" name="Text 6"/>
          <p:cNvSpPr/>
          <p:nvPr/>
        </p:nvSpPr>
        <p:spPr>
          <a:xfrm>
            <a:off x="11292840" y="6473952"/>
            <a:ext cx="411480" cy="201168"/>
          </a:xfrm>
          <a:prstGeom prst="rect">
            <a:avLst/>
          </a:prstGeom>
          <a:noFill/>
          <a:ln/>
        </p:spPr>
        <p:txBody>
          <a:bodyPr wrap="square" lIns="27432" tIns="18288" rIns="27432" bIns="18288" rtlCol="0" anchor="ctr"/>
          <a:lstStyle/>
          <a:p>
            <a:pPr marL="0" indent="0" algn="r">
              <a:buNone/>
            </a:pPr>
            <a:r>
              <a:rPr lang="fr-CH" sz="850" b="0" noProof="0" dirty="0">
                <a:solidFill>
                  <a:srgbClr val="505050"/>
                </a:solidFill>
                <a:latin typeface="Arial"/>
              </a:rPr>
              <a:t>17</a:t>
            </a:r>
            <a:endParaRPr lang="fr-CH" sz="750" noProof="0" dirty="0"/>
          </a:p>
        </p:txBody>
      </p:sp>
      <p:sp>
        <p:nvSpPr>
          <p:cNvPr id="10" name="Shape 7"/>
          <p:cNvSpPr/>
          <p:nvPr/>
        </p:nvSpPr>
        <p:spPr>
          <a:xfrm>
            <a:off x="777240" y="1417320"/>
            <a:ext cx="3474720" cy="1828800"/>
          </a:xfrm>
          <a:prstGeom prst="roundRect">
            <a:avLst>
              <a:gd name="adj" fmla="val 3500"/>
            </a:avLst>
          </a:prstGeom>
          <a:solidFill>
            <a:srgbClr val="FFFFFF"/>
          </a:solidFill>
          <a:ln w="12700">
            <a:solidFill>
              <a:srgbClr val="D1D8E8"/>
            </a:solidFill>
            <a:prstDash val="solid"/>
          </a:ln>
        </p:spPr>
        <p:txBody>
          <a:bodyPr/>
          <a:lstStyle/>
          <a:p>
            <a:endParaRPr lang="fr-CH" noProof="0" dirty="0"/>
          </a:p>
        </p:txBody>
      </p:sp>
      <p:sp>
        <p:nvSpPr>
          <p:cNvPr id="11" name="Shape 8"/>
          <p:cNvSpPr/>
          <p:nvPr/>
        </p:nvSpPr>
        <p:spPr>
          <a:xfrm>
            <a:off x="777240" y="1417320"/>
            <a:ext cx="73152" cy="1828800"/>
          </a:xfrm>
          <a:prstGeom prst="rect">
            <a:avLst/>
          </a:prstGeom>
          <a:solidFill>
            <a:srgbClr val="1428A0"/>
          </a:solidFill>
          <a:ln w="12700">
            <a:solidFill>
              <a:srgbClr val="1428A0"/>
            </a:solidFill>
            <a:prstDash val="solid"/>
          </a:ln>
        </p:spPr>
        <p:txBody>
          <a:bodyPr/>
          <a:lstStyle/>
          <a:p>
            <a:endParaRPr lang="fr-CH" noProof="0" dirty="0"/>
          </a:p>
        </p:txBody>
      </p:sp>
      <p:sp>
        <p:nvSpPr>
          <p:cNvPr id="12" name="Text 9"/>
          <p:cNvSpPr/>
          <p:nvPr/>
        </p:nvSpPr>
        <p:spPr>
          <a:xfrm>
            <a:off x="987552" y="1563624"/>
            <a:ext cx="3154680" cy="228600"/>
          </a:xfrm>
          <a:prstGeom prst="rect">
            <a:avLst/>
          </a:prstGeom>
          <a:noFill/>
          <a:ln/>
        </p:spPr>
        <p:txBody>
          <a:bodyPr wrap="square" rtlCol="0" anchor="ctr">
            <a:normAutofit fontScale="92500" lnSpcReduction="20000"/>
          </a:bodyPr>
          <a:lstStyle/>
          <a:p>
            <a:pPr marL="0" indent="0">
              <a:buNone/>
            </a:pPr>
            <a:r>
              <a:rPr lang="fr-CH" sz="1230" b="1" noProof="0" dirty="0">
                <a:solidFill>
                  <a:srgbClr val="1428A0"/>
                </a:solidFill>
              </a:rPr>
              <a:t>Données de couverture</a:t>
            </a:r>
            <a:endParaRPr lang="fr-CH" sz="1230" noProof="0" dirty="0"/>
          </a:p>
        </p:txBody>
      </p:sp>
      <p:sp>
        <p:nvSpPr>
          <p:cNvPr id="13" name="Shape 10"/>
          <p:cNvSpPr/>
          <p:nvPr/>
        </p:nvSpPr>
        <p:spPr>
          <a:xfrm>
            <a:off x="1005840" y="2039112"/>
            <a:ext cx="100584" cy="100584"/>
          </a:xfrm>
          <a:prstGeom prst="ellipse">
            <a:avLst/>
          </a:prstGeom>
          <a:solidFill>
            <a:srgbClr val="E21836"/>
          </a:solidFill>
          <a:ln w="12700">
            <a:solidFill>
              <a:srgbClr val="E21836"/>
            </a:solidFill>
            <a:prstDash val="solid"/>
          </a:ln>
        </p:spPr>
        <p:txBody>
          <a:bodyPr/>
          <a:lstStyle/>
          <a:p>
            <a:endParaRPr lang="fr-CH" noProof="0" dirty="0"/>
          </a:p>
        </p:txBody>
      </p:sp>
      <p:sp>
        <p:nvSpPr>
          <p:cNvPr id="14" name="Text 11"/>
          <p:cNvSpPr/>
          <p:nvPr/>
        </p:nvSpPr>
        <p:spPr>
          <a:xfrm>
            <a:off x="1234440" y="1984248"/>
            <a:ext cx="2971800" cy="228600"/>
          </a:xfrm>
          <a:prstGeom prst="rect">
            <a:avLst/>
          </a:prstGeom>
          <a:noFill/>
          <a:ln/>
        </p:spPr>
        <p:txBody>
          <a:bodyPr wrap="square" lIns="127" tIns="127" rIns="127" bIns="127" rtlCol="0" anchor="ctr">
            <a:normAutofit/>
          </a:bodyPr>
          <a:lstStyle/>
          <a:p>
            <a:pPr marL="0" indent="0">
              <a:buNone/>
            </a:pPr>
            <a:r>
              <a:rPr lang="fr-CH" sz="1040" noProof="0" dirty="0">
                <a:solidFill>
                  <a:srgbClr val="1F2933"/>
                </a:solidFill>
              </a:rPr>
              <a:t>Nombre de cotisants</a:t>
            </a:r>
            <a:endParaRPr lang="fr-CH" sz="1040" noProof="0" dirty="0"/>
          </a:p>
        </p:txBody>
      </p:sp>
      <p:sp>
        <p:nvSpPr>
          <p:cNvPr id="15" name="Shape 12"/>
          <p:cNvSpPr/>
          <p:nvPr/>
        </p:nvSpPr>
        <p:spPr>
          <a:xfrm>
            <a:off x="1005840" y="2304288"/>
            <a:ext cx="100584" cy="100584"/>
          </a:xfrm>
          <a:prstGeom prst="ellipse">
            <a:avLst/>
          </a:prstGeom>
          <a:solidFill>
            <a:srgbClr val="E21836"/>
          </a:solidFill>
          <a:ln w="12700">
            <a:solidFill>
              <a:srgbClr val="E21836"/>
            </a:solidFill>
            <a:prstDash val="solid"/>
          </a:ln>
        </p:spPr>
        <p:txBody>
          <a:bodyPr/>
          <a:lstStyle/>
          <a:p>
            <a:endParaRPr lang="fr-CH" noProof="0" dirty="0"/>
          </a:p>
        </p:txBody>
      </p:sp>
      <p:sp>
        <p:nvSpPr>
          <p:cNvPr id="16" name="Text 13"/>
          <p:cNvSpPr/>
          <p:nvPr/>
        </p:nvSpPr>
        <p:spPr>
          <a:xfrm>
            <a:off x="1234440" y="2249424"/>
            <a:ext cx="2971800" cy="228600"/>
          </a:xfrm>
          <a:prstGeom prst="rect">
            <a:avLst/>
          </a:prstGeom>
          <a:noFill/>
          <a:ln/>
        </p:spPr>
        <p:txBody>
          <a:bodyPr wrap="square" lIns="127" tIns="127" rIns="127" bIns="127" rtlCol="0" anchor="ctr">
            <a:normAutofit/>
          </a:bodyPr>
          <a:lstStyle/>
          <a:p>
            <a:pPr marL="0" indent="0">
              <a:buNone/>
            </a:pPr>
            <a:r>
              <a:rPr lang="fr-CH" sz="1040" noProof="0" dirty="0">
                <a:solidFill>
                  <a:srgbClr val="1F2933"/>
                </a:solidFill>
              </a:rPr>
              <a:t>Assurés ou affiliés</a:t>
            </a:r>
            <a:endParaRPr lang="fr-CH" sz="1040" noProof="0" dirty="0"/>
          </a:p>
        </p:txBody>
      </p:sp>
      <p:sp>
        <p:nvSpPr>
          <p:cNvPr id="17" name="Shape 14"/>
          <p:cNvSpPr/>
          <p:nvPr/>
        </p:nvSpPr>
        <p:spPr>
          <a:xfrm>
            <a:off x="1005840" y="2569464"/>
            <a:ext cx="100584" cy="100584"/>
          </a:xfrm>
          <a:prstGeom prst="ellipse">
            <a:avLst/>
          </a:prstGeom>
          <a:solidFill>
            <a:srgbClr val="E21836"/>
          </a:solidFill>
          <a:ln w="12700">
            <a:solidFill>
              <a:srgbClr val="E21836"/>
            </a:solidFill>
            <a:prstDash val="solid"/>
          </a:ln>
        </p:spPr>
        <p:txBody>
          <a:bodyPr/>
          <a:lstStyle/>
          <a:p>
            <a:endParaRPr lang="fr-CH" noProof="0" dirty="0"/>
          </a:p>
        </p:txBody>
      </p:sp>
      <p:sp>
        <p:nvSpPr>
          <p:cNvPr id="18" name="Text 15"/>
          <p:cNvSpPr/>
          <p:nvPr/>
        </p:nvSpPr>
        <p:spPr>
          <a:xfrm>
            <a:off x="1234440" y="2514600"/>
            <a:ext cx="2971800" cy="228600"/>
          </a:xfrm>
          <a:prstGeom prst="rect">
            <a:avLst/>
          </a:prstGeom>
          <a:noFill/>
          <a:ln/>
        </p:spPr>
        <p:txBody>
          <a:bodyPr wrap="square" lIns="127" tIns="127" rIns="127" bIns="127" rtlCol="0" anchor="ctr">
            <a:normAutofit/>
          </a:bodyPr>
          <a:lstStyle/>
          <a:p>
            <a:pPr marL="0" indent="0">
              <a:buNone/>
            </a:pPr>
            <a:r>
              <a:rPr lang="fr-CH" sz="1040" noProof="0" dirty="0">
                <a:solidFill>
                  <a:srgbClr val="1F2933"/>
                </a:solidFill>
              </a:rPr>
              <a:t>Bénéficiaires</a:t>
            </a:r>
            <a:endParaRPr lang="fr-CH" sz="1040" noProof="0" dirty="0"/>
          </a:p>
        </p:txBody>
      </p:sp>
      <p:sp>
        <p:nvSpPr>
          <p:cNvPr id="19" name="Shape 16"/>
          <p:cNvSpPr/>
          <p:nvPr/>
        </p:nvSpPr>
        <p:spPr>
          <a:xfrm>
            <a:off x="1005840" y="2834640"/>
            <a:ext cx="100584" cy="100584"/>
          </a:xfrm>
          <a:prstGeom prst="ellipse">
            <a:avLst/>
          </a:prstGeom>
          <a:solidFill>
            <a:srgbClr val="E21836"/>
          </a:solidFill>
          <a:ln w="12700">
            <a:solidFill>
              <a:srgbClr val="E21836"/>
            </a:solidFill>
            <a:prstDash val="solid"/>
          </a:ln>
        </p:spPr>
        <p:txBody>
          <a:bodyPr/>
          <a:lstStyle/>
          <a:p>
            <a:endParaRPr lang="fr-CH" noProof="0" dirty="0"/>
          </a:p>
        </p:txBody>
      </p:sp>
      <p:sp>
        <p:nvSpPr>
          <p:cNvPr id="20" name="Text 17"/>
          <p:cNvSpPr/>
          <p:nvPr/>
        </p:nvSpPr>
        <p:spPr>
          <a:xfrm>
            <a:off x="1234440" y="2779776"/>
            <a:ext cx="2971800" cy="228600"/>
          </a:xfrm>
          <a:prstGeom prst="rect">
            <a:avLst/>
          </a:prstGeom>
          <a:noFill/>
          <a:ln/>
        </p:spPr>
        <p:txBody>
          <a:bodyPr wrap="square" lIns="127" tIns="127" rIns="127" bIns="127" rtlCol="0" anchor="ctr">
            <a:normAutofit/>
          </a:bodyPr>
          <a:lstStyle/>
          <a:p>
            <a:pPr marL="0" indent="0">
              <a:buNone/>
            </a:pPr>
            <a:r>
              <a:rPr lang="fr-CH" sz="1040" noProof="0" dirty="0">
                <a:solidFill>
                  <a:srgbClr val="1F2933"/>
                </a:solidFill>
              </a:rPr>
              <a:t>Personnes protégées</a:t>
            </a:r>
            <a:endParaRPr lang="fr-CH" sz="1040" noProof="0" dirty="0"/>
          </a:p>
        </p:txBody>
      </p:sp>
      <p:sp>
        <p:nvSpPr>
          <p:cNvPr id="21" name="Shape 18"/>
          <p:cNvSpPr/>
          <p:nvPr/>
        </p:nvSpPr>
        <p:spPr>
          <a:xfrm>
            <a:off x="4389120" y="1417320"/>
            <a:ext cx="3474720" cy="1828800"/>
          </a:xfrm>
          <a:prstGeom prst="roundRect">
            <a:avLst>
              <a:gd name="adj" fmla="val 3500"/>
            </a:avLst>
          </a:prstGeom>
          <a:solidFill>
            <a:srgbClr val="FFFFFF"/>
          </a:solidFill>
          <a:ln w="12700">
            <a:solidFill>
              <a:srgbClr val="D1D8E8"/>
            </a:solidFill>
            <a:prstDash val="solid"/>
          </a:ln>
        </p:spPr>
        <p:txBody>
          <a:bodyPr/>
          <a:lstStyle/>
          <a:p>
            <a:endParaRPr lang="fr-CH" noProof="0" dirty="0"/>
          </a:p>
        </p:txBody>
      </p:sp>
      <p:sp>
        <p:nvSpPr>
          <p:cNvPr id="22" name="Shape 19"/>
          <p:cNvSpPr/>
          <p:nvPr/>
        </p:nvSpPr>
        <p:spPr>
          <a:xfrm>
            <a:off x="4389120" y="1417320"/>
            <a:ext cx="73152" cy="1828800"/>
          </a:xfrm>
          <a:prstGeom prst="rect">
            <a:avLst/>
          </a:prstGeom>
          <a:solidFill>
            <a:srgbClr val="1428A0"/>
          </a:solidFill>
          <a:ln w="12700">
            <a:solidFill>
              <a:srgbClr val="1428A0"/>
            </a:solidFill>
            <a:prstDash val="solid"/>
          </a:ln>
        </p:spPr>
        <p:txBody>
          <a:bodyPr/>
          <a:lstStyle/>
          <a:p>
            <a:endParaRPr lang="fr-CH" noProof="0" dirty="0"/>
          </a:p>
        </p:txBody>
      </p:sp>
      <p:sp>
        <p:nvSpPr>
          <p:cNvPr id="23" name="Text 20"/>
          <p:cNvSpPr/>
          <p:nvPr/>
        </p:nvSpPr>
        <p:spPr>
          <a:xfrm>
            <a:off x="4599432" y="1563624"/>
            <a:ext cx="3154680" cy="228600"/>
          </a:xfrm>
          <a:prstGeom prst="rect">
            <a:avLst/>
          </a:prstGeom>
          <a:noFill/>
          <a:ln/>
        </p:spPr>
        <p:txBody>
          <a:bodyPr wrap="square" rtlCol="0" anchor="ctr">
            <a:normAutofit fontScale="92500" lnSpcReduction="20000"/>
          </a:bodyPr>
          <a:lstStyle/>
          <a:p>
            <a:pPr marL="0" indent="0">
              <a:buNone/>
            </a:pPr>
            <a:r>
              <a:rPr lang="fr-CH" sz="1230" b="1" noProof="0" dirty="0">
                <a:solidFill>
                  <a:srgbClr val="1428A0"/>
                </a:solidFill>
              </a:rPr>
              <a:t>Données sur les prestations</a:t>
            </a:r>
            <a:endParaRPr lang="fr-CH" sz="1230" noProof="0" dirty="0"/>
          </a:p>
        </p:txBody>
      </p:sp>
      <p:sp>
        <p:nvSpPr>
          <p:cNvPr id="24" name="Shape 21"/>
          <p:cNvSpPr/>
          <p:nvPr/>
        </p:nvSpPr>
        <p:spPr>
          <a:xfrm>
            <a:off x="4617720" y="2039112"/>
            <a:ext cx="100584" cy="100584"/>
          </a:xfrm>
          <a:prstGeom prst="ellipse">
            <a:avLst/>
          </a:prstGeom>
          <a:solidFill>
            <a:srgbClr val="E21836"/>
          </a:solidFill>
          <a:ln w="12700">
            <a:solidFill>
              <a:srgbClr val="E21836"/>
            </a:solidFill>
            <a:prstDash val="solid"/>
          </a:ln>
        </p:spPr>
        <p:txBody>
          <a:bodyPr/>
          <a:lstStyle/>
          <a:p>
            <a:endParaRPr lang="fr-CH" noProof="0" dirty="0"/>
          </a:p>
        </p:txBody>
      </p:sp>
      <p:sp>
        <p:nvSpPr>
          <p:cNvPr id="25" name="Text 22"/>
          <p:cNvSpPr/>
          <p:nvPr/>
        </p:nvSpPr>
        <p:spPr>
          <a:xfrm>
            <a:off x="4846320" y="1984248"/>
            <a:ext cx="2971800" cy="228600"/>
          </a:xfrm>
          <a:prstGeom prst="rect">
            <a:avLst/>
          </a:prstGeom>
          <a:noFill/>
          <a:ln/>
        </p:spPr>
        <p:txBody>
          <a:bodyPr wrap="square" lIns="127" tIns="127" rIns="127" bIns="127" rtlCol="0" anchor="ctr">
            <a:normAutofit/>
          </a:bodyPr>
          <a:lstStyle/>
          <a:p>
            <a:pPr marL="0" indent="0">
              <a:buNone/>
            </a:pPr>
            <a:r>
              <a:rPr lang="fr-CH" sz="1040" noProof="0" dirty="0">
                <a:solidFill>
                  <a:srgbClr val="1F2933"/>
                </a:solidFill>
              </a:rPr>
              <a:t>Prestations servies</a:t>
            </a:r>
            <a:endParaRPr lang="fr-CH" sz="1040" noProof="0" dirty="0"/>
          </a:p>
        </p:txBody>
      </p:sp>
      <p:sp>
        <p:nvSpPr>
          <p:cNvPr id="26" name="Shape 23"/>
          <p:cNvSpPr/>
          <p:nvPr/>
        </p:nvSpPr>
        <p:spPr>
          <a:xfrm>
            <a:off x="4617720" y="2304288"/>
            <a:ext cx="100584" cy="100584"/>
          </a:xfrm>
          <a:prstGeom prst="ellipse">
            <a:avLst/>
          </a:prstGeom>
          <a:solidFill>
            <a:srgbClr val="E21836"/>
          </a:solidFill>
          <a:ln w="12700">
            <a:solidFill>
              <a:srgbClr val="E21836"/>
            </a:solidFill>
            <a:prstDash val="solid"/>
          </a:ln>
        </p:spPr>
        <p:txBody>
          <a:bodyPr/>
          <a:lstStyle/>
          <a:p>
            <a:endParaRPr lang="fr-CH" noProof="0" dirty="0"/>
          </a:p>
        </p:txBody>
      </p:sp>
      <p:sp>
        <p:nvSpPr>
          <p:cNvPr id="27" name="Text 24"/>
          <p:cNvSpPr/>
          <p:nvPr/>
        </p:nvSpPr>
        <p:spPr>
          <a:xfrm>
            <a:off x="4846320" y="2249424"/>
            <a:ext cx="2971800" cy="228600"/>
          </a:xfrm>
          <a:prstGeom prst="rect">
            <a:avLst/>
          </a:prstGeom>
          <a:noFill/>
          <a:ln/>
        </p:spPr>
        <p:txBody>
          <a:bodyPr wrap="square" lIns="127" tIns="127" rIns="127" bIns="127" rtlCol="0" anchor="ctr">
            <a:normAutofit/>
          </a:bodyPr>
          <a:lstStyle/>
          <a:p>
            <a:pPr marL="0" indent="0">
              <a:buNone/>
            </a:pPr>
            <a:r>
              <a:rPr lang="fr-CH" sz="1040" noProof="0" dirty="0">
                <a:solidFill>
                  <a:srgbClr val="1F2933"/>
                </a:solidFill>
              </a:rPr>
              <a:t>Critères d’éligibilité</a:t>
            </a:r>
            <a:endParaRPr lang="fr-CH" sz="1040" noProof="0" dirty="0"/>
          </a:p>
        </p:txBody>
      </p:sp>
      <p:sp>
        <p:nvSpPr>
          <p:cNvPr id="28" name="Shape 25"/>
          <p:cNvSpPr/>
          <p:nvPr/>
        </p:nvSpPr>
        <p:spPr>
          <a:xfrm>
            <a:off x="4617720" y="2569464"/>
            <a:ext cx="100584" cy="100584"/>
          </a:xfrm>
          <a:prstGeom prst="ellipse">
            <a:avLst/>
          </a:prstGeom>
          <a:solidFill>
            <a:srgbClr val="E21836"/>
          </a:solidFill>
          <a:ln w="12700">
            <a:solidFill>
              <a:srgbClr val="E21836"/>
            </a:solidFill>
            <a:prstDash val="solid"/>
          </a:ln>
        </p:spPr>
        <p:txBody>
          <a:bodyPr/>
          <a:lstStyle/>
          <a:p>
            <a:endParaRPr lang="fr-CH" noProof="0" dirty="0"/>
          </a:p>
        </p:txBody>
      </p:sp>
      <p:sp>
        <p:nvSpPr>
          <p:cNvPr id="29" name="Text 26"/>
          <p:cNvSpPr/>
          <p:nvPr/>
        </p:nvSpPr>
        <p:spPr>
          <a:xfrm>
            <a:off x="4846320" y="2514600"/>
            <a:ext cx="2971800" cy="228600"/>
          </a:xfrm>
          <a:prstGeom prst="rect">
            <a:avLst/>
          </a:prstGeom>
          <a:noFill/>
          <a:ln/>
        </p:spPr>
        <p:txBody>
          <a:bodyPr wrap="square" lIns="127" tIns="127" rIns="127" bIns="127" rtlCol="0" anchor="ctr">
            <a:normAutofit/>
          </a:bodyPr>
          <a:lstStyle/>
          <a:p>
            <a:pPr marL="0" indent="0">
              <a:buNone/>
            </a:pPr>
            <a:r>
              <a:rPr lang="fr-CH" sz="1040" noProof="0" dirty="0">
                <a:solidFill>
                  <a:srgbClr val="1F2933"/>
                </a:solidFill>
              </a:rPr>
              <a:t>Période de référence</a:t>
            </a:r>
            <a:endParaRPr lang="fr-CH" sz="1040" noProof="0" dirty="0"/>
          </a:p>
        </p:txBody>
      </p:sp>
      <p:sp>
        <p:nvSpPr>
          <p:cNvPr id="30" name="Shape 27"/>
          <p:cNvSpPr/>
          <p:nvPr/>
        </p:nvSpPr>
        <p:spPr>
          <a:xfrm>
            <a:off x="4617720" y="2834640"/>
            <a:ext cx="100584" cy="100584"/>
          </a:xfrm>
          <a:prstGeom prst="ellipse">
            <a:avLst/>
          </a:prstGeom>
          <a:solidFill>
            <a:srgbClr val="E21836"/>
          </a:solidFill>
          <a:ln w="12700">
            <a:solidFill>
              <a:srgbClr val="E21836"/>
            </a:solidFill>
            <a:prstDash val="solid"/>
          </a:ln>
        </p:spPr>
        <p:txBody>
          <a:bodyPr/>
          <a:lstStyle/>
          <a:p>
            <a:endParaRPr lang="fr-CH" noProof="0" dirty="0"/>
          </a:p>
        </p:txBody>
      </p:sp>
      <p:sp>
        <p:nvSpPr>
          <p:cNvPr id="31" name="Text 28"/>
          <p:cNvSpPr/>
          <p:nvPr/>
        </p:nvSpPr>
        <p:spPr>
          <a:xfrm>
            <a:off x="4846320" y="2779776"/>
            <a:ext cx="2971800" cy="228600"/>
          </a:xfrm>
          <a:prstGeom prst="rect">
            <a:avLst/>
          </a:prstGeom>
          <a:noFill/>
          <a:ln/>
        </p:spPr>
        <p:txBody>
          <a:bodyPr wrap="square" lIns="127" tIns="127" rIns="127" bIns="127" rtlCol="0" anchor="ctr">
            <a:normAutofit/>
          </a:bodyPr>
          <a:lstStyle/>
          <a:p>
            <a:pPr marL="0" indent="0">
              <a:buNone/>
            </a:pPr>
            <a:r>
              <a:rPr lang="fr-CH" sz="1040" noProof="0" dirty="0">
                <a:solidFill>
                  <a:srgbClr val="1F2933"/>
                </a:solidFill>
              </a:rPr>
              <a:t>Unités de comptage</a:t>
            </a:r>
            <a:endParaRPr lang="fr-CH" sz="1040" noProof="0" dirty="0"/>
          </a:p>
        </p:txBody>
      </p:sp>
      <p:sp>
        <p:nvSpPr>
          <p:cNvPr id="32" name="Shape 29"/>
          <p:cNvSpPr/>
          <p:nvPr/>
        </p:nvSpPr>
        <p:spPr>
          <a:xfrm>
            <a:off x="8001000" y="1417320"/>
            <a:ext cx="3474720" cy="1828800"/>
          </a:xfrm>
          <a:prstGeom prst="roundRect">
            <a:avLst>
              <a:gd name="adj" fmla="val 3500"/>
            </a:avLst>
          </a:prstGeom>
          <a:solidFill>
            <a:srgbClr val="FFFFFF"/>
          </a:solidFill>
          <a:ln w="12700">
            <a:solidFill>
              <a:srgbClr val="D1D8E8"/>
            </a:solidFill>
            <a:prstDash val="solid"/>
          </a:ln>
        </p:spPr>
        <p:txBody>
          <a:bodyPr/>
          <a:lstStyle/>
          <a:p>
            <a:endParaRPr lang="fr-CH" noProof="0" dirty="0"/>
          </a:p>
        </p:txBody>
      </p:sp>
      <p:sp>
        <p:nvSpPr>
          <p:cNvPr id="33" name="Shape 30"/>
          <p:cNvSpPr/>
          <p:nvPr/>
        </p:nvSpPr>
        <p:spPr>
          <a:xfrm>
            <a:off x="8001000" y="1417320"/>
            <a:ext cx="73152" cy="1828800"/>
          </a:xfrm>
          <a:prstGeom prst="rect">
            <a:avLst/>
          </a:prstGeom>
          <a:solidFill>
            <a:srgbClr val="1428A0"/>
          </a:solidFill>
          <a:ln w="12700">
            <a:solidFill>
              <a:srgbClr val="1428A0"/>
            </a:solidFill>
            <a:prstDash val="solid"/>
          </a:ln>
        </p:spPr>
        <p:txBody>
          <a:bodyPr/>
          <a:lstStyle/>
          <a:p>
            <a:endParaRPr lang="fr-CH" noProof="0" dirty="0"/>
          </a:p>
        </p:txBody>
      </p:sp>
      <p:sp>
        <p:nvSpPr>
          <p:cNvPr id="34" name="Text 31"/>
          <p:cNvSpPr/>
          <p:nvPr/>
        </p:nvSpPr>
        <p:spPr>
          <a:xfrm>
            <a:off x="8211312" y="1563624"/>
            <a:ext cx="3154680" cy="228600"/>
          </a:xfrm>
          <a:prstGeom prst="rect">
            <a:avLst/>
          </a:prstGeom>
          <a:noFill/>
          <a:ln/>
        </p:spPr>
        <p:txBody>
          <a:bodyPr wrap="square" rtlCol="0" anchor="ctr">
            <a:normAutofit fontScale="92500" lnSpcReduction="20000"/>
          </a:bodyPr>
          <a:lstStyle/>
          <a:p>
            <a:pPr marL="0" indent="0">
              <a:buNone/>
            </a:pPr>
            <a:r>
              <a:rPr lang="fr-CH" sz="1230" b="1" noProof="0" dirty="0">
                <a:solidFill>
                  <a:srgbClr val="1428A0"/>
                </a:solidFill>
              </a:rPr>
              <a:t>Données financières</a:t>
            </a:r>
            <a:endParaRPr lang="fr-CH" sz="1230" noProof="0" dirty="0"/>
          </a:p>
        </p:txBody>
      </p:sp>
      <p:sp>
        <p:nvSpPr>
          <p:cNvPr id="35" name="Shape 32"/>
          <p:cNvSpPr/>
          <p:nvPr/>
        </p:nvSpPr>
        <p:spPr>
          <a:xfrm>
            <a:off x="8229600" y="2039112"/>
            <a:ext cx="100584" cy="100584"/>
          </a:xfrm>
          <a:prstGeom prst="ellipse">
            <a:avLst/>
          </a:prstGeom>
          <a:solidFill>
            <a:srgbClr val="E21836"/>
          </a:solidFill>
          <a:ln w="12700">
            <a:solidFill>
              <a:srgbClr val="E21836"/>
            </a:solidFill>
            <a:prstDash val="solid"/>
          </a:ln>
        </p:spPr>
        <p:txBody>
          <a:bodyPr/>
          <a:lstStyle/>
          <a:p>
            <a:endParaRPr lang="fr-CH" noProof="0" dirty="0"/>
          </a:p>
        </p:txBody>
      </p:sp>
      <p:sp>
        <p:nvSpPr>
          <p:cNvPr id="36" name="Text 33"/>
          <p:cNvSpPr/>
          <p:nvPr/>
        </p:nvSpPr>
        <p:spPr>
          <a:xfrm>
            <a:off x="8458200" y="1984248"/>
            <a:ext cx="2971800" cy="228600"/>
          </a:xfrm>
          <a:prstGeom prst="rect">
            <a:avLst/>
          </a:prstGeom>
          <a:noFill/>
          <a:ln/>
        </p:spPr>
        <p:txBody>
          <a:bodyPr wrap="square" lIns="127" tIns="127" rIns="127" bIns="127" rtlCol="0" anchor="ctr">
            <a:normAutofit/>
          </a:bodyPr>
          <a:lstStyle/>
          <a:p>
            <a:pPr marL="0" indent="0">
              <a:buNone/>
            </a:pPr>
            <a:r>
              <a:rPr lang="fr-CH" sz="1040" noProof="0" dirty="0">
                <a:solidFill>
                  <a:srgbClr val="1F2933"/>
                </a:solidFill>
              </a:rPr>
              <a:t>Recettes</a:t>
            </a:r>
            <a:endParaRPr lang="fr-CH" sz="1040" noProof="0" dirty="0"/>
          </a:p>
        </p:txBody>
      </p:sp>
      <p:sp>
        <p:nvSpPr>
          <p:cNvPr id="37" name="Shape 34"/>
          <p:cNvSpPr/>
          <p:nvPr/>
        </p:nvSpPr>
        <p:spPr>
          <a:xfrm>
            <a:off x="8229600" y="2304288"/>
            <a:ext cx="100584" cy="100584"/>
          </a:xfrm>
          <a:prstGeom prst="ellipse">
            <a:avLst/>
          </a:prstGeom>
          <a:solidFill>
            <a:srgbClr val="E21836"/>
          </a:solidFill>
          <a:ln w="12700">
            <a:solidFill>
              <a:srgbClr val="E21836"/>
            </a:solidFill>
            <a:prstDash val="solid"/>
          </a:ln>
        </p:spPr>
        <p:txBody>
          <a:bodyPr/>
          <a:lstStyle/>
          <a:p>
            <a:endParaRPr lang="fr-CH" noProof="0" dirty="0"/>
          </a:p>
        </p:txBody>
      </p:sp>
      <p:sp>
        <p:nvSpPr>
          <p:cNvPr id="38" name="Text 35"/>
          <p:cNvSpPr/>
          <p:nvPr/>
        </p:nvSpPr>
        <p:spPr>
          <a:xfrm>
            <a:off x="8458200" y="2249424"/>
            <a:ext cx="2971800" cy="228600"/>
          </a:xfrm>
          <a:prstGeom prst="rect">
            <a:avLst/>
          </a:prstGeom>
          <a:noFill/>
          <a:ln/>
        </p:spPr>
        <p:txBody>
          <a:bodyPr wrap="square" lIns="127" tIns="127" rIns="127" bIns="127" rtlCol="0" anchor="ctr">
            <a:normAutofit/>
          </a:bodyPr>
          <a:lstStyle/>
          <a:p>
            <a:pPr marL="0" indent="0">
              <a:buNone/>
            </a:pPr>
            <a:r>
              <a:rPr lang="fr-CH" sz="1040" noProof="0" dirty="0">
                <a:solidFill>
                  <a:srgbClr val="1F2933"/>
                </a:solidFill>
              </a:rPr>
              <a:t>Dépenses</a:t>
            </a:r>
            <a:endParaRPr lang="fr-CH" sz="1040" noProof="0" dirty="0"/>
          </a:p>
        </p:txBody>
      </p:sp>
      <p:sp>
        <p:nvSpPr>
          <p:cNvPr id="39" name="Shape 36"/>
          <p:cNvSpPr/>
          <p:nvPr/>
        </p:nvSpPr>
        <p:spPr>
          <a:xfrm>
            <a:off x="8229600" y="2569464"/>
            <a:ext cx="100584" cy="100584"/>
          </a:xfrm>
          <a:prstGeom prst="ellipse">
            <a:avLst/>
          </a:prstGeom>
          <a:solidFill>
            <a:srgbClr val="E21836"/>
          </a:solidFill>
          <a:ln w="12700">
            <a:solidFill>
              <a:srgbClr val="E21836"/>
            </a:solidFill>
            <a:prstDash val="solid"/>
          </a:ln>
        </p:spPr>
        <p:txBody>
          <a:bodyPr/>
          <a:lstStyle/>
          <a:p>
            <a:endParaRPr lang="fr-CH" noProof="0" dirty="0"/>
          </a:p>
        </p:txBody>
      </p:sp>
      <p:sp>
        <p:nvSpPr>
          <p:cNvPr id="40" name="Text 37"/>
          <p:cNvSpPr/>
          <p:nvPr/>
        </p:nvSpPr>
        <p:spPr>
          <a:xfrm>
            <a:off x="8458200" y="2514600"/>
            <a:ext cx="2971800" cy="228600"/>
          </a:xfrm>
          <a:prstGeom prst="rect">
            <a:avLst/>
          </a:prstGeom>
          <a:noFill/>
          <a:ln/>
        </p:spPr>
        <p:txBody>
          <a:bodyPr wrap="square" lIns="127" tIns="127" rIns="127" bIns="127" rtlCol="0" anchor="ctr">
            <a:normAutofit/>
          </a:bodyPr>
          <a:lstStyle/>
          <a:p>
            <a:pPr marL="0" indent="0">
              <a:buNone/>
            </a:pPr>
            <a:r>
              <a:rPr lang="fr-CH" sz="1040" noProof="0" dirty="0">
                <a:solidFill>
                  <a:srgbClr val="1F2933"/>
                </a:solidFill>
              </a:rPr>
              <a:t>Dépenses administratives</a:t>
            </a:r>
            <a:endParaRPr lang="fr-CH" sz="1040" noProof="0" dirty="0"/>
          </a:p>
        </p:txBody>
      </p:sp>
      <p:sp>
        <p:nvSpPr>
          <p:cNvPr id="41" name="Shape 38"/>
          <p:cNvSpPr/>
          <p:nvPr/>
        </p:nvSpPr>
        <p:spPr>
          <a:xfrm>
            <a:off x="8229600" y="2834640"/>
            <a:ext cx="100584" cy="100584"/>
          </a:xfrm>
          <a:prstGeom prst="ellipse">
            <a:avLst/>
          </a:prstGeom>
          <a:solidFill>
            <a:srgbClr val="E21836"/>
          </a:solidFill>
          <a:ln w="12700">
            <a:solidFill>
              <a:srgbClr val="E21836"/>
            </a:solidFill>
            <a:prstDash val="solid"/>
          </a:ln>
        </p:spPr>
        <p:txBody>
          <a:bodyPr/>
          <a:lstStyle/>
          <a:p>
            <a:endParaRPr lang="fr-CH" noProof="0" dirty="0"/>
          </a:p>
        </p:txBody>
      </p:sp>
      <p:sp>
        <p:nvSpPr>
          <p:cNvPr id="42" name="Text 39"/>
          <p:cNvSpPr/>
          <p:nvPr/>
        </p:nvSpPr>
        <p:spPr>
          <a:xfrm>
            <a:off x="8458200" y="2779776"/>
            <a:ext cx="2971800" cy="228600"/>
          </a:xfrm>
          <a:prstGeom prst="rect">
            <a:avLst/>
          </a:prstGeom>
          <a:noFill/>
          <a:ln/>
        </p:spPr>
        <p:txBody>
          <a:bodyPr wrap="square" lIns="127" tIns="127" rIns="127" bIns="127" rtlCol="0" anchor="ctr">
            <a:normAutofit/>
          </a:bodyPr>
          <a:lstStyle/>
          <a:p>
            <a:pPr marL="0" indent="0">
              <a:buNone/>
            </a:pPr>
            <a:r>
              <a:rPr lang="fr-CH" sz="1040" noProof="0" dirty="0">
                <a:solidFill>
                  <a:srgbClr val="1F2933"/>
                </a:solidFill>
              </a:rPr>
              <a:t>Sources et limites</a:t>
            </a:r>
            <a:endParaRPr lang="fr-CH" sz="1040" noProof="0" dirty="0"/>
          </a:p>
        </p:txBody>
      </p:sp>
      <p:sp>
        <p:nvSpPr>
          <p:cNvPr id="43" name="Shape 40"/>
          <p:cNvSpPr/>
          <p:nvPr/>
        </p:nvSpPr>
        <p:spPr>
          <a:xfrm>
            <a:off x="914400" y="4160520"/>
            <a:ext cx="10332720" cy="777240"/>
          </a:xfrm>
          <a:prstGeom prst="roundRect">
            <a:avLst/>
          </a:prstGeom>
          <a:solidFill>
            <a:srgbClr val="F4F7FC"/>
          </a:solidFill>
          <a:ln w="12700">
            <a:solidFill>
              <a:srgbClr val="D5DDF0"/>
            </a:solidFill>
            <a:prstDash val="solid"/>
          </a:ln>
        </p:spPr>
        <p:txBody>
          <a:bodyPr/>
          <a:lstStyle/>
          <a:p>
            <a:endParaRPr lang="fr-CH" noProof="0" dirty="0"/>
          </a:p>
        </p:txBody>
      </p:sp>
      <p:sp>
        <p:nvSpPr>
          <p:cNvPr id="44" name="Text 41"/>
          <p:cNvSpPr/>
          <p:nvPr/>
        </p:nvSpPr>
        <p:spPr>
          <a:xfrm>
            <a:off x="1188720" y="4462272"/>
            <a:ext cx="9784080" cy="201168"/>
          </a:xfrm>
          <a:prstGeom prst="rect">
            <a:avLst/>
          </a:prstGeom>
          <a:noFill/>
          <a:ln/>
        </p:spPr>
        <p:txBody>
          <a:bodyPr wrap="square" rtlCol="0" anchor="ctr">
            <a:normAutofit fontScale="70000" lnSpcReduction="20000"/>
          </a:bodyPr>
          <a:lstStyle/>
          <a:p>
            <a:pPr marL="0" indent="0" algn="ctr">
              <a:buNone/>
            </a:pPr>
            <a:r>
              <a:rPr lang="fr-CH" sz="1350" b="1" noProof="0" dirty="0">
                <a:solidFill>
                  <a:srgbClr val="1428A0"/>
                </a:solidFill>
              </a:rPr>
              <a:t>Les modalités pratiques de saisie, consolidation et validation seront détaillées dans la présentation suivante.</a:t>
            </a:r>
            <a:endParaRPr lang="fr-CH" sz="1350" noProof="0" dirty="0"/>
          </a:p>
        </p:txBody>
      </p:sp>
      <p:pic>
        <p:nvPicPr>
          <p:cNvPr id="46" name="Image 0" descr="/mnt/data/ref_unzip/ppt/media/image1.png">
            <a:extLst>
              <a:ext uri="{FF2B5EF4-FFF2-40B4-BE49-F238E27FC236}">
                <a16:creationId xmlns:a16="http://schemas.microsoft.com/office/drawing/2014/main" id="{CA341686-40AE-45AB-F98E-6F78FF43B48E}"/>
              </a:ext>
            </a:extLst>
          </p:cNvPr>
          <p:cNvPicPr>
            <a:picLocks noChangeAspect="1"/>
          </p:cNvPicPr>
          <p:nvPr/>
        </p:nvPicPr>
        <p:blipFill>
          <a:blip r:embed="rId3"/>
          <a:stretch>
            <a:fillRect/>
          </a:stretch>
        </p:blipFill>
        <p:spPr>
          <a:xfrm>
            <a:off x="10088880" y="357645"/>
            <a:ext cx="1508760" cy="520522"/>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798F5-62CC-0E53-36E5-CF114990649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B37D0DE-134C-EEF3-5248-5D2FFD512D77}"/>
              </a:ext>
            </a:extLst>
          </p:cNvPr>
          <p:cNvSpPr/>
          <p:nvPr/>
        </p:nvSpPr>
        <p:spPr>
          <a:xfrm>
            <a:off x="0" y="0"/>
            <a:ext cx="12191695" cy="164592"/>
          </a:xfrm>
          <a:prstGeom prst="rect">
            <a:avLst/>
          </a:prstGeom>
          <a:solidFill>
            <a:srgbClr val="1428A0"/>
          </a:solidFill>
          <a:ln w="12700">
            <a:solidFill>
              <a:srgbClr val="1428A0"/>
            </a:solidFill>
            <a:prstDash val="solid"/>
          </a:ln>
        </p:spPr>
        <p:txBody>
          <a:bodyPr/>
          <a:lstStyle/>
          <a:p>
            <a:endParaRPr lang="fr-CH" noProof="0" dirty="0"/>
          </a:p>
        </p:txBody>
      </p:sp>
      <p:sp>
        <p:nvSpPr>
          <p:cNvPr id="3" name="Text 1">
            <a:extLst>
              <a:ext uri="{FF2B5EF4-FFF2-40B4-BE49-F238E27FC236}">
                <a16:creationId xmlns:a16="http://schemas.microsoft.com/office/drawing/2014/main" id="{FD64A30E-2C2B-D74B-9E8E-F1BB5A414D9B}"/>
              </a:ext>
            </a:extLst>
          </p:cNvPr>
          <p:cNvSpPr/>
          <p:nvPr/>
        </p:nvSpPr>
        <p:spPr>
          <a:xfrm>
            <a:off x="594360" y="420624"/>
            <a:ext cx="8686800" cy="411480"/>
          </a:xfrm>
          <a:prstGeom prst="rect">
            <a:avLst/>
          </a:prstGeom>
          <a:noFill/>
          <a:ln/>
        </p:spPr>
        <p:txBody>
          <a:bodyPr wrap="square" rtlCol="0" anchor="ctr">
            <a:normAutofit fontScale="92500" lnSpcReduction="10000"/>
          </a:bodyPr>
          <a:lstStyle/>
          <a:p>
            <a:pPr marL="0" indent="0">
              <a:buNone/>
            </a:pPr>
            <a:r>
              <a:rPr lang="fr-CH" sz="2400" b="1" noProof="0" dirty="0">
                <a:solidFill>
                  <a:srgbClr val="1428A0"/>
                </a:solidFill>
                <a:latin typeface="Arial" pitchFamily="34" charset="0"/>
                <a:ea typeface="Arial" pitchFamily="34" charset="-122"/>
                <a:cs typeface="Arial" pitchFamily="34" charset="-120"/>
              </a:rPr>
              <a:t>Liens utiles</a:t>
            </a:r>
            <a:endParaRPr lang="fr-CH" sz="2400" noProof="0" dirty="0"/>
          </a:p>
        </p:txBody>
      </p:sp>
      <p:sp>
        <p:nvSpPr>
          <p:cNvPr id="4" name="Text 2">
            <a:extLst>
              <a:ext uri="{FF2B5EF4-FFF2-40B4-BE49-F238E27FC236}">
                <a16:creationId xmlns:a16="http://schemas.microsoft.com/office/drawing/2014/main" id="{CB70543A-6041-61F9-4DF5-D22D0BE18025}"/>
              </a:ext>
            </a:extLst>
          </p:cNvPr>
          <p:cNvSpPr/>
          <p:nvPr/>
        </p:nvSpPr>
        <p:spPr>
          <a:xfrm>
            <a:off x="612648" y="219456"/>
            <a:ext cx="6858000" cy="155448"/>
          </a:xfrm>
          <a:prstGeom prst="rect">
            <a:avLst/>
          </a:prstGeom>
          <a:noFill/>
          <a:ln/>
        </p:spPr>
        <p:txBody>
          <a:bodyPr wrap="square" rtlCol="0" anchor="ctr"/>
          <a:lstStyle/>
          <a:p>
            <a:pPr marL="0" indent="0">
              <a:buNone/>
            </a:pPr>
            <a:r>
              <a:rPr lang="fr-CH" sz="730" noProof="0" dirty="0">
                <a:solidFill>
                  <a:srgbClr val="586069"/>
                </a:solidFill>
              </a:rPr>
              <a:t>OUTIL</a:t>
            </a:r>
            <a:endParaRPr lang="fr-CH" sz="730" noProof="0" dirty="0"/>
          </a:p>
        </p:txBody>
      </p:sp>
      <p:sp>
        <p:nvSpPr>
          <p:cNvPr id="6" name="Shape 3">
            <a:extLst>
              <a:ext uri="{FF2B5EF4-FFF2-40B4-BE49-F238E27FC236}">
                <a16:creationId xmlns:a16="http://schemas.microsoft.com/office/drawing/2014/main" id="{BFDCADEC-3EDC-DBE0-6088-A73E458CC870}"/>
              </a:ext>
            </a:extLst>
          </p:cNvPr>
          <p:cNvSpPr/>
          <p:nvPr/>
        </p:nvSpPr>
        <p:spPr>
          <a:xfrm>
            <a:off x="594360" y="987552"/>
            <a:ext cx="10972800" cy="0"/>
          </a:xfrm>
          <a:prstGeom prst="line">
            <a:avLst/>
          </a:prstGeom>
          <a:noFill/>
          <a:ln w="12700">
            <a:solidFill>
              <a:srgbClr val="D9E1F2"/>
            </a:solidFill>
            <a:prstDash val="solid"/>
          </a:ln>
        </p:spPr>
        <p:txBody>
          <a:bodyPr/>
          <a:lstStyle/>
          <a:p>
            <a:endParaRPr lang="fr-CH" noProof="0" dirty="0"/>
          </a:p>
        </p:txBody>
      </p:sp>
      <p:sp>
        <p:nvSpPr>
          <p:cNvPr id="8" name="Text 5">
            <a:extLst>
              <a:ext uri="{FF2B5EF4-FFF2-40B4-BE49-F238E27FC236}">
                <a16:creationId xmlns:a16="http://schemas.microsoft.com/office/drawing/2014/main" id="{0C225722-1596-7823-B134-E6F36D132EED}"/>
              </a:ext>
            </a:extLst>
          </p:cNvPr>
          <p:cNvSpPr/>
          <p:nvPr/>
        </p:nvSpPr>
        <p:spPr>
          <a:xfrm>
            <a:off x="7543800" y="6510528"/>
            <a:ext cx="3017520" cy="164592"/>
          </a:xfrm>
          <a:prstGeom prst="rect">
            <a:avLst/>
          </a:prstGeom>
          <a:noFill/>
          <a:ln/>
        </p:spPr>
        <p:txBody>
          <a:bodyPr wrap="square" rtlCol="0" anchor="ctr"/>
          <a:lstStyle/>
          <a:p>
            <a:pPr marL="0" indent="0" algn="r">
              <a:buNone/>
            </a:pPr>
            <a:r>
              <a:rPr lang="fr-CH" sz="730" noProof="0" dirty="0">
                <a:solidFill>
                  <a:srgbClr val="586069"/>
                </a:solidFill>
                <a:latin typeface="Arial" pitchFamily="34" charset="0"/>
                <a:ea typeface="Arial" pitchFamily="34" charset="-122"/>
                <a:cs typeface="Arial" pitchFamily="34" charset="-120"/>
              </a:rPr>
              <a:t>Atelier 2e Bulletin Statistique RDC | 14 mai 2026</a:t>
            </a:r>
            <a:endParaRPr lang="fr-CH" sz="730" noProof="0" dirty="0"/>
          </a:p>
        </p:txBody>
      </p:sp>
      <p:sp>
        <p:nvSpPr>
          <p:cNvPr id="9" name="Text 6">
            <a:extLst>
              <a:ext uri="{FF2B5EF4-FFF2-40B4-BE49-F238E27FC236}">
                <a16:creationId xmlns:a16="http://schemas.microsoft.com/office/drawing/2014/main" id="{1E5C8931-8D8D-6169-8AC5-531993F71D96}"/>
              </a:ext>
            </a:extLst>
          </p:cNvPr>
          <p:cNvSpPr/>
          <p:nvPr/>
        </p:nvSpPr>
        <p:spPr>
          <a:xfrm>
            <a:off x="11292840" y="6473952"/>
            <a:ext cx="411480" cy="201168"/>
          </a:xfrm>
          <a:prstGeom prst="rect">
            <a:avLst/>
          </a:prstGeom>
          <a:noFill/>
          <a:ln/>
        </p:spPr>
        <p:txBody>
          <a:bodyPr wrap="square" lIns="27432" tIns="18288" rIns="27432" bIns="18288" rtlCol="0" anchor="ctr"/>
          <a:lstStyle/>
          <a:p>
            <a:pPr marL="0" indent="0" algn="r">
              <a:buNone/>
            </a:pPr>
            <a:r>
              <a:rPr lang="fr-CH" sz="850" b="0" noProof="0" dirty="0">
                <a:solidFill>
                  <a:srgbClr val="505050"/>
                </a:solidFill>
                <a:latin typeface="Arial"/>
              </a:rPr>
              <a:t>16</a:t>
            </a:r>
            <a:endParaRPr lang="fr-CH" sz="750" noProof="0" dirty="0"/>
          </a:p>
        </p:txBody>
      </p:sp>
      <p:sp>
        <p:nvSpPr>
          <p:cNvPr id="11" name="Date Placeholder 3">
            <a:extLst>
              <a:ext uri="{FF2B5EF4-FFF2-40B4-BE49-F238E27FC236}">
                <a16:creationId xmlns:a16="http://schemas.microsoft.com/office/drawing/2014/main" id="{5255E517-7483-070B-A2B3-52819614A484}"/>
              </a:ext>
            </a:extLst>
          </p:cNvPr>
          <p:cNvSpPr>
            <a:spLocks noGrp="1"/>
          </p:cNvSpPr>
          <p:nvPr/>
        </p:nvSpPr>
        <p:spPr>
          <a:xfrm>
            <a:off x="504428" y="6605915"/>
            <a:ext cx="2743200" cy="216000"/>
          </a:xfrm>
          <a:prstGeom prst="rect">
            <a:avLst/>
          </a:prstGeom>
        </p:spPr>
        <p:txBody>
          <a:bodyPr vert="horz" lIns="0" tIns="0" rIns="0" bIns="0" rtlCol="0" anchor="ctr">
            <a:noAutofit/>
          </a:bodyPr>
          <a:lstStyle>
            <a:defPPr>
              <a:defRPr lang="en-US"/>
            </a:defPPr>
            <a:lvl1pPr marL="0" algn="l" defTabSz="914400" rtl="0" eaLnBrk="1" latinLnBrk="0" hangingPunct="1">
              <a:defRPr sz="10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noFill/>
                <a:effectLst/>
                <a:uLnTx/>
                <a:uFillTx/>
                <a:latin typeface="Arial"/>
                <a:ea typeface="+mn-ea"/>
                <a:cs typeface="+mn-cs"/>
              </a:rPr>
              <a:t>Date: Monday / 01 / October / 2019</a:t>
            </a:r>
          </a:p>
        </p:txBody>
      </p:sp>
      <p:sp>
        <p:nvSpPr>
          <p:cNvPr id="13" name="Slide Number Placeholder 5">
            <a:extLst>
              <a:ext uri="{FF2B5EF4-FFF2-40B4-BE49-F238E27FC236}">
                <a16:creationId xmlns:a16="http://schemas.microsoft.com/office/drawing/2014/main" id="{4A453B2D-E54D-4C9E-D95A-0BDD19063EED}"/>
              </a:ext>
            </a:extLst>
          </p:cNvPr>
          <p:cNvSpPr>
            <a:spLocks noGrp="1"/>
          </p:cNvSpPr>
          <p:nvPr/>
        </p:nvSpPr>
        <p:spPr>
          <a:xfrm>
            <a:off x="11175352" y="167465"/>
            <a:ext cx="540000" cy="288000"/>
          </a:xfrm>
          <a:prstGeom prst="rect">
            <a:avLst/>
          </a:prstGeom>
        </p:spPr>
        <p:txBody>
          <a:bodyPr vert="horz" lIns="0" tIns="0" rIns="0" bIns="0" rtlCol="0" anchor="t" anchorCtr="0">
            <a:noAutofit/>
          </a:bodyPr>
          <a:lstStyle>
            <a:defPPr>
              <a:defRPr lang="en-US"/>
            </a:defPPr>
            <a:lvl1pPr marL="0" algn="r" defTabSz="914400" rtl="0" eaLnBrk="1" latinLnBrk="0" hangingPunct="1">
              <a:defRPr sz="1800"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56227C0-AD57-4F9B-BAE3-EEFB0D0EE427}" type="slidenum">
              <a:rPr kumimoji="0" lang="en-GB" sz="1800" b="0" i="0" u="none" strike="noStrike" kern="1200" cap="none" spc="0" normalizeH="0" baseline="0" noProof="0" smtClean="0">
                <a:ln>
                  <a:noFill/>
                </a:ln>
                <a:solidFill>
                  <a:srgbClr val="1E2DBE"/>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GB" sz="1800" b="0" i="0" u="none" strike="noStrike" kern="1200" cap="none" spc="0" normalizeH="0" baseline="0" noProof="0">
              <a:ln>
                <a:noFill/>
              </a:ln>
              <a:solidFill>
                <a:srgbClr val="1E2DBE"/>
              </a:solidFill>
              <a:effectLst/>
              <a:uLnTx/>
              <a:uFillTx/>
              <a:latin typeface="Arial"/>
              <a:ea typeface="+mn-ea"/>
              <a:cs typeface="+mn-cs"/>
            </a:endParaRPr>
          </a:p>
        </p:txBody>
      </p:sp>
      <p:sp>
        <p:nvSpPr>
          <p:cNvPr id="16" name="Content Placeholder 1">
            <a:extLst>
              <a:ext uri="{FF2B5EF4-FFF2-40B4-BE49-F238E27FC236}">
                <a16:creationId xmlns:a16="http://schemas.microsoft.com/office/drawing/2014/main" id="{FD212D89-F9E0-7D2C-3DF8-B378D33E8754}"/>
              </a:ext>
            </a:extLst>
          </p:cNvPr>
          <p:cNvSpPr>
            <a:spLocks noGrp="1"/>
          </p:cNvSpPr>
          <p:nvPr/>
        </p:nvSpPr>
        <p:spPr>
          <a:xfrm>
            <a:off x="504428" y="1177008"/>
            <a:ext cx="6519862" cy="411481"/>
          </a:xfrm>
          <a:prstGeom prst="rect">
            <a:avLst/>
          </a:prstGeom>
        </p:spPr>
        <p:txBody>
          <a:bodyPr vert="horz" lIns="0" tIns="0" rIns="0" bIns="0" rtlCol="0">
            <a:normAutofit/>
          </a:bodyPr>
          <a:lstStyle>
            <a:lvl1pPr marL="0" indent="0" algn="l" defTabSz="914400" rtl="0" eaLnBrk="1" latinLnBrk="0" hangingPunct="1">
              <a:lnSpc>
                <a:spcPct val="100000"/>
              </a:lnSpc>
              <a:spcBef>
                <a:spcPts val="2400"/>
              </a:spcBef>
              <a:spcAft>
                <a:spcPts val="600"/>
              </a:spcAft>
              <a:buFont typeface="Arial" panose="020B0604020202020204" pitchFamily="34" charset="0"/>
              <a:buNone/>
              <a:defRPr sz="1800" b="1" kern="1200">
                <a:solidFill>
                  <a:schemeClr val="accent2"/>
                </a:solidFill>
                <a:latin typeface="+mn-lt"/>
                <a:ea typeface="+mn-ea"/>
                <a:cs typeface="+mn-cs"/>
              </a:defRPr>
            </a:lvl1pPr>
            <a:lvl2pPr marL="0" indent="0" algn="l" defTabSz="914400" rtl="0" eaLnBrk="1" latinLnBrk="0" hangingPunct="1">
              <a:lnSpc>
                <a:spcPct val="100000"/>
              </a:lnSpc>
              <a:spcBef>
                <a:spcPts val="600"/>
              </a:spcBef>
              <a:spcAft>
                <a:spcPts val="600"/>
              </a:spcAft>
              <a:buFont typeface="Arial" panose="020B0604020202020204" pitchFamily="34" charset="0"/>
              <a:buNone/>
              <a:defRPr sz="1800" kern="1200">
                <a:solidFill>
                  <a:schemeClr val="tx1"/>
                </a:solidFill>
                <a:latin typeface="+mn-lt"/>
                <a:ea typeface="+mn-ea"/>
                <a:cs typeface="+mn-cs"/>
              </a:defRPr>
            </a:lvl2pPr>
            <a:lvl3pPr marL="252000" indent="-252000" algn="l" defTabSz="914400" rtl="0" eaLnBrk="1" latinLnBrk="0" hangingPunct="1">
              <a:lnSpc>
                <a:spcPct val="100000"/>
              </a:lnSpc>
              <a:spcBef>
                <a:spcPts val="600"/>
              </a:spcBef>
              <a:buClr>
                <a:schemeClr val="accent2"/>
              </a:buClr>
              <a:buSzPct val="70000"/>
              <a:buFont typeface="Wingdings 3" panose="05040102010807070707" pitchFamily="18" charset="2"/>
              <a:buChar char=""/>
              <a:defRPr sz="1800" kern="1200">
                <a:solidFill>
                  <a:schemeClr val="tx1"/>
                </a:solidFill>
                <a:latin typeface="+mn-lt"/>
                <a:ea typeface="+mn-ea"/>
                <a:cs typeface="+mn-cs"/>
              </a:defRPr>
            </a:lvl3pPr>
            <a:lvl4pPr marL="0" indent="0" algn="l" defTabSz="914400" rtl="0" eaLnBrk="1" latinLnBrk="0" hangingPunct="1">
              <a:lnSpc>
                <a:spcPct val="100000"/>
              </a:lnSpc>
              <a:spcBef>
                <a:spcPts val="2400"/>
              </a:spcBef>
              <a:spcAft>
                <a:spcPts val="450"/>
              </a:spcAft>
              <a:buClr>
                <a:schemeClr val="accent2"/>
              </a:buClr>
              <a:buSzPct val="80000"/>
              <a:buFont typeface="Arial" panose="020B0604020202020204" pitchFamily="34" charset="0"/>
              <a:buNone/>
              <a:defRPr sz="1400" b="1" kern="1200">
                <a:solidFill>
                  <a:schemeClr val="accent2"/>
                </a:solidFill>
                <a:latin typeface="+mn-lt"/>
                <a:ea typeface="+mn-ea"/>
                <a:cs typeface="+mn-cs"/>
              </a:defRPr>
            </a:lvl4pPr>
            <a:lvl5pPr marL="0" indent="0" algn="l" defTabSz="914400" rtl="0" eaLnBrk="1" latinLnBrk="0" hangingPunct="1">
              <a:lnSpc>
                <a:spcPct val="100000"/>
              </a:lnSpc>
              <a:spcBef>
                <a:spcPts val="450"/>
              </a:spcBef>
              <a:spcAft>
                <a:spcPts val="450"/>
              </a:spcAft>
              <a:buClr>
                <a:schemeClr val="accent2"/>
              </a:buClr>
              <a:buSzPct val="80000"/>
              <a:buFont typeface="Arial" panose="020B0604020202020204" pitchFamily="34" charset="0"/>
              <a:buNone/>
              <a:defRPr sz="1400" kern="1200">
                <a:solidFill>
                  <a:schemeClr val="tx1"/>
                </a:solidFill>
                <a:latin typeface="+mn-lt"/>
                <a:ea typeface="+mn-ea"/>
                <a:cs typeface="+mn-cs"/>
              </a:defRPr>
            </a:lvl5pPr>
            <a:lvl6pPr marL="252000" indent="-252000" algn="l" defTabSz="914400" rtl="0" eaLnBrk="1" latinLnBrk="0" hangingPunct="1">
              <a:lnSpc>
                <a:spcPct val="100000"/>
              </a:lnSpc>
              <a:spcBef>
                <a:spcPts val="450"/>
              </a:spcBef>
              <a:buClr>
                <a:schemeClr val="accent2"/>
              </a:buClr>
              <a:buSzPct val="70000"/>
              <a:buFont typeface="Wingdings 3" panose="05040102010807070707" pitchFamily="18" charset="2"/>
              <a:buChar char="u"/>
              <a:defRPr sz="1400" kern="1200">
                <a:solidFill>
                  <a:schemeClr val="tx1"/>
                </a:solidFill>
                <a:latin typeface="+mn-lt"/>
                <a:ea typeface="+mn-ea"/>
                <a:cs typeface="+mn-cs"/>
              </a:defRPr>
            </a:lvl6pPr>
            <a:lvl7pPr marL="0" indent="0" algn="l" defTabSz="914400" rtl="0" eaLnBrk="1" latinLnBrk="0" hangingPunct="1">
              <a:lnSpc>
                <a:spcPct val="100000"/>
              </a:lnSpc>
              <a:spcBef>
                <a:spcPts val="600"/>
              </a:spcBef>
              <a:buFont typeface="Arial" panose="020B0604020202020204" pitchFamily="34" charset="0"/>
              <a:buNone/>
              <a:defRPr sz="1000" kern="1200" baseline="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GB" altLang="en-US" sz="1400" dirty="0">
                <a:solidFill>
                  <a:schemeClr val="accent1"/>
                </a:solidFill>
                <a:hlinkClick r:id="rId3">
                  <a:extLst>
                    <a:ext uri="{A12FA001-AC4F-418D-AE19-62706E023703}">
                      <ahyp:hlinkClr xmlns:ahyp="http://schemas.microsoft.com/office/drawing/2018/hyperlinkcolor" val="tx"/>
                    </a:ext>
                  </a:extLst>
                </a:hlinkClick>
              </a:rPr>
              <a:t>Liens : Rapport Mondial sur la protection </a:t>
            </a:r>
            <a:r>
              <a:rPr lang="en-GB" altLang="en-US" sz="1400" dirty="0" err="1">
                <a:solidFill>
                  <a:schemeClr val="accent1"/>
                </a:solidFill>
                <a:hlinkClick r:id="rId3">
                  <a:extLst>
                    <a:ext uri="{A12FA001-AC4F-418D-AE19-62706E023703}">
                      <ahyp:hlinkClr xmlns:ahyp="http://schemas.microsoft.com/office/drawing/2018/hyperlinkcolor" val="tx"/>
                    </a:ext>
                  </a:extLst>
                </a:hlinkClick>
              </a:rPr>
              <a:t>sociale</a:t>
            </a:r>
            <a:r>
              <a:rPr lang="en-GB" altLang="en-US" sz="1400" dirty="0">
                <a:solidFill>
                  <a:schemeClr val="accent1"/>
                </a:solidFill>
                <a:hlinkClick r:id="rId3">
                  <a:extLst>
                    <a:ext uri="{A12FA001-AC4F-418D-AE19-62706E023703}">
                      <ahyp:hlinkClr xmlns:ahyp="http://schemas.microsoft.com/office/drawing/2018/hyperlinkcolor" val="tx"/>
                    </a:ext>
                  </a:extLst>
                </a:hlinkClick>
              </a:rPr>
              <a:t> de </a:t>
            </a:r>
            <a:r>
              <a:rPr lang="en-GB" altLang="en-US" sz="1400" dirty="0" err="1">
                <a:solidFill>
                  <a:schemeClr val="accent1"/>
                </a:solidFill>
                <a:hlinkClick r:id="rId3">
                  <a:extLst>
                    <a:ext uri="{A12FA001-AC4F-418D-AE19-62706E023703}">
                      <ahyp:hlinkClr xmlns:ahyp="http://schemas.microsoft.com/office/drawing/2018/hyperlinkcolor" val="tx"/>
                    </a:ext>
                  </a:extLst>
                </a:hlinkClick>
              </a:rPr>
              <a:t>l’OIT</a:t>
            </a:r>
            <a:endParaRPr lang="en-GB" altLang="en-US" sz="1400" dirty="0">
              <a:solidFill>
                <a:schemeClr val="accent1"/>
              </a:solidFill>
            </a:endParaRPr>
          </a:p>
        </p:txBody>
      </p:sp>
      <p:pic>
        <p:nvPicPr>
          <p:cNvPr id="17" name="Picture 16" descr="Diagram&#10;&#10;Description automatically generated">
            <a:extLst>
              <a:ext uri="{FF2B5EF4-FFF2-40B4-BE49-F238E27FC236}">
                <a16:creationId xmlns:a16="http://schemas.microsoft.com/office/drawing/2014/main" id="{4EFB0910-5F55-7102-69B6-063497DD5B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06499" y="1119195"/>
            <a:ext cx="1212105" cy="1723462"/>
          </a:xfrm>
          <a:prstGeom prst="rect">
            <a:avLst/>
          </a:prstGeom>
        </p:spPr>
      </p:pic>
      <p:pic>
        <p:nvPicPr>
          <p:cNvPr id="21" name="Picture 20">
            <a:extLst>
              <a:ext uri="{FF2B5EF4-FFF2-40B4-BE49-F238E27FC236}">
                <a16:creationId xmlns:a16="http://schemas.microsoft.com/office/drawing/2014/main" id="{985F0BA9-FD2D-34AB-6C26-22BB084E74D3}"/>
              </a:ext>
            </a:extLst>
          </p:cNvPr>
          <p:cNvPicPr>
            <a:picLocks noChangeAspect="1"/>
          </p:cNvPicPr>
          <p:nvPr/>
        </p:nvPicPr>
        <p:blipFill>
          <a:blip r:embed="rId5"/>
          <a:stretch>
            <a:fillRect/>
          </a:stretch>
        </p:blipFill>
        <p:spPr>
          <a:xfrm>
            <a:off x="357241" y="2842657"/>
            <a:ext cx="3037573" cy="2807205"/>
          </a:xfrm>
          <a:prstGeom prst="rect">
            <a:avLst/>
          </a:prstGeom>
        </p:spPr>
      </p:pic>
      <p:pic>
        <p:nvPicPr>
          <p:cNvPr id="22" name="Image 15">
            <a:extLst>
              <a:ext uri="{FF2B5EF4-FFF2-40B4-BE49-F238E27FC236}">
                <a16:creationId xmlns:a16="http://schemas.microsoft.com/office/drawing/2014/main" id="{9E778111-3B9B-F873-E573-50BCA3637FED}"/>
              </a:ext>
            </a:extLst>
          </p:cNvPr>
          <p:cNvPicPr>
            <a:picLocks noChangeAspect="1"/>
          </p:cNvPicPr>
          <p:nvPr/>
        </p:nvPicPr>
        <p:blipFill>
          <a:blip r:embed="rId6"/>
          <a:stretch>
            <a:fillRect/>
          </a:stretch>
        </p:blipFill>
        <p:spPr>
          <a:xfrm>
            <a:off x="3886200" y="2879839"/>
            <a:ext cx="3138090" cy="2990609"/>
          </a:xfrm>
          <a:prstGeom prst="rect">
            <a:avLst/>
          </a:prstGeom>
        </p:spPr>
      </p:pic>
      <p:pic>
        <p:nvPicPr>
          <p:cNvPr id="23" name="Picture 22">
            <a:extLst>
              <a:ext uri="{FF2B5EF4-FFF2-40B4-BE49-F238E27FC236}">
                <a16:creationId xmlns:a16="http://schemas.microsoft.com/office/drawing/2014/main" id="{9ADAE646-0053-ECED-7C5D-DC62C61EB7A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509" y="1254544"/>
            <a:ext cx="119513" cy="140298"/>
          </a:xfrm>
          <a:prstGeom prst="rect">
            <a:avLst/>
          </a:prstGeom>
        </p:spPr>
      </p:pic>
      <p:sp>
        <p:nvSpPr>
          <p:cNvPr id="24" name="Footer Placeholder 4">
            <a:extLst>
              <a:ext uri="{FF2B5EF4-FFF2-40B4-BE49-F238E27FC236}">
                <a16:creationId xmlns:a16="http://schemas.microsoft.com/office/drawing/2014/main" id="{87C68020-C18F-CCA0-7434-5125147FDE61}"/>
              </a:ext>
            </a:extLst>
          </p:cNvPr>
          <p:cNvSpPr>
            <a:spLocks noGrp="1"/>
          </p:cNvSpPr>
          <p:nvPr/>
        </p:nvSpPr>
        <p:spPr>
          <a:xfrm>
            <a:off x="429014" y="6412824"/>
            <a:ext cx="5605462" cy="1800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dirty="0">
                <a:ln>
                  <a:noFill/>
                </a:ln>
                <a:solidFill>
                  <a:srgbClr val="230050"/>
                </a:solidFill>
                <a:effectLst/>
                <a:uLnTx/>
                <a:uFillTx/>
                <a:latin typeface="Arial"/>
                <a:ea typeface="+mn-ea"/>
                <a:cs typeface="+mn-cs"/>
              </a:rPr>
              <a:t>Faire avancer la justice sociale, promouvoir le travail décent</a:t>
            </a:r>
            <a:endParaRPr kumimoji="0" lang="en-GB" sz="1000" b="1" i="0" u="none" strike="noStrike" kern="1200" cap="none" spc="0" normalizeH="0" baseline="0" noProof="0" dirty="0">
              <a:ln>
                <a:noFill/>
              </a:ln>
              <a:solidFill>
                <a:srgbClr val="230050"/>
              </a:solidFill>
              <a:effectLst/>
              <a:uLnTx/>
              <a:uFillTx/>
              <a:latin typeface="Arial"/>
              <a:ea typeface="+mn-ea"/>
              <a:cs typeface="+mn-cs"/>
            </a:endParaRPr>
          </a:p>
        </p:txBody>
      </p:sp>
      <p:sp>
        <p:nvSpPr>
          <p:cNvPr id="25" name="Content Placeholder 1">
            <a:extLst>
              <a:ext uri="{FF2B5EF4-FFF2-40B4-BE49-F238E27FC236}">
                <a16:creationId xmlns:a16="http://schemas.microsoft.com/office/drawing/2014/main" id="{437D2404-78D9-12B4-BC8F-CD4F7089C13C}"/>
              </a:ext>
            </a:extLst>
          </p:cNvPr>
          <p:cNvSpPr>
            <a:spLocks noGrp="1"/>
          </p:cNvSpPr>
          <p:nvPr/>
        </p:nvSpPr>
        <p:spPr>
          <a:xfrm>
            <a:off x="504428" y="2241412"/>
            <a:ext cx="7979696" cy="278136"/>
          </a:xfrm>
          <a:prstGeom prst="rect">
            <a:avLst/>
          </a:prstGeom>
        </p:spPr>
        <p:txBody>
          <a:bodyPr vert="horz" lIns="0" tIns="0" rIns="0" bIns="0" rtlCol="0">
            <a:normAutofit/>
          </a:bodyPr>
          <a:lstStyle>
            <a:lvl1pPr marL="0" indent="0" algn="l" defTabSz="914400" rtl="0" eaLnBrk="1" latinLnBrk="0" hangingPunct="1">
              <a:lnSpc>
                <a:spcPct val="100000"/>
              </a:lnSpc>
              <a:spcBef>
                <a:spcPts val="2400"/>
              </a:spcBef>
              <a:spcAft>
                <a:spcPts val="600"/>
              </a:spcAft>
              <a:buFont typeface="Arial" panose="020B0604020202020204" pitchFamily="34" charset="0"/>
              <a:buNone/>
              <a:defRPr sz="1800" b="1" kern="1200">
                <a:solidFill>
                  <a:schemeClr val="accent2"/>
                </a:solidFill>
                <a:latin typeface="+mn-lt"/>
                <a:ea typeface="+mn-ea"/>
                <a:cs typeface="+mn-cs"/>
              </a:defRPr>
            </a:lvl1pPr>
            <a:lvl2pPr marL="0" indent="0" algn="l" defTabSz="914400" rtl="0" eaLnBrk="1" latinLnBrk="0" hangingPunct="1">
              <a:lnSpc>
                <a:spcPct val="100000"/>
              </a:lnSpc>
              <a:spcBef>
                <a:spcPts val="600"/>
              </a:spcBef>
              <a:spcAft>
                <a:spcPts val="600"/>
              </a:spcAft>
              <a:buFont typeface="Arial" panose="020B0604020202020204" pitchFamily="34" charset="0"/>
              <a:buNone/>
              <a:defRPr sz="1800" kern="1200">
                <a:solidFill>
                  <a:schemeClr val="tx1"/>
                </a:solidFill>
                <a:latin typeface="+mn-lt"/>
                <a:ea typeface="+mn-ea"/>
                <a:cs typeface="+mn-cs"/>
              </a:defRPr>
            </a:lvl2pPr>
            <a:lvl3pPr marL="252000" indent="-252000" algn="l" defTabSz="914400" rtl="0" eaLnBrk="1" latinLnBrk="0" hangingPunct="1">
              <a:lnSpc>
                <a:spcPct val="100000"/>
              </a:lnSpc>
              <a:spcBef>
                <a:spcPts val="600"/>
              </a:spcBef>
              <a:buClr>
                <a:schemeClr val="accent2"/>
              </a:buClr>
              <a:buSzPct val="70000"/>
              <a:buFont typeface="Wingdings 3" panose="05040102010807070707" pitchFamily="18" charset="2"/>
              <a:buChar char=""/>
              <a:defRPr sz="1800" kern="1200">
                <a:solidFill>
                  <a:schemeClr val="tx1"/>
                </a:solidFill>
                <a:latin typeface="+mn-lt"/>
                <a:ea typeface="+mn-ea"/>
                <a:cs typeface="+mn-cs"/>
              </a:defRPr>
            </a:lvl3pPr>
            <a:lvl4pPr marL="0" indent="0" algn="l" defTabSz="914400" rtl="0" eaLnBrk="1" latinLnBrk="0" hangingPunct="1">
              <a:lnSpc>
                <a:spcPct val="100000"/>
              </a:lnSpc>
              <a:spcBef>
                <a:spcPts val="2400"/>
              </a:spcBef>
              <a:spcAft>
                <a:spcPts val="450"/>
              </a:spcAft>
              <a:buClr>
                <a:schemeClr val="accent2"/>
              </a:buClr>
              <a:buSzPct val="80000"/>
              <a:buFont typeface="Arial" panose="020B0604020202020204" pitchFamily="34" charset="0"/>
              <a:buNone/>
              <a:defRPr sz="1400" b="1" kern="1200">
                <a:solidFill>
                  <a:schemeClr val="accent2"/>
                </a:solidFill>
                <a:latin typeface="+mn-lt"/>
                <a:ea typeface="+mn-ea"/>
                <a:cs typeface="+mn-cs"/>
              </a:defRPr>
            </a:lvl4pPr>
            <a:lvl5pPr marL="0" indent="0" algn="l" defTabSz="914400" rtl="0" eaLnBrk="1" latinLnBrk="0" hangingPunct="1">
              <a:lnSpc>
                <a:spcPct val="100000"/>
              </a:lnSpc>
              <a:spcBef>
                <a:spcPts val="450"/>
              </a:spcBef>
              <a:spcAft>
                <a:spcPts val="450"/>
              </a:spcAft>
              <a:buClr>
                <a:schemeClr val="accent2"/>
              </a:buClr>
              <a:buSzPct val="80000"/>
              <a:buFont typeface="Arial" panose="020B0604020202020204" pitchFamily="34" charset="0"/>
              <a:buNone/>
              <a:defRPr sz="1400" kern="1200">
                <a:solidFill>
                  <a:schemeClr val="tx1"/>
                </a:solidFill>
                <a:latin typeface="+mn-lt"/>
                <a:ea typeface="+mn-ea"/>
                <a:cs typeface="+mn-cs"/>
              </a:defRPr>
            </a:lvl5pPr>
            <a:lvl6pPr marL="252000" indent="-252000" algn="l" defTabSz="914400" rtl="0" eaLnBrk="1" latinLnBrk="0" hangingPunct="1">
              <a:lnSpc>
                <a:spcPct val="100000"/>
              </a:lnSpc>
              <a:spcBef>
                <a:spcPts val="450"/>
              </a:spcBef>
              <a:buClr>
                <a:schemeClr val="accent2"/>
              </a:buClr>
              <a:buSzPct val="70000"/>
              <a:buFont typeface="Wingdings 3" panose="05040102010807070707" pitchFamily="18" charset="2"/>
              <a:buChar char="u"/>
              <a:defRPr sz="1400" kern="1200">
                <a:solidFill>
                  <a:schemeClr val="tx1"/>
                </a:solidFill>
                <a:latin typeface="+mn-lt"/>
                <a:ea typeface="+mn-ea"/>
                <a:cs typeface="+mn-cs"/>
              </a:defRPr>
            </a:lvl6pPr>
            <a:lvl7pPr marL="0" indent="0" algn="l" defTabSz="914400" rtl="0" eaLnBrk="1" latinLnBrk="0" hangingPunct="1">
              <a:lnSpc>
                <a:spcPct val="100000"/>
              </a:lnSpc>
              <a:spcBef>
                <a:spcPts val="600"/>
              </a:spcBef>
              <a:buFont typeface="Arial" panose="020B0604020202020204" pitchFamily="34" charset="0"/>
              <a:buNone/>
              <a:defRPr sz="1000" kern="1200" baseline="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GB" altLang="en-US" sz="1400" dirty="0">
                <a:solidFill>
                  <a:schemeClr val="accent1"/>
                </a:solidFill>
                <a:hlinkClick r:id="rId8">
                  <a:extLst>
                    <a:ext uri="{A12FA001-AC4F-418D-AE19-62706E023703}">
                      <ahyp:hlinkClr xmlns:ahyp="http://schemas.microsoft.com/office/drawing/2018/hyperlinkcolor" val="tx"/>
                    </a:ext>
                  </a:extLst>
                </a:hlinkClick>
              </a:rPr>
              <a:t>Liens : Les tableaux de bord des données </a:t>
            </a:r>
            <a:r>
              <a:rPr lang="en-GB" altLang="en-US" sz="1400" dirty="0" err="1">
                <a:solidFill>
                  <a:schemeClr val="accent1"/>
                </a:solidFill>
                <a:hlinkClick r:id="rId8">
                  <a:extLst>
                    <a:ext uri="{A12FA001-AC4F-418D-AE19-62706E023703}">
                      <ahyp:hlinkClr xmlns:ahyp="http://schemas.microsoft.com/office/drawing/2018/hyperlinkcolor" val="tx"/>
                    </a:ext>
                  </a:extLst>
                </a:hlinkClick>
              </a:rPr>
              <a:t>mondiales</a:t>
            </a:r>
            <a:r>
              <a:rPr lang="en-GB" altLang="en-US" sz="1400" dirty="0">
                <a:solidFill>
                  <a:schemeClr val="accent1"/>
                </a:solidFill>
                <a:hlinkClick r:id="rId8">
                  <a:extLst>
                    <a:ext uri="{A12FA001-AC4F-418D-AE19-62706E023703}">
                      <ahyp:hlinkClr xmlns:ahyp="http://schemas.microsoft.com/office/drawing/2018/hyperlinkcolor" val="tx"/>
                    </a:ext>
                  </a:extLst>
                </a:hlinkClick>
              </a:rPr>
              <a:t> sur la protection </a:t>
            </a:r>
            <a:r>
              <a:rPr lang="en-GB" altLang="en-US" sz="1400" dirty="0" err="1">
                <a:solidFill>
                  <a:schemeClr val="accent1"/>
                </a:solidFill>
                <a:hlinkClick r:id="rId8">
                  <a:extLst>
                    <a:ext uri="{A12FA001-AC4F-418D-AE19-62706E023703}">
                      <ahyp:hlinkClr xmlns:ahyp="http://schemas.microsoft.com/office/drawing/2018/hyperlinkcolor" val="tx"/>
                    </a:ext>
                  </a:extLst>
                </a:hlinkClick>
              </a:rPr>
              <a:t>sociale</a:t>
            </a:r>
            <a:endParaRPr lang="en-GB" altLang="en-US" sz="1400" dirty="0">
              <a:solidFill>
                <a:schemeClr val="accent1"/>
              </a:solidFill>
            </a:endParaRPr>
          </a:p>
        </p:txBody>
      </p:sp>
      <p:pic>
        <p:nvPicPr>
          <p:cNvPr id="26" name="Picture 25">
            <a:extLst>
              <a:ext uri="{FF2B5EF4-FFF2-40B4-BE49-F238E27FC236}">
                <a16:creationId xmlns:a16="http://schemas.microsoft.com/office/drawing/2014/main" id="{0FB6BAAE-83F6-9936-5306-58C2B8A3DE7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509" y="2310331"/>
            <a:ext cx="119513" cy="140298"/>
          </a:xfrm>
          <a:prstGeom prst="rect">
            <a:avLst/>
          </a:prstGeom>
        </p:spPr>
      </p:pic>
      <p:pic>
        <p:nvPicPr>
          <p:cNvPr id="32" name="Picture 31">
            <a:extLst>
              <a:ext uri="{FF2B5EF4-FFF2-40B4-BE49-F238E27FC236}">
                <a16:creationId xmlns:a16="http://schemas.microsoft.com/office/drawing/2014/main" id="{708FF544-B1A3-64E7-23D5-486F3AD7231C}"/>
              </a:ext>
            </a:extLst>
          </p:cNvPr>
          <p:cNvPicPr>
            <a:picLocks noChangeAspect="1"/>
          </p:cNvPicPr>
          <p:nvPr/>
        </p:nvPicPr>
        <p:blipFill>
          <a:blip r:embed="rId9"/>
          <a:stretch>
            <a:fillRect/>
          </a:stretch>
        </p:blipFill>
        <p:spPr>
          <a:xfrm>
            <a:off x="9052560" y="2921884"/>
            <a:ext cx="2308851" cy="3261195"/>
          </a:xfrm>
          <a:prstGeom prst="rect">
            <a:avLst/>
          </a:prstGeom>
        </p:spPr>
      </p:pic>
      <p:pic>
        <p:nvPicPr>
          <p:cNvPr id="7" name="Image 0" descr="/mnt/data/ref_unzip/ppt/media/image1.png">
            <a:extLst>
              <a:ext uri="{FF2B5EF4-FFF2-40B4-BE49-F238E27FC236}">
                <a16:creationId xmlns:a16="http://schemas.microsoft.com/office/drawing/2014/main" id="{E25D4611-48E3-12B0-0685-A77599780460}"/>
              </a:ext>
            </a:extLst>
          </p:cNvPr>
          <p:cNvPicPr>
            <a:picLocks noChangeAspect="1"/>
          </p:cNvPicPr>
          <p:nvPr/>
        </p:nvPicPr>
        <p:blipFill>
          <a:blip r:embed="rId10"/>
          <a:stretch>
            <a:fillRect/>
          </a:stretch>
        </p:blipFill>
        <p:spPr>
          <a:xfrm>
            <a:off x="10088880" y="357645"/>
            <a:ext cx="1508760" cy="520522"/>
          </a:xfrm>
          <a:prstGeom prst="rect">
            <a:avLst/>
          </a:prstGeom>
        </p:spPr>
      </p:pic>
    </p:spTree>
    <p:extLst>
      <p:ext uri="{BB962C8B-B14F-4D97-AF65-F5344CB8AC3E}">
        <p14:creationId xmlns:p14="http://schemas.microsoft.com/office/powerpoint/2010/main" val="27248475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217</TotalTime>
  <Words>3507</Words>
  <Application>Microsoft Office PowerPoint</Application>
  <PresentationFormat>Widescreen</PresentationFormat>
  <Paragraphs>537</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OIT / SNPS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PPT2 — Méthodologie des indicateurs ODD 1.3.1</dc:title>
  <dc:subject>Méthodologie des indicateurs ODD 1.3.1</dc:subject>
  <dc:creator>OpenAI</dc:creator>
  <cp:lastModifiedBy>Moustapha Diouf</cp:lastModifiedBy>
  <cp:revision>1</cp:revision>
  <dcterms:created xsi:type="dcterms:W3CDTF">2026-05-12T21:39:15Z</dcterms:created>
  <dcterms:modified xsi:type="dcterms:W3CDTF">2026-05-20T12:25:57Z</dcterms:modified>
</cp:coreProperties>
</file>