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modernComment_118_E5DF054C.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608" r:id="rId4"/>
    <p:sldId id="610" r:id="rId5"/>
    <p:sldId id="609" r:id="rId6"/>
    <p:sldId id="611" r:id="rId7"/>
    <p:sldId id="270" r:id="rId8"/>
    <p:sldId id="274" r:id="rId9"/>
    <p:sldId id="275" r:id="rId10"/>
    <p:sldId id="276" r:id="rId11"/>
    <p:sldId id="277" r:id="rId12"/>
    <p:sldId id="278" r:id="rId13"/>
    <p:sldId id="279" r:id="rId14"/>
    <p:sldId id="280" r:id="rId15"/>
    <p:sldId id="281" r:id="rId16"/>
    <p:sldId id="282" r:id="rId17"/>
    <p:sldId id="283" r:id="rId18"/>
    <p:sldId id="284" r:id="rId19"/>
    <p:sldId id="28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5433527-4BC8-B2CC-378C-4479DD322429}" name="Moustapha Diouf" initials="MD" userId="a72b42ab654a8fcc"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D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8A5462-ED31-4D8D-AA93-C32DFCC1B795}" v="33" dt="2026-05-20T12:08:55.9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50363" autoAdjust="0"/>
  </p:normalViewPr>
  <p:slideViewPr>
    <p:cSldViewPr snapToGrid="0" snapToObjects="1">
      <p:cViewPr varScale="1">
        <p:scale>
          <a:sx n="55" d="100"/>
          <a:sy n="55" d="100"/>
        </p:scale>
        <p:origin x="2676"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ustapha Diouf" userId="a72b42ab654a8fcc" providerId="LiveId" clId="{22F667E4-E243-4F5A-84DD-87011A6E11D5}"/>
    <pc:docChg chg="undo custSel addSld delSld modSld">
      <pc:chgData name="Moustapha Diouf" userId="a72b42ab654a8fcc" providerId="LiveId" clId="{22F667E4-E243-4F5A-84DD-87011A6E11D5}" dt="2026-05-20T12:24:23.534" v="343" actId="6549"/>
      <pc:docMkLst>
        <pc:docMk/>
      </pc:docMkLst>
      <pc:sldChg chg="addSp delSp modSp mod">
        <pc:chgData name="Moustapha Diouf" userId="a72b42ab654a8fcc" providerId="LiveId" clId="{22F667E4-E243-4F5A-84DD-87011A6E11D5}" dt="2026-05-20T12:09:06.843" v="331" actId="14100"/>
        <pc:sldMkLst>
          <pc:docMk/>
          <pc:sldMk cId="0" sldId="256"/>
        </pc:sldMkLst>
        <pc:picChg chg="add del mod">
          <ac:chgData name="Moustapha Diouf" userId="a72b42ab654a8fcc" providerId="LiveId" clId="{22F667E4-E243-4F5A-84DD-87011A6E11D5}" dt="2026-05-20T12:09:06.843" v="331" actId="14100"/>
          <ac:picMkLst>
            <pc:docMk/>
            <pc:sldMk cId="0" sldId="256"/>
            <ac:picMk id="3" creationId="{00000000-0000-0000-0000-000000000000}"/>
          </ac:picMkLst>
        </pc:picChg>
        <pc:picChg chg="add del mod">
          <ac:chgData name="Moustapha Diouf" userId="a72b42ab654a8fcc" providerId="LiveId" clId="{22F667E4-E243-4F5A-84DD-87011A6E11D5}" dt="2026-05-20T12:09:01.912" v="329" actId="478"/>
          <ac:picMkLst>
            <pc:docMk/>
            <pc:sldMk cId="0" sldId="256"/>
            <ac:picMk id="6" creationId="{DB19CB87-BA25-DE7B-7722-86ED88199C82}"/>
          </ac:picMkLst>
        </pc:picChg>
      </pc:sldChg>
      <pc:sldChg chg="addSp delSp modSp mod modNotesTx">
        <pc:chgData name="Moustapha Diouf" userId="a72b42ab654a8fcc" providerId="LiveId" clId="{22F667E4-E243-4F5A-84DD-87011A6E11D5}" dt="2026-05-20T12:23:33.105" v="332" actId="6549"/>
        <pc:sldMkLst>
          <pc:docMk/>
          <pc:sldMk cId="0" sldId="257"/>
        </pc:sldMkLst>
        <pc:spChg chg="mod">
          <ac:chgData name="Moustapha Diouf" userId="a72b42ab654a8fcc" providerId="LiveId" clId="{22F667E4-E243-4F5A-84DD-87011A6E11D5}" dt="2026-05-14T09:51:53.175" v="72" actId="6549"/>
          <ac:spMkLst>
            <pc:docMk/>
            <pc:sldMk cId="0" sldId="257"/>
            <ac:spMk id="33" creationId="{00000000-0000-0000-0000-000000000000}"/>
          </ac:spMkLst>
        </pc:spChg>
        <pc:spChg chg="mod">
          <ac:chgData name="Moustapha Diouf" userId="a72b42ab654a8fcc" providerId="LiveId" clId="{22F667E4-E243-4F5A-84DD-87011A6E11D5}" dt="2026-05-14T09:53:03.518" v="100" actId="20577"/>
          <ac:spMkLst>
            <pc:docMk/>
            <pc:sldMk cId="0" sldId="257"/>
            <ac:spMk id="43" creationId="{00000000-0000-0000-0000-000000000000}"/>
          </ac:spMkLst>
        </pc:spChg>
        <pc:picChg chg="del">
          <ac:chgData name="Moustapha Diouf" userId="a72b42ab654a8fcc" providerId="LiveId" clId="{22F667E4-E243-4F5A-84DD-87011A6E11D5}" dt="2026-05-20T12:04:12.364" v="282" actId="21"/>
          <ac:picMkLst>
            <pc:docMk/>
            <pc:sldMk cId="0" sldId="257"/>
            <ac:picMk id="3" creationId="{00000000-0000-0000-0000-000000000000}"/>
          </ac:picMkLst>
        </pc:picChg>
        <pc:picChg chg="add mod">
          <ac:chgData name="Moustapha Diouf" userId="a72b42ab654a8fcc" providerId="LiveId" clId="{22F667E4-E243-4F5A-84DD-87011A6E11D5}" dt="2026-05-20T12:04:21.100" v="284" actId="1076"/>
          <ac:picMkLst>
            <pc:docMk/>
            <pc:sldMk cId="0" sldId="257"/>
            <ac:picMk id="46" creationId="{00000000-0000-0000-0000-000000000000}"/>
          </ac:picMkLst>
        </pc:picChg>
      </pc:sldChg>
      <pc:sldChg chg="del">
        <pc:chgData name="Moustapha Diouf" userId="a72b42ab654a8fcc" providerId="LiveId" clId="{22F667E4-E243-4F5A-84DD-87011A6E11D5}" dt="2026-05-20T10:22:14.171" v="186" actId="2696"/>
        <pc:sldMkLst>
          <pc:docMk/>
          <pc:sldMk cId="0" sldId="258"/>
        </pc:sldMkLst>
      </pc:sldChg>
      <pc:sldChg chg="del">
        <pc:chgData name="Moustapha Diouf" userId="a72b42ab654a8fcc" providerId="LiveId" clId="{22F667E4-E243-4F5A-84DD-87011A6E11D5}" dt="2026-05-20T10:22:14.171" v="186" actId="2696"/>
        <pc:sldMkLst>
          <pc:docMk/>
          <pc:sldMk cId="0" sldId="259"/>
        </pc:sldMkLst>
      </pc:sldChg>
      <pc:sldChg chg="del">
        <pc:chgData name="Moustapha Diouf" userId="a72b42ab654a8fcc" providerId="LiveId" clId="{22F667E4-E243-4F5A-84DD-87011A6E11D5}" dt="2026-05-20T10:22:14.171" v="186" actId="2696"/>
        <pc:sldMkLst>
          <pc:docMk/>
          <pc:sldMk cId="0" sldId="260"/>
        </pc:sldMkLst>
      </pc:sldChg>
      <pc:sldChg chg="del">
        <pc:chgData name="Moustapha Diouf" userId="a72b42ab654a8fcc" providerId="LiveId" clId="{22F667E4-E243-4F5A-84DD-87011A6E11D5}" dt="2026-05-20T10:22:14.171" v="186" actId="2696"/>
        <pc:sldMkLst>
          <pc:docMk/>
          <pc:sldMk cId="0" sldId="261"/>
        </pc:sldMkLst>
      </pc:sldChg>
      <pc:sldChg chg="del">
        <pc:chgData name="Moustapha Diouf" userId="a72b42ab654a8fcc" providerId="LiveId" clId="{22F667E4-E243-4F5A-84DD-87011A6E11D5}" dt="2026-05-20T10:22:14.171" v="186" actId="2696"/>
        <pc:sldMkLst>
          <pc:docMk/>
          <pc:sldMk cId="0" sldId="262"/>
        </pc:sldMkLst>
      </pc:sldChg>
      <pc:sldChg chg="del">
        <pc:chgData name="Moustapha Diouf" userId="a72b42ab654a8fcc" providerId="LiveId" clId="{22F667E4-E243-4F5A-84DD-87011A6E11D5}" dt="2026-05-20T10:22:14.171" v="186" actId="2696"/>
        <pc:sldMkLst>
          <pc:docMk/>
          <pc:sldMk cId="0" sldId="263"/>
        </pc:sldMkLst>
      </pc:sldChg>
      <pc:sldChg chg="del">
        <pc:chgData name="Moustapha Diouf" userId="a72b42ab654a8fcc" providerId="LiveId" clId="{22F667E4-E243-4F5A-84DD-87011A6E11D5}" dt="2026-05-20T10:22:14.171" v="186" actId="2696"/>
        <pc:sldMkLst>
          <pc:docMk/>
          <pc:sldMk cId="0" sldId="264"/>
        </pc:sldMkLst>
      </pc:sldChg>
      <pc:sldChg chg="del">
        <pc:chgData name="Moustapha Diouf" userId="a72b42ab654a8fcc" providerId="LiveId" clId="{22F667E4-E243-4F5A-84DD-87011A6E11D5}" dt="2026-05-20T10:22:14.171" v="186" actId="2696"/>
        <pc:sldMkLst>
          <pc:docMk/>
          <pc:sldMk cId="0" sldId="265"/>
        </pc:sldMkLst>
      </pc:sldChg>
      <pc:sldChg chg="modSp del mod">
        <pc:chgData name="Moustapha Diouf" userId="a72b42ab654a8fcc" providerId="LiveId" clId="{22F667E4-E243-4F5A-84DD-87011A6E11D5}" dt="2026-05-20T10:28:53.065" v="271" actId="2696"/>
        <pc:sldMkLst>
          <pc:docMk/>
          <pc:sldMk cId="0" sldId="266"/>
        </pc:sldMkLst>
      </pc:sldChg>
      <pc:sldChg chg="del">
        <pc:chgData name="Moustapha Diouf" userId="a72b42ab654a8fcc" providerId="LiveId" clId="{22F667E4-E243-4F5A-84DD-87011A6E11D5}" dt="2026-05-20T10:22:14.171" v="186" actId="2696"/>
        <pc:sldMkLst>
          <pc:docMk/>
          <pc:sldMk cId="0" sldId="267"/>
        </pc:sldMkLst>
      </pc:sldChg>
      <pc:sldChg chg="modSp del mod">
        <pc:chgData name="Moustapha Diouf" userId="a72b42ab654a8fcc" providerId="LiveId" clId="{22F667E4-E243-4F5A-84DD-87011A6E11D5}" dt="2026-05-20T10:22:14.171" v="186" actId="2696"/>
        <pc:sldMkLst>
          <pc:docMk/>
          <pc:sldMk cId="0" sldId="268"/>
        </pc:sldMkLst>
      </pc:sldChg>
      <pc:sldChg chg="del">
        <pc:chgData name="Moustapha Diouf" userId="a72b42ab654a8fcc" providerId="LiveId" clId="{22F667E4-E243-4F5A-84DD-87011A6E11D5}" dt="2026-05-20T10:22:14.171" v="186" actId="2696"/>
        <pc:sldMkLst>
          <pc:docMk/>
          <pc:sldMk cId="2098156893" sldId="269"/>
        </pc:sldMkLst>
      </pc:sldChg>
      <pc:sldChg chg="addSp delSp modSp mod">
        <pc:chgData name="Moustapha Diouf" userId="a72b42ab654a8fcc" providerId="LiveId" clId="{22F667E4-E243-4F5A-84DD-87011A6E11D5}" dt="2026-05-20T12:08:39.279" v="323" actId="478"/>
        <pc:sldMkLst>
          <pc:docMk/>
          <pc:sldMk cId="3942418482" sldId="270"/>
        </pc:sldMkLst>
        <pc:spChg chg="mod">
          <ac:chgData name="Moustapha Diouf" userId="a72b42ab654a8fcc" providerId="LiveId" clId="{22F667E4-E243-4F5A-84DD-87011A6E11D5}" dt="2026-05-20T12:06:27.860" v="298" actId="108"/>
          <ac:spMkLst>
            <pc:docMk/>
            <pc:sldMk cId="3942418482" sldId="270"/>
            <ac:spMk id="4" creationId="{33C361D4-3918-D32E-FA69-644D7AFA5147}"/>
          </ac:spMkLst>
        </pc:spChg>
        <pc:picChg chg="del">
          <ac:chgData name="Moustapha Diouf" userId="a72b42ab654a8fcc" providerId="LiveId" clId="{22F667E4-E243-4F5A-84DD-87011A6E11D5}" dt="2026-05-20T12:08:39.279" v="323" actId="478"/>
          <ac:picMkLst>
            <pc:docMk/>
            <pc:sldMk cId="3942418482" sldId="270"/>
            <ac:picMk id="3" creationId="{F8533B26-9A3F-C7BB-01E3-C8E6DF965BB5}"/>
          </ac:picMkLst>
        </pc:picChg>
        <pc:picChg chg="add mod">
          <ac:chgData name="Moustapha Diouf" userId="a72b42ab654a8fcc" providerId="LiveId" clId="{22F667E4-E243-4F5A-84DD-87011A6E11D5}" dt="2026-05-20T12:07:23.991" v="301"/>
          <ac:picMkLst>
            <pc:docMk/>
            <pc:sldMk cId="3942418482" sldId="270"/>
            <ac:picMk id="5" creationId="{9E8431BE-5D03-15C4-DC48-76409E04A705}"/>
          </ac:picMkLst>
        </pc:picChg>
      </pc:sldChg>
      <pc:sldChg chg="addSp delSp modSp mod modNotesTx">
        <pc:chgData name="Moustapha Diouf" userId="a72b42ab654a8fcc" providerId="LiveId" clId="{22F667E4-E243-4F5A-84DD-87011A6E11D5}" dt="2026-05-20T12:23:48.147" v="333" actId="6549"/>
        <pc:sldMkLst>
          <pc:docMk/>
          <pc:sldMk cId="2680016889" sldId="274"/>
        </pc:sldMkLst>
        <pc:picChg chg="del">
          <ac:chgData name="Moustapha Diouf" userId="a72b42ab654a8fcc" providerId="LiveId" clId="{22F667E4-E243-4F5A-84DD-87011A6E11D5}" dt="2026-05-20T12:08:36.507" v="322" actId="478"/>
          <ac:picMkLst>
            <pc:docMk/>
            <pc:sldMk cId="2680016889" sldId="274"/>
            <ac:picMk id="3" creationId="{68AE46B9-F811-7721-0909-CB7B4C6701B6}"/>
          </ac:picMkLst>
        </pc:picChg>
        <pc:picChg chg="add mod">
          <ac:chgData name="Moustapha Diouf" userId="a72b42ab654a8fcc" providerId="LiveId" clId="{22F667E4-E243-4F5A-84DD-87011A6E11D5}" dt="2026-05-20T12:07:25.854" v="302"/>
          <ac:picMkLst>
            <pc:docMk/>
            <pc:sldMk cId="2680016889" sldId="274"/>
            <ac:picMk id="10" creationId="{1C3B55C9-57ED-1E5A-4E96-E9C28CB7E7C1}"/>
          </ac:picMkLst>
        </pc:picChg>
      </pc:sldChg>
      <pc:sldChg chg="addSp modSp mod modNotesTx">
        <pc:chgData name="Moustapha Diouf" userId="a72b42ab654a8fcc" providerId="LiveId" clId="{22F667E4-E243-4F5A-84DD-87011A6E11D5}" dt="2026-05-20T12:23:52.496" v="334" actId="6549"/>
        <pc:sldMkLst>
          <pc:docMk/>
          <pc:sldMk cId="590605100" sldId="275"/>
        </pc:sldMkLst>
        <pc:spChg chg="mod">
          <ac:chgData name="Moustapha Diouf" userId="a72b42ab654a8fcc" providerId="LiveId" clId="{22F667E4-E243-4F5A-84DD-87011A6E11D5}" dt="2026-05-20T10:15:01.567" v="126" actId="313"/>
          <ac:spMkLst>
            <pc:docMk/>
            <pc:sldMk cId="590605100" sldId="275"/>
            <ac:spMk id="28" creationId="{22C6F50A-CACA-7190-0CA3-B3458A42826D}"/>
          </ac:spMkLst>
        </pc:spChg>
        <pc:picChg chg="add mod">
          <ac:chgData name="Moustapha Diouf" userId="a72b42ab654a8fcc" providerId="LiveId" clId="{22F667E4-E243-4F5A-84DD-87011A6E11D5}" dt="2026-05-20T12:07:27.359" v="303"/>
          <ac:picMkLst>
            <pc:docMk/>
            <pc:sldMk cId="590605100" sldId="275"/>
            <ac:picMk id="29" creationId="{95CB0E61-14D3-08D2-82D3-C4B52287F4B3}"/>
          </ac:picMkLst>
        </pc:picChg>
      </pc:sldChg>
      <pc:sldChg chg="addSp delSp modSp mod modNotesTx">
        <pc:chgData name="Moustapha Diouf" userId="a72b42ab654a8fcc" providerId="LiveId" clId="{22F667E4-E243-4F5A-84DD-87011A6E11D5}" dt="2026-05-20T12:23:55.456" v="335" actId="6549"/>
        <pc:sldMkLst>
          <pc:docMk/>
          <pc:sldMk cId="2982614577" sldId="276"/>
        </pc:sldMkLst>
        <pc:spChg chg="mod">
          <ac:chgData name="Moustapha Diouf" userId="a72b42ab654a8fcc" providerId="LiveId" clId="{22F667E4-E243-4F5A-84DD-87011A6E11D5}" dt="2026-05-20T10:15:27.445" v="143" actId="313"/>
          <ac:spMkLst>
            <pc:docMk/>
            <pc:sldMk cId="2982614577" sldId="276"/>
            <ac:spMk id="32" creationId="{208B52DA-2247-393F-34D7-28A19D45E235}"/>
          </ac:spMkLst>
        </pc:spChg>
        <pc:picChg chg="del">
          <ac:chgData name="Moustapha Diouf" userId="a72b42ab654a8fcc" providerId="LiveId" clId="{22F667E4-E243-4F5A-84DD-87011A6E11D5}" dt="2026-05-20T12:08:30.699" v="321" actId="478"/>
          <ac:picMkLst>
            <pc:docMk/>
            <pc:sldMk cId="2982614577" sldId="276"/>
            <ac:picMk id="3" creationId="{40F64988-12AD-D8BD-F640-75A59B245113}"/>
          </ac:picMkLst>
        </pc:picChg>
        <pc:picChg chg="add mod">
          <ac:chgData name="Moustapha Diouf" userId="a72b42ab654a8fcc" providerId="LiveId" clId="{22F667E4-E243-4F5A-84DD-87011A6E11D5}" dt="2026-05-20T12:07:30.466" v="304"/>
          <ac:picMkLst>
            <pc:docMk/>
            <pc:sldMk cId="2982614577" sldId="276"/>
            <ac:picMk id="33" creationId="{27403D99-44BD-BFE5-FED9-82F6A80D0EF9}"/>
          </ac:picMkLst>
        </pc:picChg>
      </pc:sldChg>
      <pc:sldChg chg="addSp delSp modSp mod modNotesTx">
        <pc:chgData name="Moustapha Diouf" userId="a72b42ab654a8fcc" providerId="LiveId" clId="{22F667E4-E243-4F5A-84DD-87011A6E11D5}" dt="2026-05-20T12:23:59.067" v="336" actId="6549"/>
        <pc:sldMkLst>
          <pc:docMk/>
          <pc:sldMk cId="3635785786" sldId="277"/>
        </pc:sldMkLst>
        <pc:picChg chg="del">
          <ac:chgData name="Moustapha Diouf" userId="a72b42ab654a8fcc" providerId="LiveId" clId="{22F667E4-E243-4F5A-84DD-87011A6E11D5}" dt="2026-05-20T12:08:28.115" v="320" actId="478"/>
          <ac:picMkLst>
            <pc:docMk/>
            <pc:sldMk cId="3635785786" sldId="277"/>
            <ac:picMk id="3" creationId="{18B43ACC-9056-C29D-11BA-6384B50D6A8A}"/>
          </ac:picMkLst>
        </pc:picChg>
        <pc:picChg chg="add mod">
          <ac:chgData name="Moustapha Diouf" userId="a72b42ab654a8fcc" providerId="LiveId" clId="{22F667E4-E243-4F5A-84DD-87011A6E11D5}" dt="2026-05-20T12:07:31.701" v="305"/>
          <ac:picMkLst>
            <pc:docMk/>
            <pc:sldMk cId="3635785786" sldId="277"/>
            <ac:picMk id="11" creationId="{37776A62-A964-7D2A-3467-A22EC6D9F835}"/>
          </ac:picMkLst>
        </pc:picChg>
      </pc:sldChg>
      <pc:sldChg chg="addSp delSp modSp mod modNotesTx">
        <pc:chgData name="Moustapha Diouf" userId="a72b42ab654a8fcc" providerId="LiveId" clId="{22F667E4-E243-4F5A-84DD-87011A6E11D5}" dt="2026-05-20T12:24:02.987" v="337" actId="6549"/>
        <pc:sldMkLst>
          <pc:docMk/>
          <pc:sldMk cId="2165221103" sldId="278"/>
        </pc:sldMkLst>
        <pc:picChg chg="del">
          <ac:chgData name="Moustapha Diouf" userId="a72b42ab654a8fcc" providerId="LiveId" clId="{22F667E4-E243-4F5A-84DD-87011A6E11D5}" dt="2026-05-20T12:08:25.097" v="319" actId="478"/>
          <ac:picMkLst>
            <pc:docMk/>
            <pc:sldMk cId="2165221103" sldId="278"/>
            <ac:picMk id="3" creationId="{E85672BC-4AA9-0C0E-FF1E-9FDD1035540C}"/>
          </ac:picMkLst>
        </pc:picChg>
        <pc:picChg chg="add mod">
          <ac:chgData name="Moustapha Diouf" userId="a72b42ab654a8fcc" providerId="LiveId" clId="{22F667E4-E243-4F5A-84DD-87011A6E11D5}" dt="2026-05-20T12:07:33.027" v="306"/>
          <ac:picMkLst>
            <pc:docMk/>
            <pc:sldMk cId="2165221103" sldId="278"/>
            <ac:picMk id="27" creationId="{2CAE7B76-633A-526D-50EE-CD328803F80C}"/>
          </ac:picMkLst>
        </pc:picChg>
      </pc:sldChg>
      <pc:sldChg chg="addSp delSp modSp mod modNotesTx">
        <pc:chgData name="Moustapha Diouf" userId="a72b42ab654a8fcc" providerId="LiveId" clId="{22F667E4-E243-4F5A-84DD-87011A6E11D5}" dt="2026-05-20T12:24:05.642" v="338" actId="6549"/>
        <pc:sldMkLst>
          <pc:docMk/>
          <pc:sldMk cId="2417155451" sldId="279"/>
        </pc:sldMkLst>
        <pc:spChg chg="mod">
          <ac:chgData name="Moustapha Diouf" userId="a72b42ab654a8fcc" providerId="LiveId" clId="{22F667E4-E243-4F5A-84DD-87011A6E11D5}" dt="2026-05-14T08:07:27.842" v="71" actId="20577"/>
          <ac:spMkLst>
            <pc:docMk/>
            <pc:sldMk cId="2417155451" sldId="279"/>
            <ac:spMk id="13" creationId="{86384E44-B98B-B76E-B793-F0D4119DF0CF}"/>
          </ac:spMkLst>
        </pc:spChg>
        <pc:picChg chg="del">
          <ac:chgData name="Moustapha Diouf" userId="a72b42ab654a8fcc" providerId="LiveId" clId="{22F667E4-E243-4F5A-84DD-87011A6E11D5}" dt="2026-05-20T12:08:22.421" v="318" actId="478"/>
          <ac:picMkLst>
            <pc:docMk/>
            <pc:sldMk cId="2417155451" sldId="279"/>
            <ac:picMk id="3" creationId="{5AE708C0-6F3A-7B6A-633E-14FEFC6F75F6}"/>
          </ac:picMkLst>
        </pc:picChg>
        <pc:picChg chg="add mod">
          <ac:chgData name="Moustapha Diouf" userId="a72b42ab654a8fcc" providerId="LiveId" clId="{22F667E4-E243-4F5A-84DD-87011A6E11D5}" dt="2026-05-20T12:07:34.285" v="307"/>
          <ac:picMkLst>
            <pc:docMk/>
            <pc:sldMk cId="2417155451" sldId="279"/>
            <ac:picMk id="27" creationId="{F0210CED-D71B-B281-AEAF-4E56D19B846A}"/>
          </ac:picMkLst>
        </pc:picChg>
      </pc:sldChg>
      <pc:sldChg chg="addSp delSp modSp mod modNotesTx">
        <pc:chgData name="Moustapha Diouf" userId="a72b42ab654a8fcc" providerId="LiveId" clId="{22F667E4-E243-4F5A-84DD-87011A6E11D5}" dt="2026-05-20T12:24:09.813" v="339" actId="6549"/>
        <pc:sldMkLst>
          <pc:docMk/>
          <pc:sldMk cId="3856598348" sldId="280"/>
        </pc:sldMkLst>
        <pc:spChg chg="mod">
          <ac:chgData name="Moustapha Diouf" userId="a72b42ab654a8fcc" providerId="LiveId" clId="{22F667E4-E243-4F5A-84DD-87011A6E11D5}" dt="2026-05-20T10:16:27.522" v="148" actId="20577"/>
          <ac:spMkLst>
            <pc:docMk/>
            <pc:sldMk cId="3856598348" sldId="280"/>
            <ac:spMk id="14" creationId="{EA682C80-A0E4-4EF3-B366-F5AA68027BC4}"/>
          </ac:spMkLst>
        </pc:spChg>
        <pc:spChg chg="mod">
          <ac:chgData name="Moustapha Diouf" userId="a72b42ab654a8fcc" providerId="LiveId" clId="{22F667E4-E243-4F5A-84DD-87011A6E11D5}" dt="2026-05-20T10:16:50.208" v="153" actId="6549"/>
          <ac:spMkLst>
            <pc:docMk/>
            <pc:sldMk cId="3856598348" sldId="280"/>
            <ac:spMk id="26" creationId="{9BC1DA14-0E5D-1834-C1B9-B2A5C62E476F}"/>
          </ac:spMkLst>
        </pc:spChg>
        <pc:picChg chg="del">
          <ac:chgData name="Moustapha Diouf" userId="a72b42ab654a8fcc" providerId="LiveId" clId="{22F667E4-E243-4F5A-84DD-87011A6E11D5}" dt="2026-05-20T12:08:19.800" v="317" actId="478"/>
          <ac:picMkLst>
            <pc:docMk/>
            <pc:sldMk cId="3856598348" sldId="280"/>
            <ac:picMk id="3" creationId="{9281B804-1BC0-8E7D-E7F3-E384053D8DE3}"/>
          </ac:picMkLst>
        </pc:picChg>
        <pc:picChg chg="add mod">
          <ac:chgData name="Moustapha Diouf" userId="a72b42ab654a8fcc" providerId="LiveId" clId="{22F667E4-E243-4F5A-84DD-87011A6E11D5}" dt="2026-05-20T12:07:41.708" v="309"/>
          <ac:picMkLst>
            <pc:docMk/>
            <pc:sldMk cId="3856598348" sldId="280"/>
            <ac:picMk id="13" creationId="{794BE24C-B647-EC1C-EA8A-952809E82F76}"/>
          </ac:picMkLst>
        </pc:picChg>
      </pc:sldChg>
      <pc:sldChg chg="addSp delSp modSp mod modNotesTx">
        <pc:chgData name="Moustapha Diouf" userId="a72b42ab654a8fcc" providerId="LiveId" clId="{22F667E4-E243-4F5A-84DD-87011A6E11D5}" dt="2026-05-20T12:24:13.162" v="340" actId="6549"/>
        <pc:sldMkLst>
          <pc:docMk/>
          <pc:sldMk cId="909286562" sldId="281"/>
        </pc:sldMkLst>
        <pc:spChg chg="mod">
          <ac:chgData name="Moustapha Diouf" userId="a72b42ab654a8fcc" providerId="LiveId" clId="{22F667E4-E243-4F5A-84DD-87011A6E11D5}" dt="2026-05-20T10:16:57.442" v="154" actId="20577"/>
          <ac:spMkLst>
            <pc:docMk/>
            <pc:sldMk cId="909286562" sldId="281"/>
            <ac:spMk id="7" creationId="{608C8C59-601B-30C1-3ECF-7C2E2823F26A}"/>
          </ac:spMkLst>
        </pc:spChg>
        <pc:spChg chg="mod">
          <ac:chgData name="Moustapha Diouf" userId="a72b42ab654a8fcc" providerId="LiveId" clId="{22F667E4-E243-4F5A-84DD-87011A6E11D5}" dt="2026-05-20T10:17:06.254" v="155" actId="20577"/>
          <ac:spMkLst>
            <pc:docMk/>
            <pc:sldMk cId="909286562" sldId="281"/>
            <ac:spMk id="10" creationId="{663BF3B2-DA5B-0202-21F4-0E3EFB860EE1}"/>
          </ac:spMkLst>
        </pc:spChg>
        <pc:picChg chg="del">
          <ac:chgData name="Moustapha Diouf" userId="a72b42ab654a8fcc" providerId="LiveId" clId="{22F667E4-E243-4F5A-84DD-87011A6E11D5}" dt="2026-05-20T12:08:17.619" v="316" actId="478"/>
          <ac:picMkLst>
            <pc:docMk/>
            <pc:sldMk cId="909286562" sldId="281"/>
            <ac:picMk id="4" creationId="{68229686-0006-A572-DDF3-46FFAB0D84CD}"/>
          </ac:picMkLst>
        </pc:picChg>
        <pc:picChg chg="add mod">
          <ac:chgData name="Moustapha Diouf" userId="a72b42ab654a8fcc" providerId="LiveId" clId="{22F667E4-E243-4F5A-84DD-87011A6E11D5}" dt="2026-05-20T12:07:38.863" v="308"/>
          <ac:picMkLst>
            <pc:docMk/>
            <pc:sldMk cId="909286562" sldId="281"/>
            <ac:picMk id="11" creationId="{964ECB54-2CC6-85F1-0A40-ADC96699429E}"/>
          </ac:picMkLst>
        </pc:picChg>
      </pc:sldChg>
      <pc:sldChg chg="addSp modSp">
        <pc:chgData name="Moustapha Diouf" userId="a72b42ab654a8fcc" providerId="LiveId" clId="{22F667E4-E243-4F5A-84DD-87011A6E11D5}" dt="2026-05-20T12:07:45.966" v="310"/>
        <pc:sldMkLst>
          <pc:docMk/>
          <pc:sldMk cId="842624996" sldId="282"/>
        </pc:sldMkLst>
        <pc:picChg chg="add mod">
          <ac:chgData name="Moustapha Diouf" userId="a72b42ab654a8fcc" providerId="LiveId" clId="{22F667E4-E243-4F5A-84DD-87011A6E11D5}" dt="2026-05-20T12:07:45.966" v="310"/>
          <ac:picMkLst>
            <pc:docMk/>
            <pc:sldMk cId="842624996" sldId="282"/>
            <ac:picMk id="2" creationId="{D2A91F9E-D6FC-E33D-D4C0-4269FD6C5D96}"/>
          </ac:picMkLst>
        </pc:picChg>
      </pc:sldChg>
      <pc:sldChg chg="delSp modSp mod modNotesTx">
        <pc:chgData name="Moustapha Diouf" userId="a72b42ab654a8fcc" providerId="LiveId" clId="{22F667E4-E243-4F5A-84DD-87011A6E11D5}" dt="2026-05-20T12:24:17.553" v="341" actId="6549"/>
        <pc:sldMkLst>
          <pc:docMk/>
          <pc:sldMk cId="218089475" sldId="283"/>
        </pc:sldMkLst>
        <pc:spChg chg="mod">
          <ac:chgData name="Moustapha Diouf" userId="a72b42ab654a8fcc" providerId="LiveId" clId="{22F667E4-E243-4F5A-84DD-87011A6E11D5}" dt="2026-05-20T10:17:45.148" v="160" actId="6549"/>
          <ac:spMkLst>
            <pc:docMk/>
            <pc:sldMk cId="218089475" sldId="283"/>
            <ac:spMk id="11" creationId="{F17A3365-1D13-AD4C-6C1A-D335F832FA98}"/>
          </ac:spMkLst>
        </pc:spChg>
        <pc:picChg chg="del">
          <ac:chgData name="Moustapha Diouf" userId="a72b42ab654a8fcc" providerId="LiveId" clId="{22F667E4-E243-4F5A-84DD-87011A6E11D5}" dt="2026-05-20T12:08:07.516" v="315" actId="478"/>
          <ac:picMkLst>
            <pc:docMk/>
            <pc:sldMk cId="218089475" sldId="283"/>
            <ac:picMk id="3" creationId="{D9817D58-3F5E-661B-2494-B69AAFFE7D69}"/>
          </ac:picMkLst>
        </pc:picChg>
      </pc:sldChg>
      <pc:sldChg chg="addSp delSp modSp mod modNotesTx">
        <pc:chgData name="Moustapha Diouf" userId="a72b42ab654a8fcc" providerId="LiveId" clId="{22F667E4-E243-4F5A-84DD-87011A6E11D5}" dt="2026-05-20T12:24:20.588" v="342" actId="6549"/>
        <pc:sldMkLst>
          <pc:docMk/>
          <pc:sldMk cId="1166508882" sldId="284"/>
        </pc:sldMkLst>
        <pc:spChg chg="del">
          <ac:chgData name="Moustapha Diouf" userId="a72b42ab654a8fcc" providerId="LiveId" clId="{22F667E4-E243-4F5A-84DD-87011A6E11D5}" dt="2026-05-20T10:18:48.831" v="162" actId="478"/>
          <ac:spMkLst>
            <pc:docMk/>
            <pc:sldMk cId="1166508882" sldId="284"/>
            <ac:spMk id="10" creationId="{0F283D99-452A-9914-06D7-C41AEB5CB451}"/>
          </ac:spMkLst>
        </pc:spChg>
        <pc:spChg chg="del">
          <ac:chgData name="Moustapha Diouf" userId="a72b42ab654a8fcc" providerId="LiveId" clId="{22F667E4-E243-4F5A-84DD-87011A6E11D5}" dt="2026-05-20T10:18:47.559" v="161" actId="478"/>
          <ac:spMkLst>
            <pc:docMk/>
            <pc:sldMk cId="1166508882" sldId="284"/>
            <ac:spMk id="12" creationId="{6C47642F-A033-8E70-AC75-4B76F198F236}"/>
          </ac:spMkLst>
        </pc:spChg>
        <pc:spChg chg="del">
          <ac:chgData name="Moustapha Diouf" userId="a72b42ab654a8fcc" providerId="LiveId" clId="{22F667E4-E243-4F5A-84DD-87011A6E11D5}" dt="2026-05-20T10:18:51.712" v="165" actId="478"/>
          <ac:spMkLst>
            <pc:docMk/>
            <pc:sldMk cId="1166508882" sldId="284"/>
            <ac:spMk id="16" creationId="{C03A598B-B7BB-409F-BF4B-6688A3044CE3}"/>
          </ac:spMkLst>
        </pc:spChg>
        <pc:spChg chg="mod">
          <ac:chgData name="Moustapha Diouf" userId="a72b42ab654a8fcc" providerId="LiveId" clId="{22F667E4-E243-4F5A-84DD-87011A6E11D5}" dt="2026-05-20T10:18:51.050" v="164" actId="6549"/>
          <ac:spMkLst>
            <pc:docMk/>
            <pc:sldMk cId="1166508882" sldId="284"/>
            <ac:spMk id="17" creationId="{0A4D1E3A-CB65-DED9-9B4E-83A0588E0080}"/>
          </ac:spMkLst>
        </pc:spChg>
        <pc:spChg chg="del">
          <ac:chgData name="Moustapha Diouf" userId="a72b42ab654a8fcc" providerId="LiveId" clId="{22F667E4-E243-4F5A-84DD-87011A6E11D5}" dt="2026-05-20T10:18:49.957" v="163" actId="478"/>
          <ac:spMkLst>
            <pc:docMk/>
            <pc:sldMk cId="1166508882" sldId="284"/>
            <ac:spMk id="18" creationId="{7DBF7F44-129C-F899-1E34-02128A7411F3}"/>
          </ac:spMkLst>
        </pc:spChg>
        <pc:spChg chg="del">
          <ac:chgData name="Moustapha Diouf" userId="a72b42ab654a8fcc" providerId="LiveId" clId="{22F667E4-E243-4F5A-84DD-87011A6E11D5}" dt="2026-05-20T10:18:52.672" v="166" actId="478"/>
          <ac:spMkLst>
            <pc:docMk/>
            <pc:sldMk cId="1166508882" sldId="284"/>
            <ac:spMk id="19" creationId="{BA359477-BC48-3C82-2DCE-CADABF3BB536}"/>
          </ac:spMkLst>
        </pc:spChg>
        <pc:spChg chg="del">
          <ac:chgData name="Moustapha Diouf" userId="a72b42ab654a8fcc" providerId="LiveId" clId="{22F667E4-E243-4F5A-84DD-87011A6E11D5}" dt="2026-05-20T10:18:54.186" v="167" actId="478"/>
          <ac:spMkLst>
            <pc:docMk/>
            <pc:sldMk cId="1166508882" sldId="284"/>
            <ac:spMk id="21" creationId="{0EF60018-AC6A-7896-7B2C-492F8A8735AC}"/>
          </ac:spMkLst>
        </pc:spChg>
        <pc:spChg chg="del">
          <ac:chgData name="Moustapha Diouf" userId="a72b42ab654a8fcc" providerId="LiveId" clId="{22F667E4-E243-4F5A-84DD-87011A6E11D5}" dt="2026-05-20T10:18:56.658" v="169" actId="478"/>
          <ac:spMkLst>
            <pc:docMk/>
            <pc:sldMk cId="1166508882" sldId="284"/>
            <ac:spMk id="22" creationId="{7F066B5D-7292-3F6B-D721-9DBFDA79E833}"/>
          </ac:spMkLst>
        </pc:spChg>
        <pc:spChg chg="del">
          <ac:chgData name="Moustapha Diouf" userId="a72b42ab654a8fcc" providerId="LiveId" clId="{22F667E4-E243-4F5A-84DD-87011A6E11D5}" dt="2026-05-20T10:18:55.775" v="168" actId="478"/>
          <ac:spMkLst>
            <pc:docMk/>
            <pc:sldMk cId="1166508882" sldId="284"/>
            <ac:spMk id="24" creationId="{C4558672-5481-F012-16F1-A41D3B67F2D5}"/>
          </ac:spMkLst>
        </pc:spChg>
        <pc:graphicFrameChg chg="add mod modGraphic">
          <ac:chgData name="Moustapha Diouf" userId="a72b42ab654a8fcc" providerId="LiveId" clId="{22F667E4-E243-4F5A-84DD-87011A6E11D5}" dt="2026-05-20T10:20:40.504" v="184"/>
          <ac:graphicFrameMkLst>
            <pc:docMk/>
            <pc:sldMk cId="1166508882" sldId="284"/>
            <ac:graphicFrameMk id="13" creationId="{09D4A4DC-64AD-7D0A-69DB-60673DBA3A36}"/>
          </ac:graphicFrameMkLst>
        </pc:graphicFrameChg>
        <pc:picChg chg="del">
          <ac:chgData name="Moustapha Diouf" userId="a72b42ab654a8fcc" providerId="LiveId" clId="{22F667E4-E243-4F5A-84DD-87011A6E11D5}" dt="2026-05-20T12:08:04.878" v="314" actId="478"/>
          <ac:picMkLst>
            <pc:docMk/>
            <pc:sldMk cId="1166508882" sldId="284"/>
            <ac:picMk id="3" creationId="{A8C58B4E-B59A-73A8-ACB8-46A81043299D}"/>
          </ac:picMkLst>
        </pc:picChg>
        <pc:picChg chg="add mod">
          <ac:chgData name="Moustapha Diouf" userId="a72b42ab654a8fcc" providerId="LiveId" clId="{22F667E4-E243-4F5A-84DD-87011A6E11D5}" dt="2026-05-20T12:07:55.309" v="311"/>
          <ac:picMkLst>
            <pc:docMk/>
            <pc:sldMk cId="1166508882" sldId="284"/>
            <ac:picMk id="10" creationId="{AB289A74-4B35-9B6E-127D-71050E2CA914}"/>
          </ac:picMkLst>
        </pc:picChg>
      </pc:sldChg>
      <pc:sldChg chg="addSp delSp modSp mod modShow modNotesTx">
        <pc:chgData name="Moustapha Diouf" userId="a72b42ab654a8fcc" providerId="LiveId" clId="{22F667E4-E243-4F5A-84DD-87011A6E11D5}" dt="2026-05-20T12:24:23.534" v="343" actId="6549"/>
        <pc:sldMkLst>
          <pc:docMk/>
          <pc:sldMk cId="1748417921" sldId="285"/>
        </pc:sldMkLst>
        <pc:spChg chg="mod">
          <ac:chgData name="Moustapha Diouf" userId="a72b42ab654a8fcc" providerId="LiveId" clId="{22F667E4-E243-4F5A-84DD-87011A6E11D5}" dt="2026-05-20T10:28:36.775" v="268" actId="1076"/>
          <ac:spMkLst>
            <pc:docMk/>
            <pc:sldMk cId="1748417921" sldId="285"/>
            <ac:spMk id="21" creationId="{E211649D-A865-9909-152D-222206022599}"/>
          </ac:spMkLst>
        </pc:spChg>
        <pc:spChg chg="mod">
          <ac:chgData name="Moustapha Diouf" userId="a72b42ab654a8fcc" providerId="LiveId" clId="{22F667E4-E243-4F5A-84DD-87011A6E11D5}" dt="2026-05-20T10:29:22.500" v="281" actId="20577"/>
          <ac:spMkLst>
            <pc:docMk/>
            <pc:sldMk cId="1748417921" sldId="285"/>
            <ac:spMk id="25" creationId="{82B2578A-F3EA-FB56-F264-AA37CDD03BA2}"/>
          </ac:spMkLst>
        </pc:spChg>
        <pc:picChg chg="del">
          <ac:chgData name="Moustapha Diouf" userId="a72b42ab654a8fcc" providerId="LiveId" clId="{22F667E4-E243-4F5A-84DD-87011A6E11D5}" dt="2026-05-20T12:08:02.255" v="313" actId="478"/>
          <ac:picMkLst>
            <pc:docMk/>
            <pc:sldMk cId="1748417921" sldId="285"/>
            <ac:picMk id="3" creationId="{188809CB-E8A5-DD1E-268E-184DC7F891CD}"/>
          </ac:picMkLst>
        </pc:picChg>
        <pc:picChg chg="add mod">
          <ac:chgData name="Moustapha Diouf" userId="a72b42ab654a8fcc" providerId="LiveId" clId="{22F667E4-E243-4F5A-84DD-87011A6E11D5}" dt="2026-05-20T12:07:57.132" v="312"/>
          <ac:picMkLst>
            <pc:docMk/>
            <pc:sldMk cId="1748417921" sldId="285"/>
            <ac:picMk id="13" creationId="{9962A2D3-EC7A-5B93-4CFB-B6575EDF8D79}"/>
          </ac:picMkLst>
        </pc:picChg>
      </pc:sldChg>
      <pc:sldChg chg="modSp mod">
        <pc:chgData name="Moustapha Diouf" userId="a72b42ab654a8fcc" providerId="LiveId" clId="{22F667E4-E243-4F5A-84DD-87011A6E11D5}" dt="2026-05-20T12:05:41.635" v="296" actId="20577"/>
        <pc:sldMkLst>
          <pc:docMk/>
          <pc:sldMk cId="3566082647" sldId="608"/>
        </pc:sldMkLst>
        <pc:spChg chg="mod">
          <ac:chgData name="Moustapha Diouf" userId="a72b42ab654a8fcc" providerId="LiveId" clId="{22F667E4-E243-4F5A-84DD-87011A6E11D5}" dt="2026-05-20T12:05:41.635" v="296" actId="20577"/>
          <ac:spMkLst>
            <pc:docMk/>
            <pc:sldMk cId="3566082647" sldId="608"/>
            <ac:spMk id="4" creationId="{B7B996E0-7906-82FE-058D-005FA1651A3B}"/>
          </ac:spMkLst>
        </pc:spChg>
        <pc:spChg chg="mod">
          <ac:chgData name="Moustapha Diouf" userId="a72b42ab654a8fcc" providerId="LiveId" clId="{22F667E4-E243-4F5A-84DD-87011A6E11D5}" dt="2026-05-20T12:05:08.145" v="292" actId="1076"/>
          <ac:spMkLst>
            <pc:docMk/>
            <pc:sldMk cId="3566082647" sldId="608"/>
            <ac:spMk id="49" creationId="{14987A3A-99CE-6575-0856-530388D2CE0A}"/>
          </ac:spMkLst>
        </pc:spChg>
        <pc:picChg chg="mod">
          <ac:chgData name="Moustapha Diouf" userId="a72b42ab654a8fcc" providerId="LiveId" clId="{22F667E4-E243-4F5A-84DD-87011A6E11D5}" dt="2026-05-20T12:04:28.770" v="285" actId="1076"/>
          <ac:picMkLst>
            <pc:docMk/>
            <pc:sldMk cId="3566082647" sldId="608"/>
            <ac:picMk id="3" creationId="{C17048A1-4139-C99A-2E2E-3723FE1B958D}"/>
          </ac:picMkLst>
        </pc:picChg>
      </pc:sldChg>
      <pc:sldChg chg="addSp delSp modSp mod">
        <pc:chgData name="Moustapha Diouf" userId="a72b42ab654a8fcc" providerId="LiveId" clId="{22F667E4-E243-4F5A-84DD-87011A6E11D5}" dt="2026-05-20T12:08:42.121" v="324" actId="478"/>
        <pc:sldMkLst>
          <pc:docMk/>
          <pc:sldMk cId="2106419923" sldId="609"/>
        </pc:sldMkLst>
        <pc:spChg chg="mod">
          <ac:chgData name="Moustapha Diouf" userId="a72b42ab654a8fcc" providerId="LiveId" clId="{22F667E4-E243-4F5A-84DD-87011A6E11D5}" dt="2026-05-20T12:05:54.169" v="297" actId="108"/>
          <ac:spMkLst>
            <pc:docMk/>
            <pc:sldMk cId="2106419923" sldId="609"/>
            <ac:spMk id="4" creationId="{8EE1690D-E967-7D2B-3E88-1C61B38B08E6}"/>
          </ac:spMkLst>
        </pc:spChg>
        <pc:picChg chg="del">
          <ac:chgData name="Moustapha Diouf" userId="a72b42ab654a8fcc" providerId="LiveId" clId="{22F667E4-E243-4F5A-84DD-87011A6E11D5}" dt="2026-05-20T12:08:42.121" v="324" actId="478"/>
          <ac:picMkLst>
            <pc:docMk/>
            <pc:sldMk cId="2106419923" sldId="609"/>
            <ac:picMk id="3" creationId="{1E038A13-896A-E707-4CD1-C2A396675AF8}"/>
          </ac:picMkLst>
        </pc:picChg>
        <pc:picChg chg="add mod">
          <ac:chgData name="Moustapha Diouf" userId="a72b42ab654a8fcc" providerId="LiveId" clId="{22F667E4-E243-4F5A-84DD-87011A6E11D5}" dt="2026-05-20T12:07:02.561" v="300"/>
          <ac:picMkLst>
            <pc:docMk/>
            <pc:sldMk cId="2106419923" sldId="609"/>
            <ac:picMk id="5" creationId="{153F521C-174F-E04A-CF94-F4CFEC2FD135}"/>
          </ac:picMkLst>
        </pc:picChg>
      </pc:sldChg>
      <pc:sldChg chg="addSp delSp modSp mod">
        <pc:chgData name="Moustapha Diouf" userId="a72b42ab654a8fcc" providerId="LiveId" clId="{22F667E4-E243-4F5A-84DD-87011A6E11D5}" dt="2026-05-20T12:08:44.377" v="325" actId="478"/>
        <pc:sldMkLst>
          <pc:docMk/>
          <pc:sldMk cId="3429338732" sldId="610"/>
        </pc:sldMkLst>
        <pc:spChg chg="mod">
          <ac:chgData name="Moustapha Diouf" userId="a72b42ab654a8fcc" providerId="LiveId" clId="{22F667E4-E243-4F5A-84DD-87011A6E11D5}" dt="2026-05-20T12:05:37.627" v="295" actId="20577"/>
          <ac:spMkLst>
            <pc:docMk/>
            <pc:sldMk cId="3429338732" sldId="610"/>
            <ac:spMk id="4" creationId="{349ACED4-6224-4642-4EB7-11975E3B0DB8}"/>
          </ac:spMkLst>
        </pc:spChg>
        <pc:picChg chg="del">
          <ac:chgData name="Moustapha Diouf" userId="a72b42ab654a8fcc" providerId="LiveId" clId="{22F667E4-E243-4F5A-84DD-87011A6E11D5}" dt="2026-05-20T12:08:44.377" v="325" actId="478"/>
          <ac:picMkLst>
            <pc:docMk/>
            <pc:sldMk cId="3429338732" sldId="610"/>
            <ac:picMk id="3" creationId="{81E888F4-27D9-56AC-5117-C280A835F03D}"/>
          </ac:picMkLst>
        </pc:picChg>
        <pc:picChg chg="add mod">
          <ac:chgData name="Moustapha Diouf" userId="a72b42ab654a8fcc" providerId="LiveId" clId="{22F667E4-E243-4F5A-84DD-87011A6E11D5}" dt="2026-05-20T12:06:48.249" v="299"/>
          <ac:picMkLst>
            <pc:docMk/>
            <pc:sldMk cId="3429338732" sldId="610"/>
            <ac:picMk id="5" creationId="{D1092A51-3900-0F65-30F6-CB8A2106C99F}"/>
          </ac:picMkLst>
        </pc:picChg>
      </pc:sldChg>
      <pc:sldChg chg="modSp mod">
        <pc:chgData name="Moustapha Diouf" userId="a72b42ab654a8fcc" providerId="LiveId" clId="{22F667E4-E243-4F5A-84DD-87011A6E11D5}" dt="2026-05-20T10:14:16.966" v="109" actId="14100"/>
        <pc:sldMkLst>
          <pc:docMk/>
          <pc:sldMk cId="939109828" sldId="611"/>
        </pc:sldMkLst>
        <pc:picChg chg="mod">
          <ac:chgData name="Moustapha Diouf" userId="a72b42ab654a8fcc" providerId="LiveId" clId="{22F667E4-E243-4F5A-84DD-87011A6E11D5}" dt="2026-05-20T10:14:16.966" v="109" actId="14100"/>
          <ac:picMkLst>
            <pc:docMk/>
            <pc:sldMk cId="939109828" sldId="611"/>
            <ac:picMk id="10" creationId="{E82FF4E1-1300-B828-5758-4B3C544F1A8F}"/>
          </ac:picMkLst>
        </pc:picChg>
      </pc:sldChg>
      <pc:sldChg chg="add del setBg">
        <pc:chgData name="Moustapha Diouf" userId="a72b42ab654a8fcc" providerId="LiveId" clId="{22F667E4-E243-4F5A-84DD-87011A6E11D5}" dt="2026-05-20T10:19:07.172" v="171"/>
        <pc:sldMkLst>
          <pc:docMk/>
          <pc:sldMk cId="2777101536" sldId="612"/>
        </pc:sldMkLst>
      </pc:sldChg>
    </pc:docChg>
  </pc:docChgLst>
</pc:chgInfo>
</file>

<file path=ppt/comments/modernComment_118_E5DF054C.xml><?xml version="1.0" encoding="utf-8"?>
<p188:cmLst xmlns:a="http://schemas.openxmlformats.org/drawingml/2006/main" xmlns:r="http://schemas.openxmlformats.org/officeDocument/2006/relationships" xmlns:p188="http://schemas.microsoft.com/office/powerpoint/2018/8/main">
  <p188:cm id="{F6D57801-9BBC-4B58-9C47-79DBE0EF603A}" authorId="{E5433527-4BC8-B2CC-378C-4479DD322429}" created="2026-05-13T10:50:35.298">
    <pc:sldMkLst xmlns:pc="http://schemas.microsoft.com/office/powerpoint/2013/main/command">
      <pc:docMk/>
      <pc:sldMk cId="0" sldId="264"/>
    </pc:sldMkLst>
    <p188:txBody>
      <a:bodyPr/>
      <a:lstStyle/>
      <a:p>
        <a:r>
          <a:rPr lang="en-CH"/>
          <a:t>Mettre à jour et plus grand</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A9D0C9-616D-EF4F-9DDA-BE6F5A563D8A}" type="doc">
      <dgm:prSet loTypeId="urn:microsoft.com/office/officeart/2005/8/layout/matrix1" loCatId="" qsTypeId="urn:microsoft.com/office/officeart/2005/8/quickstyle/simple1" qsCatId="simple" csTypeId="urn:microsoft.com/office/officeart/2005/8/colors/accent1_2" csCatId="accent1" phldr="1"/>
      <dgm:spPr/>
      <dgm:t>
        <a:bodyPr/>
        <a:lstStyle/>
        <a:p>
          <a:endParaRPr lang="es-ES"/>
        </a:p>
      </dgm:t>
    </dgm:pt>
    <dgm:pt modelId="{96740643-A8FF-6E4B-8EF3-4135435D2ADF}">
      <dgm:prSet phldrT="[Texto]"/>
      <dgm:spPr/>
      <dgm:t>
        <a:bodyPr/>
        <a:lstStyle/>
        <a:p>
          <a:pPr rtl="0"/>
          <a:r>
            <a:rPr lang="fr-FR" noProof="0" dirty="0">
              <a:latin typeface="Arial" panose="020B0604020202020204" pitchFamily="34" charset="0"/>
              <a:cs typeface="Arial" panose="020B0604020202020204" pitchFamily="34" charset="0"/>
            </a:rPr>
            <a:t>Création d'emplois et développement des entreprises</a:t>
          </a:r>
        </a:p>
      </dgm:t>
    </dgm:pt>
    <dgm:pt modelId="{C5595B8A-5A49-9744-AC36-63ED8E021923}" type="parTrans" cxnId="{410B2F8A-79EE-CD46-BFB1-7C38B19FE5A2}">
      <dgm:prSet/>
      <dgm:spPr/>
      <dgm:t>
        <a:bodyPr/>
        <a:lstStyle/>
        <a:p>
          <a:endParaRPr lang="es-ES">
            <a:latin typeface="Arial" panose="020B0604020202020204" pitchFamily="34" charset="0"/>
            <a:cs typeface="Arial" panose="020B0604020202020204" pitchFamily="34" charset="0"/>
          </a:endParaRPr>
        </a:p>
      </dgm:t>
    </dgm:pt>
    <dgm:pt modelId="{198A6E98-0F1E-E744-B036-28FCDDC4A1A0}" type="sibTrans" cxnId="{410B2F8A-79EE-CD46-BFB1-7C38B19FE5A2}">
      <dgm:prSet/>
      <dgm:spPr/>
      <dgm:t>
        <a:bodyPr/>
        <a:lstStyle/>
        <a:p>
          <a:endParaRPr lang="es-ES">
            <a:latin typeface="Arial" panose="020B0604020202020204" pitchFamily="34" charset="0"/>
            <a:cs typeface="Arial" panose="020B0604020202020204" pitchFamily="34" charset="0"/>
          </a:endParaRPr>
        </a:p>
      </dgm:t>
    </dgm:pt>
    <dgm:pt modelId="{CA8B25CF-EFEA-EF4F-B826-43392B4CBB9A}">
      <dgm:prSet phldrT="[Texto]"/>
      <dgm:spPr/>
      <dgm:t>
        <a:bodyPr/>
        <a:lstStyle/>
        <a:p>
          <a:pPr rtl="0"/>
          <a:r>
            <a:rPr lang="fr-FR" noProof="0" dirty="0">
              <a:latin typeface="Arial" panose="020B0604020202020204" pitchFamily="34" charset="0"/>
              <a:cs typeface="Arial" panose="020B0604020202020204" pitchFamily="34" charset="0"/>
            </a:rPr>
            <a:t>Protection sociale</a:t>
          </a:r>
        </a:p>
      </dgm:t>
    </dgm:pt>
    <dgm:pt modelId="{8DAD388E-0C81-B149-BB76-CAE83ADA619F}" type="parTrans" cxnId="{71B9528A-8E69-5447-9ABD-A3139F930A2D}">
      <dgm:prSet/>
      <dgm:spPr/>
      <dgm:t>
        <a:bodyPr/>
        <a:lstStyle/>
        <a:p>
          <a:endParaRPr lang="es-ES">
            <a:latin typeface="Arial" panose="020B0604020202020204" pitchFamily="34" charset="0"/>
            <a:cs typeface="Arial" panose="020B0604020202020204" pitchFamily="34" charset="0"/>
          </a:endParaRPr>
        </a:p>
      </dgm:t>
    </dgm:pt>
    <dgm:pt modelId="{DDD978CF-4CB1-9B41-A79A-2ED90E0CF2AD}" type="sibTrans" cxnId="{71B9528A-8E69-5447-9ABD-A3139F930A2D}">
      <dgm:prSet/>
      <dgm:spPr/>
      <dgm:t>
        <a:bodyPr/>
        <a:lstStyle/>
        <a:p>
          <a:endParaRPr lang="es-ES">
            <a:latin typeface="Arial" panose="020B0604020202020204" pitchFamily="34" charset="0"/>
            <a:cs typeface="Arial" panose="020B0604020202020204" pitchFamily="34" charset="0"/>
          </a:endParaRPr>
        </a:p>
      </dgm:t>
    </dgm:pt>
    <dgm:pt modelId="{55E027C9-E53D-EF47-B0F9-B7615B1FC2F0}">
      <dgm:prSet phldrT="[Texto]"/>
      <dgm:spPr/>
      <dgm:t>
        <a:bodyPr/>
        <a:lstStyle/>
        <a:p>
          <a:pPr rtl="0"/>
          <a:r>
            <a:rPr lang="fr-FR" noProof="0" dirty="0">
              <a:latin typeface="Arial" panose="020B0604020202020204" pitchFamily="34" charset="0"/>
              <a:cs typeface="Arial" panose="020B0604020202020204" pitchFamily="34" charset="0"/>
            </a:rPr>
            <a:t>Normes et droits au travail</a:t>
          </a:r>
        </a:p>
      </dgm:t>
    </dgm:pt>
    <dgm:pt modelId="{2AF61D63-FAA3-B949-BB61-31D6B0ED6B3B}" type="parTrans" cxnId="{61DE7A50-7F99-8C45-A8CF-B3000AC1D2BA}">
      <dgm:prSet/>
      <dgm:spPr/>
      <dgm:t>
        <a:bodyPr/>
        <a:lstStyle/>
        <a:p>
          <a:endParaRPr lang="es-ES">
            <a:latin typeface="Arial" panose="020B0604020202020204" pitchFamily="34" charset="0"/>
            <a:cs typeface="Arial" panose="020B0604020202020204" pitchFamily="34" charset="0"/>
          </a:endParaRPr>
        </a:p>
      </dgm:t>
    </dgm:pt>
    <dgm:pt modelId="{6966BF5C-256B-744E-A995-AA94B7A1B115}" type="sibTrans" cxnId="{61DE7A50-7F99-8C45-A8CF-B3000AC1D2BA}">
      <dgm:prSet/>
      <dgm:spPr/>
      <dgm:t>
        <a:bodyPr/>
        <a:lstStyle/>
        <a:p>
          <a:endParaRPr lang="es-ES">
            <a:latin typeface="Arial" panose="020B0604020202020204" pitchFamily="34" charset="0"/>
            <a:cs typeface="Arial" panose="020B0604020202020204" pitchFamily="34" charset="0"/>
          </a:endParaRPr>
        </a:p>
      </dgm:t>
    </dgm:pt>
    <dgm:pt modelId="{5602DA74-657F-4143-8630-58F442A0F2B1}">
      <dgm:prSet phldrT="[Texto]"/>
      <dgm:spPr/>
      <dgm:t>
        <a:bodyPr/>
        <a:lstStyle/>
        <a:p>
          <a:pPr rtl="0"/>
          <a:r>
            <a:rPr lang="fr-FR" noProof="0" dirty="0">
              <a:latin typeface="Arial" panose="020B0604020202020204" pitchFamily="34" charset="0"/>
              <a:cs typeface="Arial" panose="020B0604020202020204" pitchFamily="34" charset="0"/>
            </a:rPr>
            <a:t>Gouvernance et dialogue social</a:t>
          </a:r>
        </a:p>
      </dgm:t>
    </dgm:pt>
    <dgm:pt modelId="{3AAAEB51-D136-FD48-B3DC-B60A6896AEAE}" type="parTrans" cxnId="{E608C906-E0AA-FF4B-ADBA-79056E0B2AC2}">
      <dgm:prSet/>
      <dgm:spPr/>
      <dgm:t>
        <a:bodyPr/>
        <a:lstStyle/>
        <a:p>
          <a:endParaRPr lang="es-ES">
            <a:latin typeface="Arial" panose="020B0604020202020204" pitchFamily="34" charset="0"/>
            <a:cs typeface="Arial" panose="020B0604020202020204" pitchFamily="34" charset="0"/>
          </a:endParaRPr>
        </a:p>
      </dgm:t>
    </dgm:pt>
    <dgm:pt modelId="{B14A652A-C88E-4A48-B15C-99622F5BB9CB}" type="sibTrans" cxnId="{E608C906-E0AA-FF4B-ADBA-79056E0B2AC2}">
      <dgm:prSet/>
      <dgm:spPr/>
      <dgm:t>
        <a:bodyPr/>
        <a:lstStyle/>
        <a:p>
          <a:endParaRPr lang="es-ES">
            <a:latin typeface="Arial" panose="020B0604020202020204" pitchFamily="34" charset="0"/>
            <a:cs typeface="Arial" panose="020B0604020202020204" pitchFamily="34" charset="0"/>
          </a:endParaRPr>
        </a:p>
      </dgm:t>
    </dgm:pt>
    <dgm:pt modelId="{0D304119-6B67-6642-9E12-D63F8CE1C32E}">
      <dgm:prSet phldrT="[Texto]" custT="1"/>
      <dgm:spPr/>
      <dgm:t>
        <a:bodyPr/>
        <a:lstStyle/>
        <a:p>
          <a:pPr rtl="0"/>
          <a:r>
            <a:rPr lang="fr-FR" sz="1200" noProof="0" dirty="0">
              <a:latin typeface="Arial" panose="020B0604020202020204" pitchFamily="34" charset="0"/>
              <a:cs typeface="Arial" panose="020B0604020202020204" pitchFamily="34" charset="0"/>
            </a:rPr>
            <a:t>Égalité des sexes, droits de l'homme, transition équitable</a:t>
          </a:r>
        </a:p>
      </dgm:t>
    </dgm:pt>
    <dgm:pt modelId="{696D0D54-A8C8-3148-8E46-B74583F08734}" type="sibTrans" cxnId="{3A866410-E91A-D743-B789-892BEAD50FCB}">
      <dgm:prSet/>
      <dgm:spPr/>
      <dgm:t>
        <a:bodyPr/>
        <a:lstStyle/>
        <a:p>
          <a:endParaRPr lang="es-ES">
            <a:latin typeface="Arial" panose="020B0604020202020204" pitchFamily="34" charset="0"/>
            <a:cs typeface="Arial" panose="020B0604020202020204" pitchFamily="34" charset="0"/>
          </a:endParaRPr>
        </a:p>
      </dgm:t>
    </dgm:pt>
    <dgm:pt modelId="{830CF5CE-7E74-8A46-91A1-7B9F9F1341EA}" type="parTrans" cxnId="{3A866410-E91A-D743-B789-892BEAD50FCB}">
      <dgm:prSet/>
      <dgm:spPr/>
      <dgm:t>
        <a:bodyPr/>
        <a:lstStyle/>
        <a:p>
          <a:endParaRPr lang="es-ES">
            <a:latin typeface="Arial" panose="020B0604020202020204" pitchFamily="34" charset="0"/>
            <a:cs typeface="Arial" panose="020B0604020202020204" pitchFamily="34" charset="0"/>
          </a:endParaRPr>
        </a:p>
      </dgm:t>
    </dgm:pt>
    <dgm:pt modelId="{C5A7C257-EA51-3A46-B850-525736D83F3C}" type="pres">
      <dgm:prSet presAssocID="{95A9D0C9-616D-EF4F-9DDA-BE6F5A563D8A}" presName="diagram" presStyleCnt="0">
        <dgm:presLayoutVars>
          <dgm:chMax val="1"/>
          <dgm:dir/>
          <dgm:animLvl val="ctr"/>
          <dgm:resizeHandles val="exact"/>
        </dgm:presLayoutVars>
      </dgm:prSet>
      <dgm:spPr/>
    </dgm:pt>
    <dgm:pt modelId="{50A5ACBF-76C1-5A48-AB17-C19F420D3955}" type="pres">
      <dgm:prSet presAssocID="{95A9D0C9-616D-EF4F-9DDA-BE6F5A563D8A}" presName="matrix" presStyleCnt="0"/>
      <dgm:spPr/>
    </dgm:pt>
    <dgm:pt modelId="{162C90CB-AEBB-D544-A0A9-78249FCD278D}" type="pres">
      <dgm:prSet presAssocID="{95A9D0C9-616D-EF4F-9DDA-BE6F5A563D8A}" presName="tile1" presStyleLbl="node1" presStyleIdx="0" presStyleCnt="4" custLinFactNeighborX="-26086" custLinFactNeighborY="-45533"/>
      <dgm:spPr/>
    </dgm:pt>
    <dgm:pt modelId="{054387EE-EA0C-3444-9C9E-620654931CFA}" type="pres">
      <dgm:prSet presAssocID="{95A9D0C9-616D-EF4F-9DDA-BE6F5A563D8A}" presName="tile1text" presStyleLbl="node1" presStyleIdx="0" presStyleCnt="4">
        <dgm:presLayoutVars>
          <dgm:chMax val="0"/>
          <dgm:chPref val="0"/>
          <dgm:bulletEnabled val="1"/>
        </dgm:presLayoutVars>
      </dgm:prSet>
      <dgm:spPr/>
    </dgm:pt>
    <dgm:pt modelId="{BD1547E6-E1C7-014E-81DA-1AE44F3583AD}" type="pres">
      <dgm:prSet presAssocID="{95A9D0C9-616D-EF4F-9DDA-BE6F5A563D8A}" presName="tile2" presStyleLbl="node1" presStyleIdx="1" presStyleCnt="4"/>
      <dgm:spPr/>
    </dgm:pt>
    <dgm:pt modelId="{2280BC52-0E3D-324B-A430-28C13734344F}" type="pres">
      <dgm:prSet presAssocID="{95A9D0C9-616D-EF4F-9DDA-BE6F5A563D8A}" presName="tile2text" presStyleLbl="node1" presStyleIdx="1" presStyleCnt="4">
        <dgm:presLayoutVars>
          <dgm:chMax val="0"/>
          <dgm:chPref val="0"/>
          <dgm:bulletEnabled val="1"/>
        </dgm:presLayoutVars>
      </dgm:prSet>
      <dgm:spPr/>
    </dgm:pt>
    <dgm:pt modelId="{97C1D9AB-29CC-7E41-9CE7-61069187103B}" type="pres">
      <dgm:prSet presAssocID="{95A9D0C9-616D-EF4F-9DDA-BE6F5A563D8A}" presName="tile3" presStyleLbl="node1" presStyleIdx="2" presStyleCnt="4"/>
      <dgm:spPr/>
    </dgm:pt>
    <dgm:pt modelId="{B383E6FE-45E3-1749-BE45-DB677011906D}" type="pres">
      <dgm:prSet presAssocID="{95A9D0C9-616D-EF4F-9DDA-BE6F5A563D8A}" presName="tile3text" presStyleLbl="node1" presStyleIdx="2" presStyleCnt="4">
        <dgm:presLayoutVars>
          <dgm:chMax val="0"/>
          <dgm:chPref val="0"/>
          <dgm:bulletEnabled val="1"/>
        </dgm:presLayoutVars>
      </dgm:prSet>
      <dgm:spPr/>
    </dgm:pt>
    <dgm:pt modelId="{BFA715FB-02A5-5B4D-A182-132204A2C681}" type="pres">
      <dgm:prSet presAssocID="{95A9D0C9-616D-EF4F-9DDA-BE6F5A563D8A}" presName="tile4" presStyleLbl="node1" presStyleIdx="3" presStyleCnt="4"/>
      <dgm:spPr/>
    </dgm:pt>
    <dgm:pt modelId="{2616603F-CD41-5549-8406-C5EB3C06C292}" type="pres">
      <dgm:prSet presAssocID="{95A9D0C9-616D-EF4F-9DDA-BE6F5A563D8A}" presName="tile4text" presStyleLbl="node1" presStyleIdx="3" presStyleCnt="4">
        <dgm:presLayoutVars>
          <dgm:chMax val="0"/>
          <dgm:chPref val="0"/>
          <dgm:bulletEnabled val="1"/>
        </dgm:presLayoutVars>
      </dgm:prSet>
      <dgm:spPr/>
    </dgm:pt>
    <dgm:pt modelId="{442E547E-ECEC-4A48-8EA0-1A831195A89F}" type="pres">
      <dgm:prSet presAssocID="{95A9D0C9-616D-EF4F-9DDA-BE6F5A563D8A}" presName="centerTile" presStyleLbl="fgShp" presStyleIdx="0" presStyleCnt="1" custScaleX="150341" custScaleY="126447">
        <dgm:presLayoutVars>
          <dgm:chMax val="0"/>
          <dgm:chPref val="0"/>
        </dgm:presLayoutVars>
      </dgm:prSet>
      <dgm:spPr/>
    </dgm:pt>
  </dgm:ptLst>
  <dgm:cxnLst>
    <dgm:cxn modelId="{E608C906-E0AA-FF4B-ADBA-79056E0B2AC2}" srcId="{0D304119-6B67-6642-9E12-D63F8CE1C32E}" destId="{5602DA74-657F-4143-8630-58F442A0F2B1}" srcOrd="3" destOrd="0" parTransId="{3AAAEB51-D136-FD48-B3DC-B60A6896AEAE}" sibTransId="{B14A652A-C88E-4A48-B15C-99622F5BB9CB}"/>
    <dgm:cxn modelId="{3A866410-E91A-D743-B789-892BEAD50FCB}" srcId="{95A9D0C9-616D-EF4F-9DDA-BE6F5A563D8A}" destId="{0D304119-6B67-6642-9E12-D63F8CE1C32E}" srcOrd="0" destOrd="0" parTransId="{830CF5CE-7E74-8A46-91A1-7B9F9F1341EA}" sibTransId="{696D0D54-A8C8-3148-8E46-B74583F08734}"/>
    <dgm:cxn modelId="{3E5A5B22-A3E2-B048-9C8F-87352FEE926D}" type="presOf" srcId="{0D304119-6B67-6642-9E12-D63F8CE1C32E}" destId="{442E547E-ECEC-4A48-8EA0-1A831195A89F}" srcOrd="0" destOrd="0" presId="urn:microsoft.com/office/officeart/2005/8/layout/matrix1"/>
    <dgm:cxn modelId="{35F5DA28-E042-E944-BC9E-40068FE6F027}" type="presOf" srcId="{96740643-A8FF-6E4B-8EF3-4135435D2ADF}" destId="{054387EE-EA0C-3444-9C9E-620654931CFA}" srcOrd="1" destOrd="0" presId="urn:microsoft.com/office/officeart/2005/8/layout/matrix1"/>
    <dgm:cxn modelId="{207CD95B-B306-2F41-8653-7F36069B9CED}" type="presOf" srcId="{CA8B25CF-EFEA-EF4F-B826-43392B4CBB9A}" destId="{2280BC52-0E3D-324B-A430-28C13734344F}" srcOrd="1" destOrd="0" presId="urn:microsoft.com/office/officeart/2005/8/layout/matrix1"/>
    <dgm:cxn modelId="{61DE7A50-7F99-8C45-A8CF-B3000AC1D2BA}" srcId="{0D304119-6B67-6642-9E12-D63F8CE1C32E}" destId="{55E027C9-E53D-EF47-B0F9-B7615B1FC2F0}" srcOrd="2" destOrd="0" parTransId="{2AF61D63-FAA3-B949-BB61-31D6B0ED6B3B}" sibTransId="{6966BF5C-256B-744E-A995-AA94B7A1B115}"/>
    <dgm:cxn modelId="{410B2F8A-79EE-CD46-BFB1-7C38B19FE5A2}" srcId="{0D304119-6B67-6642-9E12-D63F8CE1C32E}" destId="{96740643-A8FF-6E4B-8EF3-4135435D2ADF}" srcOrd="0" destOrd="0" parTransId="{C5595B8A-5A49-9744-AC36-63ED8E021923}" sibTransId="{198A6E98-0F1E-E744-B036-28FCDDC4A1A0}"/>
    <dgm:cxn modelId="{71B9528A-8E69-5447-9ABD-A3139F930A2D}" srcId="{0D304119-6B67-6642-9E12-D63F8CE1C32E}" destId="{CA8B25CF-EFEA-EF4F-B826-43392B4CBB9A}" srcOrd="1" destOrd="0" parTransId="{8DAD388E-0C81-B149-BB76-CAE83ADA619F}" sibTransId="{DDD978CF-4CB1-9B41-A79A-2ED90E0CF2AD}"/>
    <dgm:cxn modelId="{7C15A597-34E7-8947-9F0C-7B8B752B3637}" type="presOf" srcId="{55E027C9-E53D-EF47-B0F9-B7615B1FC2F0}" destId="{B383E6FE-45E3-1749-BE45-DB677011906D}" srcOrd="1" destOrd="0" presId="urn:microsoft.com/office/officeart/2005/8/layout/matrix1"/>
    <dgm:cxn modelId="{69E6B898-50BB-2C44-B11C-800BEF8248CD}" type="presOf" srcId="{95A9D0C9-616D-EF4F-9DDA-BE6F5A563D8A}" destId="{C5A7C257-EA51-3A46-B850-525736D83F3C}" srcOrd="0" destOrd="0" presId="urn:microsoft.com/office/officeart/2005/8/layout/matrix1"/>
    <dgm:cxn modelId="{3D41F5A5-4DB0-A845-AF2C-E6F3F2854F15}" type="presOf" srcId="{CA8B25CF-EFEA-EF4F-B826-43392B4CBB9A}" destId="{BD1547E6-E1C7-014E-81DA-1AE44F3583AD}" srcOrd="0" destOrd="0" presId="urn:microsoft.com/office/officeart/2005/8/layout/matrix1"/>
    <dgm:cxn modelId="{0CA36BBB-E38D-C94D-A429-7CC185806E75}" type="presOf" srcId="{5602DA74-657F-4143-8630-58F442A0F2B1}" destId="{2616603F-CD41-5549-8406-C5EB3C06C292}" srcOrd="1" destOrd="0" presId="urn:microsoft.com/office/officeart/2005/8/layout/matrix1"/>
    <dgm:cxn modelId="{DA0AACBD-D069-1D45-A75C-B10AF2D1CF74}" type="presOf" srcId="{96740643-A8FF-6E4B-8EF3-4135435D2ADF}" destId="{162C90CB-AEBB-D544-A0A9-78249FCD278D}" srcOrd="0" destOrd="0" presId="urn:microsoft.com/office/officeart/2005/8/layout/matrix1"/>
    <dgm:cxn modelId="{C3E636D3-DDB9-E444-9F4F-CFAB8408EE62}" type="presOf" srcId="{55E027C9-E53D-EF47-B0F9-B7615B1FC2F0}" destId="{97C1D9AB-29CC-7E41-9CE7-61069187103B}" srcOrd="0" destOrd="0" presId="urn:microsoft.com/office/officeart/2005/8/layout/matrix1"/>
    <dgm:cxn modelId="{97EC94E4-7923-4D41-B91F-EB145BFA9757}" type="presOf" srcId="{5602DA74-657F-4143-8630-58F442A0F2B1}" destId="{BFA715FB-02A5-5B4D-A182-132204A2C681}" srcOrd="0" destOrd="0" presId="urn:microsoft.com/office/officeart/2005/8/layout/matrix1"/>
    <dgm:cxn modelId="{6C58DAF4-B1B0-5A48-83D9-B43D62287CE8}" type="presParOf" srcId="{C5A7C257-EA51-3A46-B850-525736D83F3C}" destId="{50A5ACBF-76C1-5A48-AB17-C19F420D3955}" srcOrd="0" destOrd="0" presId="urn:microsoft.com/office/officeart/2005/8/layout/matrix1"/>
    <dgm:cxn modelId="{F7C69EF1-19C9-2C4B-A026-5D4F5D33FEE6}" type="presParOf" srcId="{50A5ACBF-76C1-5A48-AB17-C19F420D3955}" destId="{162C90CB-AEBB-D544-A0A9-78249FCD278D}" srcOrd="0" destOrd="0" presId="urn:microsoft.com/office/officeart/2005/8/layout/matrix1"/>
    <dgm:cxn modelId="{D75E4C4D-2FBA-F94D-93E1-E2D787D4630A}" type="presParOf" srcId="{50A5ACBF-76C1-5A48-AB17-C19F420D3955}" destId="{054387EE-EA0C-3444-9C9E-620654931CFA}" srcOrd="1" destOrd="0" presId="urn:microsoft.com/office/officeart/2005/8/layout/matrix1"/>
    <dgm:cxn modelId="{CF8CBD49-0424-3B4B-B95F-39C6FD80C3C9}" type="presParOf" srcId="{50A5ACBF-76C1-5A48-AB17-C19F420D3955}" destId="{BD1547E6-E1C7-014E-81DA-1AE44F3583AD}" srcOrd="2" destOrd="0" presId="urn:microsoft.com/office/officeart/2005/8/layout/matrix1"/>
    <dgm:cxn modelId="{2EDD0C07-7609-1847-A1B9-1271CCBD0EA9}" type="presParOf" srcId="{50A5ACBF-76C1-5A48-AB17-C19F420D3955}" destId="{2280BC52-0E3D-324B-A430-28C13734344F}" srcOrd="3" destOrd="0" presId="urn:microsoft.com/office/officeart/2005/8/layout/matrix1"/>
    <dgm:cxn modelId="{0EBA462D-4A30-804D-AE4D-9C91E6DDEBE9}" type="presParOf" srcId="{50A5ACBF-76C1-5A48-AB17-C19F420D3955}" destId="{97C1D9AB-29CC-7E41-9CE7-61069187103B}" srcOrd="4" destOrd="0" presId="urn:microsoft.com/office/officeart/2005/8/layout/matrix1"/>
    <dgm:cxn modelId="{BC32F8ED-2D9D-BE47-ABA1-DB004998BBBF}" type="presParOf" srcId="{50A5ACBF-76C1-5A48-AB17-C19F420D3955}" destId="{B383E6FE-45E3-1749-BE45-DB677011906D}" srcOrd="5" destOrd="0" presId="urn:microsoft.com/office/officeart/2005/8/layout/matrix1"/>
    <dgm:cxn modelId="{B07AB40F-F037-6F4C-8B32-6574BF2B0645}" type="presParOf" srcId="{50A5ACBF-76C1-5A48-AB17-C19F420D3955}" destId="{BFA715FB-02A5-5B4D-A182-132204A2C681}" srcOrd="6" destOrd="0" presId="urn:microsoft.com/office/officeart/2005/8/layout/matrix1"/>
    <dgm:cxn modelId="{8EB595B5-6BE9-874F-AA1F-D41912FD108D}" type="presParOf" srcId="{50A5ACBF-76C1-5A48-AB17-C19F420D3955}" destId="{2616603F-CD41-5549-8406-C5EB3C06C292}" srcOrd="7" destOrd="0" presId="urn:microsoft.com/office/officeart/2005/8/layout/matrix1"/>
    <dgm:cxn modelId="{42F754ED-13BA-5E40-8C9A-801A7A8EB15D}" type="presParOf" srcId="{C5A7C257-EA51-3A46-B850-525736D83F3C}" destId="{442E547E-ECEC-4A48-8EA0-1A831195A89F}" srcOrd="1" destOrd="0" presId="urn:microsoft.com/office/officeart/2005/8/layout/matrix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2C90CB-AEBB-D544-A0A9-78249FCD278D}">
      <dsp:nvSpPr>
        <dsp:cNvPr id="0" name=""/>
        <dsp:cNvSpPr/>
      </dsp:nvSpPr>
      <dsp:spPr>
        <a:xfrm rot="16200000">
          <a:off x="372907" y="-372907"/>
          <a:ext cx="1189927" cy="1935742"/>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fr-FR" sz="1600" kern="1200" noProof="0" dirty="0">
              <a:latin typeface="Arial" panose="020B0604020202020204" pitchFamily="34" charset="0"/>
              <a:cs typeface="Arial" panose="020B0604020202020204" pitchFamily="34" charset="0"/>
            </a:rPr>
            <a:t>Création d'emplois et développement des entreprises</a:t>
          </a:r>
        </a:p>
      </dsp:txBody>
      <dsp:txXfrm rot="5400000">
        <a:off x="0" y="0"/>
        <a:ext cx="1935742" cy="892445"/>
      </dsp:txXfrm>
    </dsp:sp>
    <dsp:sp modelId="{BD1547E6-E1C7-014E-81DA-1AE44F3583AD}">
      <dsp:nvSpPr>
        <dsp:cNvPr id="0" name=""/>
        <dsp:cNvSpPr/>
      </dsp:nvSpPr>
      <dsp:spPr>
        <a:xfrm>
          <a:off x="1935742" y="0"/>
          <a:ext cx="1935742" cy="118992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fr-FR" sz="1600" kern="1200" noProof="0" dirty="0">
              <a:latin typeface="Arial" panose="020B0604020202020204" pitchFamily="34" charset="0"/>
              <a:cs typeface="Arial" panose="020B0604020202020204" pitchFamily="34" charset="0"/>
            </a:rPr>
            <a:t>Protection sociale</a:t>
          </a:r>
        </a:p>
      </dsp:txBody>
      <dsp:txXfrm>
        <a:off x="1935742" y="0"/>
        <a:ext cx="1935742" cy="892445"/>
      </dsp:txXfrm>
    </dsp:sp>
    <dsp:sp modelId="{97C1D9AB-29CC-7E41-9CE7-61069187103B}">
      <dsp:nvSpPr>
        <dsp:cNvPr id="0" name=""/>
        <dsp:cNvSpPr/>
      </dsp:nvSpPr>
      <dsp:spPr>
        <a:xfrm rot="10800000">
          <a:off x="0" y="1189927"/>
          <a:ext cx="1935742" cy="1189927"/>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fr-FR" sz="1600" kern="1200" noProof="0" dirty="0">
              <a:latin typeface="Arial" panose="020B0604020202020204" pitchFamily="34" charset="0"/>
              <a:cs typeface="Arial" panose="020B0604020202020204" pitchFamily="34" charset="0"/>
            </a:rPr>
            <a:t>Normes et droits au travail</a:t>
          </a:r>
        </a:p>
      </dsp:txBody>
      <dsp:txXfrm rot="10800000">
        <a:off x="0" y="1487408"/>
        <a:ext cx="1935742" cy="892445"/>
      </dsp:txXfrm>
    </dsp:sp>
    <dsp:sp modelId="{BFA715FB-02A5-5B4D-A182-132204A2C681}">
      <dsp:nvSpPr>
        <dsp:cNvPr id="0" name=""/>
        <dsp:cNvSpPr/>
      </dsp:nvSpPr>
      <dsp:spPr>
        <a:xfrm rot="5400000">
          <a:off x="2308649" y="817019"/>
          <a:ext cx="1189927" cy="1935742"/>
        </a:xfrm>
        <a:prstGeom prst="round1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rtl="0">
            <a:lnSpc>
              <a:spcPct val="90000"/>
            </a:lnSpc>
            <a:spcBef>
              <a:spcPct val="0"/>
            </a:spcBef>
            <a:spcAft>
              <a:spcPct val="35000"/>
            </a:spcAft>
            <a:buNone/>
          </a:pPr>
          <a:r>
            <a:rPr lang="fr-FR" sz="1600" kern="1200" noProof="0" dirty="0">
              <a:latin typeface="Arial" panose="020B0604020202020204" pitchFamily="34" charset="0"/>
              <a:cs typeface="Arial" panose="020B0604020202020204" pitchFamily="34" charset="0"/>
            </a:rPr>
            <a:t>Gouvernance et dialogue social</a:t>
          </a:r>
        </a:p>
      </dsp:txBody>
      <dsp:txXfrm rot="-5400000">
        <a:off x="1935742" y="1487408"/>
        <a:ext cx="1935742" cy="892445"/>
      </dsp:txXfrm>
    </dsp:sp>
    <dsp:sp modelId="{442E547E-ECEC-4A48-8EA0-1A831195A89F}">
      <dsp:nvSpPr>
        <dsp:cNvPr id="0" name=""/>
        <dsp:cNvSpPr/>
      </dsp:nvSpPr>
      <dsp:spPr>
        <a:xfrm>
          <a:off x="1062677" y="813770"/>
          <a:ext cx="1746128" cy="752313"/>
        </a:xfrm>
        <a:prstGeom prst="roundRect">
          <a:avLst/>
        </a:prstGeom>
        <a:solidFill>
          <a:schemeClr val="accent1">
            <a:tint val="6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fr-FR" sz="1200" kern="1200" noProof="0" dirty="0">
              <a:latin typeface="Arial" panose="020B0604020202020204" pitchFamily="34" charset="0"/>
              <a:cs typeface="Arial" panose="020B0604020202020204" pitchFamily="34" charset="0"/>
            </a:rPr>
            <a:t>Égalité des sexes, droits de l'homme, transition équitable</a:t>
          </a:r>
        </a:p>
      </dsp:txBody>
      <dsp:txXfrm>
        <a:off x="1099402" y="850495"/>
        <a:ext cx="1672678" cy="678863"/>
      </dsp:txXfrm>
    </dsp:sp>
  </dsp:spTree>
</dsp:drawing>
</file>

<file path=ppt/diagrams/layout1.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Poser le cadre général de l’atelier.
- Présenter la logique de la journée.
- Clarifier les résultats attendus.
- Introduire la mobilisation des institutions pour la suite du processus.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502B5-BE77-BD70-1701-13DAC9C20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6E0397-ED53-7DA6-3D68-26B8A53EB5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7BF68B-DCFF-B523-B38A-330AC0400D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885C15-A2D1-74E2-B971-8E19AFBC48B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562425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1A0CB-103B-D82E-56F0-2B7EB961D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25710F-90A5-EAA9-08CB-F4463CAC9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95712-8F48-FEC8-A5F1-172586839779}"/>
              </a:ext>
            </a:extLst>
          </p:cNvPr>
          <p:cNvSpPr>
            <a:spLocks noGrp="1"/>
          </p:cNvSpPr>
          <p:nvPr>
            <p:ph type="body" idx="1"/>
          </p:nvPr>
        </p:nvSpPr>
        <p:spPr/>
        <p:txBody>
          <a:bodyPr/>
          <a:lstStyle/>
          <a:p>
            <a:r>
              <a:rPr lang="fr-FR" sz="1200" b="0" i="1" kern="1200" dirty="0">
                <a:solidFill>
                  <a:schemeClr val="tx1"/>
                </a:solidFill>
                <a:effectLst/>
                <a:latin typeface="+mn-lt"/>
                <a:ea typeface="+mn-ea"/>
                <a:cs typeface="+mn-cs"/>
              </a:rPr>
              <a:t>Ratifié par la RDC en1987. A accepté les parties V, VII, IX et X.</a:t>
            </a:r>
            <a:endParaRPr lang="en-US" dirty="0"/>
          </a:p>
        </p:txBody>
      </p:sp>
      <p:sp>
        <p:nvSpPr>
          <p:cNvPr id="4" name="Slide Number Placeholder 3">
            <a:extLst>
              <a:ext uri="{FF2B5EF4-FFF2-40B4-BE49-F238E27FC236}">
                <a16:creationId xmlns:a16="http://schemas.microsoft.com/office/drawing/2014/main" id="{BEB49198-50C8-568F-847F-92D90C36398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549241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F2090-CBF3-E14C-B479-5437A98A40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3E1DC-FFF1-4D47-4373-53CE0C3BBF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6E2ACF-E321-8A65-65EA-523ED885FC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EFB853-949C-B166-28D7-40D3C41A2027}"/>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200557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CE24F-3C6B-931B-540D-DFE94F5E21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45314-1A23-19BE-6DEF-6723BAD14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9A346D-49CF-448E-2AE2-9B84C0843A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024295-539A-9820-550C-FB37152C260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6920910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FC290-A5CC-7599-44B9-8CA41416D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72F577-3542-DCAF-AA9F-639CF790DE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E88E4B-0424-C6B0-1D7B-4F30E8BDF0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45210F-2051-5B0A-55CD-F9FF2413C9B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60577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BC92B-1D60-46D4-C98E-A9AF9FE88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F87D2D-2F16-FBE1-AE4B-4A15F0ECE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EFEE69-A312-51C0-A224-74E5AD9676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5928A8-E266-84CB-57E9-AE1A3C79760F}"/>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20277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87C5D-C325-8A08-F799-B05361430D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D0712A-A0C9-100E-E61D-B61AF7CDD0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91576-74B6-3CD6-B07B-F39D5EF703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6874C0-5EB9-2E64-FFFC-47EDDB0A3C7A}"/>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0849048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1835B-F97E-61B1-CD3A-8DA0E0E29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0595EE-87DE-9E3F-C027-CA7390AC4D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207DFE-B179-26DD-E420-7BD1596F83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74D633-2688-7D45-9D53-BF8011BC33DB}"/>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150814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F804E-A63D-1B87-B75F-23D3BD6186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6C2D27-488E-144C-1F90-6F1182FA79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46476-E6AA-09B4-74D3-2823E08421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21D464-17B4-73E7-5DBE-F3E149B7F06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903668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70D44-BEA3-B74D-06B5-E0EA7B68E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F2D095-942A-6114-027B-579DF31B2C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1E43D-FEFD-F0AD-CC44-556335604E9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C4F6A5-972D-5992-7DC1-4BFA957C3C6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039145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697CC-7F39-22C2-C63E-FED86C05A6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7F2A1-9DDC-D093-506C-B900DE83A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4B054-94E3-2DFA-D92B-FDB2029E9E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3827BD-D80E-0FF5-85DF-5D507BD9D173}"/>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6950484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F5F20-DF18-84C4-F1B9-48FB671A1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0AFF9-C591-45C1-7B59-5DDF9DA5F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325B6-7E6A-280F-BA7F-B39FCF7356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76176F-799D-29C2-E1BE-DBB8C6FF803C}"/>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123632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103F7-2AE3-847E-0BE6-EC90CF819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7A5272-B6F7-1F67-21C5-33BE8C1A85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472A3E-2927-35FF-BDFD-9A507F47FA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34D35D-D747-8A88-1821-3E6D70FDB22A}"/>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605785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CH" dirty="0"/>
          </a:p>
        </p:txBody>
      </p:sp>
    </p:spTree>
    <p:extLst>
      <p:ext uri="{BB962C8B-B14F-4D97-AF65-F5344CB8AC3E}">
        <p14:creationId xmlns:p14="http://schemas.microsoft.com/office/powerpoint/2010/main" val="1775950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021E2-BB34-5FDE-8CBE-F9DAFBFAD9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42BE5B-3630-56DF-B5AA-0D4079E06C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273B-F704-30CC-6921-5B70FBEE81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0DB4B4-BD7F-9BA5-20C5-09D40537C1F4}"/>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4238818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FB045-9536-1807-4434-1DB459524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70DBE-102F-DC0A-0066-F8DC6D6283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F80D8E-C3F6-C8B8-06BD-FF9D2873AC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E7CF10-24CD-D5CD-2784-3E29292F06A8}"/>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884927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28E4B-70D5-F175-B895-03929E5C9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4E6233-7730-7845-63E2-042F32AF6A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8F6CB-2294-AB62-BE43-58B56D1B31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924BD9-A5BF-2466-5572-4E8C4304D628}"/>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044661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118_E5DF054C.xml"/><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56032"/>
          </a:xfrm>
          <a:prstGeom prst="rect">
            <a:avLst/>
          </a:prstGeom>
          <a:solidFill>
            <a:srgbClr val="001A8D"/>
          </a:solidFill>
          <a:ln w="12700">
            <a:solidFill>
              <a:srgbClr val="001A8D"/>
            </a:solidFill>
            <a:prstDash val="solid"/>
          </a:ln>
        </p:spPr>
        <p:txBody>
          <a:bodyPr/>
          <a:lstStyle/>
          <a:p>
            <a:endParaRPr lang="fr-CH" noProof="0" dirty="0"/>
          </a:p>
        </p:txBody>
      </p:sp>
      <p:pic>
        <p:nvPicPr>
          <p:cNvPr id="3" name="Image 0" descr="/mnt/data/ref_unzip/ppt/media/image1.png"/>
          <p:cNvPicPr>
            <a:picLocks noChangeAspect="1"/>
          </p:cNvPicPr>
          <p:nvPr/>
        </p:nvPicPr>
        <p:blipFill>
          <a:blip r:embed="rId3"/>
          <a:stretch>
            <a:fillRect/>
          </a:stretch>
        </p:blipFill>
        <p:spPr>
          <a:xfrm>
            <a:off x="8677072" y="676749"/>
            <a:ext cx="2707208" cy="933987"/>
          </a:xfrm>
          <a:prstGeom prst="rect">
            <a:avLst/>
          </a:prstGeom>
        </p:spPr>
      </p:pic>
      <p:sp>
        <p:nvSpPr>
          <p:cNvPr id="4" name="Shape 1"/>
          <p:cNvSpPr/>
          <p:nvPr/>
        </p:nvSpPr>
        <p:spPr>
          <a:xfrm>
            <a:off x="658368" y="1901952"/>
            <a:ext cx="10881360" cy="0"/>
          </a:xfrm>
          <a:prstGeom prst="line">
            <a:avLst/>
          </a:prstGeom>
          <a:noFill/>
          <a:ln w="15240">
            <a:solidFill>
              <a:srgbClr val="001A8D"/>
            </a:solidFill>
            <a:prstDash val="solid"/>
          </a:ln>
        </p:spPr>
        <p:txBody>
          <a:bodyPr/>
          <a:lstStyle/>
          <a:p>
            <a:endParaRPr lang="fr-CH" noProof="0" dirty="0"/>
          </a:p>
        </p:txBody>
      </p:sp>
      <p:sp>
        <p:nvSpPr>
          <p:cNvPr id="5" name="Text 2"/>
          <p:cNvSpPr/>
          <p:nvPr/>
        </p:nvSpPr>
        <p:spPr>
          <a:xfrm>
            <a:off x="658368" y="2057400"/>
            <a:ext cx="10789920" cy="411480"/>
          </a:xfrm>
          <a:prstGeom prst="rect">
            <a:avLst/>
          </a:prstGeom>
          <a:noFill/>
          <a:ln/>
        </p:spPr>
        <p:txBody>
          <a:bodyPr wrap="square" lIns="0" tIns="0" rIns="0" bIns="0" rtlCol="0" anchor="ctr"/>
          <a:lstStyle/>
          <a:p>
            <a:pPr>
              <a:lnSpc>
                <a:spcPct val="90000"/>
              </a:lnSpc>
            </a:pPr>
            <a:r>
              <a:rPr lang="fr-CH" sz="2600" b="1" dirty="0">
                <a:solidFill>
                  <a:srgbClr val="1428A0"/>
                </a:solidFill>
              </a:rPr>
              <a:t>ATELIER DE CADRAGE</a:t>
            </a:r>
          </a:p>
        </p:txBody>
      </p:sp>
      <p:sp>
        <p:nvSpPr>
          <p:cNvPr id="9" name="Shape 6"/>
          <p:cNvSpPr/>
          <p:nvPr/>
        </p:nvSpPr>
        <p:spPr>
          <a:xfrm>
            <a:off x="658368" y="4773168"/>
            <a:ext cx="10881360" cy="822960"/>
          </a:xfrm>
          <a:prstGeom prst="rect">
            <a:avLst/>
          </a:prstGeom>
          <a:solidFill>
            <a:srgbClr val="F6F8FC"/>
          </a:solidFill>
          <a:ln w="10160">
            <a:solidFill>
              <a:srgbClr val="CBD5E1"/>
            </a:solidFill>
            <a:prstDash val="solid"/>
          </a:ln>
        </p:spPr>
        <p:txBody>
          <a:bodyPr/>
          <a:lstStyle/>
          <a:p>
            <a:endParaRPr lang="fr-CH" noProof="0" dirty="0"/>
          </a:p>
        </p:txBody>
      </p:sp>
      <p:sp>
        <p:nvSpPr>
          <p:cNvPr id="10" name="Text 7"/>
          <p:cNvSpPr/>
          <p:nvPr/>
        </p:nvSpPr>
        <p:spPr>
          <a:xfrm>
            <a:off x="868680" y="4919472"/>
            <a:ext cx="10241280" cy="502920"/>
          </a:xfrm>
          <a:prstGeom prst="rect">
            <a:avLst/>
          </a:prstGeom>
          <a:noFill/>
          <a:ln/>
        </p:spPr>
        <p:txBody>
          <a:bodyPr wrap="square" lIns="254" tIns="254" rIns="254" bIns="254" rtlCol="0" anchor="ctr">
            <a:normAutofit/>
          </a:bodyPr>
          <a:lstStyle/>
          <a:p>
            <a:pPr marL="0" indent="0">
              <a:buNone/>
            </a:pPr>
            <a:r>
              <a:rPr lang="fr-CH" sz="1400" noProof="0" dirty="0">
                <a:solidFill>
                  <a:srgbClr val="1E1E1E"/>
                </a:solidFill>
                <a:latin typeface="Arial" pitchFamily="34" charset="0"/>
                <a:ea typeface="Arial" pitchFamily="34" charset="-122"/>
                <a:cs typeface="Arial" pitchFamily="34" charset="-120"/>
              </a:rPr>
              <a:t>Sous l’égide du Secrétariat National de la Protection Sociale (SNPS)</a:t>
            </a:r>
            <a:endParaRPr lang="fr-CH" sz="1400" noProof="0" dirty="0"/>
          </a:p>
          <a:p>
            <a:pPr marL="0" indent="0">
              <a:buNone/>
            </a:pPr>
            <a:r>
              <a:rPr lang="fr-CH" sz="1050" noProof="0" dirty="0">
                <a:solidFill>
                  <a:srgbClr val="1E1E1E"/>
                </a:solidFill>
                <a:latin typeface="Arial" pitchFamily="34" charset="0"/>
                <a:ea typeface="Arial" pitchFamily="34" charset="-122"/>
                <a:cs typeface="Arial" pitchFamily="34" charset="-120"/>
              </a:rPr>
              <a:t>Avec l’appui technique de l’Organisation internationale du Travail (OIT)</a:t>
            </a:r>
            <a:endParaRPr lang="fr-CH" sz="1050" noProof="0" dirty="0"/>
          </a:p>
        </p:txBody>
      </p:sp>
      <p:sp>
        <p:nvSpPr>
          <p:cNvPr id="11" name="Text 8"/>
          <p:cNvSpPr/>
          <p:nvPr/>
        </p:nvSpPr>
        <p:spPr>
          <a:xfrm>
            <a:off x="658368" y="6217920"/>
            <a:ext cx="6949440" cy="201168"/>
          </a:xfrm>
          <a:prstGeom prst="rect">
            <a:avLst/>
          </a:prstGeom>
          <a:noFill/>
          <a:ln/>
        </p:spPr>
        <p:txBody>
          <a:bodyPr wrap="square" lIns="0" tIns="0" rIns="0" bIns="0" rtlCol="0" anchor="ctr"/>
          <a:lstStyle/>
          <a:p>
            <a:pPr marL="0" indent="0">
              <a:buNone/>
            </a:pPr>
            <a:r>
              <a:rPr lang="fr-CH" sz="90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900" noProof="0" dirty="0"/>
          </a:p>
        </p:txBody>
      </p:sp>
      <p:sp>
        <p:nvSpPr>
          <p:cNvPr id="12" name="Text 9"/>
          <p:cNvSpPr/>
          <p:nvPr/>
        </p:nvSpPr>
        <p:spPr>
          <a:xfrm>
            <a:off x="11201400" y="6217920"/>
            <a:ext cx="365760" cy="182880"/>
          </a:xfrm>
          <a:prstGeom prst="rect">
            <a:avLst/>
          </a:prstGeom>
          <a:noFill/>
          <a:ln/>
        </p:spPr>
        <p:txBody>
          <a:bodyPr wrap="square" lIns="0" tIns="0" rIns="0" bIns="0" rtlCol="0" anchor="ctr"/>
          <a:lstStyle/>
          <a:p>
            <a:pPr marL="0" indent="0" algn="r">
              <a:buNone/>
            </a:pPr>
            <a:r>
              <a:rPr lang="fr-CH" sz="850" noProof="0" dirty="0">
                <a:solidFill>
                  <a:srgbClr val="4B5563"/>
                </a:solidFill>
                <a:latin typeface="Arial" pitchFamily="34" charset="0"/>
                <a:ea typeface="Arial" pitchFamily="34" charset="-122"/>
                <a:cs typeface="Arial" pitchFamily="34" charset="-120"/>
              </a:rPr>
              <a:t>1</a:t>
            </a:r>
            <a:endParaRPr lang="fr-CH" sz="850" noProof="0" dirty="0"/>
          </a:p>
        </p:txBody>
      </p:sp>
      <p:sp>
        <p:nvSpPr>
          <p:cNvPr id="13" name="Shape 2">
            <a:extLst>
              <a:ext uri="{FF2B5EF4-FFF2-40B4-BE49-F238E27FC236}">
                <a16:creationId xmlns:a16="http://schemas.microsoft.com/office/drawing/2014/main" id="{D5C1CDB6-BEAE-7B9E-B58A-58EDA8AEFD29}"/>
              </a:ext>
            </a:extLst>
          </p:cNvPr>
          <p:cNvSpPr/>
          <p:nvPr/>
        </p:nvSpPr>
        <p:spPr>
          <a:xfrm>
            <a:off x="640080" y="2642802"/>
            <a:ext cx="3840480" cy="0"/>
          </a:xfrm>
          <a:prstGeom prst="line">
            <a:avLst/>
          </a:prstGeom>
          <a:noFill/>
          <a:ln w="25400">
            <a:solidFill>
              <a:srgbClr val="E21836"/>
            </a:solidFill>
            <a:prstDash val="solid"/>
          </a:ln>
        </p:spPr>
        <p:txBody>
          <a:bodyPr/>
          <a:lstStyle/>
          <a:p>
            <a:endParaRPr lang="fr-CH" noProof="0" dirty="0"/>
          </a:p>
        </p:txBody>
      </p:sp>
      <p:sp>
        <p:nvSpPr>
          <p:cNvPr id="14" name="Text 3">
            <a:extLst>
              <a:ext uri="{FF2B5EF4-FFF2-40B4-BE49-F238E27FC236}">
                <a16:creationId xmlns:a16="http://schemas.microsoft.com/office/drawing/2014/main" id="{581EE248-355C-0424-4949-C11342D939D5}"/>
              </a:ext>
            </a:extLst>
          </p:cNvPr>
          <p:cNvSpPr/>
          <p:nvPr/>
        </p:nvSpPr>
        <p:spPr>
          <a:xfrm>
            <a:off x="777240" y="2788920"/>
            <a:ext cx="9601200" cy="320040"/>
          </a:xfrm>
          <a:prstGeom prst="rect">
            <a:avLst/>
          </a:prstGeom>
          <a:noFill/>
          <a:ln/>
        </p:spPr>
        <p:txBody>
          <a:bodyPr wrap="square" rtlCol="0" anchor="ctr"/>
          <a:lstStyle/>
          <a:p>
            <a:pPr marL="0" indent="0">
              <a:buNone/>
            </a:pPr>
            <a:r>
              <a:rPr lang="fr-CH" sz="1800" noProof="0" dirty="0">
                <a:solidFill>
                  <a:srgbClr val="1F2933"/>
                </a:solidFill>
              </a:rPr>
              <a:t>2e Bulletin statistique de la protection sociale en RDC</a:t>
            </a:r>
            <a:endParaRPr lang="fr-CH" sz="1800" noProof="0" dirty="0"/>
          </a:p>
        </p:txBody>
      </p:sp>
      <p:sp>
        <p:nvSpPr>
          <p:cNvPr id="15" name="Text 4">
            <a:extLst>
              <a:ext uri="{FF2B5EF4-FFF2-40B4-BE49-F238E27FC236}">
                <a16:creationId xmlns:a16="http://schemas.microsoft.com/office/drawing/2014/main" id="{C40C734E-630C-67B9-2828-7202A99CB56D}"/>
              </a:ext>
            </a:extLst>
          </p:cNvPr>
          <p:cNvSpPr/>
          <p:nvPr/>
        </p:nvSpPr>
        <p:spPr>
          <a:xfrm>
            <a:off x="777240" y="3182112"/>
            <a:ext cx="9601200" cy="256032"/>
          </a:xfrm>
          <a:prstGeom prst="rect">
            <a:avLst/>
          </a:prstGeom>
          <a:noFill/>
          <a:ln/>
        </p:spPr>
        <p:txBody>
          <a:bodyPr wrap="square" rtlCol="0" anchor="ctr"/>
          <a:lstStyle/>
          <a:p>
            <a:pPr marL="0" indent="0">
              <a:buNone/>
            </a:pPr>
            <a:r>
              <a:rPr lang="fr-CH" sz="1400" noProof="0" dirty="0">
                <a:solidFill>
                  <a:srgbClr val="586069"/>
                </a:solidFill>
              </a:rPr>
              <a:t>Atelier de cadrage et de lancement</a:t>
            </a:r>
            <a:endParaRPr lang="fr-CH" sz="1400" noProof="0" dirty="0"/>
          </a:p>
        </p:txBody>
      </p:sp>
      <p:sp>
        <p:nvSpPr>
          <p:cNvPr id="16" name="Text 5">
            <a:extLst>
              <a:ext uri="{FF2B5EF4-FFF2-40B4-BE49-F238E27FC236}">
                <a16:creationId xmlns:a16="http://schemas.microsoft.com/office/drawing/2014/main" id="{6AF61304-43B1-69C8-C1FC-CDD86A6B9693}"/>
              </a:ext>
            </a:extLst>
          </p:cNvPr>
          <p:cNvSpPr/>
          <p:nvPr/>
        </p:nvSpPr>
        <p:spPr>
          <a:xfrm>
            <a:off x="777240" y="3502152"/>
            <a:ext cx="9601200" cy="256032"/>
          </a:xfrm>
          <a:prstGeom prst="rect">
            <a:avLst/>
          </a:prstGeom>
          <a:noFill/>
          <a:ln/>
        </p:spPr>
        <p:txBody>
          <a:bodyPr wrap="square" rtlCol="0" anchor="ctr"/>
          <a:lstStyle/>
          <a:p>
            <a:pPr marL="0" indent="0">
              <a:buNone/>
            </a:pPr>
            <a:r>
              <a:rPr lang="fr-CH" sz="1300" noProof="0" dirty="0">
                <a:solidFill>
                  <a:srgbClr val="586069"/>
                </a:solidFill>
              </a:rPr>
              <a:t>Kinshasa, RDC | 14 mai 2026</a:t>
            </a:r>
            <a:endParaRPr lang="fr-CH" sz="13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PLAN DE LA JOURNÉE</a:t>
            </a:r>
            <a:endParaRPr lang="fr-CH" sz="2200" noProof="0" dirty="0"/>
          </a:p>
        </p:txBody>
      </p:sp>
      <p:sp>
        <p:nvSpPr>
          <p:cNvPr id="5" name="Text 2"/>
          <p:cNvSpPr/>
          <p:nvPr/>
        </p:nvSpPr>
        <p:spPr>
          <a:xfrm>
            <a:off x="594360" y="1517904"/>
            <a:ext cx="10515600" cy="320040"/>
          </a:xfrm>
          <a:prstGeom prst="rect">
            <a:avLst/>
          </a:prstGeom>
          <a:noFill/>
          <a:ln/>
        </p:spPr>
        <p:txBody>
          <a:bodyPr wrap="square" lIns="0" tIns="0" rIns="0" bIns="0" rtlCol="0" anchor="ctr"/>
          <a:lstStyle/>
          <a:p>
            <a:pPr marL="0" indent="0">
              <a:buNone/>
            </a:pPr>
            <a:r>
              <a:rPr lang="fr-CH" sz="1050" noProof="0" dirty="0">
                <a:solidFill>
                  <a:srgbClr val="4B5563"/>
                </a:solidFill>
                <a:latin typeface="Arial" pitchFamily="34" charset="0"/>
                <a:ea typeface="Arial" pitchFamily="34" charset="-122"/>
                <a:cs typeface="Arial" pitchFamily="34" charset="-120"/>
              </a:rPr>
              <a:t>Première présentation d’une série : cadrage, interventions et séquences techniques</a:t>
            </a:r>
            <a:endParaRPr lang="fr-CH" sz="1050" noProof="0" dirty="0"/>
          </a:p>
        </p:txBody>
      </p:sp>
      <p:sp>
        <p:nvSpPr>
          <p:cNvPr id="6" name="Shape 3"/>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7" name="Text 4"/>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8" name="Text 5"/>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9" name="Text 6"/>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2</a:t>
            </a:r>
            <a:endParaRPr lang="fr-CH" sz="750" noProof="0" dirty="0"/>
          </a:p>
        </p:txBody>
      </p:sp>
      <p:sp>
        <p:nvSpPr>
          <p:cNvPr id="10" name="Shape 7"/>
          <p:cNvSpPr/>
          <p:nvPr/>
        </p:nvSpPr>
        <p:spPr>
          <a:xfrm>
            <a:off x="658368" y="1874520"/>
            <a:ext cx="10789920" cy="347472"/>
          </a:xfrm>
          <a:prstGeom prst="rect">
            <a:avLst/>
          </a:prstGeom>
          <a:solidFill>
            <a:srgbClr val="001A8D"/>
          </a:solidFill>
          <a:ln w="12700">
            <a:solidFill>
              <a:srgbClr val="001A8D"/>
            </a:solidFill>
            <a:prstDash val="solid"/>
          </a:ln>
        </p:spPr>
        <p:txBody>
          <a:bodyPr/>
          <a:lstStyle/>
          <a:p>
            <a:endParaRPr lang="fr-CH" noProof="0" dirty="0"/>
          </a:p>
        </p:txBody>
      </p:sp>
      <p:sp>
        <p:nvSpPr>
          <p:cNvPr id="11" name="Text 8"/>
          <p:cNvSpPr/>
          <p:nvPr/>
        </p:nvSpPr>
        <p:spPr>
          <a:xfrm>
            <a:off x="822960" y="1938528"/>
            <a:ext cx="4846320" cy="219456"/>
          </a:xfrm>
          <a:prstGeom prst="rect">
            <a:avLst/>
          </a:prstGeom>
          <a:noFill/>
          <a:ln/>
        </p:spPr>
        <p:txBody>
          <a:bodyPr wrap="square" lIns="0" tIns="0" rIns="0" bIns="0" rtlCol="0" anchor="ctr"/>
          <a:lstStyle/>
          <a:p>
            <a:pPr marL="0" indent="0">
              <a:buNone/>
            </a:pPr>
            <a:r>
              <a:rPr lang="fr-CH" sz="930" b="1" noProof="0" dirty="0">
                <a:solidFill>
                  <a:srgbClr val="FFFFFF"/>
                </a:solidFill>
              </a:rPr>
              <a:t>Séquence</a:t>
            </a:r>
            <a:endParaRPr lang="fr-CH" sz="930" noProof="0" dirty="0"/>
          </a:p>
        </p:txBody>
      </p:sp>
      <p:sp>
        <p:nvSpPr>
          <p:cNvPr id="12" name="Text 9"/>
          <p:cNvSpPr/>
          <p:nvPr/>
        </p:nvSpPr>
        <p:spPr>
          <a:xfrm>
            <a:off x="5852160" y="1938528"/>
            <a:ext cx="1097280" cy="219456"/>
          </a:xfrm>
          <a:prstGeom prst="rect">
            <a:avLst/>
          </a:prstGeom>
          <a:noFill/>
          <a:ln/>
        </p:spPr>
        <p:txBody>
          <a:bodyPr wrap="square" lIns="0" tIns="0" rIns="0" bIns="0" rtlCol="0" anchor="ctr"/>
          <a:lstStyle/>
          <a:p>
            <a:pPr marL="0" indent="0">
              <a:buNone/>
            </a:pPr>
            <a:r>
              <a:rPr lang="fr-CH" sz="930" b="1" noProof="0" dirty="0">
                <a:solidFill>
                  <a:srgbClr val="FFFFFF"/>
                </a:solidFill>
              </a:rPr>
              <a:t>Durée</a:t>
            </a:r>
            <a:endParaRPr lang="fr-CH" sz="930" noProof="0" dirty="0"/>
          </a:p>
        </p:txBody>
      </p:sp>
      <p:sp>
        <p:nvSpPr>
          <p:cNvPr id="13" name="Text 10"/>
          <p:cNvSpPr/>
          <p:nvPr/>
        </p:nvSpPr>
        <p:spPr>
          <a:xfrm>
            <a:off x="7059168" y="1938528"/>
            <a:ext cx="3383280" cy="219456"/>
          </a:xfrm>
          <a:prstGeom prst="rect">
            <a:avLst/>
          </a:prstGeom>
          <a:noFill/>
          <a:ln/>
        </p:spPr>
        <p:txBody>
          <a:bodyPr wrap="square" lIns="0" tIns="0" rIns="0" bIns="0" rtlCol="0" anchor="ctr"/>
          <a:lstStyle/>
          <a:p>
            <a:pPr marL="0" indent="0">
              <a:buNone/>
            </a:pPr>
            <a:r>
              <a:rPr lang="fr-CH" sz="930" b="1" noProof="0" dirty="0">
                <a:solidFill>
                  <a:srgbClr val="FFFFFF"/>
                </a:solidFill>
              </a:rPr>
              <a:t>Intervenant principal</a:t>
            </a:r>
            <a:endParaRPr lang="fr-CH" sz="930" noProof="0" dirty="0"/>
          </a:p>
        </p:txBody>
      </p:sp>
      <p:sp>
        <p:nvSpPr>
          <p:cNvPr id="14" name="Shape 11"/>
          <p:cNvSpPr/>
          <p:nvPr/>
        </p:nvSpPr>
        <p:spPr>
          <a:xfrm>
            <a:off x="658368" y="2322576"/>
            <a:ext cx="10789920" cy="393192"/>
          </a:xfrm>
          <a:prstGeom prst="rect">
            <a:avLst/>
          </a:prstGeom>
          <a:solidFill>
            <a:srgbClr val="F6F8FC"/>
          </a:solidFill>
          <a:ln w="5080">
            <a:solidFill>
              <a:srgbClr val="CBD5E1"/>
            </a:solidFill>
            <a:prstDash val="solid"/>
          </a:ln>
        </p:spPr>
        <p:txBody>
          <a:bodyPr/>
          <a:lstStyle/>
          <a:p>
            <a:endParaRPr lang="fr-CH" noProof="0" dirty="0"/>
          </a:p>
        </p:txBody>
      </p:sp>
      <p:sp>
        <p:nvSpPr>
          <p:cNvPr id="15" name="Text 12"/>
          <p:cNvSpPr/>
          <p:nvPr/>
        </p:nvSpPr>
        <p:spPr>
          <a:xfrm>
            <a:off x="822960" y="2409444"/>
            <a:ext cx="4754880" cy="155448"/>
          </a:xfrm>
          <a:prstGeom prst="rect">
            <a:avLst/>
          </a:prstGeom>
          <a:noFill/>
          <a:ln/>
        </p:spPr>
        <p:txBody>
          <a:bodyPr wrap="square" lIns="0" tIns="0" rIns="0" bIns="0" rtlCol="0" anchor="ctr">
            <a:normAutofit/>
          </a:bodyPr>
          <a:lstStyle/>
          <a:p>
            <a:pPr marL="0" indent="0">
              <a:buNone/>
            </a:pPr>
            <a:r>
              <a:rPr lang="fr-CH" sz="940" noProof="0" dirty="0">
                <a:solidFill>
                  <a:srgbClr val="1E1E1E"/>
                </a:solidFill>
              </a:rPr>
              <a:t>Ouverture institutionnelle</a:t>
            </a:r>
            <a:endParaRPr lang="fr-CH" sz="940" noProof="0" dirty="0"/>
          </a:p>
        </p:txBody>
      </p:sp>
      <p:sp>
        <p:nvSpPr>
          <p:cNvPr id="16" name="Text 13"/>
          <p:cNvSpPr/>
          <p:nvPr/>
        </p:nvSpPr>
        <p:spPr>
          <a:xfrm>
            <a:off x="5870448" y="2409444"/>
            <a:ext cx="1005840" cy="155448"/>
          </a:xfrm>
          <a:prstGeom prst="rect">
            <a:avLst/>
          </a:prstGeom>
          <a:noFill/>
          <a:ln/>
        </p:spPr>
        <p:txBody>
          <a:bodyPr wrap="square" lIns="0" tIns="0" rIns="0" bIns="0" rtlCol="0" anchor="ctr">
            <a:normAutofit/>
          </a:bodyPr>
          <a:lstStyle/>
          <a:p>
            <a:pPr marL="0" indent="0">
              <a:buNone/>
            </a:pPr>
            <a:r>
              <a:rPr lang="fr-CH" sz="930" b="1" noProof="0" dirty="0">
                <a:solidFill>
                  <a:srgbClr val="001A8D"/>
                </a:solidFill>
              </a:rPr>
              <a:t>10 min</a:t>
            </a:r>
            <a:endParaRPr lang="fr-CH" sz="930" noProof="0" dirty="0"/>
          </a:p>
        </p:txBody>
      </p:sp>
      <p:sp>
        <p:nvSpPr>
          <p:cNvPr id="17" name="Text 14"/>
          <p:cNvSpPr/>
          <p:nvPr/>
        </p:nvSpPr>
        <p:spPr>
          <a:xfrm>
            <a:off x="7059168" y="2409444"/>
            <a:ext cx="4023360" cy="155448"/>
          </a:xfrm>
          <a:prstGeom prst="rect">
            <a:avLst/>
          </a:prstGeom>
          <a:noFill/>
          <a:ln/>
        </p:spPr>
        <p:txBody>
          <a:bodyPr wrap="square" lIns="0" tIns="0" rIns="0" bIns="0" rtlCol="0" anchor="ctr">
            <a:normAutofit/>
          </a:bodyPr>
          <a:lstStyle/>
          <a:p>
            <a:pPr marL="0" indent="0">
              <a:buNone/>
            </a:pPr>
            <a:r>
              <a:rPr lang="fr-CH" sz="930" noProof="0" dirty="0">
                <a:solidFill>
                  <a:srgbClr val="1E1E1E"/>
                </a:solidFill>
              </a:rPr>
              <a:t>SNPS</a:t>
            </a:r>
            <a:endParaRPr lang="fr-CH" sz="930" noProof="0" dirty="0"/>
          </a:p>
        </p:txBody>
      </p:sp>
      <p:sp>
        <p:nvSpPr>
          <p:cNvPr id="18" name="Shape 15"/>
          <p:cNvSpPr/>
          <p:nvPr/>
        </p:nvSpPr>
        <p:spPr>
          <a:xfrm>
            <a:off x="658368" y="2807208"/>
            <a:ext cx="10789920" cy="393192"/>
          </a:xfrm>
          <a:prstGeom prst="rect">
            <a:avLst/>
          </a:prstGeom>
          <a:solidFill>
            <a:srgbClr val="FFFFFF"/>
          </a:solidFill>
          <a:ln w="5080">
            <a:solidFill>
              <a:srgbClr val="CBD5E1"/>
            </a:solidFill>
            <a:prstDash val="solid"/>
          </a:ln>
        </p:spPr>
        <p:txBody>
          <a:bodyPr/>
          <a:lstStyle/>
          <a:p>
            <a:endParaRPr lang="fr-CH" noProof="0" dirty="0"/>
          </a:p>
        </p:txBody>
      </p:sp>
      <p:sp>
        <p:nvSpPr>
          <p:cNvPr id="19" name="Text 16"/>
          <p:cNvSpPr/>
          <p:nvPr/>
        </p:nvSpPr>
        <p:spPr>
          <a:xfrm>
            <a:off x="822960" y="2894076"/>
            <a:ext cx="4754880" cy="155448"/>
          </a:xfrm>
          <a:prstGeom prst="rect">
            <a:avLst/>
          </a:prstGeom>
          <a:noFill/>
          <a:ln/>
        </p:spPr>
        <p:txBody>
          <a:bodyPr wrap="square" lIns="0" tIns="0" rIns="0" bIns="0" rtlCol="0" anchor="ctr">
            <a:normAutofit/>
          </a:bodyPr>
          <a:lstStyle/>
          <a:p>
            <a:pPr marL="0" indent="0">
              <a:buNone/>
            </a:pPr>
            <a:r>
              <a:rPr lang="fr-CH" sz="940" noProof="0" dirty="0">
                <a:solidFill>
                  <a:srgbClr val="1E1E1E"/>
                </a:solidFill>
              </a:rPr>
              <a:t>Cadrage de l’atelier</a:t>
            </a:r>
            <a:endParaRPr lang="fr-CH" sz="940" noProof="0" dirty="0"/>
          </a:p>
        </p:txBody>
      </p:sp>
      <p:sp>
        <p:nvSpPr>
          <p:cNvPr id="20" name="Text 17"/>
          <p:cNvSpPr/>
          <p:nvPr/>
        </p:nvSpPr>
        <p:spPr>
          <a:xfrm>
            <a:off x="5870448" y="2894076"/>
            <a:ext cx="1005840" cy="155448"/>
          </a:xfrm>
          <a:prstGeom prst="rect">
            <a:avLst/>
          </a:prstGeom>
          <a:noFill/>
          <a:ln/>
        </p:spPr>
        <p:txBody>
          <a:bodyPr wrap="square" lIns="0" tIns="0" rIns="0" bIns="0" rtlCol="0" anchor="ctr">
            <a:normAutofit/>
          </a:bodyPr>
          <a:lstStyle/>
          <a:p>
            <a:pPr marL="0" indent="0">
              <a:buNone/>
            </a:pPr>
            <a:r>
              <a:rPr lang="fr-CH" sz="930" b="1" noProof="0" dirty="0">
                <a:solidFill>
                  <a:srgbClr val="001A8D"/>
                </a:solidFill>
              </a:rPr>
              <a:t>10 min</a:t>
            </a:r>
            <a:endParaRPr lang="fr-CH" sz="930" noProof="0" dirty="0"/>
          </a:p>
        </p:txBody>
      </p:sp>
      <p:sp>
        <p:nvSpPr>
          <p:cNvPr id="21" name="Text 18"/>
          <p:cNvSpPr/>
          <p:nvPr/>
        </p:nvSpPr>
        <p:spPr>
          <a:xfrm>
            <a:off x="7059168" y="2894076"/>
            <a:ext cx="4023360" cy="155448"/>
          </a:xfrm>
          <a:prstGeom prst="rect">
            <a:avLst/>
          </a:prstGeom>
          <a:noFill/>
          <a:ln/>
        </p:spPr>
        <p:txBody>
          <a:bodyPr wrap="square" lIns="0" tIns="0" rIns="0" bIns="0" rtlCol="0" anchor="ctr">
            <a:normAutofit/>
          </a:bodyPr>
          <a:lstStyle/>
          <a:p>
            <a:pPr marL="0" indent="0">
              <a:buNone/>
            </a:pPr>
            <a:r>
              <a:rPr lang="fr-CH" sz="930" noProof="0" dirty="0">
                <a:solidFill>
                  <a:srgbClr val="1E1E1E"/>
                </a:solidFill>
              </a:rPr>
              <a:t>Modération</a:t>
            </a:r>
            <a:endParaRPr lang="fr-CH" sz="930" noProof="0" dirty="0"/>
          </a:p>
        </p:txBody>
      </p:sp>
      <p:sp>
        <p:nvSpPr>
          <p:cNvPr id="22" name="Shape 19"/>
          <p:cNvSpPr/>
          <p:nvPr/>
        </p:nvSpPr>
        <p:spPr>
          <a:xfrm>
            <a:off x="658368" y="3291840"/>
            <a:ext cx="10789920" cy="393192"/>
          </a:xfrm>
          <a:prstGeom prst="rect">
            <a:avLst/>
          </a:prstGeom>
          <a:solidFill>
            <a:srgbClr val="F6F8FC"/>
          </a:solidFill>
          <a:ln w="5080">
            <a:solidFill>
              <a:srgbClr val="CBD5E1"/>
            </a:solidFill>
            <a:prstDash val="solid"/>
          </a:ln>
        </p:spPr>
        <p:txBody>
          <a:bodyPr/>
          <a:lstStyle/>
          <a:p>
            <a:endParaRPr lang="fr-CH" noProof="0" dirty="0"/>
          </a:p>
        </p:txBody>
      </p:sp>
      <p:sp>
        <p:nvSpPr>
          <p:cNvPr id="23" name="Text 20"/>
          <p:cNvSpPr/>
          <p:nvPr/>
        </p:nvSpPr>
        <p:spPr>
          <a:xfrm>
            <a:off x="822960" y="3378708"/>
            <a:ext cx="4754880" cy="155448"/>
          </a:xfrm>
          <a:prstGeom prst="rect">
            <a:avLst/>
          </a:prstGeom>
          <a:noFill/>
          <a:ln/>
        </p:spPr>
        <p:txBody>
          <a:bodyPr wrap="square" lIns="0" tIns="0" rIns="0" bIns="0" rtlCol="0" anchor="ctr">
            <a:normAutofit/>
          </a:bodyPr>
          <a:lstStyle/>
          <a:p>
            <a:pPr marL="0" indent="0">
              <a:buNone/>
            </a:pPr>
            <a:r>
              <a:rPr lang="fr-CH" sz="940" noProof="0" dirty="0">
                <a:solidFill>
                  <a:srgbClr val="1E1E1E"/>
                </a:solidFill>
              </a:rPr>
              <a:t>Tour de table introductif</a:t>
            </a:r>
            <a:endParaRPr lang="fr-CH" sz="940" noProof="0" dirty="0"/>
          </a:p>
        </p:txBody>
      </p:sp>
      <p:sp>
        <p:nvSpPr>
          <p:cNvPr id="24" name="Text 21"/>
          <p:cNvSpPr/>
          <p:nvPr/>
        </p:nvSpPr>
        <p:spPr>
          <a:xfrm>
            <a:off x="5870448" y="3378708"/>
            <a:ext cx="1005840" cy="155448"/>
          </a:xfrm>
          <a:prstGeom prst="rect">
            <a:avLst/>
          </a:prstGeom>
          <a:noFill/>
          <a:ln/>
        </p:spPr>
        <p:txBody>
          <a:bodyPr wrap="square" lIns="0" tIns="0" rIns="0" bIns="0" rtlCol="0" anchor="ctr">
            <a:normAutofit/>
          </a:bodyPr>
          <a:lstStyle/>
          <a:p>
            <a:pPr marL="0" indent="0">
              <a:buNone/>
            </a:pPr>
            <a:r>
              <a:rPr lang="fr-CH" sz="930" b="1" noProof="0" dirty="0">
                <a:solidFill>
                  <a:srgbClr val="001A8D"/>
                </a:solidFill>
              </a:rPr>
              <a:t>10 min</a:t>
            </a:r>
            <a:endParaRPr lang="fr-CH" sz="930" noProof="0" dirty="0"/>
          </a:p>
        </p:txBody>
      </p:sp>
      <p:sp>
        <p:nvSpPr>
          <p:cNvPr id="25" name="Text 22"/>
          <p:cNvSpPr/>
          <p:nvPr/>
        </p:nvSpPr>
        <p:spPr>
          <a:xfrm>
            <a:off x="7059168" y="3378708"/>
            <a:ext cx="4023360" cy="155448"/>
          </a:xfrm>
          <a:prstGeom prst="rect">
            <a:avLst/>
          </a:prstGeom>
          <a:noFill/>
          <a:ln/>
        </p:spPr>
        <p:txBody>
          <a:bodyPr wrap="square" lIns="0" tIns="0" rIns="0" bIns="0" rtlCol="0" anchor="ctr">
            <a:normAutofit/>
          </a:bodyPr>
          <a:lstStyle/>
          <a:p>
            <a:pPr marL="0" indent="0">
              <a:buNone/>
            </a:pPr>
            <a:r>
              <a:rPr lang="fr-CH" sz="930" noProof="0" dirty="0">
                <a:solidFill>
                  <a:srgbClr val="1E1E1E"/>
                </a:solidFill>
              </a:rPr>
              <a:t>Institutions</a:t>
            </a:r>
            <a:endParaRPr lang="fr-CH" sz="930" noProof="0" dirty="0"/>
          </a:p>
        </p:txBody>
      </p:sp>
      <p:sp>
        <p:nvSpPr>
          <p:cNvPr id="26" name="Shape 23"/>
          <p:cNvSpPr/>
          <p:nvPr/>
        </p:nvSpPr>
        <p:spPr>
          <a:xfrm>
            <a:off x="658368" y="3776472"/>
            <a:ext cx="10789920" cy="393192"/>
          </a:xfrm>
          <a:prstGeom prst="rect">
            <a:avLst/>
          </a:prstGeom>
          <a:solidFill>
            <a:srgbClr val="FFFFFF"/>
          </a:solidFill>
          <a:ln w="5080">
            <a:solidFill>
              <a:srgbClr val="CBD5E1"/>
            </a:solidFill>
            <a:prstDash val="solid"/>
          </a:ln>
        </p:spPr>
        <p:txBody>
          <a:bodyPr/>
          <a:lstStyle/>
          <a:p>
            <a:endParaRPr lang="fr-CH" noProof="0" dirty="0"/>
          </a:p>
        </p:txBody>
      </p:sp>
      <p:sp>
        <p:nvSpPr>
          <p:cNvPr id="27" name="Text 24"/>
          <p:cNvSpPr/>
          <p:nvPr/>
        </p:nvSpPr>
        <p:spPr>
          <a:xfrm>
            <a:off x="822960" y="3863340"/>
            <a:ext cx="4754880" cy="155448"/>
          </a:xfrm>
          <a:prstGeom prst="rect">
            <a:avLst/>
          </a:prstGeom>
          <a:noFill/>
          <a:ln/>
        </p:spPr>
        <p:txBody>
          <a:bodyPr wrap="square" lIns="0" tIns="0" rIns="0" bIns="0" rtlCol="0" anchor="ctr">
            <a:normAutofit/>
          </a:bodyPr>
          <a:lstStyle/>
          <a:p>
            <a:pPr marL="0" indent="0">
              <a:buNone/>
            </a:pPr>
            <a:r>
              <a:rPr lang="fr-CH" sz="940" noProof="0" dirty="0">
                <a:solidFill>
                  <a:srgbClr val="1E1E1E"/>
                </a:solidFill>
              </a:rPr>
              <a:t>Protection sociale au sens de l’OIT</a:t>
            </a:r>
            <a:endParaRPr lang="fr-CH" sz="940" noProof="0" dirty="0"/>
          </a:p>
        </p:txBody>
      </p:sp>
      <p:sp>
        <p:nvSpPr>
          <p:cNvPr id="28" name="Text 25"/>
          <p:cNvSpPr/>
          <p:nvPr/>
        </p:nvSpPr>
        <p:spPr>
          <a:xfrm>
            <a:off x="5870448" y="3863340"/>
            <a:ext cx="1005840" cy="155448"/>
          </a:xfrm>
          <a:prstGeom prst="rect">
            <a:avLst/>
          </a:prstGeom>
          <a:noFill/>
          <a:ln/>
        </p:spPr>
        <p:txBody>
          <a:bodyPr wrap="square" lIns="0" tIns="0" rIns="0" bIns="0" rtlCol="0" anchor="ctr">
            <a:normAutofit/>
          </a:bodyPr>
          <a:lstStyle/>
          <a:p>
            <a:pPr marL="0" indent="0">
              <a:buNone/>
            </a:pPr>
            <a:r>
              <a:rPr lang="fr-CH" sz="930" b="1" noProof="0" dirty="0">
                <a:solidFill>
                  <a:srgbClr val="001A8D"/>
                </a:solidFill>
              </a:rPr>
              <a:t>20 min</a:t>
            </a:r>
            <a:endParaRPr lang="fr-CH" sz="930" noProof="0" dirty="0"/>
          </a:p>
        </p:txBody>
      </p:sp>
      <p:sp>
        <p:nvSpPr>
          <p:cNvPr id="29" name="Text 26"/>
          <p:cNvSpPr/>
          <p:nvPr/>
        </p:nvSpPr>
        <p:spPr>
          <a:xfrm>
            <a:off x="7059168" y="3863340"/>
            <a:ext cx="4023360" cy="155448"/>
          </a:xfrm>
          <a:prstGeom prst="rect">
            <a:avLst/>
          </a:prstGeom>
          <a:noFill/>
          <a:ln/>
        </p:spPr>
        <p:txBody>
          <a:bodyPr wrap="square" lIns="0" tIns="0" rIns="0" bIns="0" rtlCol="0" anchor="ctr">
            <a:normAutofit/>
          </a:bodyPr>
          <a:lstStyle/>
          <a:p>
            <a:pPr marL="0" indent="0">
              <a:buNone/>
            </a:pPr>
            <a:r>
              <a:rPr lang="fr-CH" sz="930" noProof="0" dirty="0">
                <a:solidFill>
                  <a:srgbClr val="1E1E1E"/>
                </a:solidFill>
              </a:rPr>
              <a:t>OIT</a:t>
            </a:r>
            <a:endParaRPr lang="fr-CH" sz="930" noProof="0" dirty="0"/>
          </a:p>
        </p:txBody>
      </p:sp>
      <p:sp>
        <p:nvSpPr>
          <p:cNvPr id="30" name="Shape 27"/>
          <p:cNvSpPr/>
          <p:nvPr/>
        </p:nvSpPr>
        <p:spPr>
          <a:xfrm>
            <a:off x="658368" y="4261104"/>
            <a:ext cx="10789920" cy="393192"/>
          </a:xfrm>
          <a:prstGeom prst="rect">
            <a:avLst/>
          </a:prstGeom>
          <a:solidFill>
            <a:srgbClr val="F6F8FC"/>
          </a:solidFill>
          <a:ln w="5080">
            <a:solidFill>
              <a:srgbClr val="CBD5E1"/>
            </a:solidFill>
            <a:prstDash val="solid"/>
          </a:ln>
        </p:spPr>
        <p:txBody>
          <a:bodyPr/>
          <a:lstStyle/>
          <a:p>
            <a:endParaRPr lang="fr-CH" noProof="0" dirty="0"/>
          </a:p>
        </p:txBody>
      </p:sp>
      <p:sp>
        <p:nvSpPr>
          <p:cNvPr id="31" name="Text 28"/>
          <p:cNvSpPr/>
          <p:nvPr/>
        </p:nvSpPr>
        <p:spPr>
          <a:xfrm>
            <a:off x="822960" y="4347972"/>
            <a:ext cx="4754880" cy="155448"/>
          </a:xfrm>
          <a:prstGeom prst="rect">
            <a:avLst/>
          </a:prstGeom>
          <a:noFill/>
          <a:ln/>
        </p:spPr>
        <p:txBody>
          <a:bodyPr wrap="square" lIns="0" tIns="0" rIns="0" bIns="0" rtlCol="0" anchor="ctr">
            <a:normAutofit/>
          </a:bodyPr>
          <a:lstStyle/>
          <a:p>
            <a:pPr marL="0" indent="0">
              <a:buNone/>
            </a:pPr>
            <a:r>
              <a:rPr lang="fr-CH" sz="940" noProof="0" dirty="0">
                <a:solidFill>
                  <a:srgbClr val="1E1E1E"/>
                </a:solidFill>
              </a:rPr>
              <a:t>Retour sur le 1er Bulletin</a:t>
            </a:r>
            <a:endParaRPr lang="fr-CH" sz="940" noProof="0" dirty="0"/>
          </a:p>
        </p:txBody>
      </p:sp>
      <p:sp>
        <p:nvSpPr>
          <p:cNvPr id="32" name="Text 29"/>
          <p:cNvSpPr/>
          <p:nvPr/>
        </p:nvSpPr>
        <p:spPr>
          <a:xfrm>
            <a:off x="5870448" y="4347972"/>
            <a:ext cx="1005840" cy="155448"/>
          </a:xfrm>
          <a:prstGeom prst="rect">
            <a:avLst/>
          </a:prstGeom>
          <a:noFill/>
          <a:ln/>
        </p:spPr>
        <p:txBody>
          <a:bodyPr wrap="square" lIns="0" tIns="0" rIns="0" bIns="0" rtlCol="0" anchor="ctr">
            <a:normAutofit/>
          </a:bodyPr>
          <a:lstStyle/>
          <a:p>
            <a:pPr marL="0" indent="0">
              <a:buNone/>
            </a:pPr>
            <a:r>
              <a:rPr lang="fr-CH" sz="930" b="1" noProof="0" dirty="0">
                <a:solidFill>
                  <a:srgbClr val="001A8D"/>
                </a:solidFill>
              </a:rPr>
              <a:t>15 min</a:t>
            </a:r>
            <a:endParaRPr lang="fr-CH" sz="930" noProof="0" dirty="0"/>
          </a:p>
        </p:txBody>
      </p:sp>
      <p:sp>
        <p:nvSpPr>
          <p:cNvPr id="33" name="Text 30"/>
          <p:cNvSpPr/>
          <p:nvPr/>
        </p:nvSpPr>
        <p:spPr>
          <a:xfrm>
            <a:off x="7059168" y="4347972"/>
            <a:ext cx="4023360" cy="155448"/>
          </a:xfrm>
          <a:prstGeom prst="rect">
            <a:avLst/>
          </a:prstGeom>
          <a:noFill/>
          <a:ln/>
        </p:spPr>
        <p:txBody>
          <a:bodyPr wrap="square" lIns="0" tIns="0" rIns="0" bIns="0" rtlCol="0" anchor="ctr">
            <a:normAutofit/>
          </a:bodyPr>
          <a:lstStyle/>
          <a:p>
            <a:pPr marL="0" indent="0">
              <a:buNone/>
            </a:pPr>
            <a:r>
              <a:rPr lang="fr-CH" sz="930" noProof="0" dirty="0">
                <a:solidFill>
                  <a:srgbClr val="1E1E1E"/>
                </a:solidFill>
              </a:rPr>
              <a:t>Mme </a:t>
            </a:r>
            <a:r>
              <a:rPr lang="fr-CH" sz="930" noProof="0" dirty="0" err="1">
                <a:solidFill>
                  <a:srgbClr val="1E1E1E"/>
                </a:solidFill>
              </a:rPr>
              <a:t>Feuza</a:t>
            </a:r>
            <a:endParaRPr lang="fr-CH" sz="930" noProof="0" dirty="0"/>
          </a:p>
        </p:txBody>
      </p:sp>
      <p:sp>
        <p:nvSpPr>
          <p:cNvPr id="34" name="Shape 31"/>
          <p:cNvSpPr/>
          <p:nvPr/>
        </p:nvSpPr>
        <p:spPr>
          <a:xfrm>
            <a:off x="658368" y="4745736"/>
            <a:ext cx="10789920" cy="393192"/>
          </a:xfrm>
          <a:prstGeom prst="rect">
            <a:avLst/>
          </a:prstGeom>
          <a:solidFill>
            <a:srgbClr val="FFFFFF"/>
          </a:solidFill>
          <a:ln w="5080">
            <a:solidFill>
              <a:srgbClr val="CBD5E1"/>
            </a:solidFill>
            <a:prstDash val="solid"/>
          </a:ln>
        </p:spPr>
        <p:txBody>
          <a:bodyPr/>
          <a:lstStyle/>
          <a:p>
            <a:endParaRPr lang="fr-CH" noProof="0" dirty="0"/>
          </a:p>
        </p:txBody>
      </p:sp>
      <p:sp>
        <p:nvSpPr>
          <p:cNvPr id="35" name="Text 32"/>
          <p:cNvSpPr/>
          <p:nvPr/>
        </p:nvSpPr>
        <p:spPr>
          <a:xfrm>
            <a:off x="822960" y="4832604"/>
            <a:ext cx="4754880" cy="155448"/>
          </a:xfrm>
          <a:prstGeom prst="rect">
            <a:avLst/>
          </a:prstGeom>
          <a:noFill/>
          <a:ln/>
        </p:spPr>
        <p:txBody>
          <a:bodyPr wrap="square" lIns="0" tIns="0" rIns="0" bIns="0" rtlCol="0" anchor="ctr">
            <a:normAutofit/>
          </a:bodyPr>
          <a:lstStyle/>
          <a:p>
            <a:pPr marL="0" indent="0">
              <a:buNone/>
            </a:pPr>
            <a:r>
              <a:rPr lang="fr-CH" sz="940" noProof="0" dirty="0">
                <a:solidFill>
                  <a:srgbClr val="1E1E1E"/>
                </a:solidFill>
              </a:rPr>
              <a:t>Échanges institutionnels</a:t>
            </a:r>
            <a:endParaRPr lang="fr-CH" sz="940" noProof="0" dirty="0"/>
          </a:p>
        </p:txBody>
      </p:sp>
      <p:sp>
        <p:nvSpPr>
          <p:cNvPr id="36" name="Text 33"/>
          <p:cNvSpPr/>
          <p:nvPr/>
        </p:nvSpPr>
        <p:spPr>
          <a:xfrm>
            <a:off x="5870448" y="4832604"/>
            <a:ext cx="1005840" cy="155448"/>
          </a:xfrm>
          <a:prstGeom prst="rect">
            <a:avLst/>
          </a:prstGeom>
          <a:noFill/>
          <a:ln/>
        </p:spPr>
        <p:txBody>
          <a:bodyPr wrap="square" lIns="0" tIns="0" rIns="0" bIns="0" rtlCol="0" anchor="ctr">
            <a:normAutofit/>
          </a:bodyPr>
          <a:lstStyle/>
          <a:p>
            <a:pPr marL="0" indent="0">
              <a:buNone/>
            </a:pPr>
            <a:r>
              <a:rPr lang="fr-CH" sz="930" b="1" noProof="0" dirty="0">
                <a:solidFill>
                  <a:srgbClr val="001A8D"/>
                </a:solidFill>
              </a:rPr>
              <a:t>30 min</a:t>
            </a:r>
            <a:endParaRPr lang="fr-CH" sz="930" noProof="0" dirty="0"/>
          </a:p>
        </p:txBody>
      </p:sp>
      <p:sp>
        <p:nvSpPr>
          <p:cNvPr id="37" name="Text 34"/>
          <p:cNvSpPr/>
          <p:nvPr/>
        </p:nvSpPr>
        <p:spPr>
          <a:xfrm>
            <a:off x="7059168" y="4832604"/>
            <a:ext cx="4023360" cy="155448"/>
          </a:xfrm>
          <a:prstGeom prst="rect">
            <a:avLst/>
          </a:prstGeom>
          <a:noFill/>
          <a:ln/>
        </p:spPr>
        <p:txBody>
          <a:bodyPr wrap="square" lIns="0" tIns="0" rIns="0" bIns="0" rtlCol="0" anchor="ctr">
            <a:normAutofit/>
          </a:bodyPr>
          <a:lstStyle/>
          <a:p>
            <a:pPr marL="0" indent="0">
              <a:buNone/>
            </a:pPr>
            <a:r>
              <a:rPr lang="fr-CH" sz="930" noProof="0" dirty="0">
                <a:solidFill>
                  <a:srgbClr val="1E1E1E"/>
                </a:solidFill>
              </a:rPr>
              <a:t>Institutions</a:t>
            </a:r>
            <a:endParaRPr lang="fr-CH" sz="930" noProof="0" dirty="0"/>
          </a:p>
        </p:txBody>
      </p:sp>
      <p:sp>
        <p:nvSpPr>
          <p:cNvPr id="38" name="Shape 35"/>
          <p:cNvSpPr/>
          <p:nvPr/>
        </p:nvSpPr>
        <p:spPr>
          <a:xfrm>
            <a:off x="658368" y="5230368"/>
            <a:ext cx="10789920" cy="393192"/>
          </a:xfrm>
          <a:prstGeom prst="rect">
            <a:avLst/>
          </a:prstGeom>
          <a:solidFill>
            <a:srgbClr val="F6F8FC"/>
          </a:solidFill>
          <a:ln w="5080">
            <a:solidFill>
              <a:srgbClr val="CBD5E1"/>
            </a:solidFill>
            <a:prstDash val="solid"/>
          </a:ln>
        </p:spPr>
        <p:txBody>
          <a:bodyPr/>
          <a:lstStyle/>
          <a:p>
            <a:endParaRPr lang="fr-CH" noProof="0" dirty="0"/>
          </a:p>
        </p:txBody>
      </p:sp>
      <p:sp>
        <p:nvSpPr>
          <p:cNvPr id="39" name="Text 36"/>
          <p:cNvSpPr/>
          <p:nvPr/>
        </p:nvSpPr>
        <p:spPr>
          <a:xfrm>
            <a:off x="822960" y="5317236"/>
            <a:ext cx="4754880" cy="155448"/>
          </a:xfrm>
          <a:prstGeom prst="rect">
            <a:avLst/>
          </a:prstGeom>
          <a:noFill/>
          <a:ln/>
        </p:spPr>
        <p:txBody>
          <a:bodyPr wrap="square" lIns="0" tIns="0" rIns="0" bIns="0" rtlCol="0" anchor="ctr">
            <a:normAutofit/>
          </a:bodyPr>
          <a:lstStyle/>
          <a:p>
            <a:pPr marL="0" indent="0">
              <a:buNone/>
            </a:pPr>
            <a:r>
              <a:rPr lang="fr-CH" sz="940" noProof="0" dirty="0">
                <a:solidFill>
                  <a:srgbClr val="1E1E1E"/>
                </a:solidFill>
              </a:rPr>
              <a:t>Indicateurs et outils</a:t>
            </a:r>
            <a:endParaRPr lang="fr-CH" sz="940" noProof="0" dirty="0"/>
          </a:p>
        </p:txBody>
      </p:sp>
      <p:sp>
        <p:nvSpPr>
          <p:cNvPr id="40" name="Text 37"/>
          <p:cNvSpPr/>
          <p:nvPr/>
        </p:nvSpPr>
        <p:spPr>
          <a:xfrm>
            <a:off x="5870448" y="5317236"/>
            <a:ext cx="1005840" cy="155448"/>
          </a:xfrm>
          <a:prstGeom prst="rect">
            <a:avLst/>
          </a:prstGeom>
          <a:noFill/>
          <a:ln/>
        </p:spPr>
        <p:txBody>
          <a:bodyPr wrap="square" lIns="0" tIns="0" rIns="0" bIns="0" rtlCol="0" anchor="ctr">
            <a:normAutofit/>
          </a:bodyPr>
          <a:lstStyle/>
          <a:p>
            <a:pPr marL="0" indent="0">
              <a:buNone/>
            </a:pPr>
            <a:r>
              <a:rPr lang="fr-CH" sz="930" b="1" noProof="0" dirty="0">
                <a:solidFill>
                  <a:srgbClr val="001A8D"/>
                </a:solidFill>
              </a:rPr>
              <a:t>60 min</a:t>
            </a:r>
            <a:endParaRPr lang="fr-CH" sz="930" noProof="0" dirty="0"/>
          </a:p>
        </p:txBody>
      </p:sp>
      <p:sp>
        <p:nvSpPr>
          <p:cNvPr id="41" name="Text 38"/>
          <p:cNvSpPr/>
          <p:nvPr/>
        </p:nvSpPr>
        <p:spPr>
          <a:xfrm>
            <a:off x="7059168" y="5317236"/>
            <a:ext cx="4023360" cy="155448"/>
          </a:xfrm>
          <a:prstGeom prst="rect">
            <a:avLst/>
          </a:prstGeom>
          <a:noFill/>
          <a:ln/>
        </p:spPr>
        <p:txBody>
          <a:bodyPr wrap="square" lIns="0" tIns="0" rIns="0" bIns="0" rtlCol="0" anchor="ctr">
            <a:normAutofit/>
          </a:bodyPr>
          <a:lstStyle/>
          <a:p>
            <a:pPr marL="0" indent="0">
              <a:buNone/>
            </a:pPr>
            <a:r>
              <a:rPr lang="fr-CH" sz="930" noProof="0" dirty="0">
                <a:solidFill>
                  <a:srgbClr val="1E1E1E"/>
                </a:solidFill>
              </a:rPr>
              <a:t>Équipe technique</a:t>
            </a:r>
            <a:endParaRPr lang="fr-CH" sz="930" noProof="0" dirty="0"/>
          </a:p>
        </p:txBody>
      </p:sp>
      <p:sp>
        <p:nvSpPr>
          <p:cNvPr id="42" name="Shape 39"/>
          <p:cNvSpPr/>
          <p:nvPr/>
        </p:nvSpPr>
        <p:spPr>
          <a:xfrm>
            <a:off x="658368" y="5715000"/>
            <a:ext cx="10789920" cy="393192"/>
          </a:xfrm>
          <a:prstGeom prst="rect">
            <a:avLst/>
          </a:prstGeom>
          <a:solidFill>
            <a:srgbClr val="FFFFFF"/>
          </a:solidFill>
          <a:ln w="5080">
            <a:solidFill>
              <a:srgbClr val="CBD5E1"/>
            </a:solidFill>
            <a:prstDash val="solid"/>
          </a:ln>
        </p:spPr>
        <p:txBody>
          <a:bodyPr/>
          <a:lstStyle/>
          <a:p>
            <a:endParaRPr lang="fr-CH" noProof="0" dirty="0"/>
          </a:p>
        </p:txBody>
      </p:sp>
      <p:sp>
        <p:nvSpPr>
          <p:cNvPr id="43" name="Text 40"/>
          <p:cNvSpPr/>
          <p:nvPr/>
        </p:nvSpPr>
        <p:spPr>
          <a:xfrm>
            <a:off x="822960" y="5801868"/>
            <a:ext cx="4754880" cy="155448"/>
          </a:xfrm>
          <a:prstGeom prst="rect">
            <a:avLst/>
          </a:prstGeom>
          <a:noFill/>
          <a:ln/>
        </p:spPr>
        <p:txBody>
          <a:bodyPr wrap="square" lIns="0" tIns="0" rIns="0" bIns="0" rtlCol="0" anchor="ctr">
            <a:normAutofit/>
          </a:bodyPr>
          <a:lstStyle/>
          <a:p>
            <a:pPr marL="0" indent="0">
              <a:buNone/>
            </a:pPr>
            <a:r>
              <a:rPr lang="fr-CH" sz="940" noProof="0" dirty="0">
                <a:solidFill>
                  <a:srgbClr val="1E1E1E"/>
                </a:solidFill>
              </a:rPr>
              <a:t>Next </a:t>
            </a:r>
            <a:r>
              <a:rPr lang="fr-CH" sz="940" noProof="0" dirty="0" err="1">
                <a:solidFill>
                  <a:srgbClr val="1E1E1E"/>
                </a:solidFill>
              </a:rPr>
              <a:t>steps</a:t>
            </a:r>
            <a:r>
              <a:rPr lang="fr-CH" sz="940" noProof="0" dirty="0">
                <a:solidFill>
                  <a:srgbClr val="1E1E1E"/>
                </a:solidFill>
              </a:rPr>
              <a:t> et clôture</a:t>
            </a:r>
            <a:endParaRPr lang="fr-CH" sz="940" noProof="0" dirty="0"/>
          </a:p>
        </p:txBody>
      </p:sp>
      <p:sp>
        <p:nvSpPr>
          <p:cNvPr id="44" name="Text 41"/>
          <p:cNvSpPr/>
          <p:nvPr/>
        </p:nvSpPr>
        <p:spPr>
          <a:xfrm>
            <a:off x="5870448" y="5801868"/>
            <a:ext cx="1005840" cy="155448"/>
          </a:xfrm>
          <a:prstGeom prst="rect">
            <a:avLst/>
          </a:prstGeom>
          <a:noFill/>
          <a:ln/>
        </p:spPr>
        <p:txBody>
          <a:bodyPr wrap="square" lIns="0" tIns="0" rIns="0" bIns="0" rtlCol="0" anchor="ctr">
            <a:normAutofit/>
          </a:bodyPr>
          <a:lstStyle/>
          <a:p>
            <a:pPr marL="0" indent="0">
              <a:buNone/>
            </a:pPr>
            <a:r>
              <a:rPr lang="fr-CH" sz="930" b="1" noProof="0" dirty="0">
                <a:solidFill>
                  <a:srgbClr val="001A8D"/>
                </a:solidFill>
              </a:rPr>
              <a:t>30–45 min</a:t>
            </a:r>
            <a:endParaRPr lang="fr-CH" sz="930" noProof="0" dirty="0"/>
          </a:p>
        </p:txBody>
      </p:sp>
      <p:sp>
        <p:nvSpPr>
          <p:cNvPr id="45" name="Text 42"/>
          <p:cNvSpPr/>
          <p:nvPr/>
        </p:nvSpPr>
        <p:spPr>
          <a:xfrm>
            <a:off x="7059168" y="5801868"/>
            <a:ext cx="4023360" cy="155448"/>
          </a:xfrm>
          <a:prstGeom prst="rect">
            <a:avLst/>
          </a:prstGeom>
          <a:noFill/>
          <a:ln/>
        </p:spPr>
        <p:txBody>
          <a:bodyPr wrap="square" lIns="0" tIns="0" rIns="0" bIns="0" rtlCol="0" anchor="ctr">
            <a:normAutofit/>
          </a:bodyPr>
          <a:lstStyle/>
          <a:p>
            <a:pPr marL="0" indent="0">
              <a:buNone/>
            </a:pPr>
            <a:r>
              <a:rPr lang="fr-CH" sz="930" noProof="0" dirty="0">
                <a:solidFill>
                  <a:srgbClr val="1E1E1E"/>
                </a:solidFill>
              </a:rPr>
              <a:t>Tous</a:t>
            </a:r>
            <a:endParaRPr lang="fr-CH" sz="930" noProof="0" dirty="0"/>
          </a:p>
        </p:txBody>
      </p:sp>
      <p:pic>
        <p:nvPicPr>
          <p:cNvPr id="46" name="Image 0" descr="/mnt/data/ref_unzip/ppt/media/image1.png"/>
          <p:cNvPicPr>
            <a:picLocks noChangeAspect="1"/>
          </p:cNvPicPr>
          <p:nvPr/>
        </p:nvPicPr>
        <p:blipFill>
          <a:blip r:embed="rId3"/>
          <a:stretch>
            <a:fillRect/>
          </a:stretch>
        </p:blipFill>
        <p:spPr>
          <a:xfrm>
            <a:off x="9966960" y="606006"/>
            <a:ext cx="1417320" cy="4937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1DCA508-2C61-344E-F426-40F09A5F769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8986EA-C516-BE69-CC53-31A340DAED2A}"/>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pic>
        <p:nvPicPr>
          <p:cNvPr id="3" name="Image 0" descr="/mnt/data/ref_unzip/ppt/media/image1.png">
            <a:extLst>
              <a:ext uri="{FF2B5EF4-FFF2-40B4-BE49-F238E27FC236}">
                <a16:creationId xmlns:a16="http://schemas.microsoft.com/office/drawing/2014/main" id="{C17048A1-4139-C99A-2E2E-3723FE1B958D}"/>
              </a:ext>
            </a:extLst>
          </p:cNvPr>
          <p:cNvPicPr>
            <a:picLocks noChangeAspect="1"/>
          </p:cNvPicPr>
          <p:nvPr/>
        </p:nvPicPr>
        <p:blipFill>
          <a:blip r:embed="rId3"/>
          <a:stretch>
            <a:fillRect/>
          </a:stretch>
        </p:blipFill>
        <p:spPr>
          <a:xfrm>
            <a:off x="9966960" y="438912"/>
            <a:ext cx="1417320" cy="493776"/>
          </a:xfrm>
          <a:prstGeom prst="rect">
            <a:avLst/>
          </a:prstGeom>
        </p:spPr>
      </p:pic>
      <p:sp>
        <p:nvSpPr>
          <p:cNvPr id="4" name="Text 1">
            <a:extLst>
              <a:ext uri="{FF2B5EF4-FFF2-40B4-BE49-F238E27FC236}">
                <a16:creationId xmlns:a16="http://schemas.microsoft.com/office/drawing/2014/main" id="{B7B996E0-7906-82FE-058D-005FA1651A3B}"/>
              </a:ext>
            </a:extLst>
          </p:cNvPr>
          <p:cNvSpPr/>
          <p:nvPr/>
        </p:nvSpPr>
        <p:spPr>
          <a:xfrm>
            <a:off x="566928" y="1355175"/>
            <a:ext cx="10789920" cy="457200"/>
          </a:xfrm>
          <a:prstGeom prst="rect">
            <a:avLst/>
          </a:prstGeom>
          <a:noFill/>
          <a:ln/>
        </p:spPr>
        <p:txBody>
          <a:bodyPr wrap="square" lIns="0" tIns="0" rIns="0" bIns="0" rtlCol="0" anchor="ctr"/>
          <a:lstStyle/>
          <a:p>
            <a:r>
              <a:rPr lang="fr-CH" sz="2200" b="1" dirty="0">
                <a:solidFill>
                  <a:srgbClr val="001A8D"/>
                </a:solidFill>
                <a:latin typeface="Arial" pitchFamily="34" charset="0"/>
                <a:cs typeface="Arial" pitchFamily="34" charset="-120"/>
              </a:rPr>
              <a:t>APERÇU GÉNÉRAL DE LA PROTECTION SOCIALE. </a:t>
            </a:r>
            <a:r>
              <a:rPr lang="fr-FR" sz="2200" b="1" dirty="0">
                <a:solidFill>
                  <a:srgbClr val="001A8D"/>
                </a:solidFill>
                <a:latin typeface="Arial" pitchFamily="34" charset="0"/>
                <a:cs typeface="Arial" pitchFamily="34" charset="-120"/>
              </a:rPr>
              <a:t>Un droit humain inclus dans la Déclaration Universelle des Droits de l’Homme, notamment dans les Articles 22 et 25</a:t>
            </a:r>
            <a:endParaRPr lang="fr-CH" sz="2200" b="1" dirty="0">
              <a:solidFill>
                <a:srgbClr val="001A8D"/>
              </a:solidFill>
              <a:latin typeface="Arial" pitchFamily="34" charset="0"/>
              <a:cs typeface="Arial" pitchFamily="34" charset="-120"/>
            </a:endParaRPr>
          </a:p>
        </p:txBody>
      </p:sp>
      <p:sp>
        <p:nvSpPr>
          <p:cNvPr id="6" name="Shape 3">
            <a:extLst>
              <a:ext uri="{FF2B5EF4-FFF2-40B4-BE49-F238E27FC236}">
                <a16:creationId xmlns:a16="http://schemas.microsoft.com/office/drawing/2014/main" id="{8A39C088-85C7-7A76-C93C-03E4F9ED48DB}"/>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7" name="Text 4">
            <a:extLst>
              <a:ext uri="{FF2B5EF4-FFF2-40B4-BE49-F238E27FC236}">
                <a16:creationId xmlns:a16="http://schemas.microsoft.com/office/drawing/2014/main" id="{9309F634-4261-70A9-8E43-72CF1D6A7959}"/>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8" name="Text 5">
            <a:extLst>
              <a:ext uri="{FF2B5EF4-FFF2-40B4-BE49-F238E27FC236}">
                <a16:creationId xmlns:a16="http://schemas.microsoft.com/office/drawing/2014/main" id="{C70AFAC5-5FCC-3447-5540-1B40FCB628BA}"/>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9" name="Text 6">
            <a:extLst>
              <a:ext uri="{FF2B5EF4-FFF2-40B4-BE49-F238E27FC236}">
                <a16:creationId xmlns:a16="http://schemas.microsoft.com/office/drawing/2014/main" id="{C67FD7A8-790B-6254-AF9A-BCCE20A483B3}"/>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2</a:t>
            </a:r>
            <a:endParaRPr lang="fr-CH" sz="750" noProof="0" dirty="0"/>
          </a:p>
        </p:txBody>
      </p:sp>
      <p:sp>
        <p:nvSpPr>
          <p:cNvPr id="49" name="Content Placeholder 2">
            <a:extLst>
              <a:ext uri="{FF2B5EF4-FFF2-40B4-BE49-F238E27FC236}">
                <a16:creationId xmlns:a16="http://schemas.microsoft.com/office/drawing/2014/main" id="{14987A3A-99CE-6575-0856-530388D2CE0A}"/>
              </a:ext>
            </a:extLst>
          </p:cNvPr>
          <p:cNvSpPr txBox="1">
            <a:spLocks/>
          </p:cNvSpPr>
          <p:nvPr/>
        </p:nvSpPr>
        <p:spPr>
          <a:xfrm>
            <a:off x="0" y="2579092"/>
            <a:ext cx="11384280" cy="3755112"/>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spcBef>
                <a:spcPts val="0"/>
              </a:spcBef>
              <a:buNone/>
            </a:pPr>
            <a:r>
              <a:rPr lang="fr-FR" sz="1600" b="1" dirty="0"/>
              <a:t>Article 22: </a:t>
            </a:r>
            <a:r>
              <a:rPr lang="fr-FR" sz="1600" dirty="0"/>
              <a:t>Toute personne, en tant que membre de la société, a droit à la sécurité sociale ; elle est fondée à obtenir la satisfaction des droits économiques, sociaux et culturels indispensables à sa dignité et au libre développement de sa personnalité, grâce à l'effort national et à la coopération internationale, compte tenu de l'organisation et des ressources de chaque pays.</a:t>
            </a:r>
          </a:p>
          <a:p>
            <a:pPr marL="457200" lvl="1" indent="0">
              <a:spcBef>
                <a:spcPts val="0"/>
              </a:spcBef>
              <a:buNone/>
            </a:pPr>
            <a:endParaRPr lang="fr-FR" sz="1600" b="1" dirty="0"/>
          </a:p>
          <a:p>
            <a:pPr marL="457200" lvl="1" indent="0">
              <a:spcBef>
                <a:spcPts val="0"/>
              </a:spcBef>
              <a:buNone/>
            </a:pPr>
            <a:r>
              <a:rPr lang="fr-FR" sz="1600" b="1" dirty="0"/>
              <a:t>Article 25</a:t>
            </a:r>
            <a:br>
              <a:rPr lang="fr-FR" sz="1600" dirty="0"/>
            </a:br>
            <a:r>
              <a:rPr lang="fr-FR" sz="1600" dirty="0"/>
              <a:t>1. Toute personne a droit à un niveau de vie suffisant pour assurer sa santé, son bien-être et ceux de sa famille, notamment pour l'alimentation, l'habillement, le logement, les soins médicaux ainsi que pour les services sociaux nécessaires ; elle a droit à la sécurité en cas de chômage, de maladie, d'invalidité, de veuvage, de vieillesse ou dans les autres cas de perte de ses moyens de subsistance par suite de circonstances indépendantes de sa volonté. </a:t>
            </a:r>
            <a:br>
              <a:rPr lang="fr-FR" sz="1600" dirty="0"/>
            </a:br>
            <a:r>
              <a:rPr lang="fr-FR" sz="1600" dirty="0"/>
              <a:t>2. La maternité et l'enfance ont droit à une aide et à une assistance spéciales. Tous les enfants, qu'ils soient nés dans le mariage ou hors mariage, jouissent de la même protection sociale</a:t>
            </a:r>
            <a:r>
              <a:rPr lang="fr-FR" sz="2000" dirty="0"/>
              <a:t>.</a:t>
            </a:r>
          </a:p>
        </p:txBody>
      </p:sp>
    </p:spTree>
    <p:extLst>
      <p:ext uri="{BB962C8B-B14F-4D97-AF65-F5344CB8AC3E}">
        <p14:creationId xmlns:p14="http://schemas.microsoft.com/office/powerpoint/2010/main" val="35660826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B482C6E-60DE-FF63-D00C-0ED2E55AAB4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F66EC5C-1965-C7B8-F846-4CB5B372FA90}"/>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349ACED4-6224-4642-4EB7-11975E3B0DB8}"/>
              </a:ext>
            </a:extLst>
          </p:cNvPr>
          <p:cNvSpPr/>
          <p:nvPr/>
        </p:nvSpPr>
        <p:spPr>
          <a:xfrm>
            <a:off x="566928" y="1019315"/>
            <a:ext cx="10789920" cy="994228"/>
          </a:xfrm>
          <a:prstGeom prst="rect">
            <a:avLst/>
          </a:prstGeom>
          <a:noFill/>
          <a:ln/>
        </p:spPr>
        <p:txBody>
          <a:bodyPr wrap="square" lIns="0" tIns="0" rIns="0" bIns="0" rtlCol="0" anchor="ctr"/>
          <a:lstStyle/>
          <a:p>
            <a:r>
              <a:rPr lang="fr-CH" sz="2200" b="1" dirty="0">
                <a:solidFill>
                  <a:srgbClr val="001A8D"/>
                </a:solidFill>
                <a:latin typeface="Arial" pitchFamily="34" charset="0"/>
                <a:cs typeface="Arial" pitchFamily="34" charset="-120"/>
              </a:rPr>
              <a:t>APERÇU GÉNÉRAL DE LA PROTECTION SOCIALE. </a:t>
            </a:r>
            <a:r>
              <a:rPr lang="fr-FR" sz="2200" b="1" dirty="0">
                <a:solidFill>
                  <a:srgbClr val="001A8D"/>
                </a:solidFill>
                <a:latin typeface="Arial" pitchFamily="34" charset="0"/>
                <a:cs typeface="Arial" pitchFamily="34" charset="-120"/>
              </a:rPr>
              <a:t>C102 - Convention (n° 102) concernant la sécurité sociale (norme minimum), 1952</a:t>
            </a:r>
            <a:endParaRPr lang="fr-CH" sz="2200" b="1" dirty="0">
              <a:solidFill>
                <a:srgbClr val="001A8D"/>
              </a:solidFill>
              <a:latin typeface="Arial" pitchFamily="34" charset="0"/>
              <a:cs typeface="Arial" pitchFamily="34" charset="-120"/>
            </a:endParaRPr>
          </a:p>
        </p:txBody>
      </p:sp>
      <p:sp>
        <p:nvSpPr>
          <p:cNvPr id="6" name="Shape 3">
            <a:extLst>
              <a:ext uri="{FF2B5EF4-FFF2-40B4-BE49-F238E27FC236}">
                <a16:creationId xmlns:a16="http://schemas.microsoft.com/office/drawing/2014/main" id="{B31B82DE-1A2A-53D9-C3A6-E005B0C3A68E}"/>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7" name="Text 4">
            <a:extLst>
              <a:ext uri="{FF2B5EF4-FFF2-40B4-BE49-F238E27FC236}">
                <a16:creationId xmlns:a16="http://schemas.microsoft.com/office/drawing/2014/main" id="{4E41B6E6-2672-46F7-7E81-A48B57CDFF5B}"/>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8" name="Text 5">
            <a:extLst>
              <a:ext uri="{FF2B5EF4-FFF2-40B4-BE49-F238E27FC236}">
                <a16:creationId xmlns:a16="http://schemas.microsoft.com/office/drawing/2014/main" id="{FD39FCFE-3B31-3D54-26B1-21AD84A625B1}"/>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9" name="Text 6">
            <a:extLst>
              <a:ext uri="{FF2B5EF4-FFF2-40B4-BE49-F238E27FC236}">
                <a16:creationId xmlns:a16="http://schemas.microsoft.com/office/drawing/2014/main" id="{F0E8629E-F152-8BC9-D756-B50D2E5F10A9}"/>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2</a:t>
            </a:r>
            <a:endParaRPr lang="fr-CH" sz="750" noProof="0" dirty="0"/>
          </a:p>
        </p:txBody>
      </p:sp>
      <p:sp>
        <p:nvSpPr>
          <p:cNvPr id="49" name="Content Placeholder 2">
            <a:extLst>
              <a:ext uri="{FF2B5EF4-FFF2-40B4-BE49-F238E27FC236}">
                <a16:creationId xmlns:a16="http://schemas.microsoft.com/office/drawing/2014/main" id="{BDF964BB-5CB1-1AD7-DBBB-E362F6FB4BCF}"/>
              </a:ext>
            </a:extLst>
          </p:cNvPr>
          <p:cNvSpPr txBox="1">
            <a:spLocks/>
          </p:cNvSpPr>
          <p:nvPr/>
        </p:nvSpPr>
        <p:spPr>
          <a:xfrm>
            <a:off x="487680" y="2018943"/>
            <a:ext cx="11384280" cy="4674410"/>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1600" dirty="0"/>
              <a:t>La convention (no 102) concernant la sécurité sociale (norme minimum), 1952, fournit des principes fondamentaux</a:t>
            </a:r>
          </a:p>
          <a:p>
            <a:pPr marL="0" indent="0">
              <a:buNone/>
            </a:pPr>
            <a:r>
              <a:rPr lang="fr-FR" sz="1600" dirty="0"/>
              <a:t>et des niveaux minimaux de référence concernant neuf éventualités/branches de la sécurité sociale</a:t>
            </a:r>
          </a:p>
          <a:p>
            <a:pPr marL="0" indent="0">
              <a:buNone/>
            </a:pPr>
            <a:r>
              <a:rPr lang="fr-FR" sz="1600" dirty="0"/>
              <a:t>auxquelles chacun peut être confronté durant sa vie. </a:t>
            </a:r>
          </a:p>
          <a:p>
            <a:pPr>
              <a:buFont typeface="+mj-lt"/>
              <a:buAutoNum type="arabicPeriod"/>
            </a:pPr>
            <a:r>
              <a:rPr lang="fr-FR" sz="1600" dirty="0"/>
              <a:t>SOINS MÉDICAUX</a:t>
            </a:r>
          </a:p>
          <a:p>
            <a:pPr>
              <a:buFont typeface="+mj-lt"/>
              <a:buAutoNum type="arabicPeriod"/>
            </a:pPr>
            <a:r>
              <a:rPr lang="fr-FR" sz="1600" dirty="0"/>
              <a:t>INDEMNITÉS DE MALADIE</a:t>
            </a:r>
          </a:p>
          <a:p>
            <a:pPr>
              <a:buFont typeface="+mj-lt"/>
              <a:buAutoNum type="arabicPeriod"/>
            </a:pPr>
            <a:r>
              <a:rPr lang="fr-FR" sz="1600" dirty="0"/>
              <a:t>PRESTATIONS DE CHÔMAGE</a:t>
            </a:r>
          </a:p>
          <a:p>
            <a:pPr>
              <a:buFont typeface="+mj-lt"/>
              <a:buAutoNum type="arabicPeriod"/>
            </a:pPr>
            <a:r>
              <a:rPr lang="fr-FR" sz="1600" b="1" dirty="0">
                <a:solidFill>
                  <a:schemeClr val="accent1">
                    <a:lumMod val="75000"/>
                  </a:schemeClr>
                </a:solidFill>
              </a:rPr>
              <a:t>PRESTATIONS DE VIEILLESSE*</a:t>
            </a:r>
          </a:p>
          <a:p>
            <a:pPr>
              <a:buFont typeface="+mj-lt"/>
              <a:buAutoNum type="arabicPeriod"/>
            </a:pPr>
            <a:r>
              <a:rPr lang="fr-FR" sz="1600" dirty="0"/>
              <a:t>PRESTATIONS EN CAS D'ACCIDENTS DU TRAVAIL ET DE MALADIES PROFESSIONNELLES</a:t>
            </a:r>
          </a:p>
          <a:p>
            <a:pPr>
              <a:buFont typeface="+mj-lt"/>
              <a:buAutoNum type="arabicPeriod"/>
            </a:pPr>
            <a:r>
              <a:rPr lang="fr-FR" sz="1600" b="1" dirty="0">
                <a:solidFill>
                  <a:schemeClr val="accent1">
                    <a:lumMod val="75000"/>
                  </a:schemeClr>
                </a:solidFill>
              </a:rPr>
              <a:t>PRESTATIONS AUX FAMILLES*</a:t>
            </a:r>
          </a:p>
          <a:p>
            <a:pPr>
              <a:buFont typeface="+mj-lt"/>
              <a:buAutoNum type="arabicPeriod"/>
            </a:pPr>
            <a:r>
              <a:rPr lang="fr-FR" sz="1600" dirty="0"/>
              <a:t>PRESTATIONS DE MATERNITÉ</a:t>
            </a:r>
          </a:p>
          <a:p>
            <a:pPr>
              <a:buFont typeface="+mj-lt"/>
              <a:buAutoNum type="arabicPeriod"/>
            </a:pPr>
            <a:r>
              <a:rPr lang="fr-FR" sz="1600" b="1" dirty="0">
                <a:solidFill>
                  <a:schemeClr val="accent1">
                    <a:lumMod val="75000"/>
                  </a:schemeClr>
                </a:solidFill>
              </a:rPr>
              <a:t>PRESTATIONS D'INVALIDITÉ</a:t>
            </a:r>
            <a:r>
              <a:rPr lang="fr-FR" sz="1600" dirty="0"/>
              <a:t>*</a:t>
            </a:r>
          </a:p>
          <a:p>
            <a:pPr>
              <a:buFont typeface="+mj-lt"/>
              <a:buAutoNum type="arabicPeriod"/>
            </a:pPr>
            <a:r>
              <a:rPr lang="fr-FR" sz="1600" b="1" dirty="0">
                <a:solidFill>
                  <a:schemeClr val="accent1">
                    <a:lumMod val="75000"/>
                  </a:schemeClr>
                </a:solidFill>
              </a:rPr>
              <a:t>PRESTATIONS DE SURVIVANTS*</a:t>
            </a:r>
          </a:p>
        </p:txBody>
      </p:sp>
      <p:pic>
        <p:nvPicPr>
          <p:cNvPr id="5" name="Image 0" descr="/mnt/data/ref_unzip/ppt/media/image1.png">
            <a:extLst>
              <a:ext uri="{FF2B5EF4-FFF2-40B4-BE49-F238E27FC236}">
                <a16:creationId xmlns:a16="http://schemas.microsoft.com/office/drawing/2014/main" id="{D1092A51-3900-0F65-30F6-CB8A2106C99F}"/>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3429338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12B51D6-5183-364A-5266-FAF935C97CD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97837FE-7907-9C45-040A-CF461CCBF3DD}"/>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8EE1690D-E967-7D2B-3E88-1C61B38B08E6}"/>
              </a:ext>
            </a:extLst>
          </p:cNvPr>
          <p:cNvSpPr/>
          <p:nvPr/>
        </p:nvSpPr>
        <p:spPr>
          <a:xfrm>
            <a:off x="540619" y="720381"/>
            <a:ext cx="10789920" cy="994228"/>
          </a:xfrm>
          <a:prstGeom prst="rect">
            <a:avLst/>
          </a:prstGeom>
          <a:noFill/>
          <a:ln/>
        </p:spPr>
        <p:txBody>
          <a:bodyPr wrap="square" lIns="0" tIns="0" rIns="0" bIns="0" rtlCol="0" anchor="ctr"/>
          <a:lstStyle/>
          <a:p>
            <a:r>
              <a:rPr lang="fr-FR" sz="2200" b="1" dirty="0">
                <a:solidFill>
                  <a:srgbClr val="001A8D"/>
                </a:solidFill>
                <a:latin typeface="Arial" pitchFamily="34" charset="0"/>
                <a:cs typeface="Arial" pitchFamily="34" charset="-120"/>
              </a:rPr>
              <a:t>R202 - Recommandation (n° 202) sur les socles de protection sociale, 2012</a:t>
            </a:r>
            <a:r>
              <a:rPr lang="fr-CH" sz="2200" b="1" dirty="0">
                <a:solidFill>
                  <a:srgbClr val="001A8D"/>
                </a:solidFill>
                <a:latin typeface="Arial" pitchFamily="34" charset="0"/>
                <a:cs typeface="Arial" pitchFamily="34" charset="-120"/>
              </a:rPr>
              <a:t> </a:t>
            </a:r>
          </a:p>
        </p:txBody>
      </p:sp>
      <p:sp>
        <p:nvSpPr>
          <p:cNvPr id="9" name="Text 6">
            <a:extLst>
              <a:ext uri="{FF2B5EF4-FFF2-40B4-BE49-F238E27FC236}">
                <a16:creationId xmlns:a16="http://schemas.microsoft.com/office/drawing/2014/main" id="{02BAC494-0BFB-B4ED-0F74-D136AD0E5F15}"/>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2</a:t>
            </a:r>
            <a:endParaRPr lang="fr-CH" sz="750" noProof="0" dirty="0"/>
          </a:p>
        </p:txBody>
      </p:sp>
      <p:sp>
        <p:nvSpPr>
          <p:cNvPr id="49" name="Content Placeholder 2">
            <a:extLst>
              <a:ext uri="{FF2B5EF4-FFF2-40B4-BE49-F238E27FC236}">
                <a16:creationId xmlns:a16="http://schemas.microsoft.com/office/drawing/2014/main" id="{EAD9B608-4452-EF2F-13B6-5A6DADEA67D7}"/>
              </a:ext>
            </a:extLst>
          </p:cNvPr>
          <p:cNvSpPr txBox="1">
            <a:spLocks/>
          </p:cNvSpPr>
          <p:nvPr/>
        </p:nvSpPr>
        <p:spPr>
          <a:xfrm>
            <a:off x="487680" y="1451901"/>
            <a:ext cx="5608167" cy="4674410"/>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fr-FR" sz="1500" dirty="0"/>
              <a:t>Socles de protection sociale (R. 202). Quatre garanties </a:t>
            </a:r>
            <a:r>
              <a:rPr lang="es-ES" sz="1500" dirty="0"/>
              <a:t>:</a:t>
            </a:r>
          </a:p>
          <a:p>
            <a:pPr marL="0" indent="0">
              <a:buNone/>
            </a:pPr>
            <a:endParaRPr lang="es-ES" sz="1500" dirty="0"/>
          </a:p>
          <a:p>
            <a:pPr>
              <a:spcBef>
                <a:spcPts val="0"/>
              </a:spcBef>
              <a:buFont typeface="+mj-lt"/>
              <a:buAutoNum type="alphaLcParenR"/>
            </a:pPr>
            <a:r>
              <a:rPr lang="fr-FR" sz="1500" dirty="0"/>
              <a:t>L'accès à un ensemble de biens et de services défini au niveau national, constituant les </a:t>
            </a:r>
            <a:r>
              <a:rPr lang="fr-FR" sz="1500" b="1" dirty="0"/>
              <a:t>soins de santé essentiels</a:t>
            </a:r>
            <a:r>
              <a:rPr lang="fr-FR" sz="1500" dirty="0"/>
              <a:t>, y compris les soins de maternité, qui répondent aux critères de disponibilité, d'accessibilité, d'acceptabilité et de qualité ;</a:t>
            </a:r>
          </a:p>
          <a:p>
            <a:pPr>
              <a:spcBef>
                <a:spcPts val="0"/>
              </a:spcBef>
              <a:buFont typeface="+mj-lt"/>
              <a:buAutoNum type="alphaLcParenR"/>
            </a:pPr>
            <a:endParaRPr lang="fr-FR" sz="1500" dirty="0"/>
          </a:p>
          <a:p>
            <a:pPr>
              <a:spcBef>
                <a:spcPts val="0"/>
              </a:spcBef>
              <a:buFont typeface="+mj-lt"/>
              <a:buAutoNum type="alphaLcParenR"/>
            </a:pPr>
            <a:r>
              <a:rPr lang="fr-FR" sz="1500" dirty="0"/>
              <a:t>La garantie d'un </a:t>
            </a:r>
            <a:r>
              <a:rPr lang="fr-FR" sz="1500" b="1" dirty="0"/>
              <a:t>revenu de base pour les enfants</a:t>
            </a:r>
            <a:r>
              <a:rPr lang="fr-FR" sz="1500" dirty="0"/>
              <a:t>, au moins à un niveau minimum défini au niveau national, donnant accès à la nutrition, à l'éducation, aux soins et à tous les autres biens et services nécessaires ;</a:t>
            </a:r>
          </a:p>
          <a:p>
            <a:pPr>
              <a:spcBef>
                <a:spcPts val="0"/>
              </a:spcBef>
              <a:spcAft>
                <a:spcPts val="0"/>
              </a:spcAft>
            </a:pPr>
            <a:endParaRPr lang="fr-FR" sz="1500" dirty="0"/>
          </a:p>
          <a:p>
            <a:pPr>
              <a:spcBef>
                <a:spcPts val="0"/>
              </a:spcBef>
              <a:buFont typeface="+mj-lt"/>
              <a:buAutoNum type="alphaLcParenR"/>
            </a:pPr>
            <a:r>
              <a:rPr lang="fr-FR" sz="1500" dirty="0"/>
              <a:t>La sécurité du </a:t>
            </a:r>
            <a:r>
              <a:rPr lang="fr-FR" sz="1500" b="1" dirty="0"/>
              <a:t>revenu de base</a:t>
            </a:r>
            <a:r>
              <a:rPr lang="fr-FR" sz="1500" dirty="0"/>
              <a:t>, au moins à un niveau minimum défini au niveau national, </a:t>
            </a:r>
            <a:r>
              <a:rPr lang="fr-FR" sz="1500" b="1" dirty="0"/>
              <a:t>pour les personnes en âge de travailler qui ne sont pas en mesure de gagner un revenu suffisant</a:t>
            </a:r>
            <a:r>
              <a:rPr lang="fr-FR" sz="1500" dirty="0"/>
              <a:t>, </a:t>
            </a:r>
            <a:r>
              <a:rPr lang="fr-FR" sz="1500" b="1" dirty="0"/>
              <a:t>notamment en cas de maladie, de chômage, de maternité et d'invalidité</a:t>
            </a:r>
            <a:r>
              <a:rPr lang="fr-FR" sz="1500" dirty="0"/>
              <a:t> ; </a:t>
            </a:r>
          </a:p>
          <a:p>
            <a:pPr>
              <a:spcBef>
                <a:spcPts val="0"/>
              </a:spcBef>
              <a:buFont typeface="+mj-lt"/>
              <a:buAutoNum type="alphaLcParenR"/>
            </a:pPr>
            <a:endParaRPr lang="fr-FR" sz="1500" dirty="0"/>
          </a:p>
          <a:p>
            <a:pPr>
              <a:spcBef>
                <a:spcPts val="0"/>
              </a:spcBef>
              <a:buFont typeface="+mj-lt"/>
              <a:buAutoNum type="alphaLcParenR"/>
            </a:pPr>
            <a:r>
              <a:rPr lang="fr-FR" sz="1500" dirty="0"/>
              <a:t>Et la sécurité du </a:t>
            </a:r>
            <a:r>
              <a:rPr lang="fr-FR" sz="1500" b="1" dirty="0"/>
              <a:t>revenu de base</a:t>
            </a:r>
            <a:r>
              <a:rPr lang="fr-FR" sz="1500" dirty="0"/>
              <a:t>, au moins à un niveau minimum défini au niveau national, </a:t>
            </a:r>
            <a:r>
              <a:rPr lang="fr-FR" sz="1500" b="1" dirty="0"/>
              <a:t>pour les personnes âgées</a:t>
            </a:r>
            <a:r>
              <a:rPr lang="fr-FR" sz="1500" dirty="0"/>
              <a:t>.</a:t>
            </a:r>
            <a:endParaRPr lang="es-ES" sz="1500" dirty="0"/>
          </a:p>
        </p:txBody>
      </p:sp>
      <p:sp>
        <p:nvSpPr>
          <p:cNvPr id="10" name="TextBox 9">
            <a:extLst>
              <a:ext uri="{FF2B5EF4-FFF2-40B4-BE49-F238E27FC236}">
                <a16:creationId xmlns:a16="http://schemas.microsoft.com/office/drawing/2014/main" id="{997D12DC-FAC7-C44C-9B8A-9734F173D4F0}"/>
              </a:ext>
            </a:extLst>
          </p:cNvPr>
          <p:cNvSpPr txBox="1"/>
          <p:nvPr/>
        </p:nvSpPr>
        <p:spPr>
          <a:xfrm>
            <a:off x="6256420" y="1451901"/>
            <a:ext cx="5447900" cy="3293209"/>
          </a:xfrm>
          <a:prstGeom prst="rect">
            <a:avLst/>
          </a:prstGeom>
          <a:noFill/>
        </p:spPr>
        <p:txBody>
          <a:bodyPr wrap="square">
            <a:spAutoFit/>
          </a:bodyPr>
          <a:lstStyle/>
          <a:p>
            <a:pPr algn="l"/>
            <a:r>
              <a:rPr lang="fr-FR" sz="1600" b="0" i="0" dirty="0">
                <a:solidFill>
                  <a:srgbClr val="333333"/>
                </a:solidFill>
                <a:effectLst/>
                <a:latin typeface="+mj-lt"/>
              </a:rPr>
              <a:t>Reconnaissant la </a:t>
            </a:r>
            <a:r>
              <a:rPr lang="fr-FR" sz="1600" b="1" i="0" dirty="0">
                <a:solidFill>
                  <a:srgbClr val="333333"/>
                </a:solidFill>
                <a:effectLst/>
                <a:latin typeface="+mj-lt"/>
              </a:rPr>
              <a:t>responsabilité générale et principale qui incombe à l’Etat </a:t>
            </a:r>
            <a:r>
              <a:rPr lang="fr-FR" sz="1600" b="0" i="0" dirty="0">
                <a:solidFill>
                  <a:srgbClr val="333333"/>
                </a:solidFill>
                <a:effectLst/>
                <a:latin typeface="+mj-lt"/>
              </a:rPr>
              <a:t>de donner effet à la présente recommandation, les Membres devraient appliquer les principes suivants:</a:t>
            </a:r>
          </a:p>
          <a:p>
            <a:pPr algn="l"/>
            <a:endParaRPr lang="fr-FR" sz="1600" dirty="0">
              <a:solidFill>
                <a:srgbClr val="333333"/>
              </a:solidFill>
              <a:latin typeface="+mj-lt"/>
            </a:endParaRPr>
          </a:p>
          <a:p>
            <a:pPr algn="l"/>
            <a:r>
              <a:rPr lang="fr-FR" sz="1600" b="0" i="0" dirty="0">
                <a:solidFill>
                  <a:srgbClr val="333333"/>
                </a:solidFill>
                <a:effectLst/>
                <a:latin typeface="+mj-lt"/>
              </a:rPr>
              <a:t>a) universalité de la protection, fondée sur la </a:t>
            </a:r>
            <a:r>
              <a:rPr lang="fr-FR" sz="1600" b="1" i="0" dirty="0">
                <a:solidFill>
                  <a:srgbClr val="333333"/>
                </a:solidFill>
                <a:effectLst/>
                <a:latin typeface="+mj-lt"/>
              </a:rPr>
              <a:t>solidarité sociale</a:t>
            </a:r>
            <a:r>
              <a:rPr lang="fr-FR" sz="1600" b="0" i="0" dirty="0">
                <a:solidFill>
                  <a:srgbClr val="333333"/>
                </a:solidFill>
                <a:effectLst/>
                <a:latin typeface="+mj-lt"/>
              </a:rPr>
              <a:t>;</a:t>
            </a:r>
          </a:p>
          <a:p>
            <a:pPr algn="l"/>
            <a:r>
              <a:rPr lang="fr-FR" sz="1600" b="0" i="0" dirty="0">
                <a:solidFill>
                  <a:srgbClr val="333333"/>
                </a:solidFill>
                <a:effectLst/>
                <a:latin typeface="+mj-lt"/>
              </a:rPr>
              <a:t>b) droit aux prestations prescrit par la </a:t>
            </a:r>
            <a:r>
              <a:rPr lang="fr-FR" sz="1600" b="1" i="0" dirty="0">
                <a:solidFill>
                  <a:srgbClr val="333333"/>
                </a:solidFill>
                <a:effectLst/>
                <a:latin typeface="+mj-lt"/>
              </a:rPr>
              <a:t>législation nationale</a:t>
            </a:r>
            <a:r>
              <a:rPr lang="fr-FR" sz="1600" b="0" i="0" dirty="0">
                <a:solidFill>
                  <a:srgbClr val="333333"/>
                </a:solidFill>
                <a:effectLst/>
                <a:latin typeface="+mj-lt"/>
              </a:rPr>
              <a:t>;</a:t>
            </a:r>
          </a:p>
          <a:p>
            <a:pPr algn="l"/>
            <a:r>
              <a:rPr lang="fr-FR" sz="1600" b="0" i="0" dirty="0">
                <a:solidFill>
                  <a:srgbClr val="333333"/>
                </a:solidFill>
                <a:effectLst/>
                <a:latin typeface="+mj-lt"/>
              </a:rPr>
              <a:t>k) pérennité financière, budgétaire et économique, compte dûment tenu de </a:t>
            </a:r>
            <a:r>
              <a:rPr lang="fr-FR" sz="1600" b="1" i="0" dirty="0">
                <a:solidFill>
                  <a:srgbClr val="333333"/>
                </a:solidFill>
                <a:effectLst/>
                <a:latin typeface="+mj-lt"/>
              </a:rPr>
              <a:t>la justice sociale et de l’équité</a:t>
            </a:r>
            <a:r>
              <a:rPr lang="fr-FR" sz="1600" b="0" i="0" dirty="0">
                <a:solidFill>
                  <a:srgbClr val="333333"/>
                </a:solidFill>
                <a:effectLst/>
                <a:latin typeface="+mj-lt"/>
              </a:rPr>
              <a:t>;</a:t>
            </a:r>
          </a:p>
          <a:p>
            <a:pPr algn="l"/>
            <a:r>
              <a:rPr lang="fr-FR" sz="1600" b="0" i="0" dirty="0">
                <a:solidFill>
                  <a:srgbClr val="333333"/>
                </a:solidFill>
                <a:effectLst/>
                <a:latin typeface="+mj-lt"/>
              </a:rPr>
              <a:t>n) </a:t>
            </a:r>
            <a:r>
              <a:rPr lang="fr-FR" sz="1600" b="1" i="0" dirty="0">
                <a:solidFill>
                  <a:srgbClr val="333333"/>
                </a:solidFill>
                <a:effectLst/>
                <a:latin typeface="+mj-lt"/>
              </a:rPr>
              <a:t>services publics </a:t>
            </a:r>
            <a:r>
              <a:rPr lang="fr-FR" sz="1600" b="0" i="0" dirty="0">
                <a:solidFill>
                  <a:srgbClr val="333333"/>
                </a:solidFill>
                <a:effectLst/>
                <a:latin typeface="+mj-lt"/>
              </a:rPr>
              <a:t>de qualité améliorant l’efficacité des systèmes de sécurité sociale;</a:t>
            </a:r>
          </a:p>
        </p:txBody>
      </p:sp>
      <p:pic>
        <p:nvPicPr>
          <p:cNvPr id="5" name="Image 0" descr="/mnt/data/ref_unzip/ppt/media/image1.png">
            <a:extLst>
              <a:ext uri="{FF2B5EF4-FFF2-40B4-BE49-F238E27FC236}">
                <a16:creationId xmlns:a16="http://schemas.microsoft.com/office/drawing/2014/main" id="{153F521C-174F-E04A-CF94-F4CFEC2FD135}"/>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2106419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F9B9D62-D710-843B-E961-10569BA91D8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C31ADE2-8204-68F8-DDAA-D4986432AB56}"/>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45097EBE-8694-5FA3-CBB1-58A521492C24}"/>
              </a:ext>
            </a:extLst>
          </p:cNvPr>
          <p:cNvSpPr/>
          <p:nvPr/>
        </p:nvSpPr>
        <p:spPr>
          <a:xfrm>
            <a:off x="566928" y="1019315"/>
            <a:ext cx="10789920" cy="994228"/>
          </a:xfrm>
          <a:prstGeom prst="rect">
            <a:avLst/>
          </a:prstGeom>
          <a:noFill/>
          <a:ln/>
        </p:spPr>
        <p:txBody>
          <a:bodyPr wrap="square" lIns="0" tIns="0" rIns="0" bIns="0" rtlCol="0" anchor="ctr"/>
          <a:lstStyle/>
          <a:p>
            <a:endParaRPr lang="fr-CH" sz="2200" b="1" noProof="0" dirty="0">
              <a:solidFill>
                <a:schemeClr val="accent1">
                  <a:lumMod val="75000"/>
                </a:schemeClr>
              </a:solidFill>
              <a:latin typeface="Arial" pitchFamily="34" charset="0"/>
              <a:ea typeface="Arial" pitchFamily="34" charset="-122"/>
              <a:cs typeface="Arial" pitchFamily="34" charset="-120"/>
            </a:endParaRPr>
          </a:p>
        </p:txBody>
      </p:sp>
      <p:sp>
        <p:nvSpPr>
          <p:cNvPr id="6" name="Shape 3">
            <a:extLst>
              <a:ext uri="{FF2B5EF4-FFF2-40B4-BE49-F238E27FC236}">
                <a16:creationId xmlns:a16="http://schemas.microsoft.com/office/drawing/2014/main" id="{70FD9BF5-4E51-87B2-0576-A129AFABDD74}"/>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7" name="Text 4">
            <a:extLst>
              <a:ext uri="{FF2B5EF4-FFF2-40B4-BE49-F238E27FC236}">
                <a16:creationId xmlns:a16="http://schemas.microsoft.com/office/drawing/2014/main" id="{16ACE3F2-2745-DA70-E49B-2715BC2CC21F}"/>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8" name="Text 5">
            <a:extLst>
              <a:ext uri="{FF2B5EF4-FFF2-40B4-BE49-F238E27FC236}">
                <a16:creationId xmlns:a16="http://schemas.microsoft.com/office/drawing/2014/main" id="{BD5DC948-ABE1-DD4F-88C2-563A5274A14C}"/>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9" name="Text 6">
            <a:extLst>
              <a:ext uri="{FF2B5EF4-FFF2-40B4-BE49-F238E27FC236}">
                <a16:creationId xmlns:a16="http://schemas.microsoft.com/office/drawing/2014/main" id="{4605F21C-4E77-0861-3899-1534C9505751}"/>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2</a:t>
            </a:r>
            <a:endParaRPr lang="fr-CH" sz="750" noProof="0" dirty="0"/>
          </a:p>
        </p:txBody>
      </p:sp>
      <p:pic>
        <p:nvPicPr>
          <p:cNvPr id="10" name="Picture 9">
            <a:extLst>
              <a:ext uri="{FF2B5EF4-FFF2-40B4-BE49-F238E27FC236}">
                <a16:creationId xmlns:a16="http://schemas.microsoft.com/office/drawing/2014/main" id="{E82FF4E1-1300-B828-5758-4B3C544F1A8F}"/>
              </a:ext>
            </a:extLst>
          </p:cNvPr>
          <p:cNvPicPr>
            <a:picLocks noChangeAspect="1"/>
          </p:cNvPicPr>
          <p:nvPr/>
        </p:nvPicPr>
        <p:blipFill>
          <a:blip r:embed="rId3"/>
          <a:stretch>
            <a:fillRect/>
          </a:stretch>
        </p:blipFill>
        <p:spPr>
          <a:xfrm>
            <a:off x="-1" y="77666"/>
            <a:ext cx="12191695" cy="6852135"/>
          </a:xfrm>
          <a:prstGeom prst="rect">
            <a:avLst/>
          </a:prstGeom>
        </p:spPr>
      </p:pic>
    </p:spTree>
    <p:extLst>
      <p:ext uri="{BB962C8B-B14F-4D97-AF65-F5344CB8AC3E}">
        <p14:creationId xmlns:p14="http://schemas.microsoft.com/office/powerpoint/2010/main" val="939109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CF59C528-F4DA-621F-2A74-2B8C5646BB8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A2B2D7B-C2CF-DECF-533B-2007CACD3EF6}"/>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33C361D4-3918-D32E-FA69-644D7AFA5147}"/>
              </a:ext>
            </a:extLst>
          </p:cNvPr>
          <p:cNvSpPr/>
          <p:nvPr/>
        </p:nvSpPr>
        <p:spPr>
          <a:xfrm>
            <a:off x="594360" y="1051560"/>
            <a:ext cx="10789920" cy="457200"/>
          </a:xfrm>
          <a:prstGeom prst="rect">
            <a:avLst/>
          </a:prstGeom>
          <a:noFill/>
          <a:ln/>
        </p:spPr>
        <p:txBody>
          <a:bodyPr wrap="square" lIns="0" tIns="0" rIns="0" bIns="0" rtlCol="0" anchor="ctr"/>
          <a:lstStyle/>
          <a:p>
            <a:pPr indent="0">
              <a:buNone/>
            </a:pPr>
            <a:r>
              <a:rPr lang="fr-CH" sz="2200" b="1" dirty="0">
                <a:solidFill>
                  <a:srgbClr val="001A8D"/>
                </a:solidFill>
                <a:latin typeface="Arial" pitchFamily="34" charset="0"/>
                <a:cs typeface="Arial" pitchFamily="34" charset="-120"/>
              </a:rPr>
              <a:t>APERÇU GÉNÉRALDE LA PROTECTION SOCIALE</a:t>
            </a:r>
          </a:p>
        </p:txBody>
      </p:sp>
      <p:sp>
        <p:nvSpPr>
          <p:cNvPr id="6" name="Shape 3">
            <a:extLst>
              <a:ext uri="{FF2B5EF4-FFF2-40B4-BE49-F238E27FC236}">
                <a16:creationId xmlns:a16="http://schemas.microsoft.com/office/drawing/2014/main" id="{70E2DAB6-F283-DCCD-4E5C-39112A865E38}"/>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7" name="Text 4">
            <a:extLst>
              <a:ext uri="{FF2B5EF4-FFF2-40B4-BE49-F238E27FC236}">
                <a16:creationId xmlns:a16="http://schemas.microsoft.com/office/drawing/2014/main" id="{F70024F5-E931-DB9D-A80A-7419A9940721}"/>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8" name="Text 5">
            <a:extLst>
              <a:ext uri="{FF2B5EF4-FFF2-40B4-BE49-F238E27FC236}">
                <a16:creationId xmlns:a16="http://schemas.microsoft.com/office/drawing/2014/main" id="{47EA4A42-EDE8-3FD6-DBA3-E2D382D3A21D}"/>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9" name="Text 6">
            <a:extLst>
              <a:ext uri="{FF2B5EF4-FFF2-40B4-BE49-F238E27FC236}">
                <a16:creationId xmlns:a16="http://schemas.microsoft.com/office/drawing/2014/main" id="{49136FC3-018E-E67B-FCBB-3E7051AA1F73}"/>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2</a:t>
            </a:r>
            <a:endParaRPr lang="fr-CH" sz="750" noProof="0" dirty="0"/>
          </a:p>
        </p:txBody>
      </p:sp>
      <p:sp>
        <p:nvSpPr>
          <p:cNvPr id="49" name="Content Placeholder 2">
            <a:extLst>
              <a:ext uri="{FF2B5EF4-FFF2-40B4-BE49-F238E27FC236}">
                <a16:creationId xmlns:a16="http://schemas.microsoft.com/office/drawing/2014/main" id="{99FB9403-1771-4F5D-AD0D-821077CBEFE6}"/>
              </a:ext>
            </a:extLst>
          </p:cNvPr>
          <p:cNvSpPr txBox="1">
            <a:spLocks/>
          </p:cNvSpPr>
          <p:nvPr/>
        </p:nvSpPr>
        <p:spPr>
          <a:xfrm>
            <a:off x="0" y="1904778"/>
            <a:ext cx="5462941" cy="4004533"/>
          </a:xfr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457200" lvl="1" indent="0">
              <a:spcBef>
                <a:spcPts val="0"/>
              </a:spcBef>
              <a:buNone/>
            </a:pPr>
            <a:r>
              <a:rPr lang="fr-FR" sz="1600" dirty="0"/>
              <a:t>La protection sociale, ou sécurité sociale, est </a:t>
            </a:r>
            <a:r>
              <a:rPr lang="fr-FR" sz="1600" b="1" dirty="0"/>
              <a:t>un droit humain fondamental </a:t>
            </a:r>
            <a:r>
              <a:rPr lang="fr-FR" sz="1600" dirty="0"/>
              <a:t>défini comme </a:t>
            </a:r>
            <a:r>
              <a:rPr lang="fr-FR" sz="1600" b="1" dirty="0"/>
              <a:t>l’ensemble des politiques et programmes conçus pour réduire et prévenir la pauvreté, la vulnérabilité et l’exclusion sociale tout au long du cycle de vie</a:t>
            </a:r>
            <a:r>
              <a:rPr lang="fr-FR" sz="1600" dirty="0"/>
              <a:t>. La protection sociale comprend </a:t>
            </a:r>
            <a:r>
              <a:rPr lang="fr-FR" sz="1600" b="1" dirty="0"/>
              <a:t>neuf domaines (ou branches) principaux</a:t>
            </a:r>
            <a:r>
              <a:rPr lang="fr-FR" sz="1600" dirty="0"/>
              <a:t>: les </a:t>
            </a:r>
            <a:r>
              <a:rPr lang="fr-FR" sz="1600" b="1" dirty="0"/>
              <a:t>prestations à l’enfance et aux familles</a:t>
            </a:r>
            <a:r>
              <a:rPr lang="fr-FR" sz="1600" dirty="0"/>
              <a:t>; la </a:t>
            </a:r>
            <a:r>
              <a:rPr lang="fr-FR" sz="1600" b="1" dirty="0"/>
              <a:t>protection de la maternité</a:t>
            </a:r>
            <a:r>
              <a:rPr lang="fr-FR" sz="1600" dirty="0"/>
              <a:t>; les </a:t>
            </a:r>
            <a:r>
              <a:rPr lang="fr-FR" sz="1600" b="1" dirty="0"/>
              <a:t>aides aux chômeurs</a:t>
            </a:r>
            <a:r>
              <a:rPr lang="fr-FR" sz="1600" dirty="0"/>
              <a:t>; les prestations </a:t>
            </a:r>
            <a:r>
              <a:rPr lang="fr-FR" sz="1600" b="1" dirty="0"/>
              <a:t>d’accidents du travail et de maladies professionnelles</a:t>
            </a:r>
            <a:r>
              <a:rPr lang="fr-FR" sz="1600" dirty="0"/>
              <a:t>; les </a:t>
            </a:r>
            <a:r>
              <a:rPr lang="fr-FR" sz="1600" b="1" dirty="0"/>
              <a:t>prestations de maladie</a:t>
            </a:r>
            <a:r>
              <a:rPr lang="fr-FR" sz="1600" dirty="0"/>
              <a:t>; la </a:t>
            </a:r>
            <a:r>
              <a:rPr lang="fr-FR" sz="1600" b="1" dirty="0"/>
              <a:t>protection de la santé (soins médicaux)</a:t>
            </a:r>
            <a:r>
              <a:rPr lang="fr-FR" sz="1600" dirty="0"/>
              <a:t>; les </a:t>
            </a:r>
            <a:r>
              <a:rPr lang="fr-FR" sz="1600" b="1" dirty="0"/>
              <a:t>prestations de vieillesse</a:t>
            </a:r>
            <a:r>
              <a:rPr lang="fr-FR" sz="1600" dirty="0"/>
              <a:t>; les </a:t>
            </a:r>
            <a:r>
              <a:rPr lang="fr-FR" sz="1600" b="1" dirty="0"/>
              <a:t>prestations d’invalidité</a:t>
            </a:r>
            <a:r>
              <a:rPr lang="fr-FR" sz="1600" dirty="0"/>
              <a:t>; les </a:t>
            </a:r>
            <a:r>
              <a:rPr lang="fr-FR" sz="1600" b="1" dirty="0"/>
              <a:t>prestations aux survivants</a:t>
            </a:r>
            <a:r>
              <a:rPr lang="fr-FR" sz="1600" dirty="0"/>
              <a:t>. </a:t>
            </a:r>
          </a:p>
          <a:p>
            <a:pPr lvl="1">
              <a:spcBef>
                <a:spcPts val="0"/>
              </a:spcBef>
            </a:pPr>
            <a:endParaRPr lang="fr-FR" sz="1600" dirty="0"/>
          </a:p>
        </p:txBody>
      </p:sp>
      <p:graphicFrame>
        <p:nvGraphicFramePr>
          <p:cNvPr id="51" name="Marcador de contenido 11">
            <a:extLst>
              <a:ext uri="{FF2B5EF4-FFF2-40B4-BE49-F238E27FC236}">
                <a16:creationId xmlns:a16="http://schemas.microsoft.com/office/drawing/2014/main" id="{07EFA7A5-1E2A-2AB7-3720-BD0EF9AFCFB1}"/>
              </a:ext>
            </a:extLst>
          </p:cNvPr>
          <p:cNvGraphicFramePr>
            <a:graphicFrameLocks/>
          </p:cNvGraphicFramePr>
          <p:nvPr>
            <p:extLst>
              <p:ext uri="{D42A27DB-BD31-4B8C-83A1-F6EECF244321}">
                <p14:modId xmlns:p14="http://schemas.microsoft.com/office/powerpoint/2010/main" val="2281759430"/>
              </p:ext>
            </p:extLst>
          </p:nvPr>
        </p:nvGraphicFramePr>
        <p:xfrm>
          <a:off x="6744625" y="2896071"/>
          <a:ext cx="3871484" cy="23798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2" name="Content Placeholder 2">
            <a:extLst>
              <a:ext uri="{FF2B5EF4-FFF2-40B4-BE49-F238E27FC236}">
                <a16:creationId xmlns:a16="http://schemas.microsoft.com/office/drawing/2014/main" id="{C28D164A-5BA9-0824-8647-A288CD9D4F5C}"/>
              </a:ext>
            </a:extLst>
          </p:cNvPr>
          <p:cNvSpPr txBox="1">
            <a:spLocks/>
          </p:cNvSpPr>
          <p:nvPr/>
        </p:nvSpPr>
        <p:spPr>
          <a:xfrm>
            <a:off x="6238521" y="2018537"/>
            <a:ext cx="5462941" cy="523725"/>
          </a:xfrm>
          <a:prstGeom prst="rect">
            <a:avLst/>
          </a:prstGeom>
        </p:spPr>
        <p:txBody>
          <a:bodyPr vert="horz" lIns="0" tIns="0" rIns="0" bIns="0" rtlCol="0">
            <a:noAutofit/>
          </a:bodyPr>
          <a:lstStyle>
            <a:lvl1pPr marL="0" indent="0" algn="l" defTabSz="914400" rtl="0" eaLnBrk="1" latinLnBrk="0" hangingPunct="1">
              <a:lnSpc>
                <a:spcPct val="100000"/>
              </a:lnSpc>
              <a:spcBef>
                <a:spcPts val="2400"/>
              </a:spcBef>
              <a:spcAft>
                <a:spcPts val="600"/>
              </a:spcAft>
              <a:buFont typeface="Arial" panose="020B0604020202020204" pitchFamily="34" charset="0"/>
              <a:buNone/>
              <a:defRPr sz="1800" b="1" kern="1200">
                <a:solidFill>
                  <a:schemeClr val="accent2"/>
                </a:solidFill>
                <a:latin typeface="+mn-lt"/>
                <a:ea typeface="+mn-ea"/>
                <a:cs typeface="+mn-cs"/>
              </a:defRPr>
            </a:lvl1pPr>
            <a:lvl2pPr marL="0" indent="0" algn="l" defTabSz="914400" rtl="0" eaLnBrk="1" latinLnBrk="0" hangingPunct="1">
              <a:lnSpc>
                <a:spcPct val="100000"/>
              </a:lnSpc>
              <a:spcBef>
                <a:spcPts val="600"/>
              </a:spcBef>
              <a:spcAft>
                <a:spcPts val="600"/>
              </a:spcAft>
              <a:buFont typeface="Arial" panose="020B0604020202020204" pitchFamily="34" charset="0"/>
              <a:buNone/>
              <a:defRPr sz="1800" kern="1200">
                <a:solidFill>
                  <a:schemeClr val="tx1"/>
                </a:solidFill>
                <a:latin typeface="+mn-lt"/>
                <a:ea typeface="+mn-ea"/>
                <a:cs typeface="+mn-cs"/>
              </a:defRPr>
            </a:lvl2pPr>
            <a:lvl3pPr marL="252000" indent="-252000" algn="l" defTabSz="914400" rtl="0" eaLnBrk="1" latinLnBrk="0" hangingPunct="1">
              <a:lnSpc>
                <a:spcPct val="100000"/>
              </a:lnSpc>
              <a:spcBef>
                <a:spcPts val="600"/>
              </a:spcBef>
              <a:buClr>
                <a:schemeClr val="accent2"/>
              </a:buClr>
              <a:buSzPct val="70000"/>
              <a:buFont typeface="Wingdings 3" panose="05040102010807070707" pitchFamily="18" charset="2"/>
              <a:buChar char=""/>
              <a:defRPr sz="1800" kern="1200">
                <a:solidFill>
                  <a:schemeClr val="tx1"/>
                </a:solidFill>
                <a:latin typeface="+mn-lt"/>
                <a:ea typeface="+mn-ea"/>
                <a:cs typeface="+mn-cs"/>
              </a:defRPr>
            </a:lvl3pPr>
            <a:lvl4pPr marL="0" indent="0" algn="l" defTabSz="914400" rtl="0" eaLnBrk="1" latinLnBrk="0" hangingPunct="1">
              <a:lnSpc>
                <a:spcPct val="100000"/>
              </a:lnSpc>
              <a:spcBef>
                <a:spcPts val="2400"/>
              </a:spcBef>
              <a:spcAft>
                <a:spcPts val="450"/>
              </a:spcAft>
              <a:buClr>
                <a:schemeClr val="accent2"/>
              </a:buClr>
              <a:buSzPct val="80000"/>
              <a:buFont typeface="Arial" panose="020B0604020202020204" pitchFamily="34" charset="0"/>
              <a:buNone/>
              <a:defRPr sz="1400" b="1" kern="1200">
                <a:solidFill>
                  <a:schemeClr val="accent2"/>
                </a:solidFill>
                <a:latin typeface="+mn-lt"/>
                <a:ea typeface="+mn-ea"/>
                <a:cs typeface="+mn-cs"/>
              </a:defRPr>
            </a:lvl4pPr>
            <a:lvl5pPr marL="0" indent="0" algn="l" defTabSz="914400" rtl="0" eaLnBrk="1" latinLnBrk="0" hangingPunct="1">
              <a:lnSpc>
                <a:spcPct val="100000"/>
              </a:lnSpc>
              <a:spcBef>
                <a:spcPts val="450"/>
              </a:spcBef>
              <a:spcAft>
                <a:spcPts val="450"/>
              </a:spcAft>
              <a:buClr>
                <a:schemeClr val="accent2"/>
              </a:buClr>
              <a:buSzPct val="80000"/>
              <a:buFont typeface="Arial" panose="020B0604020202020204" pitchFamily="34" charset="0"/>
              <a:buNone/>
              <a:defRPr sz="1400" kern="1200">
                <a:solidFill>
                  <a:schemeClr val="tx1"/>
                </a:solidFill>
                <a:latin typeface="+mn-lt"/>
                <a:ea typeface="+mn-ea"/>
                <a:cs typeface="+mn-cs"/>
              </a:defRPr>
            </a:lvl5pPr>
            <a:lvl6pPr marL="252000" indent="-252000" algn="l" defTabSz="914400" rtl="0" eaLnBrk="1" latinLnBrk="0" hangingPunct="1">
              <a:lnSpc>
                <a:spcPct val="100000"/>
              </a:lnSpc>
              <a:spcBef>
                <a:spcPts val="450"/>
              </a:spcBef>
              <a:buClr>
                <a:schemeClr val="accent2"/>
              </a:buClr>
              <a:buSzPct val="70000"/>
              <a:buFont typeface="Wingdings 3" panose="05040102010807070707" pitchFamily="18" charset="2"/>
              <a:buChar char="u"/>
              <a:defRPr sz="1400" kern="1200">
                <a:solidFill>
                  <a:schemeClr val="tx1"/>
                </a:solidFill>
                <a:latin typeface="+mn-lt"/>
                <a:ea typeface="+mn-ea"/>
                <a:cs typeface="+mn-cs"/>
              </a:defRPr>
            </a:lvl6pPr>
            <a:lvl7pPr marL="0" indent="0" algn="l" defTabSz="914400" rtl="0" eaLnBrk="1" latinLnBrk="0" hangingPunct="1">
              <a:lnSpc>
                <a:spcPct val="100000"/>
              </a:lnSpc>
              <a:spcBef>
                <a:spcPts val="600"/>
              </a:spcBef>
              <a:buFont typeface="Arial" panose="020B0604020202020204" pitchFamily="34" charset="0"/>
              <a:buNone/>
              <a:defRPr sz="1000" kern="1200" baseline="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fr-FR" sz="1750" b="1" dirty="0">
                <a:solidFill>
                  <a:srgbClr val="FF0000"/>
                </a:solidFill>
              </a:rPr>
              <a:t>L'un des quatre piliers de l'agenda du travail décent</a:t>
            </a:r>
          </a:p>
        </p:txBody>
      </p:sp>
      <p:pic>
        <p:nvPicPr>
          <p:cNvPr id="5" name="Image 0" descr="/mnt/data/ref_unzip/ppt/media/image1.png">
            <a:extLst>
              <a:ext uri="{FF2B5EF4-FFF2-40B4-BE49-F238E27FC236}">
                <a16:creationId xmlns:a16="http://schemas.microsoft.com/office/drawing/2014/main" id="{9E8431BE-5D03-15C4-DC48-76409E04A705}"/>
              </a:ext>
            </a:extLst>
          </p:cNvPr>
          <p:cNvPicPr>
            <a:picLocks noChangeAspect="1"/>
          </p:cNvPicPr>
          <p:nvPr/>
        </p:nvPicPr>
        <p:blipFill>
          <a:blip r:embed="rId8"/>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3942418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3D4D-B76C-E48E-9572-C9D388E1B5F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B197788-03F3-3B7A-D4FF-8B6C81D52A57}"/>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D17FAAE3-86CE-4947-298D-5F504F26F055}"/>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POURQUOI UN 2E BULLETIN STATISTIQUE ?</a:t>
            </a:r>
            <a:endParaRPr lang="fr-CH" sz="2200" noProof="0" dirty="0"/>
          </a:p>
        </p:txBody>
      </p:sp>
      <p:sp>
        <p:nvSpPr>
          <p:cNvPr id="5" name="Shape 2">
            <a:extLst>
              <a:ext uri="{FF2B5EF4-FFF2-40B4-BE49-F238E27FC236}">
                <a16:creationId xmlns:a16="http://schemas.microsoft.com/office/drawing/2014/main" id="{E2625A63-4959-D762-D5F9-FCA5A3532EEA}"/>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6" name="Text 3">
            <a:extLst>
              <a:ext uri="{FF2B5EF4-FFF2-40B4-BE49-F238E27FC236}">
                <a16:creationId xmlns:a16="http://schemas.microsoft.com/office/drawing/2014/main" id="{5D85C46F-A51E-29BA-412B-65D3DA731D5E}"/>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7" name="Text 4">
            <a:extLst>
              <a:ext uri="{FF2B5EF4-FFF2-40B4-BE49-F238E27FC236}">
                <a16:creationId xmlns:a16="http://schemas.microsoft.com/office/drawing/2014/main" id="{4246F60C-17D4-E2DD-9DD3-ED9EF8BB787A}"/>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8" name="Text 5">
            <a:extLst>
              <a:ext uri="{FF2B5EF4-FFF2-40B4-BE49-F238E27FC236}">
                <a16:creationId xmlns:a16="http://schemas.microsoft.com/office/drawing/2014/main" id="{25172925-155A-2D7B-12FE-34CC90C4D24A}"/>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3</a:t>
            </a:r>
            <a:endParaRPr lang="fr-CH" sz="750" noProof="0" dirty="0"/>
          </a:p>
        </p:txBody>
      </p:sp>
      <p:sp>
        <p:nvSpPr>
          <p:cNvPr id="9" name="Text 6">
            <a:extLst>
              <a:ext uri="{FF2B5EF4-FFF2-40B4-BE49-F238E27FC236}">
                <a16:creationId xmlns:a16="http://schemas.microsoft.com/office/drawing/2014/main" id="{D62A96AF-D114-C5C8-81E1-3F6002B96937}"/>
              </a:ext>
            </a:extLst>
          </p:cNvPr>
          <p:cNvSpPr/>
          <p:nvPr/>
        </p:nvSpPr>
        <p:spPr>
          <a:xfrm>
            <a:off x="713232" y="1828800"/>
            <a:ext cx="1371600" cy="219456"/>
          </a:xfrm>
          <a:prstGeom prst="rect">
            <a:avLst/>
          </a:prstGeom>
          <a:noFill/>
          <a:ln/>
        </p:spPr>
        <p:txBody>
          <a:bodyPr wrap="square" lIns="0" tIns="0" rIns="0" bIns="0" rtlCol="0" anchor="ctr"/>
          <a:lstStyle/>
          <a:p>
            <a:pPr marL="0" indent="0">
              <a:buNone/>
            </a:pPr>
            <a:r>
              <a:rPr lang="fr-CH" sz="1050" b="1" noProof="0" dirty="0">
                <a:solidFill>
                  <a:srgbClr val="001A8D"/>
                </a:solidFill>
              </a:rPr>
              <a:t>EN BREF</a:t>
            </a:r>
            <a:endParaRPr lang="fr-CH" sz="1050" noProof="0" dirty="0"/>
          </a:p>
        </p:txBody>
      </p:sp>
      <p:sp>
        <p:nvSpPr>
          <p:cNvPr id="11" name="Text 8">
            <a:extLst>
              <a:ext uri="{FF2B5EF4-FFF2-40B4-BE49-F238E27FC236}">
                <a16:creationId xmlns:a16="http://schemas.microsoft.com/office/drawing/2014/main" id="{3AB346E4-C285-C110-A730-2C733DBFB99D}"/>
              </a:ext>
            </a:extLst>
          </p:cNvPr>
          <p:cNvSpPr/>
          <p:nvPr/>
        </p:nvSpPr>
        <p:spPr>
          <a:xfrm>
            <a:off x="1042416" y="2304288"/>
            <a:ext cx="10241280" cy="3108960"/>
          </a:xfrm>
          <a:prstGeom prst="rect">
            <a:avLst/>
          </a:prstGeom>
          <a:noFill/>
          <a:ln/>
        </p:spPr>
        <p:txBody>
          <a:bodyPr wrap="square" lIns="0" tIns="0" rIns="0" bIns="0" rtlCol="0" anchor="ctr">
            <a:normAutofit fontScale="40000" lnSpcReduction="20000"/>
          </a:bodyPr>
          <a:lstStyle/>
          <a:p>
            <a:pPr marL="857250" indent="-857250">
              <a:lnSpc>
                <a:spcPct val="220000"/>
              </a:lnSpc>
              <a:buClr>
                <a:srgbClr val="1E2DBE"/>
              </a:buClr>
              <a:buSzPct val="200000"/>
              <a:buFont typeface="Wingdings" panose="05000000000000000000" pitchFamily="2" charset="2"/>
              <a:buChar char="§"/>
            </a:pPr>
            <a:r>
              <a:rPr lang="fr-CH" sz="5100" noProof="0" dirty="0">
                <a:solidFill>
                  <a:srgbClr val="1E1E1E"/>
                </a:solidFill>
                <a:latin typeface="+mj-lt"/>
                <a:ea typeface="Arial" pitchFamily="34" charset="-122"/>
                <a:cs typeface="Arial" pitchFamily="34" charset="-120"/>
              </a:rPr>
              <a:t>Actualiser la lecture du système de protection sociale en RDC.</a:t>
            </a:r>
          </a:p>
          <a:p>
            <a:pPr marL="857250" indent="-857250">
              <a:lnSpc>
                <a:spcPct val="220000"/>
              </a:lnSpc>
              <a:buClr>
                <a:srgbClr val="1E2DBE"/>
              </a:buClr>
              <a:buSzPct val="200000"/>
              <a:buFont typeface="Wingdings" panose="05000000000000000000" pitchFamily="2" charset="2"/>
              <a:buChar char="§"/>
            </a:pPr>
            <a:r>
              <a:rPr lang="fr-CH" sz="5100" noProof="0" dirty="0">
                <a:solidFill>
                  <a:srgbClr val="1E1E1E"/>
                </a:solidFill>
                <a:latin typeface="+mj-lt"/>
                <a:ea typeface="Arial" pitchFamily="34" charset="-122"/>
                <a:cs typeface="Arial" pitchFamily="34" charset="-120"/>
              </a:rPr>
              <a:t>Intégrer les évolutions récentes du système.</a:t>
            </a:r>
          </a:p>
          <a:p>
            <a:pPr marL="857250" indent="-857250">
              <a:lnSpc>
                <a:spcPct val="220000"/>
              </a:lnSpc>
              <a:buClr>
                <a:srgbClr val="1E2DBE"/>
              </a:buClr>
              <a:buSzPct val="200000"/>
              <a:buFont typeface="Wingdings" panose="05000000000000000000" pitchFamily="2" charset="2"/>
              <a:buChar char="§"/>
            </a:pPr>
            <a:r>
              <a:rPr lang="fr-CH" sz="5100" noProof="0" dirty="0">
                <a:solidFill>
                  <a:srgbClr val="1E1E1E"/>
                </a:solidFill>
                <a:latin typeface="+mj-lt"/>
                <a:ea typeface="Arial" pitchFamily="34" charset="-122"/>
                <a:cs typeface="Arial" pitchFamily="34" charset="-120"/>
              </a:rPr>
              <a:t>Consolider un outil national d’aide à la décision.</a:t>
            </a:r>
          </a:p>
          <a:p>
            <a:pPr marL="857250" indent="-857250">
              <a:lnSpc>
                <a:spcPct val="220000"/>
              </a:lnSpc>
              <a:buClr>
                <a:srgbClr val="1E2DBE"/>
              </a:buClr>
              <a:buSzPct val="200000"/>
              <a:buFont typeface="Wingdings" panose="05000000000000000000" pitchFamily="2" charset="2"/>
              <a:buChar char="§"/>
            </a:pPr>
            <a:r>
              <a:rPr lang="fr-CH" sz="5100" noProof="0" dirty="0">
                <a:solidFill>
                  <a:srgbClr val="1E1E1E"/>
                </a:solidFill>
                <a:latin typeface="+mj-lt"/>
                <a:ea typeface="Arial" pitchFamily="34" charset="-122"/>
                <a:cs typeface="Arial" pitchFamily="34" charset="-120"/>
              </a:rPr>
              <a:t>Renforcer la qualité et l’utilisation des données.</a:t>
            </a:r>
          </a:p>
          <a:p>
            <a:pPr marL="857250" indent="-857250">
              <a:lnSpc>
                <a:spcPct val="220000"/>
              </a:lnSpc>
              <a:buClr>
                <a:srgbClr val="1E2DBE"/>
              </a:buClr>
              <a:buSzPct val="200000"/>
              <a:buFont typeface="Wingdings" panose="05000000000000000000" pitchFamily="2" charset="2"/>
              <a:buChar char="§"/>
            </a:pPr>
            <a:r>
              <a:rPr lang="fr-CH" sz="5100" noProof="0" dirty="0">
                <a:solidFill>
                  <a:srgbClr val="1E1E1E"/>
                </a:solidFill>
                <a:latin typeface="+mj-lt"/>
                <a:ea typeface="Arial" pitchFamily="34" charset="-122"/>
                <a:cs typeface="Arial" pitchFamily="34" charset="-120"/>
              </a:rPr>
              <a:t>Assurer la comparabilité internationale, notamment via le cadre OIT et l’ODD 1.3.1.</a:t>
            </a:r>
            <a:endParaRPr lang="fr-CH" sz="5100" noProof="0" dirty="0">
              <a:latin typeface="+mj-lt"/>
            </a:endParaRPr>
          </a:p>
          <a:p>
            <a:endParaRPr lang="fr-CH" sz="900" noProof="0" dirty="0"/>
          </a:p>
          <a:p>
            <a:endParaRPr lang="fr-CH" sz="900" noProof="0" dirty="0"/>
          </a:p>
          <a:p>
            <a:endParaRPr lang="fr-CH" sz="900" noProof="0" dirty="0"/>
          </a:p>
          <a:p>
            <a:pPr marL="0" indent="0">
              <a:buNone/>
            </a:pPr>
            <a:endParaRPr lang="fr-CH" sz="900" noProof="0" dirty="0"/>
          </a:p>
        </p:txBody>
      </p:sp>
      <p:sp>
        <p:nvSpPr>
          <p:cNvPr id="13" name="Text 10">
            <a:extLst>
              <a:ext uri="{FF2B5EF4-FFF2-40B4-BE49-F238E27FC236}">
                <a16:creationId xmlns:a16="http://schemas.microsoft.com/office/drawing/2014/main" id="{69E5C606-4F84-F95B-B4BD-719A3793FCA4}"/>
              </a:ext>
            </a:extLst>
          </p:cNvPr>
          <p:cNvSpPr/>
          <p:nvPr/>
        </p:nvSpPr>
        <p:spPr>
          <a:xfrm>
            <a:off x="1042416" y="2926080"/>
            <a:ext cx="10241280" cy="621792"/>
          </a:xfrm>
          <a:prstGeom prst="rect">
            <a:avLst/>
          </a:prstGeom>
          <a:noFill/>
          <a:ln/>
        </p:spPr>
        <p:txBody>
          <a:bodyPr wrap="square" lIns="0" tIns="0" rIns="0" bIns="0" rtlCol="0" anchor="ctr">
            <a:normAutofit/>
          </a:bodyPr>
          <a:lstStyle/>
          <a:p>
            <a:pPr marL="0" indent="0">
              <a:buNone/>
            </a:pPr>
            <a:endParaRPr lang="fr-CH" sz="1600" noProof="0" dirty="0"/>
          </a:p>
        </p:txBody>
      </p:sp>
      <p:sp>
        <p:nvSpPr>
          <p:cNvPr id="15" name="Text 12">
            <a:extLst>
              <a:ext uri="{FF2B5EF4-FFF2-40B4-BE49-F238E27FC236}">
                <a16:creationId xmlns:a16="http://schemas.microsoft.com/office/drawing/2014/main" id="{7D754D88-164D-0629-C60C-665AC023D918}"/>
              </a:ext>
            </a:extLst>
          </p:cNvPr>
          <p:cNvSpPr/>
          <p:nvPr/>
        </p:nvSpPr>
        <p:spPr>
          <a:xfrm>
            <a:off x="1042416" y="3547872"/>
            <a:ext cx="10241280" cy="621792"/>
          </a:xfrm>
          <a:prstGeom prst="rect">
            <a:avLst/>
          </a:prstGeom>
          <a:noFill/>
          <a:ln/>
        </p:spPr>
        <p:txBody>
          <a:bodyPr wrap="square" lIns="0" tIns="0" rIns="0" bIns="0" rtlCol="0" anchor="ctr">
            <a:normAutofit/>
          </a:bodyPr>
          <a:lstStyle/>
          <a:p>
            <a:pPr marL="0" indent="0">
              <a:buNone/>
            </a:pPr>
            <a:endParaRPr lang="fr-CH" sz="1600" noProof="0" dirty="0"/>
          </a:p>
        </p:txBody>
      </p:sp>
      <p:sp>
        <p:nvSpPr>
          <p:cNvPr id="17" name="Text 14">
            <a:extLst>
              <a:ext uri="{FF2B5EF4-FFF2-40B4-BE49-F238E27FC236}">
                <a16:creationId xmlns:a16="http://schemas.microsoft.com/office/drawing/2014/main" id="{C4940728-95EB-00E9-2B9E-B36033FE8EFB}"/>
              </a:ext>
            </a:extLst>
          </p:cNvPr>
          <p:cNvSpPr/>
          <p:nvPr/>
        </p:nvSpPr>
        <p:spPr>
          <a:xfrm>
            <a:off x="1042416" y="4169664"/>
            <a:ext cx="10241280" cy="621792"/>
          </a:xfrm>
          <a:prstGeom prst="rect">
            <a:avLst/>
          </a:prstGeom>
          <a:noFill/>
          <a:ln/>
        </p:spPr>
        <p:txBody>
          <a:bodyPr wrap="square" lIns="0" tIns="0" rIns="0" bIns="0" rtlCol="0" anchor="ctr">
            <a:normAutofit/>
          </a:bodyPr>
          <a:lstStyle/>
          <a:p>
            <a:pPr marL="0" indent="0">
              <a:buNone/>
            </a:pPr>
            <a:endParaRPr lang="fr-CH" sz="1600" noProof="0" dirty="0"/>
          </a:p>
        </p:txBody>
      </p:sp>
      <p:sp>
        <p:nvSpPr>
          <p:cNvPr id="19" name="Text 16">
            <a:extLst>
              <a:ext uri="{FF2B5EF4-FFF2-40B4-BE49-F238E27FC236}">
                <a16:creationId xmlns:a16="http://schemas.microsoft.com/office/drawing/2014/main" id="{57D919F0-C864-8D80-9FF2-F0774EDA25B7}"/>
              </a:ext>
            </a:extLst>
          </p:cNvPr>
          <p:cNvSpPr/>
          <p:nvPr/>
        </p:nvSpPr>
        <p:spPr>
          <a:xfrm>
            <a:off x="1042416" y="4791456"/>
            <a:ext cx="10241280" cy="621792"/>
          </a:xfrm>
          <a:prstGeom prst="rect">
            <a:avLst/>
          </a:prstGeom>
          <a:noFill/>
          <a:ln/>
        </p:spPr>
        <p:txBody>
          <a:bodyPr wrap="square" lIns="0" tIns="0" rIns="0" bIns="0" rtlCol="0" anchor="ctr">
            <a:normAutofit/>
          </a:bodyPr>
          <a:lstStyle/>
          <a:p>
            <a:pPr marL="0" indent="0">
              <a:buNone/>
            </a:pPr>
            <a:endParaRPr lang="fr-CH" sz="1600" noProof="0" dirty="0"/>
          </a:p>
        </p:txBody>
      </p:sp>
      <p:pic>
        <p:nvPicPr>
          <p:cNvPr id="10" name="Image 0" descr="/mnt/data/ref_unzip/ppt/media/image1.png">
            <a:extLst>
              <a:ext uri="{FF2B5EF4-FFF2-40B4-BE49-F238E27FC236}">
                <a16:creationId xmlns:a16="http://schemas.microsoft.com/office/drawing/2014/main" id="{1C3B55C9-57ED-1E5A-4E96-E9C28CB7E7C1}"/>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2680016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F24E6-1E8F-2EBB-DEB7-C39D9BB4ECA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46725D1-ACD2-A64F-ECF1-8447A63C457F}"/>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pic>
        <p:nvPicPr>
          <p:cNvPr id="3" name="Image 0" descr="/mnt/data/ref_unzip/ppt/media/image1.png">
            <a:extLst>
              <a:ext uri="{FF2B5EF4-FFF2-40B4-BE49-F238E27FC236}">
                <a16:creationId xmlns:a16="http://schemas.microsoft.com/office/drawing/2014/main" id="{8E6B2703-CF9A-0540-3356-C56E58A09341}"/>
              </a:ext>
            </a:extLst>
          </p:cNvPr>
          <p:cNvPicPr>
            <a:picLocks noChangeAspect="1"/>
          </p:cNvPicPr>
          <p:nvPr/>
        </p:nvPicPr>
        <p:blipFill>
          <a:blip r:embed="rId3"/>
          <a:stretch>
            <a:fillRect/>
          </a:stretch>
        </p:blipFill>
        <p:spPr>
          <a:xfrm>
            <a:off x="612648" y="438912"/>
            <a:ext cx="1417320" cy="493776"/>
          </a:xfrm>
          <a:prstGeom prst="rect">
            <a:avLst/>
          </a:prstGeom>
        </p:spPr>
      </p:pic>
      <p:sp>
        <p:nvSpPr>
          <p:cNvPr id="4" name="Text 1">
            <a:extLst>
              <a:ext uri="{FF2B5EF4-FFF2-40B4-BE49-F238E27FC236}">
                <a16:creationId xmlns:a16="http://schemas.microsoft.com/office/drawing/2014/main" id="{45C113BB-CE87-7B24-4D5E-22ED959A6246}"/>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CE QUE LE 1ER BULLETIN A PERMIS</a:t>
            </a:r>
            <a:endParaRPr lang="fr-CH" sz="2200" noProof="0" dirty="0"/>
          </a:p>
        </p:txBody>
      </p:sp>
      <p:sp>
        <p:nvSpPr>
          <p:cNvPr id="5" name="Shape 2">
            <a:extLst>
              <a:ext uri="{FF2B5EF4-FFF2-40B4-BE49-F238E27FC236}">
                <a16:creationId xmlns:a16="http://schemas.microsoft.com/office/drawing/2014/main" id="{60570A11-7DEE-0910-06B4-DFDACE85F879}"/>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6" name="Text 3">
            <a:extLst>
              <a:ext uri="{FF2B5EF4-FFF2-40B4-BE49-F238E27FC236}">
                <a16:creationId xmlns:a16="http://schemas.microsoft.com/office/drawing/2014/main" id="{085E3D2E-5296-66C3-E2FA-22F611DE2A30}"/>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7" name="Text 4">
            <a:extLst>
              <a:ext uri="{FF2B5EF4-FFF2-40B4-BE49-F238E27FC236}">
                <a16:creationId xmlns:a16="http://schemas.microsoft.com/office/drawing/2014/main" id="{C5C23834-04D1-6290-3C39-8E8B789ADB2A}"/>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8" name="Text 5">
            <a:extLst>
              <a:ext uri="{FF2B5EF4-FFF2-40B4-BE49-F238E27FC236}">
                <a16:creationId xmlns:a16="http://schemas.microsoft.com/office/drawing/2014/main" id="{95A6D65C-5849-F19F-A8EA-F6AE736CC04A}"/>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4</a:t>
            </a:r>
            <a:endParaRPr lang="fr-CH" sz="750" noProof="0" dirty="0"/>
          </a:p>
        </p:txBody>
      </p:sp>
      <p:sp>
        <p:nvSpPr>
          <p:cNvPr id="9" name="Shape 6">
            <a:extLst>
              <a:ext uri="{FF2B5EF4-FFF2-40B4-BE49-F238E27FC236}">
                <a16:creationId xmlns:a16="http://schemas.microsoft.com/office/drawing/2014/main" id="{4741E851-6212-CED7-F8C3-3B7D26BF950E}"/>
              </a:ext>
            </a:extLst>
          </p:cNvPr>
          <p:cNvSpPr/>
          <p:nvPr/>
        </p:nvSpPr>
        <p:spPr>
          <a:xfrm>
            <a:off x="685800" y="1965960"/>
            <a:ext cx="3520440" cy="1143000"/>
          </a:xfrm>
          <a:prstGeom prst="roundRect">
            <a:avLst>
              <a:gd name="adj" fmla="val 6400"/>
            </a:avLst>
          </a:prstGeom>
          <a:solidFill>
            <a:srgbClr val="F6F8FC"/>
          </a:solidFill>
          <a:ln w="11430">
            <a:solidFill>
              <a:srgbClr val="CBD5E1"/>
            </a:solidFill>
            <a:prstDash val="solid"/>
          </a:ln>
        </p:spPr>
        <p:txBody>
          <a:bodyPr/>
          <a:lstStyle/>
          <a:p>
            <a:endParaRPr lang="fr-CH" noProof="0" dirty="0"/>
          </a:p>
        </p:txBody>
      </p:sp>
      <p:sp>
        <p:nvSpPr>
          <p:cNvPr id="10" name="Shape 7">
            <a:extLst>
              <a:ext uri="{FF2B5EF4-FFF2-40B4-BE49-F238E27FC236}">
                <a16:creationId xmlns:a16="http://schemas.microsoft.com/office/drawing/2014/main" id="{0683264C-5160-0775-726F-88F1ACA19A80}"/>
              </a:ext>
            </a:extLst>
          </p:cNvPr>
          <p:cNvSpPr/>
          <p:nvPr/>
        </p:nvSpPr>
        <p:spPr>
          <a:xfrm>
            <a:off x="685800" y="1965960"/>
            <a:ext cx="109728" cy="1143000"/>
          </a:xfrm>
          <a:prstGeom prst="rect">
            <a:avLst/>
          </a:prstGeom>
          <a:solidFill>
            <a:srgbClr val="001A8D"/>
          </a:solidFill>
          <a:ln w="12700">
            <a:solidFill>
              <a:srgbClr val="001A8D"/>
            </a:solidFill>
            <a:prstDash val="solid"/>
          </a:ln>
        </p:spPr>
        <p:txBody>
          <a:bodyPr/>
          <a:lstStyle/>
          <a:p>
            <a:endParaRPr lang="fr-CH" noProof="0" dirty="0"/>
          </a:p>
        </p:txBody>
      </p:sp>
      <p:sp>
        <p:nvSpPr>
          <p:cNvPr id="11" name="Text 8">
            <a:extLst>
              <a:ext uri="{FF2B5EF4-FFF2-40B4-BE49-F238E27FC236}">
                <a16:creationId xmlns:a16="http://schemas.microsoft.com/office/drawing/2014/main" id="{7C61D130-45FF-EF77-A8C5-018AEF78BD0B}"/>
              </a:ext>
            </a:extLst>
          </p:cNvPr>
          <p:cNvSpPr/>
          <p:nvPr/>
        </p:nvSpPr>
        <p:spPr>
          <a:xfrm>
            <a:off x="886968" y="2121408"/>
            <a:ext cx="3118104" cy="228600"/>
          </a:xfrm>
          <a:prstGeom prst="rect">
            <a:avLst/>
          </a:prstGeom>
          <a:noFill/>
          <a:ln/>
        </p:spPr>
        <p:txBody>
          <a:bodyPr wrap="square" lIns="0" tIns="0" rIns="0" bIns="0" rtlCol="0" anchor="ctr">
            <a:normAutofit/>
          </a:bodyPr>
          <a:lstStyle/>
          <a:p>
            <a:pPr marL="0" indent="0">
              <a:buNone/>
            </a:pPr>
            <a:r>
              <a:rPr lang="fr-CH" sz="1150" b="1" noProof="0" dirty="0">
                <a:solidFill>
                  <a:srgbClr val="001A8D"/>
                </a:solidFill>
                <a:latin typeface="Arial" pitchFamily="34" charset="0"/>
                <a:ea typeface="Arial" pitchFamily="34" charset="-122"/>
                <a:cs typeface="Arial" pitchFamily="34" charset="-120"/>
              </a:rPr>
              <a:t>1. Référence nationale</a:t>
            </a:r>
            <a:endParaRPr lang="fr-CH" sz="1150" noProof="0" dirty="0"/>
          </a:p>
        </p:txBody>
      </p:sp>
      <p:sp>
        <p:nvSpPr>
          <p:cNvPr id="12" name="Text 9">
            <a:extLst>
              <a:ext uri="{FF2B5EF4-FFF2-40B4-BE49-F238E27FC236}">
                <a16:creationId xmlns:a16="http://schemas.microsoft.com/office/drawing/2014/main" id="{B3468BB2-38C7-6AB3-AF18-ADEB71C54FBC}"/>
              </a:ext>
            </a:extLst>
          </p:cNvPr>
          <p:cNvSpPr/>
          <p:nvPr/>
        </p:nvSpPr>
        <p:spPr>
          <a:xfrm>
            <a:off x="886968" y="2450592"/>
            <a:ext cx="3118104" cy="530352"/>
          </a:xfrm>
          <a:prstGeom prst="rect">
            <a:avLst/>
          </a:prstGeom>
          <a:noFill/>
          <a:ln/>
        </p:spPr>
        <p:txBody>
          <a:bodyPr wrap="square" lIns="254" tIns="254" rIns="254" bIns="254" rtlCol="0" anchor="t">
            <a:normAutofit/>
          </a:bodyPr>
          <a:lstStyle/>
          <a:p>
            <a:pPr marL="0" indent="0">
              <a:buNone/>
            </a:pPr>
            <a:r>
              <a:rPr lang="fr-CH" sz="1000" noProof="0" dirty="0">
                <a:solidFill>
                  <a:srgbClr val="1E1E1E"/>
                </a:solidFill>
                <a:latin typeface="Arial" pitchFamily="34" charset="0"/>
                <a:ea typeface="Arial" pitchFamily="34" charset="-122"/>
                <a:cs typeface="Arial" pitchFamily="34" charset="-120"/>
              </a:rPr>
              <a:t>Premier document statistique national de référence.</a:t>
            </a:r>
            <a:endParaRPr lang="fr-CH" sz="1000" noProof="0" dirty="0"/>
          </a:p>
        </p:txBody>
      </p:sp>
      <p:sp>
        <p:nvSpPr>
          <p:cNvPr id="13" name="Shape 10">
            <a:extLst>
              <a:ext uri="{FF2B5EF4-FFF2-40B4-BE49-F238E27FC236}">
                <a16:creationId xmlns:a16="http://schemas.microsoft.com/office/drawing/2014/main" id="{569CE37A-64F5-257B-378E-5E379735BFA2}"/>
              </a:ext>
            </a:extLst>
          </p:cNvPr>
          <p:cNvSpPr/>
          <p:nvPr/>
        </p:nvSpPr>
        <p:spPr>
          <a:xfrm>
            <a:off x="4434840" y="1965960"/>
            <a:ext cx="3520440" cy="1143000"/>
          </a:xfrm>
          <a:prstGeom prst="roundRect">
            <a:avLst>
              <a:gd name="adj" fmla="val 6400"/>
            </a:avLst>
          </a:prstGeom>
          <a:solidFill>
            <a:srgbClr val="F6F8FC"/>
          </a:solidFill>
          <a:ln w="11430">
            <a:solidFill>
              <a:srgbClr val="CBD5E1"/>
            </a:solidFill>
            <a:prstDash val="solid"/>
          </a:ln>
        </p:spPr>
        <p:txBody>
          <a:bodyPr/>
          <a:lstStyle/>
          <a:p>
            <a:endParaRPr lang="fr-CH" noProof="0" dirty="0"/>
          </a:p>
        </p:txBody>
      </p:sp>
      <p:sp>
        <p:nvSpPr>
          <p:cNvPr id="14" name="Shape 11">
            <a:extLst>
              <a:ext uri="{FF2B5EF4-FFF2-40B4-BE49-F238E27FC236}">
                <a16:creationId xmlns:a16="http://schemas.microsoft.com/office/drawing/2014/main" id="{2ECA1ECE-E5AB-BBE3-8372-1D70DFE3A5EA}"/>
              </a:ext>
            </a:extLst>
          </p:cNvPr>
          <p:cNvSpPr/>
          <p:nvPr/>
        </p:nvSpPr>
        <p:spPr>
          <a:xfrm>
            <a:off x="4434840" y="1965960"/>
            <a:ext cx="109728" cy="1143000"/>
          </a:xfrm>
          <a:prstGeom prst="rect">
            <a:avLst/>
          </a:prstGeom>
          <a:solidFill>
            <a:srgbClr val="FFCC00"/>
          </a:solidFill>
          <a:ln w="12700">
            <a:solidFill>
              <a:srgbClr val="FFCC00"/>
            </a:solidFill>
            <a:prstDash val="solid"/>
          </a:ln>
        </p:spPr>
        <p:txBody>
          <a:bodyPr/>
          <a:lstStyle/>
          <a:p>
            <a:endParaRPr lang="fr-CH" noProof="0" dirty="0"/>
          </a:p>
        </p:txBody>
      </p:sp>
      <p:sp>
        <p:nvSpPr>
          <p:cNvPr id="15" name="Text 12">
            <a:extLst>
              <a:ext uri="{FF2B5EF4-FFF2-40B4-BE49-F238E27FC236}">
                <a16:creationId xmlns:a16="http://schemas.microsoft.com/office/drawing/2014/main" id="{2E52DCDE-54AC-DFC9-DF17-4F4CFB283C07}"/>
              </a:ext>
            </a:extLst>
          </p:cNvPr>
          <p:cNvSpPr/>
          <p:nvPr/>
        </p:nvSpPr>
        <p:spPr>
          <a:xfrm>
            <a:off x="4636008" y="2121408"/>
            <a:ext cx="3118104" cy="228600"/>
          </a:xfrm>
          <a:prstGeom prst="rect">
            <a:avLst/>
          </a:prstGeom>
          <a:noFill/>
          <a:ln/>
        </p:spPr>
        <p:txBody>
          <a:bodyPr wrap="square" lIns="0" tIns="0" rIns="0" bIns="0" rtlCol="0" anchor="ctr">
            <a:normAutofit/>
          </a:bodyPr>
          <a:lstStyle/>
          <a:p>
            <a:pPr marL="0" indent="0">
              <a:buNone/>
            </a:pPr>
            <a:r>
              <a:rPr lang="fr-CH" sz="1150" b="1" noProof="0" dirty="0">
                <a:solidFill>
                  <a:srgbClr val="001A8D"/>
                </a:solidFill>
                <a:latin typeface="Arial" pitchFamily="34" charset="0"/>
                <a:ea typeface="Arial" pitchFamily="34" charset="-122"/>
                <a:cs typeface="Arial" pitchFamily="34" charset="-120"/>
              </a:rPr>
              <a:t>2. Cartographie</a:t>
            </a:r>
            <a:endParaRPr lang="fr-CH" sz="1150" noProof="0" dirty="0"/>
          </a:p>
        </p:txBody>
      </p:sp>
      <p:sp>
        <p:nvSpPr>
          <p:cNvPr id="16" name="Text 13">
            <a:extLst>
              <a:ext uri="{FF2B5EF4-FFF2-40B4-BE49-F238E27FC236}">
                <a16:creationId xmlns:a16="http://schemas.microsoft.com/office/drawing/2014/main" id="{D3555A1C-67A6-8A7F-BB26-D9FCBC61C9E8}"/>
              </a:ext>
            </a:extLst>
          </p:cNvPr>
          <p:cNvSpPr/>
          <p:nvPr/>
        </p:nvSpPr>
        <p:spPr>
          <a:xfrm>
            <a:off x="4636008" y="2450592"/>
            <a:ext cx="3118104" cy="530352"/>
          </a:xfrm>
          <a:prstGeom prst="rect">
            <a:avLst/>
          </a:prstGeom>
          <a:noFill/>
          <a:ln/>
        </p:spPr>
        <p:txBody>
          <a:bodyPr wrap="square" lIns="254" tIns="254" rIns="254" bIns="254" rtlCol="0" anchor="t">
            <a:normAutofit/>
          </a:bodyPr>
          <a:lstStyle/>
          <a:p>
            <a:pPr marL="0" indent="0">
              <a:buNone/>
            </a:pPr>
            <a:r>
              <a:rPr lang="fr-CH" sz="1000" noProof="0" dirty="0">
                <a:solidFill>
                  <a:srgbClr val="1E1E1E"/>
                </a:solidFill>
                <a:latin typeface="Arial" pitchFamily="34" charset="0"/>
                <a:ea typeface="Arial" pitchFamily="34" charset="-122"/>
                <a:cs typeface="Arial" pitchFamily="34" charset="-120"/>
              </a:rPr>
              <a:t>Première lecture structurée du système de protection sociale.</a:t>
            </a:r>
            <a:endParaRPr lang="fr-CH" sz="1000" noProof="0" dirty="0"/>
          </a:p>
        </p:txBody>
      </p:sp>
      <p:sp>
        <p:nvSpPr>
          <p:cNvPr id="17" name="Shape 14">
            <a:extLst>
              <a:ext uri="{FF2B5EF4-FFF2-40B4-BE49-F238E27FC236}">
                <a16:creationId xmlns:a16="http://schemas.microsoft.com/office/drawing/2014/main" id="{32D35377-97DD-2C57-D310-72D98C93AB77}"/>
              </a:ext>
            </a:extLst>
          </p:cNvPr>
          <p:cNvSpPr/>
          <p:nvPr/>
        </p:nvSpPr>
        <p:spPr>
          <a:xfrm>
            <a:off x="8183880" y="1965960"/>
            <a:ext cx="3063240" cy="1143000"/>
          </a:xfrm>
          <a:prstGeom prst="roundRect">
            <a:avLst>
              <a:gd name="adj" fmla="val 6400"/>
            </a:avLst>
          </a:prstGeom>
          <a:solidFill>
            <a:srgbClr val="F6F8FC"/>
          </a:solidFill>
          <a:ln w="11430">
            <a:solidFill>
              <a:srgbClr val="CBD5E1"/>
            </a:solidFill>
            <a:prstDash val="solid"/>
          </a:ln>
        </p:spPr>
        <p:txBody>
          <a:bodyPr/>
          <a:lstStyle/>
          <a:p>
            <a:endParaRPr lang="fr-CH" noProof="0" dirty="0"/>
          </a:p>
        </p:txBody>
      </p:sp>
      <p:sp>
        <p:nvSpPr>
          <p:cNvPr id="18" name="Shape 15">
            <a:extLst>
              <a:ext uri="{FF2B5EF4-FFF2-40B4-BE49-F238E27FC236}">
                <a16:creationId xmlns:a16="http://schemas.microsoft.com/office/drawing/2014/main" id="{7E785296-1607-6FA0-58F0-7FBF5ACE018B}"/>
              </a:ext>
            </a:extLst>
          </p:cNvPr>
          <p:cNvSpPr/>
          <p:nvPr/>
        </p:nvSpPr>
        <p:spPr>
          <a:xfrm>
            <a:off x="8183880" y="1965960"/>
            <a:ext cx="109728" cy="1143000"/>
          </a:xfrm>
          <a:prstGeom prst="rect">
            <a:avLst/>
          </a:prstGeom>
          <a:solidFill>
            <a:srgbClr val="8BCF6A"/>
          </a:solidFill>
          <a:ln w="12700">
            <a:solidFill>
              <a:srgbClr val="8BCF6A"/>
            </a:solidFill>
            <a:prstDash val="solid"/>
          </a:ln>
        </p:spPr>
        <p:txBody>
          <a:bodyPr/>
          <a:lstStyle/>
          <a:p>
            <a:endParaRPr lang="fr-CH" noProof="0" dirty="0"/>
          </a:p>
        </p:txBody>
      </p:sp>
      <p:sp>
        <p:nvSpPr>
          <p:cNvPr id="19" name="Text 16">
            <a:extLst>
              <a:ext uri="{FF2B5EF4-FFF2-40B4-BE49-F238E27FC236}">
                <a16:creationId xmlns:a16="http://schemas.microsoft.com/office/drawing/2014/main" id="{CB280BBF-EBC9-12A3-D037-0DFD7351489A}"/>
              </a:ext>
            </a:extLst>
          </p:cNvPr>
          <p:cNvSpPr/>
          <p:nvPr/>
        </p:nvSpPr>
        <p:spPr>
          <a:xfrm>
            <a:off x="8385048" y="2121408"/>
            <a:ext cx="2660904" cy="228600"/>
          </a:xfrm>
          <a:prstGeom prst="rect">
            <a:avLst/>
          </a:prstGeom>
          <a:noFill/>
          <a:ln/>
        </p:spPr>
        <p:txBody>
          <a:bodyPr wrap="square" lIns="0" tIns="0" rIns="0" bIns="0" rtlCol="0" anchor="ctr">
            <a:normAutofit/>
          </a:bodyPr>
          <a:lstStyle/>
          <a:p>
            <a:pPr marL="0" indent="0">
              <a:buNone/>
            </a:pPr>
            <a:r>
              <a:rPr lang="fr-CH" sz="1150" b="1" noProof="0" dirty="0">
                <a:solidFill>
                  <a:srgbClr val="001A8D"/>
                </a:solidFill>
                <a:latin typeface="Arial" pitchFamily="34" charset="0"/>
                <a:ea typeface="Arial" pitchFamily="34" charset="-122"/>
                <a:cs typeface="Arial" pitchFamily="34" charset="-120"/>
              </a:rPr>
              <a:t>3. Indicateurs</a:t>
            </a:r>
            <a:endParaRPr lang="fr-CH" sz="1150" noProof="0" dirty="0"/>
          </a:p>
        </p:txBody>
      </p:sp>
      <p:sp>
        <p:nvSpPr>
          <p:cNvPr id="20" name="Text 17">
            <a:extLst>
              <a:ext uri="{FF2B5EF4-FFF2-40B4-BE49-F238E27FC236}">
                <a16:creationId xmlns:a16="http://schemas.microsoft.com/office/drawing/2014/main" id="{C6276017-16AA-D8DF-0AFD-ACC40CF6B465}"/>
              </a:ext>
            </a:extLst>
          </p:cNvPr>
          <p:cNvSpPr/>
          <p:nvPr/>
        </p:nvSpPr>
        <p:spPr>
          <a:xfrm>
            <a:off x="8385048" y="2450592"/>
            <a:ext cx="2660904" cy="530352"/>
          </a:xfrm>
          <a:prstGeom prst="rect">
            <a:avLst/>
          </a:prstGeom>
          <a:noFill/>
          <a:ln/>
        </p:spPr>
        <p:txBody>
          <a:bodyPr wrap="square" lIns="254" tIns="254" rIns="254" bIns="254" rtlCol="0" anchor="t">
            <a:normAutofit/>
          </a:bodyPr>
          <a:lstStyle/>
          <a:p>
            <a:pPr marL="0" indent="0">
              <a:buNone/>
            </a:pPr>
            <a:r>
              <a:rPr lang="fr-CH" sz="1000" noProof="0" dirty="0">
                <a:solidFill>
                  <a:srgbClr val="1E1E1E"/>
                </a:solidFill>
                <a:latin typeface="Arial" pitchFamily="34" charset="0"/>
                <a:ea typeface="Arial" pitchFamily="34" charset="-122"/>
                <a:cs typeface="Arial" pitchFamily="34" charset="-120"/>
              </a:rPr>
              <a:t>Premiers indicateurs de couverture, dont l’ODD 1.3.1.</a:t>
            </a:r>
            <a:endParaRPr lang="fr-CH" sz="1000" noProof="0" dirty="0"/>
          </a:p>
        </p:txBody>
      </p:sp>
      <p:sp>
        <p:nvSpPr>
          <p:cNvPr id="21" name="Shape 18">
            <a:extLst>
              <a:ext uri="{FF2B5EF4-FFF2-40B4-BE49-F238E27FC236}">
                <a16:creationId xmlns:a16="http://schemas.microsoft.com/office/drawing/2014/main" id="{962A578D-D2E0-AE1F-6B06-1FB87DDE5294}"/>
              </a:ext>
            </a:extLst>
          </p:cNvPr>
          <p:cNvSpPr/>
          <p:nvPr/>
        </p:nvSpPr>
        <p:spPr>
          <a:xfrm>
            <a:off x="1554480" y="3703320"/>
            <a:ext cx="4069080" cy="1170432"/>
          </a:xfrm>
          <a:prstGeom prst="roundRect">
            <a:avLst>
              <a:gd name="adj" fmla="val 6250"/>
            </a:avLst>
          </a:prstGeom>
          <a:solidFill>
            <a:srgbClr val="F6F8FC"/>
          </a:solidFill>
          <a:ln w="11430">
            <a:solidFill>
              <a:srgbClr val="CBD5E1"/>
            </a:solidFill>
            <a:prstDash val="solid"/>
          </a:ln>
        </p:spPr>
        <p:txBody>
          <a:bodyPr/>
          <a:lstStyle/>
          <a:p>
            <a:endParaRPr lang="fr-CH" noProof="0" dirty="0"/>
          </a:p>
        </p:txBody>
      </p:sp>
      <p:sp>
        <p:nvSpPr>
          <p:cNvPr id="22" name="Shape 19">
            <a:extLst>
              <a:ext uri="{FF2B5EF4-FFF2-40B4-BE49-F238E27FC236}">
                <a16:creationId xmlns:a16="http://schemas.microsoft.com/office/drawing/2014/main" id="{D35531C9-C3FB-F605-834B-5AA911067CF7}"/>
              </a:ext>
            </a:extLst>
          </p:cNvPr>
          <p:cNvSpPr/>
          <p:nvPr/>
        </p:nvSpPr>
        <p:spPr>
          <a:xfrm>
            <a:off x="1554480" y="3703320"/>
            <a:ext cx="109728" cy="1170432"/>
          </a:xfrm>
          <a:prstGeom prst="rect">
            <a:avLst/>
          </a:prstGeom>
          <a:solidFill>
            <a:srgbClr val="243CFC"/>
          </a:solidFill>
          <a:ln w="12700">
            <a:solidFill>
              <a:srgbClr val="243CFC"/>
            </a:solidFill>
            <a:prstDash val="solid"/>
          </a:ln>
        </p:spPr>
        <p:txBody>
          <a:bodyPr/>
          <a:lstStyle/>
          <a:p>
            <a:endParaRPr lang="fr-CH" noProof="0" dirty="0"/>
          </a:p>
        </p:txBody>
      </p:sp>
      <p:sp>
        <p:nvSpPr>
          <p:cNvPr id="23" name="Text 20">
            <a:extLst>
              <a:ext uri="{FF2B5EF4-FFF2-40B4-BE49-F238E27FC236}">
                <a16:creationId xmlns:a16="http://schemas.microsoft.com/office/drawing/2014/main" id="{AAFB573E-D920-BED1-EC0C-037AFEC90F22}"/>
              </a:ext>
            </a:extLst>
          </p:cNvPr>
          <p:cNvSpPr/>
          <p:nvPr/>
        </p:nvSpPr>
        <p:spPr>
          <a:xfrm>
            <a:off x="1755648" y="3858768"/>
            <a:ext cx="3666744" cy="228600"/>
          </a:xfrm>
          <a:prstGeom prst="rect">
            <a:avLst/>
          </a:prstGeom>
          <a:noFill/>
          <a:ln/>
        </p:spPr>
        <p:txBody>
          <a:bodyPr wrap="square" lIns="0" tIns="0" rIns="0" bIns="0" rtlCol="0" anchor="ctr">
            <a:normAutofit/>
          </a:bodyPr>
          <a:lstStyle/>
          <a:p>
            <a:pPr marL="0" indent="0">
              <a:buNone/>
            </a:pPr>
            <a:r>
              <a:rPr lang="fr-CH" sz="1150" b="1" noProof="0" dirty="0">
                <a:solidFill>
                  <a:srgbClr val="001A8D"/>
                </a:solidFill>
                <a:latin typeface="Arial" pitchFamily="34" charset="0"/>
                <a:ea typeface="Arial" pitchFamily="34" charset="-122"/>
                <a:cs typeface="Arial" pitchFamily="34" charset="-120"/>
              </a:rPr>
              <a:t>4. Mobilisation</a:t>
            </a:r>
            <a:endParaRPr lang="fr-CH" sz="1150" noProof="0" dirty="0"/>
          </a:p>
        </p:txBody>
      </p:sp>
      <p:sp>
        <p:nvSpPr>
          <p:cNvPr id="24" name="Text 21">
            <a:extLst>
              <a:ext uri="{FF2B5EF4-FFF2-40B4-BE49-F238E27FC236}">
                <a16:creationId xmlns:a16="http://schemas.microsoft.com/office/drawing/2014/main" id="{0BC68D41-0E06-20B5-C1D3-45E942A91507}"/>
              </a:ext>
            </a:extLst>
          </p:cNvPr>
          <p:cNvSpPr/>
          <p:nvPr/>
        </p:nvSpPr>
        <p:spPr>
          <a:xfrm>
            <a:off x="1755648" y="4187952"/>
            <a:ext cx="3666744" cy="557784"/>
          </a:xfrm>
          <a:prstGeom prst="rect">
            <a:avLst/>
          </a:prstGeom>
          <a:noFill/>
          <a:ln/>
        </p:spPr>
        <p:txBody>
          <a:bodyPr wrap="square" lIns="254" tIns="254" rIns="254" bIns="254" rtlCol="0" anchor="t">
            <a:normAutofit/>
          </a:bodyPr>
          <a:lstStyle/>
          <a:p>
            <a:pPr marL="0" indent="0">
              <a:buNone/>
            </a:pPr>
            <a:r>
              <a:rPr lang="fr-CH" sz="1000" noProof="0" dirty="0">
                <a:solidFill>
                  <a:srgbClr val="1E1E1E"/>
                </a:solidFill>
                <a:latin typeface="Arial" pitchFamily="34" charset="0"/>
                <a:ea typeface="Arial" pitchFamily="34" charset="-122"/>
                <a:cs typeface="Arial" pitchFamily="34" charset="-120"/>
              </a:rPr>
              <a:t>Mobilisation initiale des institutions détentrices de données.</a:t>
            </a:r>
            <a:endParaRPr lang="fr-CH" sz="1000" noProof="0" dirty="0"/>
          </a:p>
        </p:txBody>
      </p:sp>
      <p:sp>
        <p:nvSpPr>
          <p:cNvPr id="25" name="Shape 22">
            <a:extLst>
              <a:ext uri="{FF2B5EF4-FFF2-40B4-BE49-F238E27FC236}">
                <a16:creationId xmlns:a16="http://schemas.microsoft.com/office/drawing/2014/main" id="{09B2F634-B181-9CBF-04C4-59FD73908C74}"/>
              </a:ext>
            </a:extLst>
          </p:cNvPr>
          <p:cNvSpPr/>
          <p:nvPr/>
        </p:nvSpPr>
        <p:spPr>
          <a:xfrm>
            <a:off x="6172200" y="3703320"/>
            <a:ext cx="4069080" cy="1170432"/>
          </a:xfrm>
          <a:prstGeom prst="roundRect">
            <a:avLst>
              <a:gd name="adj" fmla="val 6250"/>
            </a:avLst>
          </a:prstGeom>
          <a:solidFill>
            <a:srgbClr val="F6F8FC"/>
          </a:solidFill>
          <a:ln w="11430">
            <a:solidFill>
              <a:srgbClr val="CBD5E1"/>
            </a:solidFill>
            <a:prstDash val="solid"/>
          </a:ln>
        </p:spPr>
        <p:txBody>
          <a:bodyPr/>
          <a:lstStyle/>
          <a:p>
            <a:endParaRPr lang="fr-CH" noProof="0" dirty="0"/>
          </a:p>
        </p:txBody>
      </p:sp>
      <p:sp>
        <p:nvSpPr>
          <p:cNvPr id="26" name="Shape 23">
            <a:extLst>
              <a:ext uri="{FF2B5EF4-FFF2-40B4-BE49-F238E27FC236}">
                <a16:creationId xmlns:a16="http://schemas.microsoft.com/office/drawing/2014/main" id="{6CD658A1-401E-F699-47F9-CB04C09C7286}"/>
              </a:ext>
            </a:extLst>
          </p:cNvPr>
          <p:cNvSpPr/>
          <p:nvPr/>
        </p:nvSpPr>
        <p:spPr>
          <a:xfrm>
            <a:off x="6172200" y="3703320"/>
            <a:ext cx="109728" cy="1170432"/>
          </a:xfrm>
          <a:prstGeom prst="rect">
            <a:avLst/>
          </a:prstGeom>
          <a:solidFill>
            <a:srgbClr val="FF5050"/>
          </a:solidFill>
          <a:ln w="12700">
            <a:solidFill>
              <a:srgbClr val="FF5050"/>
            </a:solidFill>
            <a:prstDash val="solid"/>
          </a:ln>
        </p:spPr>
        <p:txBody>
          <a:bodyPr/>
          <a:lstStyle/>
          <a:p>
            <a:endParaRPr lang="fr-CH" noProof="0" dirty="0"/>
          </a:p>
        </p:txBody>
      </p:sp>
      <p:sp>
        <p:nvSpPr>
          <p:cNvPr id="27" name="Text 24">
            <a:extLst>
              <a:ext uri="{FF2B5EF4-FFF2-40B4-BE49-F238E27FC236}">
                <a16:creationId xmlns:a16="http://schemas.microsoft.com/office/drawing/2014/main" id="{E0670CC5-B931-A3E0-339E-141DDB3B64D1}"/>
              </a:ext>
            </a:extLst>
          </p:cNvPr>
          <p:cNvSpPr/>
          <p:nvPr/>
        </p:nvSpPr>
        <p:spPr>
          <a:xfrm>
            <a:off x="6373368" y="3858768"/>
            <a:ext cx="3666744" cy="228600"/>
          </a:xfrm>
          <a:prstGeom prst="rect">
            <a:avLst/>
          </a:prstGeom>
          <a:noFill/>
          <a:ln/>
        </p:spPr>
        <p:txBody>
          <a:bodyPr wrap="square" lIns="0" tIns="0" rIns="0" bIns="0" rtlCol="0" anchor="ctr">
            <a:normAutofit/>
          </a:bodyPr>
          <a:lstStyle/>
          <a:p>
            <a:pPr marL="0" indent="0">
              <a:buNone/>
            </a:pPr>
            <a:r>
              <a:rPr lang="fr-CH" sz="1150" b="1" noProof="0" dirty="0">
                <a:solidFill>
                  <a:srgbClr val="001A8D"/>
                </a:solidFill>
                <a:latin typeface="Arial" pitchFamily="34" charset="0"/>
                <a:ea typeface="Arial" pitchFamily="34" charset="-122"/>
                <a:cs typeface="Arial" pitchFamily="34" charset="-120"/>
              </a:rPr>
              <a:t>5. Lacunes identifiées</a:t>
            </a:r>
            <a:endParaRPr lang="fr-CH" sz="1150" noProof="0" dirty="0"/>
          </a:p>
        </p:txBody>
      </p:sp>
      <p:sp>
        <p:nvSpPr>
          <p:cNvPr id="28" name="Text 25">
            <a:extLst>
              <a:ext uri="{FF2B5EF4-FFF2-40B4-BE49-F238E27FC236}">
                <a16:creationId xmlns:a16="http://schemas.microsoft.com/office/drawing/2014/main" id="{22C6F50A-CACA-7190-0CA3-B3458A42826D}"/>
              </a:ext>
            </a:extLst>
          </p:cNvPr>
          <p:cNvSpPr/>
          <p:nvPr/>
        </p:nvSpPr>
        <p:spPr>
          <a:xfrm>
            <a:off x="6373368" y="4187952"/>
            <a:ext cx="3666744" cy="557784"/>
          </a:xfrm>
          <a:prstGeom prst="rect">
            <a:avLst/>
          </a:prstGeom>
          <a:noFill/>
          <a:ln/>
        </p:spPr>
        <p:txBody>
          <a:bodyPr wrap="square" lIns="254" tIns="254" rIns="254" bIns="254" rtlCol="0" anchor="t">
            <a:normAutofit/>
          </a:bodyPr>
          <a:lstStyle/>
          <a:p>
            <a:pPr marL="0" indent="0">
              <a:buNone/>
            </a:pPr>
            <a:r>
              <a:rPr lang="fr-CH" sz="1000" noProof="0" dirty="0">
                <a:solidFill>
                  <a:srgbClr val="1E1E1E"/>
                </a:solidFill>
                <a:latin typeface="Arial" pitchFamily="34" charset="0"/>
                <a:ea typeface="Arial" pitchFamily="34" charset="-122"/>
                <a:cs typeface="Arial" pitchFamily="34" charset="-120"/>
              </a:rPr>
              <a:t>Données, coordination et rapportage à renforcer.</a:t>
            </a:r>
            <a:endParaRPr lang="fr-CH" sz="1000" noProof="0" dirty="0"/>
          </a:p>
        </p:txBody>
      </p:sp>
      <p:pic>
        <p:nvPicPr>
          <p:cNvPr id="29" name="Image 0" descr="/mnt/data/ref_unzip/ppt/media/image1.png">
            <a:extLst>
              <a:ext uri="{FF2B5EF4-FFF2-40B4-BE49-F238E27FC236}">
                <a16:creationId xmlns:a16="http://schemas.microsoft.com/office/drawing/2014/main" id="{95CB0E61-14D3-08D2-82D3-C4B52287F4B3}"/>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590605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F0E82-7C79-4968-4708-DAE8B1D01FCA}"/>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8860D58-7B42-C1D4-47B4-4246CC881573}"/>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BB14DA3F-4A39-A241-BAA2-B4E927B41280}"/>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POURQUOI UNE NOUVELLE ÉTAPE EST NÉCESSAIRE AUJOURD’HUI</a:t>
            </a:r>
            <a:endParaRPr lang="fr-CH" sz="2200" noProof="0" dirty="0"/>
          </a:p>
        </p:txBody>
      </p:sp>
      <p:sp>
        <p:nvSpPr>
          <p:cNvPr id="5" name="Shape 2">
            <a:extLst>
              <a:ext uri="{FF2B5EF4-FFF2-40B4-BE49-F238E27FC236}">
                <a16:creationId xmlns:a16="http://schemas.microsoft.com/office/drawing/2014/main" id="{137F4C7B-4DC7-66EA-6E78-E25CF8346693}"/>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6" name="Text 3">
            <a:extLst>
              <a:ext uri="{FF2B5EF4-FFF2-40B4-BE49-F238E27FC236}">
                <a16:creationId xmlns:a16="http://schemas.microsoft.com/office/drawing/2014/main" id="{B95386C6-68EB-F78D-102E-FA5BD6448EEE}"/>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7" name="Text 4">
            <a:extLst>
              <a:ext uri="{FF2B5EF4-FFF2-40B4-BE49-F238E27FC236}">
                <a16:creationId xmlns:a16="http://schemas.microsoft.com/office/drawing/2014/main" id="{628E10E9-B606-D57B-ADD1-E8FB69237310}"/>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8" name="Text 5">
            <a:extLst>
              <a:ext uri="{FF2B5EF4-FFF2-40B4-BE49-F238E27FC236}">
                <a16:creationId xmlns:a16="http://schemas.microsoft.com/office/drawing/2014/main" id="{BB997721-58B4-5261-7AE6-5C4ED17AE045}"/>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5</a:t>
            </a:r>
            <a:endParaRPr lang="fr-CH" sz="750" noProof="0" dirty="0"/>
          </a:p>
        </p:txBody>
      </p:sp>
      <p:sp>
        <p:nvSpPr>
          <p:cNvPr id="9" name="Shape 6">
            <a:extLst>
              <a:ext uri="{FF2B5EF4-FFF2-40B4-BE49-F238E27FC236}">
                <a16:creationId xmlns:a16="http://schemas.microsoft.com/office/drawing/2014/main" id="{526CCCF2-08BA-FCC0-E6D7-ED3A7070C3EC}"/>
              </a:ext>
            </a:extLst>
          </p:cNvPr>
          <p:cNvSpPr/>
          <p:nvPr/>
        </p:nvSpPr>
        <p:spPr>
          <a:xfrm>
            <a:off x="713232" y="1920240"/>
            <a:ext cx="3337560" cy="1078992"/>
          </a:xfrm>
          <a:prstGeom prst="roundRect">
            <a:avLst>
              <a:gd name="adj" fmla="val 6780"/>
            </a:avLst>
          </a:prstGeom>
          <a:solidFill>
            <a:srgbClr val="FFFFFF"/>
          </a:solidFill>
          <a:ln w="11430">
            <a:solidFill>
              <a:srgbClr val="CBD5E1"/>
            </a:solidFill>
            <a:prstDash val="solid"/>
          </a:ln>
        </p:spPr>
        <p:txBody>
          <a:bodyPr/>
          <a:lstStyle/>
          <a:p>
            <a:endParaRPr lang="fr-CH" noProof="0" dirty="0"/>
          </a:p>
        </p:txBody>
      </p:sp>
      <p:sp>
        <p:nvSpPr>
          <p:cNvPr id="10" name="Shape 7">
            <a:extLst>
              <a:ext uri="{FF2B5EF4-FFF2-40B4-BE49-F238E27FC236}">
                <a16:creationId xmlns:a16="http://schemas.microsoft.com/office/drawing/2014/main" id="{E3C796A5-403B-8698-85DB-D84716BF510E}"/>
              </a:ext>
            </a:extLst>
          </p:cNvPr>
          <p:cNvSpPr/>
          <p:nvPr/>
        </p:nvSpPr>
        <p:spPr>
          <a:xfrm>
            <a:off x="713232" y="1920240"/>
            <a:ext cx="109728" cy="1078992"/>
          </a:xfrm>
          <a:prstGeom prst="rect">
            <a:avLst/>
          </a:prstGeom>
          <a:solidFill>
            <a:srgbClr val="001A8D"/>
          </a:solidFill>
          <a:ln w="12700">
            <a:solidFill>
              <a:srgbClr val="001A8D"/>
            </a:solidFill>
            <a:prstDash val="solid"/>
          </a:ln>
        </p:spPr>
        <p:txBody>
          <a:bodyPr/>
          <a:lstStyle/>
          <a:p>
            <a:endParaRPr lang="fr-CH" noProof="0" dirty="0"/>
          </a:p>
        </p:txBody>
      </p:sp>
      <p:sp>
        <p:nvSpPr>
          <p:cNvPr id="11" name="Text 8">
            <a:extLst>
              <a:ext uri="{FF2B5EF4-FFF2-40B4-BE49-F238E27FC236}">
                <a16:creationId xmlns:a16="http://schemas.microsoft.com/office/drawing/2014/main" id="{BD5DD491-2EB0-CE9E-D4B5-078A6D63A074}"/>
              </a:ext>
            </a:extLst>
          </p:cNvPr>
          <p:cNvSpPr/>
          <p:nvPr/>
        </p:nvSpPr>
        <p:spPr>
          <a:xfrm>
            <a:off x="914400" y="2075688"/>
            <a:ext cx="2935224" cy="228600"/>
          </a:xfrm>
          <a:prstGeom prst="rect">
            <a:avLst/>
          </a:prstGeom>
          <a:noFill/>
          <a:ln/>
        </p:spPr>
        <p:txBody>
          <a:bodyPr wrap="square" lIns="0" tIns="0" rIns="0" bIns="0" rtlCol="0" anchor="ctr">
            <a:normAutofit/>
          </a:bodyPr>
          <a:lstStyle/>
          <a:p>
            <a:pPr marL="0" indent="0">
              <a:buNone/>
            </a:pPr>
            <a:r>
              <a:rPr lang="fr-CH" sz="1280" b="1" noProof="0" dirty="0">
                <a:solidFill>
                  <a:srgbClr val="001A8D"/>
                </a:solidFill>
                <a:latin typeface="Arial" pitchFamily="34" charset="0"/>
                <a:ea typeface="Arial" pitchFamily="34" charset="-122"/>
                <a:cs typeface="Arial" pitchFamily="34" charset="-120"/>
              </a:rPr>
              <a:t>Actualiser</a:t>
            </a:r>
            <a:endParaRPr lang="fr-CH" sz="1280" noProof="0" dirty="0"/>
          </a:p>
        </p:txBody>
      </p:sp>
      <p:sp>
        <p:nvSpPr>
          <p:cNvPr id="12" name="Text 9">
            <a:extLst>
              <a:ext uri="{FF2B5EF4-FFF2-40B4-BE49-F238E27FC236}">
                <a16:creationId xmlns:a16="http://schemas.microsoft.com/office/drawing/2014/main" id="{7C73E42A-1209-2E8C-A737-2D723E44C14B}"/>
              </a:ext>
            </a:extLst>
          </p:cNvPr>
          <p:cNvSpPr/>
          <p:nvPr/>
        </p:nvSpPr>
        <p:spPr>
          <a:xfrm>
            <a:off x="914400" y="2404872"/>
            <a:ext cx="2935224" cy="466344"/>
          </a:xfrm>
          <a:prstGeom prst="rect">
            <a:avLst/>
          </a:prstGeom>
          <a:noFill/>
          <a:ln/>
        </p:spPr>
        <p:txBody>
          <a:bodyPr wrap="square" lIns="254" tIns="254" rIns="254" bIns="254" rtlCol="0" anchor="t">
            <a:normAutofit/>
          </a:bodyPr>
          <a:lstStyle/>
          <a:p>
            <a:pPr marL="0" indent="0">
              <a:buNone/>
            </a:pPr>
            <a:r>
              <a:rPr lang="fr-CH" sz="1030" noProof="0" dirty="0">
                <a:solidFill>
                  <a:srgbClr val="1E1E1E"/>
                </a:solidFill>
                <a:latin typeface="Arial" pitchFamily="34" charset="0"/>
                <a:ea typeface="Arial" pitchFamily="34" charset="-122"/>
                <a:cs typeface="Arial" pitchFamily="34" charset="-120"/>
              </a:rPr>
              <a:t>Données et évolutions institutionnelles</a:t>
            </a:r>
            <a:endParaRPr lang="fr-CH" sz="1030" noProof="0" dirty="0"/>
          </a:p>
        </p:txBody>
      </p:sp>
      <p:sp>
        <p:nvSpPr>
          <p:cNvPr id="13" name="Shape 10">
            <a:extLst>
              <a:ext uri="{FF2B5EF4-FFF2-40B4-BE49-F238E27FC236}">
                <a16:creationId xmlns:a16="http://schemas.microsoft.com/office/drawing/2014/main" id="{2E77BCCF-839B-88BC-0FDE-50DDBC6CD279}"/>
              </a:ext>
            </a:extLst>
          </p:cNvPr>
          <p:cNvSpPr/>
          <p:nvPr/>
        </p:nvSpPr>
        <p:spPr>
          <a:xfrm>
            <a:off x="4489704" y="1920240"/>
            <a:ext cx="3337560" cy="1078992"/>
          </a:xfrm>
          <a:prstGeom prst="roundRect">
            <a:avLst>
              <a:gd name="adj" fmla="val 6780"/>
            </a:avLst>
          </a:prstGeom>
          <a:solidFill>
            <a:srgbClr val="FFFFFF"/>
          </a:solidFill>
          <a:ln w="11430">
            <a:solidFill>
              <a:srgbClr val="CBD5E1"/>
            </a:solidFill>
            <a:prstDash val="solid"/>
          </a:ln>
        </p:spPr>
        <p:txBody>
          <a:bodyPr/>
          <a:lstStyle/>
          <a:p>
            <a:endParaRPr lang="fr-CH" noProof="0" dirty="0"/>
          </a:p>
        </p:txBody>
      </p:sp>
      <p:sp>
        <p:nvSpPr>
          <p:cNvPr id="14" name="Shape 11">
            <a:extLst>
              <a:ext uri="{FF2B5EF4-FFF2-40B4-BE49-F238E27FC236}">
                <a16:creationId xmlns:a16="http://schemas.microsoft.com/office/drawing/2014/main" id="{AF9017C6-3190-552C-3AD4-90D58FA55D88}"/>
              </a:ext>
            </a:extLst>
          </p:cNvPr>
          <p:cNvSpPr/>
          <p:nvPr/>
        </p:nvSpPr>
        <p:spPr>
          <a:xfrm>
            <a:off x="4489704" y="1920240"/>
            <a:ext cx="109728" cy="1078992"/>
          </a:xfrm>
          <a:prstGeom prst="rect">
            <a:avLst/>
          </a:prstGeom>
          <a:solidFill>
            <a:srgbClr val="FFCC00"/>
          </a:solidFill>
          <a:ln w="12700">
            <a:solidFill>
              <a:srgbClr val="FFCC00"/>
            </a:solidFill>
            <a:prstDash val="solid"/>
          </a:ln>
        </p:spPr>
        <p:txBody>
          <a:bodyPr/>
          <a:lstStyle/>
          <a:p>
            <a:endParaRPr lang="fr-CH" noProof="0" dirty="0"/>
          </a:p>
        </p:txBody>
      </p:sp>
      <p:sp>
        <p:nvSpPr>
          <p:cNvPr id="15" name="Text 12">
            <a:extLst>
              <a:ext uri="{FF2B5EF4-FFF2-40B4-BE49-F238E27FC236}">
                <a16:creationId xmlns:a16="http://schemas.microsoft.com/office/drawing/2014/main" id="{07540CD0-7CF3-993F-5688-0AE1F57A3802}"/>
              </a:ext>
            </a:extLst>
          </p:cNvPr>
          <p:cNvSpPr/>
          <p:nvPr/>
        </p:nvSpPr>
        <p:spPr>
          <a:xfrm>
            <a:off x="4690872" y="2075688"/>
            <a:ext cx="2935224" cy="228600"/>
          </a:xfrm>
          <a:prstGeom prst="rect">
            <a:avLst/>
          </a:prstGeom>
          <a:noFill/>
          <a:ln/>
        </p:spPr>
        <p:txBody>
          <a:bodyPr wrap="square" lIns="0" tIns="0" rIns="0" bIns="0" rtlCol="0" anchor="ctr">
            <a:normAutofit/>
          </a:bodyPr>
          <a:lstStyle/>
          <a:p>
            <a:pPr marL="0" indent="0">
              <a:buNone/>
            </a:pPr>
            <a:r>
              <a:rPr lang="fr-CH" sz="1280" b="1" noProof="0" dirty="0">
                <a:solidFill>
                  <a:srgbClr val="001A8D"/>
                </a:solidFill>
                <a:latin typeface="Arial" pitchFamily="34" charset="0"/>
                <a:ea typeface="Arial" pitchFamily="34" charset="-122"/>
                <a:cs typeface="Arial" pitchFamily="34" charset="-120"/>
              </a:rPr>
              <a:t>Approprier</a:t>
            </a:r>
            <a:endParaRPr lang="fr-CH" sz="1280" noProof="0" dirty="0"/>
          </a:p>
        </p:txBody>
      </p:sp>
      <p:sp>
        <p:nvSpPr>
          <p:cNvPr id="16" name="Text 13">
            <a:extLst>
              <a:ext uri="{FF2B5EF4-FFF2-40B4-BE49-F238E27FC236}">
                <a16:creationId xmlns:a16="http://schemas.microsoft.com/office/drawing/2014/main" id="{D0D4DDF6-BFFC-6AB9-4296-46DC191B4092}"/>
              </a:ext>
            </a:extLst>
          </p:cNvPr>
          <p:cNvSpPr/>
          <p:nvPr/>
        </p:nvSpPr>
        <p:spPr>
          <a:xfrm>
            <a:off x="4690872" y="2404872"/>
            <a:ext cx="2935224" cy="466344"/>
          </a:xfrm>
          <a:prstGeom prst="rect">
            <a:avLst/>
          </a:prstGeom>
          <a:noFill/>
          <a:ln/>
        </p:spPr>
        <p:txBody>
          <a:bodyPr wrap="square" lIns="254" tIns="254" rIns="254" bIns="254" rtlCol="0" anchor="t">
            <a:normAutofit/>
          </a:bodyPr>
          <a:lstStyle/>
          <a:p>
            <a:pPr marL="0" indent="0">
              <a:buNone/>
            </a:pPr>
            <a:r>
              <a:rPr lang="fr-CH" sz="1030" noProof="0" dirty="0">
                <a:solidFill>
                  <a:srgbClr val="1E1E1E"/>
                </a:solidFill>
                <a:latin typeface="Arial" pitchFamily="34" charset="0"/>
                <a:ea typeface="Arial" pitchFamily="34" charset="-122"/>
                <a:cs typeface="Arial" pitchFamily="34" charset="-120"/>
              </a:rPr>
              <a:t>Processus porté au niveau national</a:t>
            </a:r>
            <a:endParaRPr lang="fr-CH" sz="1030" noProof="0" dirty="0"/>
          </a:p>
        </p:txBody>
      </p:sp>
      <p:sp>
        <p:nvSpPr>
          <p:cNvPr id="17" name="Shape 14">
            <a:extLst>
              <a:ext uri="{FF2B5EF4-FFF2-40B4-BE49-F238E27FC236}">
                <a16:creationId xmlns:a16="http://schemas.microsoft.com/office/drawing/2014/main" id="{AECAB2A8-6256-9332-89D7-95DCC375E926}"/>
              </a:ext>
            </a:extLst>
          </p:cNvPr>
          <p:cNvSpPr/>
          <p:nvPr/>
        </p:nvSpPr>
        <p:spPr>
          <a:xfrm>
            <a:off x="8266176" y="1920240"/>
            <a:ext cx="3337560" cy="1078992"/>
          </a:xfrm>
          <a:prstGeom prst="roundRect">
            <a:avLst>
              <a:gd name="adj" fmla="val 6780"/>
            </a:avLst>
          </a:prstGeom>
          <a:solidFill>
            <a:srgbClr val="FFFFFF"/>
          </a:solidFill>
          <a:ln w="11430">
            <a:solidFill>
              <a:srgbClr val="CBD5E1"/>
            </a:solidFill>
            <a:prstDash val="solid"/>
          </a:ln>
        </p:spPr>
        <p:txBody>
          <a:bodyPr/>
          <a:lstStyle/>
          <a:p>
            <a:endParaRPr lang="fr-CH" noProof="0" dirty="0"/>
          </a:p>
        </p:txBody>
      </p:sp>
      <p:sp>
        <p:nvSpPr>
          <p:cNvPr id="18" name="Shape 15">
            <a:extLst>
              <a:ext uri="{FF2B5EF4-FFF2-40B4-BE49-F238E27FC236}">
                <a16:creationId xmlns:a16="http://schemas.microsoft.com/office/drawing/2014/main" id="{78ED2F30-E8BE-4700-1D06-332BD28772FA}"/>
              </a:ext>
            </a:extLst>
          </p:cNvPr>
          <p:cNvSpPr/>
          <p:nvPr/>
        </p:nvSpPr>
        <p:spPr>
          <a:xfrm>
            <a:off x="8266176" y="1920240"/>
            <a:ext cx="109728" cy="1078992"/>
          </a:xfrm>
          <a:prstGeom prst="rect">
            <a:avLst/>
          </a:prstGeom>
          <a:solidFill>
            <a:srgbClr val="001A8D"/>
          </a:solidFill>
          <a:ln w="12700">
            <a:solidFill>
              <a:srgbClr val="001A8D"/>
            </a:solidFill>
            <a:prstDash val="solid"/>
          </a:ln>
        </p:spPr>
        <p:txBody>
          <a:bodyPr/>
          <a:lstStyle/>
          <a:p>
            <a:endParaRPr lang="fr-CH" noProof="0" dirty="0"/>
          </a:p>
        </p:txBody>
      </p:sp>
      <p:sp>
        <p:nvSpPr>
          <p:cNvPr id="19" name="Text 16">
            <a:extLst>
              <a:ext uri="{FF2B5EF4-FFF2-40B4-BE49-F238E27FC236}">
                <a16:creationId xmlns:a16="http://schemas.microsoft.com/office/drawing/2014/main" id="{D89D236D-3DC7-15A0-68DF-3BBA3B80F646}"/>
              </a:ext>
            </a:extLst>
          </p:cNvPr>
          <p:cNvSpPr/>
          <p:nvPr/>
        </p:nvSpPr>
        <p:spPr>
          <a:xfrm>
            <a:off x="8467344" y="2075688"/>
            <a:ext cx="2935224" cy="228600"/>
          </a:xfrm>
          <a:prstGeom prst="rect">
            <a:avLst/>
          </a:prstGeom>
          <a:noFill/>
          <a:ln/>
        </p:spPr>
        <p:txBody>
          <a:bodyPr wrap="square" lIns="0" tIns="0" rIns="0" bIns="0" rtlCol="0" anchor="ctr">
            <a:normAutofit/>
          </a:bodyPr>
          <a:lstStyle/>
          <a:p>
            <a:pPr marL="0" indent="0">
              <a:buNone/>
            </a:pPr>
            <a:r>
              <a:rPr lang="fr-CH" sz="1280" b="1" noProof="0" dirty="0">
                <a:solidFill>
                  <a:srgbClr val="001A8D"/>
                </a:solidFill>
                <a:latin typeface="Arial" pitchFamily="34" charset="0"/>
                <a:ea typeface="Arial" pitchFamily="34" charset="-122"/>
                <a:cs typeface="Arial" pitchFamily="34" charset="-120"/>
              </a:rPr>
              <a:t>Harmoniser</a:t>
            </a:r>
            <a:endParaRPr lang="fr-CH" sz="1280" noProof="0" dirty="0"/>
          </a:p>
        </p:txBody>
      </p:sp>
      <p:sp>
        <p:nvSpPr>
          <p:cNvPr id="20" name="Text 17">
            <a:extLst>
              <a:ext uri="{FF2B5EF4-FFF2-40B4-BE49-F238E27FC236}">
                <a16:creationId xmlns:a16="http://schemas.microsoft.com/office/drawing/2014/main" id="{C0F0A408-56CB-B141-D550-481ECA280182}"/>
              </a:ext>
            </a:extLst>
          </p:cNvPr>
          <p:cNvSpPr/>
          <p:nvPr/>
        </p:nvSpPr>
        <p:spPr>
          <a:xfrm>
            <a:off x="8467344" y="2404872"/>
            <a:ext cx="2935224" cy="466344"/>
          </a:xfrm>
          <a:prstGeom prst="rect">
            <a:avLst/>
          </a:prstGeom>
          <a:noFill/>
          <a:ln/>
        </p:spPr>
        <p:txBody>
          <a:bodyPr wrap="square" lIns="254" tIns="254" rIns="254" bIns="254" rtlCol="0" anchor="t">
            <a:normAutofit/>
          </a:bodyPr>
          <a:lstStyle/>
          <a:p>
            <a:pPr marL="0" indent="0">
              <a:buNone/>
            </a:pPr>
            <a:r>
              <a:rPr lang="fr-CH" sz="1030" noProof="0" dirty="0">
                <a:solidFill>
                  <a:srgbClr val="1E1E1E"/>
                </a:solidFill>
                <a:latin typeface="Arial" pitchFamily="34" charset="0"/>
                <a:ea typeface="Arial" pitchFamily="34" charset="-122"/>
                <a:cs typeface="Arial" pitchFamily="34" charset="-120"/>
              </a:rPr>
              <a:t>Canevas commun de collecte</a:t>
            </a:r>
            <a:endParaRPr lang="fr-CH" sz="1030" noProof="0" dirty="0"/>
          </a:p>
        </p:txBody>
      </p:sp>
      <p:sp>
        <p:nvSpPr>
          <p:cNvPr id="21" name="Shape 18">
            <a:extLst>
              <a:ext uri="{FF2B5EF4-FFF2-40B4-BE49-F238E27FC236}">
                <a16:creationId xmlns:a16="http://schemas.microsoft.com/office/drawing/2014/main" id="{817A9A0C-13C3-1A7F-B62B-D7DC56A432A2}"/>
              </a:ext>
            </a:extLst>
          </p:cNvPr>
          <p:cNvSpPr/>
          <p:nvPr/>
        </p:nvSpPr>
        <p:spPr>
          <a:xfrm>
            <a:off x="713232" y="3429000"/>
            <a:ext cx="3337560" cy="1078992"/>
          </a:xfrm>
          <a:prstGeom prst="roundRect">
            <a:avLst>
              <a:gd name="adj" fmla="val 6780"/>
            </a:avLst>
          </a:prstGeom>
          <a:solidFill>
            <a:srgbClr val="FFFFFF"/>
          </a:solidFill>
          <a:ln w="11430">
            <a:solidFill>
              <a:srgbClr val="CBD5E1"/>
            </a:solidFill>
            <a:prstDash val="solid"/>
          </a:ln>
        </p:spPr>
        <p:txBody>
          <a:bodyPr/>
          <a:lstStyle/>
          <a:p>
            <a:endParaRPr lang="fr-CH" noProof="0" dirty="0"/>
          </a:p>
        </p:txBody>
      </p:sp>
      <p:sp>
        <p:nvSpPr>
          <p:cNvPr id="22" name="Shape 19">
            <a:extLst>
              <a:ext uri="{FF2B5EF4-FFF2-40B4-BE49-F238E27FC236}">
                <a16:creationId xmlns:a16="http://schemas.microsoft.com/office/drawing/2014/main" id="{DE694CFA-9474-D9D0-E6AF-290126EA101E}"/>
              </a:ext>
            </a:extLst>
          </p:cNvPr>
          <p:cNvSpPr/>
          <p:nvPr/>
        </p:nvSpPr>
        <p:spPr>
          <a:xfrm>
            <a:off x="713232" y="3429000"/>
            <a:ext cx="109728" cy="1078992"/>
          </a:xfrm>
          <a:prstGeom prst="rect">
            <a:avLst/>
          </a:prstGeom>
          <a:solidFill>
            <a:srgbClr val="FFCC00"/>
          </a:solidFill>
          <a:ln w="12700">
            <a:solidFill>
              <a:srgbClr val="FFCC00"/>
            </a:solidFill>
            <a:prstDash val="solid"/>
          </a:ln>
        </p:spPr>
        <p:txBody>
          <a:bodyPr/>
          <a:lstStyle/>
          <a:p>
            <a:endParaRPr lang="fr-CH" noProof="0" dirty="0"/>
          </a:p>
        </p:txBody>
      </p:sp>
      <p:sp>
        <p:nvSpPr>
          <p:cNvPr id="23" name="Text 20">
            <a:extLst>
              <a:ext uri="{FF2B5EF4-FFF2-40B4-BE49-F238E27FC236}">
                <a16:creationId xmlns:a16="http://schemas.microsoft.com/office/drawing/2014/main" id="{2A038D2B-8251-056B-D38A-E148AD395149}"/>
              </a:ext>
            </a:extLst>
          </p:cNvPr>
          <p:cNvSpPr/>
          <p:nvPr/>
        </p:nvSpPr>
        <p:spPr>
          <a:xfrm>
            <a:off x="914400" y="3584448"/>
            <a:ext cx="2935224" cy="228600"/>
          </a:xfrm>
          <a:prstGeom prst="rect">
            <a:avLst/>
          </a:prstGeom>
          <a:noFill/>
          <a:ln/>
        </p:spPr>
        <p:txBody>
          <a:bodyPr wrap="square" lIns="0" tIns="0" rIns="0" bIns="0" rtlCol="0" anchor="ctr">
            <a:normAutofit/>
          </a:bodyPr>
          <a:lstStyle/>
          <a:p>
            <a:pPr marL="0" indent="0">
              <a:buNone/>
            </a:pPr>
            <a:r>
              <a:rPr lang="fr-CH" sz="1280" b="1" noProof="0" dirty="0">
                <a:solidFill>
                  <a:srgbClr val="001A8D"/>
                </a:solidFill>
                <a:latin typeface="Arial" pitchFamily="34" charset="0"/>
                <a:ea typeface="Arial" pitchFamily="34" charset="-122"/>
                <a:cs typeface="Arial" pitchFamily="34" charset="-120"/>
              </a:rPr>
              <a:t>Coordonner</a:t>
            </a:r>
            <a:endParaRPr lang="fr-CH" sz="1280" noProof="0" dirty="0"/>
          </a:p>
        </p:txBody>
      </p:sp>
      <p:sp>
        <p:nvSpPr>
          <p:cNvPr id="24" name="Text 21">
            <a:extLst>
              <a:ext uri="{FF2B5EF4-FFF2-40B4-BE49-F238E27FC236}">
                <a16:creationId xmlns:a16="http://schemas.microsoft.com/office/drawing/2014/main" id="{47AD7FE8-BB27-EBB1-82ED-D4D241ADB446}"/>
              </a:ext>
            </a:extLst>
          </p:cNvPr>
          <p:cNvSpPr/>
          <p:nvPr/>
        </p:nvSpPr>
        <p:spPr>
          <a:xfrm>
            <a:off x="914400" y="3913632"/>
            <a:ext cx="2935224" cy="466344"/>
          </a:xfrm>
          <a:prstGeom prst="rect">
            <a:avLst/>
          </a:prstGeom>
          <a:noFill/>
          <a:ln/>
        </p:spPr>
        <p:txBody>
          <a:bodyPr wrap="square" lIns="254" tIns="254" rIns="254" bIns="254" rtlCol="0" anchor="t">
            <a:normAutofit/>
          </a:bodyPr>
          <a:lstStyle/>
          <a:p>
            <a:pPr marL="0" indent="0">
              <a:buNone/>
            </a:pPr>
            <a:r>
              <a:rPr lang="fr-CH" sz="1030" noProof="0" dirty="0">
                <a:solidFill>
                  <a:srgbClr val="1E1E1E"/>
                </a:solidFill>
                <a:latin typeface="Arial" pitchFamily="34" charset="0"/>
                <a:ea typeface="Arial" pitchFamily="34" charset="-122"/>
                <a:cs typeface="Arial" pitchFamily="34" charset="-120"/>
              </a:rPr>
              <a:t>Dialogue entre institutions</a:t>
            </a:r>
            <a:endParaRPr lang="fr-CH" sz="1030" noProof="0" dirty="0"/>
          </a:p>
        </p:txBody>
      </p:sp>
      <p:sp>
        <p:nvSpPr>
          <p:cNvPr id="25" name="Shape 22">
            <a:extLst>
              <a:ext uri="{FF2B5EF4-FFF2-40B4-BE49-F238E27FC236}">
                <a16:creationId xmlns:a16="http://schemas.microsoft.com/office/drawing/2014/main" id="{EE22610E-7717-522A-69EB-506900725474}"/>
              </a:ext>
            </a:extLst>
          </p:cNvPr>
          <p:cNvSpPr/>
          <p:nvPr/>
        </p:nvSpPr>
        <p:spPr>
          <a:xfrm>
            <a:off x="4489704" y="3429000"/>
            <a:ext cx="3337560" cy="1078992"/>
          </a:xfrm>
          <a:prstGeom prst="roundRect">
            <a:avLst>
              <a:gd name="adj" fmla="val 6780"/>
            </a:avLst>
          </a:prstGeom>
          <a:solidFill>
            <a:srgbClr val="FFFFFF"/>
          </a:solidFill>
          <a:ln w="11430">
            <a:solidFill>
              <a:srgbClr val="CBD5E1"/>
            </a:solidFill>
            <a:prstDash val="solid"/>
          </a:ln>
        </p:spPr>
        <p:txBody>
          <a:bodyPr/>
          <a:lstStyle/>
          <a:p>
            <a:endParaRPr lang="fr-CH" noProof="0" dirty="0"/>
          </a:p>
        </p:txBody>
      </p:sp>
      <p:sp>
        <p:nvSpPr>
          <p:cNvPr id="26" name="Shape 23">
            <a:extLst>
              <a:ext uri="{FF2B5EF4-FFF2-40B4-BE49-F238E27FC236}">
                <a16:creationId xmlns:a16="http://schemas.microsoft.com/office/drawing/2014/main" id="{C2F82A55-015B-3CD0-AED0-EBFCF30A61EC}"/>
              </a:ext>
            </a:extLst>
          </p:cNvPr>
          <p:cNvSpPr/>
          <p:nvPr/>
        </p:nvSpPr>
        <p:spPr>
          <a:xfrm>
            <a:off x="4489704" y="3429000"/>
            <a:ext cx="109728" cy="1078992"/>
          </a:xfrm>
          <a:prstGeom prst="rect">
            <a:avLst/>
          </a:prstGeom>
          <a:solidFill>
            <a:srgbClr val="FF5050"/>
          </a:solidFill>
          <a:ln w="12700">
            <a:solidFill>
              <a:srgbClr val="FF5050"/>
            </a:solidFill>
            <a:prstDash val="solid"/>
          </a:ln>
        </p:spPr>
        <p:txBody>
          <a:bodyPr/>
          <a:lstStyle/>
          <a:p>
            <a:endParaRPr lang="fr-CH" noProof="0" dirty="0"/>
          </a:p>
        </p:txBody>
      </p:sp>
      <p:sp>
        <p:nvSpPr>
          <p:cNvPr id="27" name="Text 24">
            <a:extLst>
              <a:ext uri="{FF2B5EF4-FFF2-40B4-BE49-F238E27FC236}">
                <a16:creationId xmlns:a16="http://schemas.microsoft.com/office/drawing/2014/main" id="{475CE296-6079-1FEF-D675-A7881DA46A76}"/>
              </a:ext>
            </a:extLst>
          </p:cNvPr>
          <p:cNvSpPr/>
          <p:nvPr/>
        </p:nvSpPr>
        <p:spPr>
          <a:xfrm>
            <a:off x="4690872" y="3584448"/>
            <a:ext cx="2935224" cy="228600"/>
          </a:xfrm>
          <a:prstGeom prst="rect">
            <a:avLst/>
          </a:prstGeom>
          <a:noFill/>
          <a:ln/>
        </p:spPr>
        <p:txBody>
          <a:bodyPr wrap="square" lIns="0" tIns="0" rIns="0" bIns="0" rtlCol="0" anchor="ctr">
            <a:normAutofit/>
          </a:bodyPr>
          <a:lstStyle/>
          <a:p>
            <a:pPr marL="0" indent="0">
              <a:buNone/>
            </a:pPr>
            <a:r>
              <a:rPr lang="fr-CH" sz="1280" b="1" noProof="0" dirty="0">
                <a:solidFill>
                  <a:srgbClr val="001A8D"/>
                </a:solidFill>
                <a:latin typeface="Arial" pitchFamily="34" charset="0"/>
                <a:ea typeface="Arial" pitchFamily="34" charset="-122"/>
                <a:cs typeface="Arial" pitchFamily="34" charset="-120"/>
              </a:rPr>
              <a:t>Améliorer le </a:t>
            </a:r>
            <a:r>
              <a:rPr lang="fr-CH" sz="1280" b="1" noProof="0" dirty="0" err="1">
                <a:solidFill>
                  <a:srgbClr val="001A8D"/>
                </a:solidFill>
                <a:latin typeface="Arial" pitchFamily="34" charset="0"/>
                <a:ea typeface="Arial" pitchFamily="34" charset="-122"/>
                <a:cs typeface="Arial" pitchFamily="34" charset="-120"/>
              </a:rPr>
              <a:t>reporting</a:t>
            </a:r>
            <a:endParaRPr lang="fr-CH" sz="1280" noProof="0" dirty="0"/>
          </a:p>
        </p:txBody>
      </p:sp>
      <p:sp>
        <p:nvSpPr>
          <p:cNvPr id="28" name="Text 25">
            <a:extLst>
              <a:ext uri="{FF2B5EF4-FFF2-40B4-BE49-F238E27FC236}">
                <a16:creationId xmlns:a16="http://schemas.microsoft.com/office/drawing/2014/main" id="{C24A292E-8692-E984-7873-07C8A38D99B2}"/>
              </a:ext>
            </a:extLst>
          </p:cNvPr>
          <p:cNvSpPr/>
          <p:nvPr/>
        </p:nvSpPr>
        <p:spPr>
          <a:xfrm>
            <a:off x="4690872" y="3913632"/>
            <a:ext cx="2935224" cy="466344"/>
          </a:xfrm>
          <a:prstGeom prst="rect">
            <a:avLst/>
          </a:prstGeom>
          <a:noFill/>
          <a:ln/>
        </p:spPr>
        <p:txBody>
          <a:bodyPr wrap="square" lIns="254" tIns="254" rIns="254" bIns="254" rtlCol="0" anchor="t">
            <a:normAutofit/>
          </a:bodyPr>
          <a:lstStyle/>
          <a:p>
            <a:pPr marL="0" indent="0">
              <a:buNone/>
            </a:pPr>
            <a:r>
              <a:rPr lang="fr-CH" sz="1030" noProof="0" dirty="0">
                <a:solidFill>
                  <a:srgbClr val="1E1E1E"/>
                </a:solidFill>
                <a:latin typeface="Arial" pitchFamily="34" charset="0"/>
                <a:ea typeface="Arial" pitchFamily="34" charset="-122"/>
                <a:cs typeface="Arial" pitchFamily="34" charset="-120"/>
              </a:rPr>
              <a:t>Données manquantes ou partielles</a:t>
            </a:r>
            <a:endParaRPr lang="fr-CH" sz="1030" noProof="0" dirty="0"/>
          </a:p>
        </p:txBody>
      </p:sp>
      <p:sp>
        <p:nvSpPr>
          <p:cNvPr id="29" name="Shape 26">
            <a:extLst>
              <a:ext uri="{FF2B5EF4-FFF2-40B4-BE49-F238E27FC236}">
                <a16:creationId xmlns:a16="http://schemas.microsoft.com/office/drawing/2014/main" id="{8AD1DF7B-A23F-5B3A-0BE8-1C34F12C522F}"/>
              </a:ext>
            </a:extLst>
          </p:cNvPr>
          <p:cNvSpPr/>
          <p:nvPr/>
        </p:nvSpPr>
        <p:spPr>
          <a:xfrm>
            <a:off x="8266176" y="3429000"/>
            <a:ext cx="3337560" cy="1078992"/>
          </a:xfrm>
          <a:prstGeom prst="roundRect">
            <a:avLst>
              <a:gd name="adj" fmla="val 6780"/>
            </a:avLst>
          </a:prstGeom>
          <a:solidFill>
            <a:srgbClr val="FFFFFF"/>
          </a:solidFill>
          <a:ln w="11430">
            <a:solidFill>
              <a:srgbClr val="CBD5E1"/>
            </a:solidFill>
            <a:prstDash val="solid"/>
          </a:ln>
        </p:spPr>
        <p:txBody>
          <a:bodyPr/>
          <a:lstStyle/>
          <a:p>
            <a:endParaRPr lang="fr-CH" noProof="0" dirty="0"/>
          </a:p>
        </p:txBody>
      </p:sp>
      <p:sp>
        <p:nvSpPr>
          <p:cNvPr id="30" name="Shape 27">
            <a:extLst>
              <a:ext uri="{FF2B5EF4-FFF2-40B4-BE49-F238E27FC236}">
                <a16:creationId xmlns:a16="http://schemas.microsoft.com/office/drawing/2014/main" id="{31599C16-BB64-00FF-3D78-119B238BE19D}"/>
              </a:ext>
            </a:extLst>
          </p:cNvPr>
          <p:cNvSpPr/>
          <p:nvPr/>
        </p:nvSpPr>
        <p:spPr>
          <a:xfrm>
            <a:off x="8266176" y="3429000"/>
            <a:ext cx="109728" cy="1078992"/>
          </a:xfrm>
          <a:prstGeom prst="rect">
            <a:avLst/>
          </a:prstGeom>
          <a:solidFill>
            <a:srgbClr val="FFCC00"/>
          </a:solidFill>
          <a:ln w="12700">
            <a:solidFill>
              <a:srgbClr val="FFCC00"/>
            </a:solidFill>
            <a:prstDash val="solid"/>
          </a:ln>
        </p:spPr>
        <p:txBody>
          <a:bodyPr/>
          <a:lstStyle/>
          <a:p>
            <a:endParaRPr lang="fr-CH" noProof="0" dirty="0"/>
          </a:p>
        </p:txBody>
      </p:sp>
      <p:sp>
        <p:nvSpPr>
          <p:cNvPr id="31" name="Text 28">
            <a:extLst>
              <a:ext uri="{FF2B5EF4-FFF2-40B4-BE49-F238E27FC236}">
                <a16:creationId xmlns:a16="http://schemas.microsoft.com/office/drawing/2014/main" id="{8DA1831D-9DE9-40FD-295C-55C40021961A}"/>
              </a:ext>
            </a:extLst>
          </p:cNvPr>
          <p:cNvSpPr/>
          <p:nvPr/>
        </p:nvSpPr>
        <p:spPr>
          <a:xfrm>
            <a:off x="8467344" y="3584448"/>
            <a:ext cx="2935224" cy="228600"/>
          </a:xfrm>
          <a:prstGeom prst="rect">
            <a:avLst/>
          </a:prstGeom>
          <a:noFill/>
          <a:ln/>
        </p:spPr>
        <p:txBody>
          <a:bodyPr wrap="square" lIns="0" tIns="0" rIns="0" bIns="0" rtlCol="0" anchor="ctr">
            <a:normAutofit/>
          </a:bodyPr>
          <a:lstStyle/>
          <a:p>
            <a:pPr marL="0" indent="0">
              <a:buNone/>
            </a:pPr>
            <a:r>
              <a:rPr lang="fr-CH" sz="1280" b="1" noProof="0" dirty="0" err="1">
                <a:solidFill>
                  <a:srgbClr val="FF0000"/>
                </a:solidFill>
                <a:latin typeface="Arial" pitchFamily="34" charset="0"/>
                <a:cs typeface="Arial" pitchFamily="34" charset="-120"/>
              </a:rPr>
              <a:t>Péreniser</a:t>
            </a:r>
            <a:endParaRPr lang="fr-CH" sz="1280" b="1" noProof="0" dirty="0">
              <a:solidFill>
                <a:srgbClr val="FF0000"/>
              </a:solidFill>
              <a:latin typeface="Arial" pitchFamily="34" charset="0"/>
              <a:cs typeface="Arial" pitchFamily="34" charset="-120"/>
            </a:endParaRPr>
          </a:p>
        </p:txBody>
      </p:sp>
      <p:sp>
        <p:nvSpPr>
          <p:cNvPr id="32" name="Text 29">
            <a:extLst>
              <a:ext uri="{FF2B5EF4-FFF2-40B4-BE49-F238E27FC236}">
                <a16:creationId xmlns:a16="http://schemas.microsoft.com/office/drawing/2014/main" id="{208B52DA-2247-393F-34D7-28A19D45E235}"/>
              </a:ext>
            </a:extLst>
          </p:cNvPr>
          <p:cNvSpPr/>
          <p:nvPr/>
        </p:nvSpPr>
        <p:spPr>
          <a:xfrm>
            <a:off x="8467344" y="3913632"/>
            <a:ext cx="2935224" cy="466344"/>
          </a:xfrm>
          <a:prstGeom prst="rect">
            <a:avLst/>
          </a:prstGeom>
          <a:noFill/>
          <a:ln/>
        </p:spPr>
        <p:txBody>
          <a:bodyPr wrap="square" lIns="254" tIns="254" rIns="254" bIns="254" rtlCol="0" anchor="t">
            <a:normAutofit/>
          </a:bodyPr>
          <a:lstStyle/>
          <a:p>
            <a:pPr marL="0" indent="0">
              <a:buNone/>
            </a:pPr>
            <a:r>
              <a:rPr lang="fr-CH" sz="1030" noProof="0" dirty="0">
                <a:solidFill>
                  <a:srgbClr val="1E1E1E"/>
                </a:solidFill>
                <a:latin typeface="Arial" pitchFamily="34" charset="0"/>
                <a:ea typeface="Arial" pitchFamily="34" charset="-122"/>
                <a:cs typeface="Arial" pitchFamily="34" charset="-120"/>
              </a:rPr>
              <a:t>Pérenniser le processus d’élaboration des bulletins</a:t>
            </a:r>
            <a:endParaRPr lang="fr-CH" sz="1030" noProof="0" dirty="0"/>
          </a:p>
        </p:txBody>
      </p:sp>
      <p:pic>
        <p:nvPicPr>
          <p:cNvPr id="33" name="Image 0" descr="/mnt/data/ref_unzip/ppt/media/image1.png">
            <a:extLst>
              <a:ext uri="{FF2B5EF4-FFF2-40B4-BE49-F238E27FC236}">
                <a16:creationId xmlns:a16="http://schemas.microsoft.com/office/drawing/2014/main" id="{27403D99-44BD-BFE5-FED9-82F6A80D0EF9}"/>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2982614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2346F-FAF9-21DE-9E5E-976D2AB578F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A531327-65FB-D54E-7ED5-BA4E6AE0DFBF}"/>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7EAFA1A3-673F-0DD0-AE1B-04BAC0E52EBA}"/>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FINALITÉ DE L’ATELIER</a:t>
            </a:r>
            <a:endParaRPr lang="fr-CH" sz="2200" noProof="0" dirty="0"/>
          </a:p>
        </p:txBody>
      </p:sp>
      <p:sp>
        <p:nvSpPr>
          <p:cNvPr id="5" name="Shape 2">
            <a:extLst>
              <a:ext uri="{FF2B5EF4-FFF2-40B4-BE49-F238E27FC236}">
                <a16:creationId xmlns:a16="http://schemas.microsoft.com/office/drawing/2014/main" id="{940A1094-A8C0-7460-C669-622F2BC83B8C}"/>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6" name="Text 3">
            <a:extLst>
              <a:ext uri="{FF2B5EF4-FFF2-40B4-BE49-F238E27FC236}">
                <a16:creationId xmlns:a16="http://schemas.microsoft.com/office/drawing/2014/main" id="{34B5C3FC-852A-6E41-F6CE-CD247490D465}"/>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7" name="Text 4">
            <a:extLst>
              <a:ext uri="{FF2B5EF4-FFF2-40B4-BE49-F238E27FC236}">
                <a16:creationId xmlns:a16="http://schemas.microsoft.com/office/drawing/2014/main" id="{ED779977-7392-E516-A253-AAC1C433A44D}"/>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8" name="Text 5">
            <a:extLst>
              <a:ext uri="{FF2B5EF4-FFF2-40B4-BE49-F238E27FC236}">
                <a16:creationId xmlns:a16="http://schemas.microsoft.com/office/drawing/2014/main" id="{83CD6A9D-04F1-80CD-310E-797A4675EA5F}"/>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6</a:t>
            </a:r>
            <a:endParaRPr lang="fr-CH" sz="750" noProof="0" dirty="0"/>
          </a:p>
        </p:txBody>
      </p:sp>
      <p:sp>
        <p:nvSpPr>
          <p:cNvPr id="9" name="Shape 6">
            <a:extLst>
              <a:ext uri="{FF2B5EF4-FFF2-40B4-BE49-F238E27FC236}">
                <a16:creationId xmlns:a16="http://schemas.microsoft.com/office/drawing/2014/main" id="{F136CCF9-A0DE-A860-292A-6562BA8E4AC1}"/>
              </a:ext>
            </a:extLst>
          </p:cNvPr>
          <p:cNvSpPr/>
          <p:nvPr/>
        </p:nvSpPr>
        <p:spPr>
          <a:xfrm>
            <a:off x="713232" y="1920240"/>
            <a:ext cx="10744200" cy="786384"/>
          </a:xfrm>
          <a:prstGeom prst="roundRect">
            <a:avLst>
              <a:gd name="adj" fmla="val 9302"/>
            </a:avLst>
          </a:prstGeom>
          <a:solidFill>
            <a:srgbClr val="EAF0FF"/>
          </a:solidFill>
          <a:ln w="10160">
            <a:solidFill>
              <a:srgbClr val="DCE7FF"/>
            </a:solidFill>
            <a:prstDash val="solid"/>
          </a:ln>
        </p:spPr>
        <p:txBody>
          <a:bodyPr/>
          <a:lstStyle/>
          <a:p>
            <a:endParaRPr lang="fr-CH" noProof="0" dirty="0"/>
          </a:p>
        </p:txBody>
      </p:sp>
      <p:sp>
        <p:nvSpPr>
          <p:cNvPr id="10" name="Text 7">
            <a:extLst>
              <a:ext uri="{FF2B5EF4-FFF2-40B4-BE49-F238E27FC236}">
                <a16:creationId xmlns:a16="http://schemas.microsoft.com/office/drawing/2014/main" id="{5AC93A01-846B-6DA9-9109-CBAC5D45F46D}"/>
              </a:ext>
            </a:extLst>
          </p:cNvPr>
          <p:cNvSpPr/>
          <p:nvPr/>
        </p:nvSpPr>
        <p:spPr>
          <a:xfrm>
            <a:off x="960120" y="2130552"/>
            <a:ext cx="10149840" cy="274320"/>
          </a:xfrm>
          <a:prstGeom prst="rect">
            <a:avLst/>
          </a:prstGeom>
          <a:noFill/>
          <a:ln/>
        </p:spPr>
        <p:txBody>
          <a:bodyPr wrap="square" lIns="0" tIns="0" rIns="0" bIns="0" rtlCol="0" anchor="ctr">
            <a:normAutofit/>
          </a:bodyPr>
          <a:lstStyle/>
          <a:p>
            <a:pPr marL="0" indent="0">
              <a:buNone/>
            </a:pPr>
            <a:r>
              <a:rPr lang="fr-CH" sz="1450" b="1" noProof="0" dirty="0">
                <a:solidFill>
                  <a:srgbClr val="001A8D"/>
                </a:solidFill>
              </a:rPr>
              <a:t>Lancer opérationnellement la préparation du 2e Bulletin statistique de la protection sociale en RDC.</a:t>
            </a:r>
            <a:endParaRPr lang="fr-CH" sz="1450" noProof="0" dirty="0"/>
          </a:p>
        </p:txBody>
      </p:sp>
      <p:sp>
        <p:nvSpPr>
          <p:cNvPr id="12" name="Text 9">
            <a:extLst>
              <a:ext uri="{FF2B5EF4-FFF2-40B4-BE49-F238E27FC236}">
                <a16:creationId xmlns:a16="http://schemas.microsoft.com/office/drawing/2014/main" id="{E7ECBC85-5456-D4D2-C2BF-67EDB62D4EE6}"/>
              </a:ext>
            </a:extLst>
          </p:cNvPr>
          <p:cNvSpPr/>
          <p:nvPr/>
        </p:nvSpPr>
        <p:spPr>
          <a:xfrm>
            <a:off x="1216152" y="3063239"/>
            <a:ext cx="9875520" cy="2535125"/>
          </a:xfrm>
          <a:prstGeom prst="rect">
            <a:avLst/>
          </a:prstGeom>
          <a:noFill/>
          <a:ln/>
        </p:spPr>
        <p:txBody>
          <a:bodyPr wrap="square" lIns="0" tIns="0" rIns="0" bIns="0" rtlCol="0" anchor="ctr">
            <a:normAutofit fontScale="85000" lnSpcReduction="10000"/>
          </a:bodyPr>
          <a:lstStyle/>
          <a:p>
            <a:pPr marL="857250" indent="-857250">
              <a:lnSpc>
                <a:spcPct val="200000"/>
              </a:lnSpc>
              <a:buClr>
                <a:srgbClr val="1E2DBE"/>
              </a:buClr>
              <a:buSzPct val="200000"/>
              <a:buFont typeface="Wingdings" panose="05000000000000000000" pitchFamily="2" charset="2"/>
              <a:buChar char="§"/>
            </a:pPr>
            <a:r>
              <a:rPr lang="fr-CH" sz="2000" dirty="0">
                <a:solidFill>
                  <a:srgbClr val="1E1E1E"/>
                </a:solidFill>
                <a:latin typeface="+mj-lt"/>
                <a:cs typeface="Arial" pitchFamily="34" charset="-120"/>
              </a:rPr>
              <a:t>Clarifier le périmètre du bulletin.</a:t>
            </a:r>
          </a:p>
          <a:p>
            <a:pPr marL="857250" indent="-857250">
              <a:lnSpc>
                <a:spcPct val="200000"/>
              </a:lnSpc>
              <a:buClr>
                <a:srgbClr val="1E2DBE"/>
              </a:buClr>
              <a:buSzPct val="200000"/>
              <a:buFont typeface="Wingdings" panose="05000000000000000000" pitchFamily="2" charset="2"/>
              <a:buChar char="§"/>
            </a:pPr>
            <a:r>
              <a:rPr lang="fr-CH" sz="2000" dirty="0">
                <a:solidFill>
                  <a:srgbClr val="1E1E1E"/>
                </a:solidFill>
                <a:latin typeface="+mj-lt"/>
                <a:cs typeface="Arial" pitchFamily="34" charset="-120"/>
              </a:rPr>
              <a:t>Préciser les rôles des institutions participantes</a:t>
            </a:r>
          </a:p>
          <a:p>
            <a:pPr marL="857250" indent="-857250">
              <a:lnSpc>
                <a:spcPct val="200000"/>
              </a:lnSpc>
              <a:buClr>
                <a:srgbClr val="1E2DBE"/>
              </a:buClr>
              <a:buSzPct val="200000"/>
              <a:buFont typeface="Wingdings" panose="05000000000000000000" pitchFamily="2" charset="2"/>
              <a:buChar char="§"/>
            </a:pPr>
            <a:r>
              <a:rPr lang="fr-CH" sz="2000" dirty="0">
                <a:solidFill>
                  <a:srgbClr val="1E1E1E"/>
                </a:solidFill>
                <a:latin typeface="+mj-lt"/>
                <a:cs typeface="Arial" pitchFamily="34" charset="-120"/>
              </a:rPr>
              <a:t>Valider ou compléter la cartographie des sources.</a:t>
            </a:r>
          </a:p>
          <a:p>
            <a:pPr marL="857250" indent="-857250">
              <a:lnSpc>
                <a:spcPct val="200000"/>
              </a:lnSpc>
              <a:buClr>
                <a:srgbClr val="1E2DBE"/>
              </a:buClr>
              <a:buSzPct val="200000"/>
              <a:buFont typeface="Wingdings" panose="05000000000000000000" pitchFamily="2" charset="2"/>
              <a:buChar char="§"/>
            </a:pPr>
            <a:r>
              <a:rPr lang="fr-CH" sz="2000" dirty="0">
                <a:solidFill>
                  <a:srgbClr val="1E1E1E"/>
                </a:solidFill>
                <a:latin typeface="+mj-lt"/>
                <a:cs typeface="Arial" pitchFamily="34" charset="-120"/>
              </a:rPr>
              <a:t>Présenter l’approche méthodologique générale</a:t>
            </a:r>
          </a:p>
          <a:p>
            <a:pPr marL="857250" indent="-857250">
              <a:lnSpc>
                <a:spcPct val="200000"/>
              </a:lnSpc>
              <a:buClr>
                <a:srgbClr val="1E2DBE"/>
              </a:buClr>
              <a:buSzPct val="200000"/>
              <a:buFont typeface="Wingdings" panose="05000000000000000000" pitchFamily="2" charset="2"/>
              <a:buChar char="§"/>
            </a:pPr>
            <a:r>
              <a:rPr lang="fr-CH" sz="2000" dirty="0">
                <a:solidFill>
                  <a:srgbClr val="1E1E1E"/>
                </a:solidFill>
                <a:latin typeface="+mj-lt"/>
                <a:cs typeface="Arial" pitchFamily="34" charset="-120"/>
              </a:rPr>
              <a:t>Préparer la collecte, la consolidation et la validation des données</a:t>
            </a:r>
          </a:p>
          <a:p>
            <a:endParaRPr lang="fr-CH" sz="1500" noProof="0" dirty="0"/>
          </a:p>
        </p:txBody>
      </p:sp>
      <p:pic>
        <p:nvPicPr>
          <p:cNvPr id="11" name="Image 0" descr="/mnt/data/ref_unzip/ppt/media/image1.png">
            <a:extLst>
              <a:ext uri="{FF2B5EF4-FFF2-40B4-BE49-F238E27FC236}">
                <a16:creationId xmlns:a16="http://schemas.microsoft.com/office/drawing/2014/main" id="{37776A62-A964-7D2A-3467-A22EC6D9F835}"/>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3635785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9780B-1D13-459F-7940-90C1AA3DBFD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E2498A0-57D9-B0E0-B2C1-83CD980DBA1D}"/>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8D184D22-2515-CCA4-CF9C-7FA9BCC5F0E8}"/>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RÉSULTATS ATTENDUS EN FIN D’ATELIER</a:t>
            </a:r>
            <a:endParaRPr lang="fr-CH" sz="2200" noProof="0" dirty="0"/>
          </a:p>
        </p:txBody>
      </p:sp>
      <p:sp>
        <p:nvSpPr>
          <p:cNvPr id="5" name="Shape 2">
            <a:extLst>
              <a:ext uri="{FF2B5EF4-FFF2-40B4-BE49-F238E27FC236}">
                <a16:creationId xmlns:a16="http://schemas.microsoft.com/office/drawing/2014/main" id="{4C8194B5-092B-AB48-B704-0AA1C2B81CE9}"/>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6" name="Text 3">
            <a:extLst>
              <a:ext uri="{FF2B5EF4-FFF2-40B4-BE49-F238E27FC236}">
                <a16:creationId xmlns:a16="http://schemas.microsoft.com/office/drawing/2014/main" id="{7184CE8B-FC78-8F3D-EA0D-5C701A525E1A}"/>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7" name="Text 4">
            <a:extLst>
              <a:ext uri="{FF2B5EF4-FFF2-40B4-BE49-F238E27FC236}">
                <a16:creationId xmlns:a16="http://schemas.microsoft.com/office/drawing/2014/main" id="{3099E86D-5B29-65A6-297B-F09395B9C75A}"/>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8" name="Text 5">
            <a:extLst>
              <a:ext uri="{FF2B5EF4-FFF2-40B4-BE49-F238E27FC236}">
                <a16:creationId xmlns:a16="http://schemas.microsoft.com/office/drawing/2014/main" id="{DDB97EAD-1AD1-0C50-D167-870B7F190908}"/>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7</a:t>
            </a:r>
            <a:endParaRPr lang="fr-CH" sz="750" noProof="0" dirty="0"/>
          </a:p>
        </p:txBody>
      </p:sp>
      <p:sp>
        <p:nvSpPr>
          <p:cNvPr id="9" name="Shape 6">
            <a:extLst>
              <a:ext uri="{FF2B5EF4-FFF2-40B4-BE49-F238E27FC236}">
                <a16:creationId xmlns:a16="http://schemas.microsoft.com/office/drawing/2014/main" id="{F73B649E-B29C-EAB5-DECA-A9E8855832EB}"/>
              </a:ext>
            </a:extLst>
          </p:cNvPr>
          <p:cNvSpPr/>
          <p:nvPr/>
        </p:nvSpPr>
        <p:spPr>
          <a:xfrm>
            <a:off x="731520" y="1874520"/>
            <a:ext cx="5074920" cy="749808"/>
          </a:xfrm>
          <a:prstGeom prst="roundRect">
            <a:avLst>
              <a:gd name="adj" fmla="val 9756"/>
            </a:avLst>
          </a:prstGeom>
          <a:solidFill>
            <a:srgbClr val="FFFFFF"/>
          </a:solidFill>
          <a:ln w="10160">
            <a:solidFill>
              <a:srgbClr val="CBD5E1"/>
            </a:solidFill>
            <a:prstDash val="solid"/>
          </a:ln>
        </p:spPr>
        <p:txBody>
          <a:bodyPr/>
          <a:lstStyle/>
          <a:p>
            <a:endParaRPr lang="fr-CH" noProof="0" dirty="0"/>
          </a:p>
        </p:txBody>
      </p:sp>
      <p:sp>
        <p:nvSpPr>
          <p:cNvPr id="10" name="Shape 7">
            <a:extLst>
              <a:ext uri="{FF2B5EF4-FFF2-40B4-BE49-F238E27FC236}">
                <a16:creationId xmlns:a16="http://schemas.microsoft.com/office/drawing/2014/main" id="{59F9CC02-D899-362D-2AFB-508DFA1ED64A}"/>
              </a:ext>
            </a:extLst>
          </p:cNvPr>
          <p:cNvSpPr/>
          <p:nvPr/>
        </p:nvSpPr>
        <p:spPr>
          <a:xfrm>
            <a:off x="914400" y="2103120"/>
            <a:ext cx="182880" cy="182880"/>
          </a:xfrm>
          <a:prstGeom prst="ellipse">
            <a:avLst/>
          </a:prstGeom>
          <a:solidFill>
            <a:srgbClr val="001A8D"/>
          </a:solidFill>
          <a:ln w="12700">
            <a:solidFill>
              <a:srgbClr val="001A8D"/>
            </a:solidFill>
            <a:prstDash val="solid"/>
          </a:ln>
        </p:spPr>
        <p:txBody>
          <a:bodyPr/>
          <a:lstStyle/>
          <a:p>
            <a:endParaRPr lang="fr-CH" noProof="0" dirty="0"/>
          </a:p>
        </p:txBody>
      </p:sp>
      <p:sp>
        <p:nvSpPr>
          <p:cNvPr id="11" name="Text 8">
            <a:extLst>
              <a:ext uri="{FF2B5EF4-FFF2-40B4-BE49-F238E27FC236}">
                <a16:creationId xmlns:a16="http://schemas.microsoft.com/office/drawing/2014/main" id="{5F6FA251-5239-FE02-5CA8-D5F39AD894B4}"/>
              </a:ext>
            </a:extLst>
          </p:cNvPr>
          <p:cNvSpPr/>
          <p:nvPr/>
        </p:nvSpPr>
        <p:spPr>
          <a:xfrm>
            <a:off x="1234440" y="2093976"/>
            <a:ext cx="4389120" cy="228600"/>
          </a:xfrm>
          <a:prstGeom prst="rect">
            <a:avLst/>
          </a:prstGeom>
          <a:noFill/>
          <a:ln/>
        </p:spPr>
        <p:txBody>
          <a:bodyPr wrap="square" lIns="0" tIns="0" rIns="0" bIns="0" rtlCol="0" anchor="ctr">
            <a:normAutofit/>
          </a:bodyPr>
          <a:lstStyle/>
          <a:p>
            <a:pPr marL="0" indent="0">
              <a:buNone/>
            </a:pPr>
            <a:r>
              <a:rPr lang="fr-CH" sz="1200" noProof="0" dirty="0">
                <a:solidFill>
                  <a:srgbClr val="1E1E1E"/>
                </a:solidFill>
              </a:rPr>
              <a:t>Objectif et périmètre clarifiés</a:t>
            </a:r>
            <a:endParaRPr lang="fr-CH" sz="1200" noProof="0" dirty="0"/>
          </a:p>
        </p:txBody>
      </p:sp>
      <p:sp>
        <p:nvSpPr>
          <p:cNvPr id="12" name="Shape 9">
            <a:extLst>
              <a:ext uri="{FF2B5EF4-FFF2-40B4-BE49-F238E27FC236}">
                <a16:creationId xmlns:a16="http://schemas.microsoft.com/office/drawing/2014/main" id="{015BEF39-6955-44F2-597D-81FEBD8946F6}"/>
              </a:ext>
            </a:extLst>
          </p:cNvPr>
          <p:cNvSpPr/>
          <p:nvPr/>
        </p:nvSpPr>
        <p:spPr>
          <a:xfrm>
            <a:off x="6217920" y="1874520"/>
            <a:ext cx="5074920" cy="749808"/>
          </a:xfrm>
          <a:prstGeom prst="roundRect">
            <a:avLst>
              <a:gd name="adj" fmla="val 9756"/>
            </a:avLst>
          </a:prstGeom>
          <a:solidFill>
            <a:srgbClr val="F6F8FC"/>
          </a:solidFill>
          <a:ln w="10160">
            <a:solidFill>
              <a:srgbClr val="CBD5E1"/>
            </a:solidFill>
            <a:prstDash val="solid"/>
          </a:ln>
        </p:spPr>
        <p:txBody>
          <a:bodyPr/>
          <a:lstStyle/>
          <a:p>
            <a:endParaRPr lang="fr-CH" noProof="0" dirty="0"/>
          </a:p>
        </p:txBody>
      </p:sp>
      <p:sp>
        <p:nvSpPr>
          <p:cNvPr id="13" name="Shape 10">
            <a:extLst>
              <a:ext uri="{FF2B5EF4-FFF2-40B4-BE49-F238E27FC236}">
                <a16:creationId xmlns:a16="http://schemas.microsoft.com/office/drawing/2014/main" id="{2A8EEA12-21DC-B856-2337-AA49EBA25DE8}"/>
              </a:ext>
            </a:extLst>
          </p:cNvPr>
          <p:cNvSpPr/>
          <p:nvPr/>
        </p:nvSpPr>
        <p:spPr>
          <a:xfrm>
            <a:off x="6400800" y="2103120"/>
            <a:ext cx="182880" cy="182880"/>
          </a:xfrm>
          <a:prstGeom prst="ellipse">
            <a:avLst/>
          </a:prstGeom>
          <a:solidFill>
            <a:srgbClr val="001A8D"/>
          </a:solidFill>
          <a:ln w="12700">
            <a:solidFill>
              <a:srgbClr val="001A8D"/>
            </a:solidFill>
            <a:prstDash val="solid"/>
          </a:ln>
        </p:spPr>
        <p:txBody>
          <a:bodyPr/>
          <a:lstStyle/>
          <a:p>
            <a:endParaRPr lang="fr-CH" noProof="0" dirty="0"/>
          </a:p>
        </p:txBody>
      </p:sp>
      <p:sp>
        <p:nvSpPr>
          <p:cNvPr id="14" name="Text 11">
            <a:extLst>
              <a:ext uri="{FF2B5EF4-FFF2-40B4-BE49-F238E27FC236}">
                <a16:creationId xmlns:a16="http://schemas.microsoft.com/office/drawing/2014/main" id="{21FF9D0D-95ED-BBCD-B549-083972A98276}"/>
              </a:ext>
            </a:extLst>
          </p:cNvPr>
          <p:cNvSpPr/>
          <p:nvPr/>
        </p:nvSpPr>
        <p:spPr>
          <a:xfrm>
            <a:off x="6720840" y="2093976"/>
            <a:ext cx="4389120" cy="228600"/>
          </a:xfrm>
          <a:prstGeom prst="rect">
            <a:avLst/>
          </a:prstGeom>
          <a:noFill/>
          <a:ln/>
        </p:spPr>
        <p:txBody>
          <a:bodyPr wrap="square" lIns="0" tIns="0" rIns="0" bIns="0" rtlCol="0" anchor="ctr">
            <a:normAutofit/>
          </a:bodyPr>
          <a:lstStyle/>
          <a:p>
            <a:pPr marL="0" indent="0">
              <a:buNone/>
            </a:pPr>
            <a:r>
              <a:rPr lang="fr-CH" sz="1200" noProof="0" dirty="0">
                <a:solidFill>
                  <a:srgbClr val="1E1E1E"/>
                </a:solidFill>
              </a:rPr>
              <a:t>Observations sur la cartographie recueillies</a:t>
            </a:r>
            <a:endParaRPr lang="fr-CH" sz="1200" noProof="0" dirty="0"/>
          </a:p>
        </p:txBody>
      </p:sp>
      <p:sp>
        <p:nvSpPr>
          <p:cNvPr id="15" name="Shape 12">
            <a:extLst>
              <a:ext uri="{FF2B5EF4-FFF2-40B4-BE49-F238E27FC236}">
                <a16:creationId xmlns:a16="http://schemas.microsoft.com/office/drawing/2014/main" id="{689896C3-DF1A-B3FF-8E50-DEE9F84F8EF9}"/>
              </a:ext>
            </a:extLst>
          </p:cNvPr>
          <p:cNvSpPr/>
          <p:nvPr/>
        </p:nvSpPr>
        <p:spPr>
          <a:xfrm>
            <a:off x="731520" y="2953512"/>
            <a:ext cx="5074920" cy="749808"/>
          </a:xfrm>
          <a:prstGeom prst="roundRect">
            <a:avLst>
              <a:gd name="adj" fmla="val 9756"/>
            </a:avLst>
          </a:prstGeom>
          <a:solidFill>
            <a:srgbClr val="FFFFFF"/>
          </a:solidFill>
          <a:ln w="10160">
            <a:solidFill>
              <a:srgbClr val="CBD5E1"/>
            </a:solidFill>
            <a:prstDash val="solid"/>
          </a:ln>
        </p:spPr>
        <p:txBody>
          <a:bodyPr/>
          <a:lstStyle/>
          <a:p>
            <a:endParaRPr lang="fr-CH" noProof="0" dirty="0"/>
          </a:p>
        </p:txBody>
      </p:sp>
      <p:sp>
        <p:nvSpPr>
          <p:cNvPr id="16" name="Shape 13">
            <a:extLst>
              <a:ext uri="{FF2B5EF4-FFF2-40B4-BE49-F238E27FC236}">
                <a16:creationId xmlns:a16="http://schemas.microsoft.com/office/drawing/2014/main" id="{91FBB6EC-EF28-82FB-CF87-077D0E2E867B}"/>
              </a:ext>
            </a:extLst>
          </p:cNvPr>
          <p:cNvSpPr/>
          <p:nvPr/>
        </p:nvSpPr>
        <p:spPr>
          <a:xfrm>
            <a:off x="914400" y="3182112"/>
            <a:ext cx="182880" cy="182880"/>
          </a:xfrm>
          <a:prstGeom prst="ellipse">
            <a:avLst/>
          </a:prstGeom>
          <a:solidFill>
            <a:srgbClr val="001A8D"/>
          </a:solidFill>
          <a:ln w="12700">
            <a:solidFill>
              <a:srgbClr val="001A8D"/>
            </a:solidFill>
            <a:prstDash val="solid"/>
          </a:ln>
        </p:spPr>
        <p:txBody>
          <a:bodyPr/>
          <a:lstStyle/>
          <a:p>
            <a:endParaRPr lang="fr-CH" noProof="0" dirty="0"/>
          </a:p>
        </p:txBody>
      </p:sp>
      <p:sp>
        <p:nvSpPr>
          <p:cNvPr id="17" name="Text 14">
            <a:extLst>
              <a:ext uri="{FF2B5EF4-FFF2-40B4-BE49-F238E27FC236}">
                <a16:creationId xmlns:a16="http://schemas.microsoft.com/office/drawing/2014/main" id="{1AB69DB4-D38A-227C-F15E-AED4FE18A0F5}"/>
              </a:ext>
            </a:extLst>
          </p:cNvPr>
          <p:cNvSpPr/>
          <p:nvPr/>
        </p:nvSpPr>
        <p:spPr>
          <a:xfrm>
            <a:off x="1234440" y="3172968"/>
            <a:ext cx="4389120" cy="228600"/>
          </a:xfrm>
          <a:prstGeom prst="rect">
            <a:avLst/>
          </a:prstGeom>
          <a:noFill/>
          <a:ln/>
        </p:spPr>
        <p:txBody>
          <a:bodyPr wrap="square" lIns="0" tIns="0" rIns="0" bIns="0" rtlCol="0" anchor="ctr">
            <a:normAutofit/>
          </a:bodyPr>
          <a:lstStyle/>
          <a:p>
            <a:pPr marL="0" indent="0">
              <a:buNone/>
            </a:pPr>
            <a:r>
              <a:rPr lang="fr-CH" sz="1200" noProof="0" dirty="0">
                <a:solidFill>
                  <a:srgbClr val="1E1E1E"/>
                </a:solidFill>
              </a:rPr>
              <a:t>Institutions ou sources manquantes identifiées</a:t>
            </a:r>
            <a:endParaRPr lang="fr-CH" sz="1200" noProof="0" dirty="0"/>
          </a:p>
        </p:txBody>
      </p:sp>
      <p:sp>
        <p:nvSpPr>
          <p:cNvPr id="18" name="Shape 15">
            <a:extLst>
              <a:ext uri="{FF2B5EF4-FFF2-40B4-BE49-F238E27FC236}">
                <a16:creationId xmlns:a16="http://schemas.microsoft.com/office/drawing/2014/main" id="{EF5C3FA0-6EC6-7108-07E4-BE269035FD1E}"/>
              </a:ext>
            </a:extLst>
          </p:cNvPr>
          <p:cNvSpPr/>
          <p:nvPr/>
        </p:nvSpPr>
        <p:spPr>
          <a:xfrm>
            <a:off x="6217920" y="2953512"/>
            <a:ext cx="5074920" cy="749808"/>
          </a:xfrm>
          <a:prstGeom prst="roundRect">
            <a:avLst>
              <a:gd name="adj" fmla="val 9756"/>
            </a:avLst>
          </a:prstGeom>
          <a:solidFill>
            <a:srgbClr val="F6F8FC"/>
          </a:solidFill>
          <a:ln w="10160">
            <a:solidFill>
              <a:srgbClr val="CBD5E1"/>
            </a:solidFill>
            <a:prstDash val="solid"/>
          </a:ln>
        </p:spPr>
        <p:txBody>
          <a:bodyPr/>
          <a:lstStyle/>
          <a:p>
            <a:endParaRPr lang="fr-CH" noProof="0" dirty="0"/>
          </a:p>
        </p:txBody>
      </p:sp>
      <p:sp>
        <p:nvSpPr>
          <p:cNvPr id="19" name="Shape 16">
            <a:extLst>
              <a:ext uri="{FF2B5EF4-FFF2-40B4-BE49-F238E27FC236}">
                <a16:creationId xmlns:a16="http://schemas.microsoft.com/office/drawing/2014/main" id="{7084A347-8BC3-822E-C669-9F9240CE9824}"/>
              </a:ext>
            </a:extLst>
          </p:cNvPr>
          <p:cNvSpPr/>
          <p:nvPr/>
        </p:nvSpPr>
        <p:spPr>
          <a:xfrm>
            <a:off x="6400800" y="3182112"/>
            <a:ext cx="182880" cy="182880"/>
          </a:xfrm>
          <a:prstGeom prst="ellipse">
            <a:avLst/>
          </a:prstGeom>
          <a:solidFill>
            <a:srgbClr val="001A8D"/>
          </a:solidFill>
          <a:ln w="12700">
            <a:solidFill>
              <a:srgbClr val="001A8D"/>
            </a:solidFill>
            <a:prstDash val="solid"/>
          </a:ln>
        </p:spPr>
        <p:txBody>
          <a:bodyPr/>
          <a:lstStyle/>
          <a:p>
            <a:endParaRPr lang="fr-CH" noProof="0" dirty="0"/>
          </a:p>
        </p:txBody>
      </p:sp>
      <p:sp>
        <p:nvSpPr>
          <p:cNvPr id="20" name="Text 17">
            <a:extLst>
              <a:ext uri="{FF2B5EF4-FFF2-40B4-BE49-F238E27FC236}">
                <a16:creationId xmlns:a16="http://schemas.microsoft.com/office/drawing/2014/main" id="{4FBE4074-DFE8-D062-E854-3E5CC53934E0}"/>
              </a:ext>
            </a:extLst>
          </p:cNvPr>
          <p:cNvSpPr/>
          <p:nvPr/>
        </p:nvSpPr>
        <p:spPr>
          <a:xfrm>
            <a:off x="6720840" y="3172968"/>
            <a:ext cx="4389120" cy="228600"/>
          </a:xfrm>
          <a:prstGeom prst="rect">
            <a:avLst/>
          </a:prstGeom>
          <a:noFill/>
          <a:ln/>
        </p:spPr>
        <p:txBody>
          <a:bodyPr wrap="square" lIns="0" tIns="0" rIns="0" bIns="0" rtlCol="0" anchor="ctr">
            <a:normAutofit/>
          </a:bodyPr>
          <a:lstStyle/>
          <a:p>
            <a:pPr marL="0" indent="0">
              <a:buNone/>
            </a:pPr>
            <a:r>
              <a:rPr lang="fr-CH" sz="1200" noProof="0" dirty="0">
                <a:solidFill>
                  <a:srgbClr val="1E1E1E"/>
                </a:solidFill>
              </a:rPr>
              <a:t>Accord de principe sur le canevas commun</a:t>
            </a:r>
            <a:endParaRPr lang="fr-CH" sz="1200" noProof="0" dirty="0"/>
          </a:p>
        </p:txBody>
      </p:sp>
      <p:sp>
        <p:nvSpPr>
          <p:cNvPr id="21" name="Shape 18">
            <a:extLst>
              <a:ext uri="{FF2B5EF4-FFF2-40B4-BE49-F238E27FC236}">
                <a16:creationId xmlns:a16="http://schemas.microsoft.com/office/drawing/2014/main" id="{973F1F09-BC06-9A63-840D-9D5FB1D2ADFB}"/>
              </a:ext>
            </a:extLst>
          </p:cNvPr>
          <p:cNvSpPr/>
          <p:nvPr/>
        </p:nvSpPr>
        <p:spPr>
          <a:xfrm>
            <a:off x="731520" y="4032504"/>
            <a:ext cx="5074920" cy="749808"/>
          </a:xfrm>
          <a:prstGeom prst="roundRect">
            <a:avLst>
              <a:gd name="adj" fmla="val 9756"/>
            </a:avLst>
          </a:prstGeom>
          <a:solidFill>
            <a:srgbClr val="FFFFFF"/>
          </a:solidFill>
          <a:ln w="10160">
            <a:solidFill>
              <a:srgbClr val="CBD5E1"/>
            </a:solidFill>
            <a:prstDash val="solid"/>
          </a:ln>
        </p:spPr>
        <p:txBody>
          <a:bodyPr/>
          <a:lstStyle/>
          <a:p>
            <a:endParaRPr lang="fr-CH" noProof="0" dirty="0"/>
          </a:p>
        </p:txBody>
      </p:sp>
      <p:sp>
        <p:nvSpPr>
          <p:cNvPr id="22" name="Shape 19">
            <a:extLst>
              <a:ext uri="{FF2B5EF4-FFF2-40B4-BE49-F238E27FC236}">
                <a16:creationId xmlns:a16="http://schemas.microsoft.com/office/drawing/2014/main" id="{309504E3-07AD-E90A-72B6-888782A88BDA}"/>
              </a:ext>
            </a:extLst>
          </p:cNvPr>
          <p:cNvSpPr/>
          <p:nvPr/>
        </p:nvSpPr>
        <p:spPr>
          <a:xfrm>
            <a:off x="914400" y="4261104"/>
            <a:ext cx="182880" cy="182880"/>
          </a:xfrm>
          <a:prstGeom prst="ellipse">
            <a:avLst/>
          </a:prstGeom>
          <a:solidFill>
            <a:srgbClr val="001A8D"/>
          </a:solidFill>
          <a:ln w="12700">
            <a:solidFill>
              <a:srgbClr val="001A8D"/>
            </a:solidFill>
            <a:prstDash val="solid"/>
          </a:ln>
        </p:spPr>
        <p:txBody>
          <a:bodyPr/>
          <a:lstStyle/>
          <a:p>
            <a:endParaRPr lang="fr-CH" noProof="0" dirty="0"/>
          </a:p>
        </p:txBody>
      </p:sp>
      <p:sp>
        <p:nvSpPr>
          <p:cNvPr id="23" name="Text 20">
            <a:extLst>
              <a:ext uri="{FF2B5EF4-FFF2-40B4-BE49-F238E27FC236}">
                <a16:creationId xmlns:a16="http://schemas.microsoft.com/office/drawing/2014/main" id="{4FF2A89B-8223-A6CD-6708-7C2DBC58B877}"/>
              </a:ext>
            </a:extLst>
          </p:cNvPr>
          <p:cNvSpPr/>
          <p:nvPr/>
        </p:nvSpPr>
        <p:spPr>
          <a:xfrm>
            <a:off x="1234440" y="4251960"/>
            <a:ext cx="4389120" cy="228600"/>
          </a:xfrm>
          <a:prstGeom prst="rect">
            <a:avLst/>
          </a:prstGeom>
          <a:noFill/>
          <a:ln/>
        </p:spPr>
        <p:txBody>
          <a:bodyPr wrap="square" lIns="0" tIns="0" rIns="0" bIns="0" rtlCol="0" anchor="ctr">
            <a:normAutofit/>
          </a:bodyPr>
          <a:lstStyle/>
          <a:p>
            <a:pPr marL="0" indent="0">
              <a:buNone/>
            </a:pPr>
            <a:r>
              <a:rPr lang="fr-CH" sz="1200" noProof="0" dirty="0">
                <a:solidFill>
                  <a:srgbClr val="1E1E1E"/>
                </a:solidFill>
              </a:rPr>
              <a:t>Points focaux pressentis</a:t>
            </a:r>
            <a:endParaRPr lang="fr-CH" sz="1200" noProof="0" dirty="0"/>
          </a:p>
        </p:txBody>
      </p:sp>
      <p:sp>
        <p:nvSpPr>
          <p:cNvPr id="24" name="Shape 21">
            <a:extLst>
              <a:ext uri="{FF2B5EF4-FFF2-40B4-BE49-F238E27FC236}">
                <a16:creationId xmlns:a16="http://schemas.microsoft.com/office/drawing/2014/main" id="{52DB13DD-FB56-0024-6F0F-972406EB2836}"/>
              </a:ext>
            </a:extLst>
          </p:cNvPr>
          <p:cNvSpPr/>
          <p:nvPr/>
        </p:nvSpPr>
        <p:spPr>
          <a:xfrm>
            <a:off x="6217920" y="4032504"/>
            <a:ext cx="5074920" cy="749808"/>
          </a:xfrm>
          <a:prstGeom prst="roundRect">
            <a:avLst>
              <a:gd name="adj" fmla="val 9756"/>
            </a:avLst>
          </a:prstGeom>
          <a:solidFill>
            <a:srgbClr val="F6F8FC"/>
          </a:solidFill>
          <a:ln w="10160">
            <a:solidFill>
              <a:srgbClr val="CBD5E1"/>
            </a:solidFill>
            <a:prstDash val="solid"/>
          </a:ln>
        </p:spPr>
        <p:txBody>
          <a:bodyPr/>
          <a:lstStyle/>
          <a:p>
            <a:endParaRPr lang="fr-CH" noProof="0" dirty="0"/>
          </a:p>
        </p:txBody>
      </p:sp>
      <p:sp>
        <p:nvSpPr>
          <p:cNvPr id="25" name="Shape 22">
            <a:extLst>
              <a:ext uri="{FF2B5EF4-FFF2-40B4-BE49-F238E27FC236}">
                <a16:creationId xmlns:a16="http://schemas.microsoft.com/office/drawing/2014/main" id="{A25AB28A-0660-8D39-30EF-C32DD1AE5764}"/>
              </a:ext>
            </a:extLst>
          </p:cNvPr>
          <p:cNvSpPr/>
          <p:nvPr/>
        </p:nvSpPr>
        <p:spPr>
          <a:xfrm>
            <a:off x="6400800" y="4261104"/>
            <a:ext cx="182880" cy="182880"/>
          </a:xfrm>
          <a:prstGeom prst="ellipse">
            <a:avLst/>
          </a:prstGeom>
          <a:solidFill>
            <a:srgbClr val="001A8D"/>
          </a:solidFill>
          <a:ln w="12700">
            <a:solidFill>
              <a:srgbClr val="001A8D"/>
            </a:solidFill>
            <a:prstDash val="solid"/>
          </a:ln>
        </p:spPr>
        <p:txBody>
          <a:bodyPr/>
          <a:lstStyle/>
          <a:p>
            <a:endParaRPr lang="fr-CH" noProof="0" dirty="0"/>
          </a:p>
        </p:txBody>
      </p:sp>
      <p:sp>
        <p:nvSpPr>
          <p:cNvPr id="26" name="Text 23">
            <a:extLst>
              <a:ext uri="{FF2B5EF4-FFF2-40B4-BE49-F238E27FC236}">
                <a16:creationId xmlns:a16="http://schemas.microsoft.com/office/drawing/2014/main" id="{2FBF9C00-B192-EBA9-3C91-D73E1DEFDCDC}"/>
              </a:ext>
            </a:extLst>
          </p:cNvPr>
          <p:cNvSpPr/>
          <p:nvPr/>
        </p:nvSpPr>
        <p:spPr>
          <a:xfrm>
            <a:off x="6720840" y="4251960"/>
            <a:ext cx="4389120" cy="228600"/>
          </a:xfrm>
          <a:prstGeom prst="rect">
            <a:avLst/>
          </a:prstGeom>
          <a:noFill/>
          <a:ln/>
        </p:spPr>
        <p:txBody>
          <a:bodyPr wrap="square" lIns="0" tIns="0" rIns="0" bIns="0" rtlCol="0" anchor="ctr">
            <a:normAutofit/>
          </a:bodyPr>
          <a:lstStyle/>
          <a:p>
            <a:pPr marL="0" indent="0">
              <a:buNone/>
            </a:pPr>
            <a:r>
              <a:rPr lang="fr-CH" sz="1200" noProof="0" dirty="0">
                <a:solidFill>
                  <a:srgbClr val="1E1E1E"/>
                </a:solidFill>
              </a:rPr>
              <a:t>Calendrier indicatif de collecte et validation</a:t>
            </a:r>
            <a:endParaRPr lang="fr-CH" sz="1200" noProof="0" dirty="0"/>
          </a:p>
        </p:txBody>
      </p:sp>
      <p:pic>
        <p:nvPicPr>
          <p:cNvPr id="27" name="Image 0" descr="/mnt/data/ref_unzip/ppt/media/image1.png">
            <a:extLst>
              <a:ext uri="{FF2B5EF4-FFF2-40B4-BE49-F238E27FC236}">
                <a16:creationId xmlns:a16="http://schemas.microsoft.com/office/drawing/2014/main" id="{2CAE7B76-633A-526D-50EE-CD328803F80C}"/>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21652211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5F1BC-9CC8-0B8E-4882-C41E3A47E49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366982A-D49B-AD8E-D508-F47A4E5FA0EB}"/>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11891D65-A213-E734-B069-61E34AD2BD5F}"/>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ACTEURS ET RESPONSABILITÉS</a:t>
            </a:r>
            <a:endParaRPr lang="fr-CH" sz="2200" noProof="0" dirty="0"/>
          </a:p>
        </p:txBody>
      </p:sp>
      <p:sp>
        <p:nvSpPr>
          <p:cNvPr id="5" name="Shape 2">
            <a:extLst>
              <a:ext uri="{FF2B5EF4-FFF2-40B4-BE49-F238E27FC236}">
                <a16:creationId xmlns:a16="http://schemas.microsoft.com/office/drawing/2014/main" id="{489D2891-4AF0-C7A5-78F6-13636A1AF9F6}"/>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6" name="Text 3">
            <a:extLst>
              <a:ext uri="{FF2B5EF4-FFF2-40B4-BE49-F238E27FC236}">
                <a16:creationId xmlns:a16="http://schemas.microsoft.com/office/drawing/2014/main" id="{55AA4E8F-8CB3-6E2E-7E01-4D89A21D6569}"/>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7" name="Text 4">
            <a:extLst>
              <a:ext uri="{FF2B5EF4-FFF2-40B4-BE49-F238E27FC236}">
                <a16:creationId xmlns:a16="http://schemas.microsoft.com/office/drawing/2014/main" id="{8178C1C7-0D0D-0E51-9ADA-6ECD0337DCAA}"/>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8" name="Text 5">
            <a:extLst>
              <a:ext uri="{FF2B5EF4-FFF2-40B4-BE49-F238E27FC236}">
                <a16:creationId xmlns:a16="http://schemas.microsoft.com/office/drawing/2014/main" id="{F4C10509-284D-856C-785B-DDA5C2C9CDAE}"/>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8</a:t>
            </a:r>
            <a:endParaRPr lang="fr-CH" sz="750" noProof="0" dirty="0"/>
          </a:p>
        </p:txBody>
      </p:sp>
      <p:sp>
        <p:nvSpPr>
          <p:cNvPr id="9" name="Shape 6">
            <a:extLst>
              <a:ext uri="{FF2B5EF4-FFF2-40B4-BE49-F238E27FC236}">
                <a16:creationId xmlns:a16="http://schemas.microsoft.com/office/drawing/2014/main" id="{8EAA012A-9BC6-76F1-F54F-771C3FA99788}"/>
              </a:ext>
            </a:extLst>
          </p:cNvPr>
          <p:cNvSpPr/>
          <p:nvPr/>
        </p:nvSpPr>
        <p:spPr>
          <a:xfrm>
            <a:off x="685800" y="1828800"/>
            <a:ext cx="10789920" cy="438912"/>
          </a:xfrm>
          <a:prstGeom prst="rect">
            <a:avLst/>
          </a:prstGeom>
          <a:solidFill>
            <a:srgbClr val="001A8D"/>
          </a:solidFill>
          <a:ln w="12700">
            <a:solidFill>
              <a:srgbClr val="001A8D"/>
            </a:solidFill>
            <a:prstDash val="solid"/>
          </a:ln>
        </p:spPr>
        <p:txBody>
          <a:bodyPr/>
          <a:lstStyle/>
          <a:p>
            <a:endParaRPr lang="fr-CH" noProof="0" dirty="0"/>
          </a:p>
        </p:txBody>
      </p:sp>
      <p:sp>
        <p:nvSpPr>
          <p:cNvPr id="10" name="Text 7">
            <a:extLst>
              <a:ext uri="{FF2B5EF4-FFF2-40B4-BE49-F238E27FC236}">
                <a16:creationId xmlns:a16="http://schemas.microsoft.com/office/drawing/2014/main" id="{FFAAD7DB-B3E3-4BF8-3A25-C18F5705A263}"/>
              </a:ext>
            </a:extLst>
          </p:cNvPr>
          <p:cNvSpPr/>
          <p:nvPr/>
        </p:nvSpPr>
        <p:spPr>
          <a:xfrm>
            <a:off x="886968" y="1956816"/>
            <a:ext cx="2834640" cy="182880"/>
          </a:xfrm>
          <a:prstGeom prst="rect">
            <a:avLst/>
          </a:prstGeom>
          <a:noFill/>
          <a:ln/>
        </p:spPr>
        <p:txBody>
          <a:bodyPr wrap="square" lIns="0" tIns="0" rIns="0" bIns="0" rtlCol="0" anchor="ctr"/>
          <a:lstStyle/>
          <a:p>
            <a:pPr marL="0" indent="0">
              <a:buNone/>
            </a:pPr>
            <a:r>
              <a:rPr lang="fr-CH" sz="1000" b="1" noProof="0" dirty="0">
                <a:solidFill>
                  <a:srgbClr val="FFFFFF"/>
                </a:solidFill>
              </a:rPr>
              <a:t>Acteur</a:t>
            </a:r>
            <a:endParaRPr lang="fr-CH" sz="1000" noProof="0" dirty="0"/>
          </a:p>
        </p:txBody>
      </p:sp>
      <p:sp>
        <p:nvSpPr>
          <p:cNvPr id="11" name="Text 8">
            <a:extLst>
              <a:ext uri="{FF2B5EF4-FFF2-40B4-BE49-F238E27FC236}">
                <a16:creationId xmlns:a16="http://schemas.microsoft.com/office/drawing/2014/main" id="{BB8EFE8C-C116-0A37-56FA-C4FD482ABCDF}"/>
              </a:ext>
            </a:extLst>
          </p:cNvPr>
          <p:cNvSpPr/>
          <p:nvPr/>
        </p:nvSpPr>
        <p:spPr>
          <a:xfrm>
            <a:off x="4023360" y="1956816"/>
            <a:ext cx="7132320" cy="182880"/>
          </a:xfrm>
          <a:prstGeom prst="rect">
            <a:avLst/>
          </a:prstGeom>
          <a:noFill/>
          <a:ln/>
        </p:spPr>
        <p:txBody>
          <a:bodyPr wrap="square" lIns="0" tIns="0" rIns="0" bIns="0" rtlCol="0" anchor="ctr"/>
          <a:lstStyle/>
          <a:p>
            <a:pPr marL="0" indent="0">
              <a:buNone/>
            </a:pPr>
            <a:r>
              <a:rPr lang="fr-CH" sz="1000" b="1" noProof="0" dirty="0">
                <a:solidFill>
                  <a:srgbClr val="FFFFFF"/>
                </a:solidFill>
              </a:rPr>
              <a:t>Rôle attendu</a:t>
            </a:r>
            <a:endParaRPr lang="fr-CH" sz="1000" noProof="0" dirty="0"/>
          </a:p>
        </p:txBody>
      </p:sp>
      <p:sp>
        <p:nvSpPr>
          <p:cNvPr id="12" name="Shape 9">
            <a:extLst>
              <a:ext uri="{FF2B5EF4-FFF2-40B4-BE49-F238E27FC236}">
                <a16:creationId xmlns:a16="http://schemas.microsoft.com/office/drawing/2014/main" id="{9AE60932-938E-9897-E914-E2E31FCF850E}"/>
              </a:ext>
            </a:extLst>
          </p:cNvPr>
          <p:cNvSpPr/>
          <p:nvPr/>
        </p:nvSpPr>
        <p:spPr>
          <a:xfrm>
            <a:off x="685800" y="2267712"/>
            <a:ext cx="10789920" cy="676656"/>
          </a:xfrm>
          <a:prstGeom prst="rect">
            <a:avLst/>
          </a:prstGeom>
          <a:solidFill>
            <a:srgbClr val="F6F8FC"/>
          </a:solidFill>
          <a:ln w="7620">
            <a:solidFill>
              <a:srgbClr val="CBD5E1"/>
            </a:solidFill>
            <a:prstDash val="solid"/>
          </a:ln>
        </p:spPr>
        <p:txBody>
          <a:bodyPr/>
          <a:lstStyle/>
          <a:p>
            <a:endParaRPr lang="fr-CH" noProof="0" dirty="0"/>
          </a:p>
        </p:txBody>
      </p:sp>
      <p:sp>
        <p:nvSpPr>
          <p:cNvPr id="13" name="Text 10">
            <a:extLst>
              <a:ext uri="{FF2B5EF4-FFF2-40B4-BE49-F238E27FC236}">
                <a16:creationId xmlns:a16="http://schemas.microsoft.com/office/drawing/2014/main" id="{86384E44-B98B-B76E-B793-F0D4119DF0CF}"/>
              </a:ext>
            </a:extLst>
          </p:cNvPr>
          <p:cNvSpPr/>
          <p:nvPr/>
        </p:nvSpPr>
        <p:spPr>
          <a:xfrm>
            <a:off x="886968" y="2478024"/>
            <a:ext cx="2743200" cy="201168"/>
          </a:xfrm>
          <a:prstGeom prst="rect">
            <a:avLst/>
          </a:prstGeom>
          <a:noFill/>
          <a:ln/>
        </p:spPr>
        <p:txBody>
          <a:bodyPr wrap="square" lIns="0" tIns="0" rIns="0" bIns="0" rtlCol="0" anchor="ctr">
            <a:normAutofit/>
          </a:bodyPr>
          <a:lstStyle/>
          <a:p>
            <a:pPr marL="0" indent="0">
              <a:buNone/>
            </a:pPr>
            <a:r>
              <a:rPr lang="fr-CH" sz="1050" b="1" noProof="0" dirty="0">
                <a:solidFill>
                  <a:srgbClr val="001A8D"/>
                </a:solidFill>
              </a:rPr>
              <a:t>SG-PS</a:t>
            </a:r>
            <a:endParaRPr lang="fr-CH" sz="1050" noProof="0" dirty="0"/>
          </a:p>
        </p:txBody>
      </p:sp>
      <p:sp>
        <p:nvSpPr>
          <p:cNvPr id="14" name="Text 11">
            <a:extLst>
              <a:ext uri="{FF2B5EF4-FFF2-40B4-BE49-F238E27FC236}">
                <a16:creationId xmlns:a16="http://schemas.microsoft.com/office/drawing/2014/main" id="{C5964D87-83F4-C33F-44F0-8C260BAD28DC}"/>
              </a:ext>
            </a:extLst>
          </p:cNvPr>
          <p:cNvSpPr/>
          <p:nvPr/>
        </p:nvSpPr>
        <p:spPr>
          <a:xfrm>
            <a:off x="4023360" y="2478024"/>
            <a:ext cx="7132320" cy="201168"/>
          </a:xfrm>
          <a:prstGeom prst="rect">
            <a:avLst/>
          </a:prstGeom>
          <a:noFill/>
          <a:ln/>
        </p:spPr>
        <p:txBody>
          <a:bodyPr wrap="square" lIns="0" tIns="0" rIns="0" bIns="0" rtlCol="0" anchor="ctr">
            <a:normAutofit/>
          </a:bodyPr>
          <a:lstStyle/>
          <a:p>
            <a:pPr marL="0" indent="0">
              <a:buNone/>
            </a:pPr>
            <a:r>
              <a:rPr lang="fr-CH" sz="1050" noProof="0" dirty="0">
                <a:solidFill>
                  <a:srgbClr val="1E1E1E"/>
                </a:solidFill>
              </a:rPr>
              <a:t>Leadership national et coordination institutionnelle</a:t>
            </a:r>
            <a:endParaRPr lang="fr-CH" sz="1050" noProof="0" dirty="0"/>
          </a:p>
        </p:txBody>
      </p:sp>
      <p:sp>
        <p:nvSpPr>
          <p:cNvPr id="15" name="Shape 12">
            <a:extLst>
              <a:ext uri="{FF2B5EF4-FFF2-40B4-BE49-F238E27FC236}">
                <a16:creationId xmlns:a16="http://schemas.microsoft.com/office/drawing/2014/main" id="{E6AC37F5-3323-9133-D4E9-75EAADEAE685}"/>
              </a:ext>
            </a:extLst>
          </p:cNvPr>
          <p:cNvSpPr/>
          <p:nvPr/>
        </p:nvSpPr>
        <p:spPr>
          <a:xfrm>
            <a:off x="685800" y="2944368"/>
            <a:ext cx="10789920" cy="676656"/>
          </a:xfrm>
          <a:prstGeom prst="rect">
            <a:avLst/>
          </a:prstGeom>
          <a:solidFill>
            <a:srgbClr val="FFFFFF"/>
          </a:solidFill>
          <a:ln w="7620">
            <a:solidFill>
              <a:srgbClr val="CBD5E1"/>
            </a:solidFill>
            <a:prstDash val="solid"/>
          </a:ln>
        </p:spPr>
        <p:txBody>
          <a:bodyPr/>
          <a:lstStyle/>
          <a:p>
            <a:endParaRPr lang="fr-CH" noProof="0" dirty="0"/>
          </a:p>
        </p:txBody>
      </p:sp>
      <p:sp>
        <p:nvSpPr>
          <p:cNvPr id="16" name="Text 13">
            <a:extLst>
              <a:ext uri="{FF2B5EF4-FFF2-40B4-BE49-F238E27FC236}">
                <a16:creationId xmlns:a16="http://schemas.microsoft.com/office/drawing/2014/main" id="{7E227465-20A5-55B3-CD46-AE65083D198F}"/>
              </a:ext>
            </a:extLst>
          </p:cNvPr>
          <p:cNvSpPr/>
          <p:nvPr/>
        </p:nvSpPr>
        <p:spPr>
          <a:xfrm>
            <a:off x="886968" y="3154680"/>
            <a:ext cx="2743200" cy="201168"/>
          </a:xfrm>
          <a:prstGeom prst="rect">
            <a:avLst/>
          </a:prstGeom>
          <a:noFill/>
          <a:ln/>
        </p:spPr>
        <p:txBody>
          <a:bodyPr wrap="square" lIns="0" tIns="0" rIns="0" bIns="0" rtlCol="0" anchor="ctr">
            <a:normAutofit/>
          </a:bodyPr>
          <a:lstStyle/>
          <a:p>
            <a:pPr marL="0" indent="0">
              <a:buNone/>
            </a:pPr>
            <a:r>
              <a:rPr lang="fr-CH" sz="1050" b="1" noProof="0" dirty="0">
                <a:solidFill>
                  <a:srgbClr val="001A8D"/>
                </a:solidFill>
              </a:rPr>
              <a:t>INS</a:t>
            </a:r>
            <a:endParaRPr lang="fr-CH" sz="1050" noProof="0" dirty="0"/>
          </a:p>
        </p:txBody>
      </p:sp>
      <p:sp>
        <p:nvSpPr>
          <p:cNvPr id="17" name="Text 14">
            <a:extLst>
              <a:ext uri="{FF2B5EF4-FFF2-40B4-BE49-F238E27FC236}">
                <a16:creationId xmlns:a16="http://schemas.microsoft.com/office/drawing/2014/main" id="{29934DA4-8331-7612-0F77-C9532B6852DF}"/>
              </a:ext>
            </a:extLst>
          </p:cNvPr>
          <p:cNvSpPr/>
          <p:nvPr/>
        </p:nvSpPr>
        <p:spPr>
          <a:xfrm>
            <a:off x="4023360" y="3154680"/>
            <a:ext cx="7132320" cy="201168"/>
          </a:xfrm>
          <a:prstGeom prst="rect">
            <a:avLst/>
          </a:prstGeom>
          <a:noFill/>
          <a:ln/>
        </p:spPr>
        <p:txBody>
          <a:bodyPr wrap="square" lIns="0" tIns="0" rIns="0" bIns="0" rtlCol="0" anchor="ctr">
            <a:normAutofit/>
          </a:bodyPr>
          <a:lstStyle/>
          <a:p>
            <a:pPr marL="0" indent="0">
              <a:buNone/>
            </a:pPr>
            <a:r>
              <a:rPr lang="fr-CH" sz="1050" noProof="0" dirty="0">
                <a:solidFill>
                  <a:srgbClr val="1E1E1E"/>
                </a:solidFill>
              </a:rPr>
              <a:t>Cohérence statistique, fourniture et validation des données nationales (dénominateurs)</a:t>
            </a:r>
            <a:endParaRPr lang="fr-CH" sz="1050" noProof="0" dirty="0"/>
          </a:p>
        </p:txBody>
      </p:sp>
      <p:sp>
        <p:nvSpPr>
          <p:cNvPr id="18" name="Shape 15">
            <a:extLst>
              <a:ext uri="{FF2B5EF4-FFF2-40B4-BE49-F238E27FC236}">
                <a16:creationId xmlns:a16="http://schemas.microsoft.com/office/drawing/2014/main" id="{216A7F72-3BB6-BCDC-F676-FF6F101B4F5A}"/>
              </a:ext>
            </a:extLst>
          </p:cNvPr>
          <p:cNvSpPr/>
          <p:nvPr/>
        </p:nvSpPr>
        <p:spPr>
          <a:xfrm>
            <a:off x="685800" y="3621024"/>
            <a:ext cx="10789920" cy="676656"/>
          </a:xfrm>
          <a:prstGeom prst="rect">
            <a:avLst/>
          </a:prstGeom>
          <a:solidFill>
            <a:srgbClr val="F6F8FC"/>
          </a:solidFill>
          <a:ln w="7620">
            <a:solidFill>
              <a:srgbClr val="CBD5E1"/>
            </a:solidFill>
            <a:prstDash val="solid"/>
          </a:ln>
        </p:spPr>
        <p:txBody>
          <a:bodyPr/>
          <a:lstStyle/>
          <a:p>
            <a:endParaRPr lang="fr-CH" noProof="0" dirty="0"/>
          </a:p>
        </p:txBody>
      </p:sp>
      <p:sp>
        <p:nvSpPr>
          <p:cNvPr id="19" name="Text 16">
            <a:extLst>
              <a:ext uri="{FF2B5EF4-FFF2-40B4-BE49-F238E27FC236}">
                <a16:creationId xmlns:a16="http://schemas.microsoft.com/office/drawing/2014/main" id="{B04D6235-810E-EE11-CBF9-A065B69E45B3}"/>
              </a:ext>
            </a:extLst>
          </p:cNvPr>
          <p:cNvSpPr/>
          <p:nvPr/>
        </p:nvSpPr>
        <p:spPr>
          <a:xfrm>
            <a:off x="886968" y="3831336"/>
            <a:ext cx="2743200" cy="201168"/>
          </a:xfrm>
          <a:prstGeom prst="rect">
            <a:avLst/>
          </a:prstGeom>
          <a:noFill/>
          <a:ln/>
        </p:spPr>
        <p:txBody>
          <a:bodyPr wrap="square" lIns="0" tIns="0" rIns="0" bIns="0" rtlCol="0" anchor="ctr">
            <a:normAutofit/>
          </a:bodyPr>
          <a:lstStyle/>
          <a:p>
            <a:pPr marL="0" indent="0">
              <a:buNone/>
            </a:pPr>
            <a:r>
              <a:rPr lang="fr-CH" sz="1050" b="1" noProof="0" dirty="0">
                <a:solidFill>
                  <a:srgbClr val="001A8D"/>
                </a:solidFill>
              </a:rPr>
              <a:t>Institutions détentrices de données</a:t>
            </a:r>
            <a:endParaRPr lang="fr-CH" sz="1050" noProof="0" dirty="0"/>
          </a:p>
        </p:txBody>
      </p:sp>
      <p:sp>
        <p:nvSpPr>
          <p:cNvPr id="20" name="Text 17">
            <a:extLst>
              <a:ext uri="{FF2B5EF4-FFF2-40B4-BE49-F238E27FC236}">
                <a16:creationId xmlns:a16="http://schemas.microsoft.com/office/drawing/2014/main" id="{32FC666A-00A8-1565-80A5-2DCF5EC3A30B}"/>
              </a:ext>
            </a:extLst>
          </p:cNvPr>
          <p:cNvSpPr/>
          <p:nvPr/>
        </p:nvSpPr>
        <p:spPr>
          <a:xfrm>
            <a:off x="4023360" y="3831336"/>
            <a:ext cx="7132320" cy="201168"/>
          </a:xfrm>
          <a:prstGeom prst="rect">
            <a:avLst/>
          </a:prstGeom>
          <a:noFill/>
          <a:ln/>
        </p:spPr>
        <p:txBody>
          <a:bodyPr wrap="square" lIns="0" tIns="0" rIns="0" bIns="0" rtlCol="0" anchor="ctr">
            <a:normAutofit/>
          </a:bodyPr>
          <a:lstStyle/>
          <a:p>
            <a:pPr marL="0" indent="0">
              <a:buNone/>
            </a:pPr>
            <a:r>
              <a:rPr lang="fr-CH" sz="1050" noProof="0" dirty="0">
                <a:solidFill>
                  <a:srgbClr val="1E1E1E"/>
                </a:solidFill>
              </a:rPr>
              <a:t>Fourniture, clarification et validation des données</a:t>
            </a:r>
            <a:endParaRPr lang="fr-CH" sz="1050" noProof="0" dirty="0"/>
          </a:p>
        </p:txBody>
      </p:sp>
      <p:sp>
        <p:nvSpPr>
          <p:cNvPr id="21" name="Shape 18">
            <a:extLst>
              <a:ext uri="{FF2B5EF4-FFF2-40B4-BE49-F238E27FC236}">
                <a16:creationId xmlns:a16="http://schemas.microsoft.com/office/drawing/2014/main" id="{FF86F6C2-7CD2-3AC6-85A7-67108BED2443}"/>
              </a:ext>
            </a:extLst>
          </p:cNvPr>
          <p:cNvSpPr/>
          <p:nvPr/>
        </p:nvSpPr>
        <p:spPr>
          <a:xfrm>
            <a:off x="685800" y="4297680"/>
            <a:ext cx="10789920" cy="676656"/>
          </a:xfrm>
          <a:prstGeom prst="rect">
            <a:avLst/>
          </a:prstGeom>
          <a:solidFill>
            <a:srgbClr val="FFFFFF"/>
          </a:solidFill>
          <a:ln w="7620">
            <a:solidFill>
              <a:srgbClr val="CBD5E1"/>
            </a:solidFill>
            <a:prstDash val="solid"/>
          </a:ln>
        </p:spPr>
        <p:txBody>
          <a:bodyPr/>
          <a:lstStyle/>
          <a:p>
            <a:endParaRPr lang="fr-CH" noProof="0" dirty="0"/>
          </a:p>
        </p:txBody>
      </p:sp>
      <p:sp>
        <p:nvSpPr>
          <p:cNvPr id="22" name="Text 19">
            <a:extLst>
              <a:ext uri="{FF2B5EF4-FFF2-40B4-BE49-F238E27FC236}">
                <a16:creationId xmlns:a16="http://schemas.microsoft.com/office/drawing/2014/main" id="{6370460D-58B1-BFBB-1EE1-111EF42D5C44}"/>
              </a:ext>
            </a:extLst>
          </p:cNvPr>
          <p:cNvSpPr/>
          <p:nvPr/>
        </p:nvSpPr>
        <p:spPr>
          <a:xfrm>
            <a:off x="886968" y="4507992"/>
            <a:ext cx="2743200" cy="201168"/>
          </a:xfrm>
          <a:prstGeom prst="rect">
            <a:avLst/>
          </a:prstGeom>
          <a:noFill/>
          <a:ln/>
        </p:spPr>
        <p:txBody>
          <a:bodyPr wrap="square" lIns="0" tIns="0" rIns="0" bIns="0" rtlCol="0" anchor="ctr">
            <a:normAutofit/>
          </a:bodyPr>
          <a:lstStyle/>
          <a:p>
            <a:pPr marL="0" indent="0">
              <a:buNone/>
            </a:pPr>
            <a:r>
              <a:rPr lang="fr-CH" sz="1050" b="1" noProof="0" dirty="0">
                <a:solidFill>
                  <a:srgbClr val="001A8D"/>
                </a:solidFill>
              </a:rPr>
              <a:t>OIT</a:t>
            </a:r>
            <a:endParaRPr lang="fr-CH" sz="1050" noProof="0" dirty="0"/>
          </a:p>
        </p:txBody>
      </p:sp>
      <p:sp>
        <p:nvSpPr>
          <p:cNvPr id="23" name="Text 20">
            <a:extLst>
              <a:ext uri="{FF2B5EF4-FFF2-40B4-BE49-F238E27FC236}">
                <a16:creationId xmlns:a16="http://schemas.microsoft.com/office/drawing/2014/main" id="{DF13BDDD-40A9-3438-03C3-3AF30920DF5B}"/>
              </a:ext>
            </a:extLst>
          </p:cNvPr>
          <p:cNvSpPr/>
          <p:nvPr/>
        </p:nvSpPr>
        <p:spPr>
          <a:xfrm>
            <a:off x="4023360" y="4507992"/>
            <a:ext cx="7132320" cy="201168"/>
          </a:xfrm>
          <a:prstGeom prst="rect">
            <a:avLst/>
          </a:prstGeom>
          <a:noFill/>
          <a:ln/>
        </p:spPr>
        <p:txBody>
          <a:bodyPr wrap="square" lIns="0" tIns="0" rIns="0" bIns="0" rtlCol="0" anchor="ctr">
            <a:normAutofit/>
          </a:bodyPr>
          <a:lstStyle/>
          <a:p>
            <a:pPr marL="0" indent="0">
              <a:buNone/>
            </a:pPr>
            <a:r>
              <a:rPr lang="fr-CH" sz="1050" noProof="0" dirty="0">
                <a:solidFill>
                  <a:srgbClr val="1E1E1E"/>
                </a:solidFill>
              </a:rPr>
              <a:t>Appui méthodologique, présentation et fourniture des outils ESS/QPSS/EC Calc, </a:t>
            </a:r>
            <a:endParaRPr lang="fr-CH" sz="1050" noProof="0" dirty="0"/>
          </a:p>
        </p:txBody>
      </p:sp>
      <p:sp>
        <p:nvSpPr>
          <p:cNvPr id="24" name="Shape 21">
            <a:extLst>
              <a:ext uri="{FF2B5EF4-FFF2-40B4-BE49-F238E27FC236}">
                <a16:creationId xmlns:a16="http://schemas.microsoft.com/office/drawing/2014/main" id="{D9157C86-D9EA-5581-CF8A-7DE9929671C9}"/>
              </a:ext>
            </a:extLst>
          </p:cNvPr>
          <p:cNvSpPr/>
          <p:nvPr/>
        </p:nvSpPr>
        <p:spPr>
          <a:xfrm>
            <a:off x="685800" y="4974336"/>
            <a:ext cx="10789920" cy="676656"/>
          </a:xfrm>
          <a:prstGeom prst="rect">
            <a:avLst/>
          </a:prstGeom>
          <a:solidFill>
            <a:srgbClr val="F6F8FC"/>
          </a:solidFill>
          <a:ln w="7620">
            <a:solidFill>
              <a:srgbClr val="CBD5E1"/>
            </a:solidFill>
            <a:prstDash val="solid"/>
          </a:ln>
        </p:spPr>
        <p:txBody>
          <a:bodyPr/>
          <a:lstStyle/>
          <a:p>
            <a:endParaRPr lang="fr-CH" noProof="0" dirty="0"/>
          </a:p>
        </p:txBody>
      </p:sp>
      <p:sp>
        <p:nvSpPr>
          <p:cNvPr id="25" name="Text 22">
            <a:extLst>
              <a:ext uri="{FF2B5EF4-FFF2-40B4-BE49-F238E27FC236}">
                <a16:creationId xmlns:a16="http://schemas.microsoft.com/office/drawing/2014/main" id="{42DE2B39-AAF9-810E-0CFB-79D87FC43B4A}"/>
              </a:ext>
            </a:extLst>
          </p:cNvPr>
          <p:cNvSpPr/>
          <p:nvPr/>
        </p:nvSpPr>
        <p:spPr>
          <a:xfrm>
            <a:off x="886968" y="5184648"/>
            <a:ext cx="2743200" cy="201168"/>
          </a:xfrm>
          <a:prstGeom prst="rect">
            <a:avLst/>
          </a:prstGeom>
          <a:noFill/>
          <a:ln/>
        </p:spPr>
        <p:txBody>
          <a:bodyPr wrap="square" lIns="0" tIns="0" rIns="0" bIns="0" rtlCol="0" anchor="ctr">
            <a:normAutofit/>
          </a:bodyPr>
          <a:lstStyle/>
          <a:p>
            <a:pPr marL="0" indent="0">
              <a:buNone/>
            </a:pPr>
            <a:r>
              <a:rPr lang="fr-CH" sz="1050" b="1" noProof="0" dirty="0">
                <a:solidFill>
                  <a:srgbClr val="001A8D"/>
                </a:solidFill>
              </a:rPr>
              <a:t>Partenaires et programmes</a:t>
            </a:r>
            <a:endParaRPr lang="fr-CH" sz="1050" noProof="0" dirty="0"/>
          </a:p>
        </p:txBody>
      </p:sp>
      <p:sp>
        <p:nvSpPr>
          <p:cNvPr id="26" name="Text 23">
            <a:extLst>
              <a:ext uri="{FF2B5EF4-FFF2-40B4-BE49-F238E27FC236}">
                <a16:creationId xmlns:a16="http://schemas.microsoft.com/office/drawing/2014/main" id="{774CBD82-1230-6F81-083A-E884CAD555B3}"/>
              </a:ext>
            </a:extLst>
          </p:cNvPr>
          <p:cNvSpPr/>
          <p:nvPr/>
        </p:nvSpPr>
        <p:spPr>
          <a:xfrm>
            <a:off x="4023360" y="5184648"/>
            <a:ext cx="7132320" cy="201168"/>
          </a:xfrm>
          <a:prstGeom prst="rect">
            <a:avLst/>
          </a:prstGeom>
          <a:noFill/>
          <a:ln/>
        </p:spPr>
        <p:txBody>
          <a:bodyPr wrap="square" lIns="0" tIns="0" rIns="0" bIns="0" rtlCol="0" anchor="ctr">
            <a:normAutofit/>
          </a:bodyPr>
          <a:lstStyle/>
          <a:p>
            <a:pPr marL="0" indent="0">
              <a:buNone/>
            </a:pPr>
            <a:r>
              <a:rPr lang="fr-CH" sz="1050" noProof="0" dirty="0">
                <a:solidFill>
                  <a:srgbClr val="1E1E1E"/>
                </a:solidFill>
              </a:rPr>
              <a:t>Données complémentaires, notamment des régimes et programmes non contributifs</a:t>
            </a:r>
            <a:endParaRPr lang="fr-CH" sz="1050" noProof="0" dirty="0"/>
          </a:p>
        </p:txBody>
      </p:sp>
      <p:pic>
        <p:nvPicPr>
          <p:cNvPr id="27" name="Image 0" descr="/mnt/data/ref_unzip/ppt/media/image1.png">
            <a:extLst>
              <a:ext uri="{FF2B5EF4-FFF2-40B4-BE49-F238E27FC236}">
                <a16:creationId xmlns:a16="http://schemas.microsoft.com/office/drawing/2014/main" id="{F0210CED-D71B-B281-AEAF-4E56D19B846A}"/>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2417155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E0E0F-D275-2C61-391A-33D3DA0EE4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7CD913B-CA61-42F2-8842-E5F5680D2BA2}"/>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928B4E0E-C717-06C3-D9DA-100D0B6BDE45}"/>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CARTOGRAPHIE DU SYSTÈME : BASE DE DISCUSSION</a:t>
            </a:r>
            <a:endParaRPr lang="fr-CH" sz="2200" noProof="0" dirty="0"/>
          </a:p>
        </p:txBody>
      </p:sp>
      <p:sp>
        <p:nvSpPr>
          <p:cNvPr id="5" name="Text 2">
            <a:extLst>
              <a:ext uri="{FF2B5EF4-FFF2-40B4-BE49-F238E27FC236}">
                <a16:creationId xmlns:a16="http://schemas.microsoft.com/office/drawing/2014/main" id="{9C8D1B5F-D990-98A1-F77A-DD0CBFCAC167}"/>
              </a:ext>
            </a:extLst>
          </p:cNvPr>
          <p:cNvSpPr/>
          <p:nvPr/>
        </p:nvSpPr>
        <p:spPr>
          <a:xfrm>
            <a:off x="594360" y="1517904"/>
            <a:ext cx="10515600" cy="320040"/>
          </a:xfrm>
          <a:prstGeom prst="rect">
            <a:avLst/>
          </a:prstGeom>
          <a:noFill/>
          <a:ln/>
        </p:spPr>
        <p:txBody>
          <a:bodyPr wrap="square" lIns="0" tIns="0" rIns="0" bIns="0" rtlCol="0" anchor="ctr"/>
          <a:lstStyle/>
          <a:p>
            <a:pPr marL="0" indent="0">
              <a:buNone/>
            </a:pPr>
            <a:r>
              <a:rPr lang="fr-CH" sz="1050" noProof="0" dirty="0">
                <a:solidFill>
                  <a:srgbClr val="4B5563"/>
                </a:solidFill>
                <a:latin typeface="Arial" pitchFamily="34" charset="0"/>
                <a:ea typeface="Arial" pitchFamily="34" charset="-122"/>
                <a:cs typeface="Arial" pitchFamily="34" charset="-120"/>
              </a:rPr>
              <a:t>Cartographie issue du 1er Bulletin</a:t>
            </a:r>
            <a:endParaRPr lang="fr-CH" sz="1050" noProof="0" dirty="0"/>
          </a:p>
        </p:txBody>
      </p:sp>
      <p:sp>
        <p:nvSpPr>
          <p:cNvPr id="6" name="Shape 3">
            <a:extLst>
              <a:ext uri="{FF2B5EF4-FFF2-40B4-BE49-F238E27FC236}">
                <a16:creationId xmlns:a16="http://schemas.microsoft.com/office/drawing/2014/main" id="{174DA4BA-6FE7-C8AE-A503-A354273E9A30}"/>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7" name="Text 4">
            <a:extLst>
              <a:ext uri="{FF2B5EF4-FFF2-40B4-BE49-F238E27FC236}">
                <a16:creationId xmlns:a16="http://schemas.microsoft.com/office/drawing/2014/main" id="{5FB32134-099C-3738-7607-66A664A3B1D8}"/>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8" name="Text 5">
            <a:extLst>
              <a:ext uri="{FF2B5EF4-FFF2-40B4-BE49-F238E27FC236}">
                <a16:creationId xmlns:a16="http://schemas.microsoft.com/office/drawing/2014/main" id="{8D76E487-F732-C306-2C25-83017D0EE822}"/>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9" name="Text 6">
            <a:extLst>
              <a:ext uri="{FF2B5EF4-FFF2-40B4-BE49-F238E27FC236}">
                <a16:creationId xmlns:a16="http://schemas.microsoft.com/office/drawing/2014/main" id="{74E972A1-5B88-AAEC-0B1E-5AC4CF0376C6}"/>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9</a:t>
            </a:r>
            <a:endParaRPr lang="fr-CH" sz="750" noProof="0" dirty="0"/>
          </a:p>
        </p:txBody>
      </p:sp>
      <p:sp>
        <p:nvSpPr>
          <p:cNvPr id="10" name="Shape 7">
            <a:extLst>
              <a:ext uri="{FF2B5EF4-FFF2-40B4-BE49-F238E27FC236}">
                <a16:creationId xmlns:a16="http://schemas.microsoft.com/office/drawing/2014/main" id="{2F2C3D82-A2CB-F6A5-9032-6BE478C9D2D8}"/>
              </a:ext>
            </a:extLst>
          </p:cNvPr>
          <p:cNvSpPr/>
          <p:nvPr/>
        </p:nvSpPr>
        <p:spPr>
          <a:xfrm>
            <a:off x="685800" y="1874520"/>
            <a:ext cx="4846320" cy="4434840"/>
          </a:xfrm>
          <a:prstGeom prst="rect">
            <a:avLst/>
          </a:prstGeom>
          <a:solidFill>
            <a:srgbClr val="FFFFFF"/>
          </a:solidFill>
          <a:ln w="10160">
            <a:solidFill>
              <a:srgbClr val="CBD5E1"/>
            </a:solidFill>
            <a:prstDash val="solid"/>
          </a:ln>
        </p:spPr>
        <p:txBody>
          <a:bodyPr/>
          <a:lstStyle/>
          <a:p>
            <a:endParaRPr lang="fr-CH" noProof="0" dirty="0"/>
          </a:p>
        </p:txBody>
      </p:sp>
      <p:pic>
        <p:nvPicPr>
          <p:cNvPr id="11" name="Image 1" descr="/mnt/data/f3658a1e-e065-48d5-bef9-459292df55eb.png">
            <a:extLst>
              <a:ext uri="{FF2B5EF4-FFF2-40B4-BE49-F238E27FC236}">
                <a16:creationId xmlns:a16="http://schemas.microsoft.com/office/drawing/2014/main" id="{F4B37A09-7717-8B0E-0C01-AF41D1F4145D}"/>
              </a:ext>
            </a:extLst>
          </p:cNvPr>
          <p:cNvPicPr>
            <a:picLocks noChangeAspect="1"/>
          </p:cNvPicPr>
          <p:nvPr/>
        </p:nvPicPr>
        <p:blipFill>
          <a:blip r:embed="rId4"/>
          <a:stretch>
            <a:fillRect/>
          </a:stretch>
        </p:blipFill>
        <p:spPr>
          <a:xfrm>
            <a:off x="850392" y="1993392"/>
            <a:ext cx="4526280" cy="4206240"/>
          </a:xfrm>
          <a:prstGeom prst="rect">
            <a:avLst/>
          </a:prstGeom>
        </p:spPr>
      </p:pic>
      <p:sp>
        <p:nvSpPr>
          <p:cNvPr id="12" name="Text 8">
            <a:extLst>
              <a:ext uri="{FF2B5EF4-FFF2-40B4-BE49-F238E27FC236}">
                <a16:creationId xmlns:a16="http://schemas.microsoft.com/office/drawing/2014/main" id="{6DE54A4C-1D72-DDF4-6EB0-7F2384687140}"/>
              </a:ext>
            </a:extLst>
          </p:cNvPr>
          <p:cNvSpPr/>
          <p:nvPr/>
        </p:nvSpPr>
        <p:spPr>
          <a:xfrm>
            <a:off x="5897879" y="1883664"/>
            <a:ext cx="5298855" cy="320040"/>
          </a:xfrm>
          <a:prstGeom prst="rect">
            <a:avLst/>
          </a:prstGeom>
          <a:noFill/>
          <a:ln/>
        </p:spPr>
        <p:txBody>
          <a:bodyPr wrap="square" lIns="0" tIns="0" rIns="0" bIns="0" rtlCol="0" anchor="ctr"/>
          <a:lstStyle/>
          <a:p>
            <a:pPr marL="0" indent="0">
              <a:buNone/>
            </a:pPr>
            <a:r>
              <a:rPr lang="fr-CH" sz="1500" b="1" noProof="0" dirty="0">
                <a:solidFill>
                  <a:srgbClr val="001A8D"/>
                </a:solidFill>
              </a:rPr>
              <a:t>Points à examiner, indépendamment de la disponibilité des données</a:t>
            </a:r>
            <a:endParaRPr lang="fr-CH" sz="1500" noProof="0" dirty="0"/>
          </a:p>
        </p:txBody>
      </p:sp>
      <p:sp>
        <p:nvSpPr>
          <p:cNvPr id="14" name="Text 10">
            <a:extLst>
              <a:ext uri="{FF2B5EF4-FFF2-40B4-BE49-F238E27FC236}">
                <a16:creationId xmlns:a16="http://schemas.microsoft.com/office/drawing/2014/main" id="{EA682C80-A0E4-4EF3-B366-F5AA68027BC4}"/>
              </a:ext>
            </a:extLst>
          </p:cNvPr>
          <p:cNvSpPr/>
          <p:nvPr/>
        </p:nvSpPr>
        <p:spPr>
          <a:xfrm>
            <a:off x="6245352" y="2423159"/>
            <a:ext cx="5120640" cy="2990089"/>
          </a:xfrm>
          <a:prstGeom prst="rect">
            <a:avLst/>
          </a:prstGeom>
          <a:noFill/>
          <a:ln/>
        </p:spPr>
        <p:txBody>
          <a:bodyPr wrap="square" lIns="0" tIns="0" rIns="0" bIns="0" rtlCol="0" anchor="ctr">
            <a:normAutofit/>
          </a:bodyPr>
          <a:lstStyle/>
          <a:p>
            <a:pPr marL="857250" indent="-857250">
              <a:lnSpc>
                <a:spcPct val="190000"/>
              </a:lnSpc>
              <a:buClr>
                <a:srgbClr val="1E2DBE"/>
              </a:buClr>
              <a:buSzPct val="200000"/>
              <a:buFont typeface="Wingdings" panose="05000000000000000000" pitchFamily="2" charset="2"/>
              <a:buChar char="§"/>
            </a:pPr>
            <a:r>
              <a:rPr lang="fr-CH" sz="1700" dirty="0">
                <a:solidFill>
                  <a:srgbClr val="1E1E1E"/>
                </a:solidFill>
                <a:latin typeface="+mj-lt"/>
                <a:cs typeface="Arial" pitchFamily="34" charset="-120"/>
              </a:rPr>
              <a:t>Complétude des régimes (contributifs ; spéciaux ; non contributifs , programmes d’assistance)</a:t>
            </a:r>
          </a:p>
          <a:p>
            <a:pPr marL="857250" indent="-857250">
              <a:lnSpc>
                <a:spcPct val="190000"/>
              </a:lnSpc>
              <a:buClr>
                <a:srgbClr val="1E2DBE"/>
              </a:buClr>
              <a:buSzPct val="200000"/>
              <a:buFont typeface="Wingdings" panose="05000000000000000000" pitchFamily="2" charset="2"/>
              <a:buChar char="§"/>
            </a:pPr>
            <a:r>
              <a:rPr lang="fr-CH" sz="1700" dirty="0">
                <a:solidFill>
                  <a:srgbClr val="1E1E1E"/>
                </a:solidFill>
                <a:latin typeface="+mj-lt"/>
                <a:cs typeface="Arial" pitchFamily="34" charset="-120"/>
              </a:rPr>
              <a:t>Dispositifs de santé et CSU ;</a:t>
            </a:r>
          </a:p>
          <a:p>
            <a:pPr marL="857250" indent="-857250">
              <a:lnSpc>
                <a:spcPct val="190000"/>
              </a:lnSpc>
              <a:buClr>
                <a:srgbClr val="1E2DBE"/>
              </a:buClr>
              <a:buSzPct val="200000"/>
              <a:buFont typeface="Wingdings" panose="05000000000000000000" pitchFamily="2" charset="2"/>
              <a:buChar char="§"/>
            </a:pPr>
            <a:r>
              <a:rPr lang="fr-CH" sz="1700" dirty="0">
                <a:solidFill>
                  <a:srgbClr val="1E1E1E"/>
                </a:solidFill>
                <a:latin typeface="+mj-lt"/>
                <a:cs typeface="Arial" pitchFamily="34" charset="-120"/>
              </a:rPr>
              <a:t>Populations couvertes et prestations ;</a:t>
            </a:r>
          </a:p>
          <a:p>
            <a:pPr marL="857250" indent="-857250">
              <a:lnSpc>
                <a:spcPct val="190000"/>
              </a:lnSpc>
              <a:buClr>
                <a:srgbClr val="1E2DBE"/>
              </a:buClr>
              <a:buSzPct val="200000"/>
              <a:buFont typeface="Wingdings" panose="05000000000000000000" pitchFamily="2" charset="2"/>
              <a:buChar char="§"/>
            </a:pPr>
            <a:r>
              <a:rPr lang="fr-CH" sz="1700" dirty="0">
                <a:solidFill>
                  <a:srgbClr val="1E1E1E"/>
                </a:solidFill>
                <a:cs typeface="Arial" pitchFamily="34" charset="-120"/>
              </a:rPr>
              <a:t>Autorités et ministères de tutelle</a:t>
            </a:r>
            <a:endParaRPr lang="fr-CH" sz="1270" noProof="0" dirty="0"/>
          </a:p>
        </p:txBody>
      </p:sp>
      <p:sp>
        <p:nvSpPr>
          <p:cNvPr id="16" name="Text 12">
            <a:extLst>
              <a:ext uri="{FF2B5EF4-FFF2-40B4-BE49-F238E27FC236}">
                <a16:creationId xmlns:a16="http://schemas.microsoft.com/office/drawing/2014/main" id="{39156247-1DF7-34FB-89C2-55F34AD7250B}"/>
              </a:ext>
            </a:extLst>
          </p:cNvPr>
          <p:cNvSpPr/>
          <p:nvPr/>
        </p:nvSpPr>
        <p:spPr>
          <a:xfrm>
            <a:off x="6245352" y="2916936"/>
            <a:ext cx="5120640" cy="493776"/>
          </a:xfrm>
          <a:prstGeom prst="rect">
            <a:avLst/>
          </a:prstGeom>
          <a:noFill/>
          <a:ln/>
        </p:spPr>
        <p:txBody>
          <a:bodyPr wrap="square" lIns="0" tIns="0" rIns="0" bIns="0" rtlCol="0" anchor="ctr">
            <a:normAutofit/>
          </a:bodyPr>
          <a:lstStyle/>
          <a:p>
            <a:pPr marL="0" indent="0">
              <a:buNone/>
            </a:pPr>
            <a:r>
              <a:rPr lang="fr-CH" sz="1270" noProof="0" dirty="0">
                <a:solidFill>
                  <a:srgbClr val="1E1E1E"/>
                </a:solidFill>
                <a:latin typeface="Arial" pitchFamily="34" charset="0"/>
                <a:ea typeface="Arial" pitchFamily="34" charset="-122"/>
                <a:cs typeface="Arial" pitchFamily="34" charset="-120"/>
              </a:rPr>
              <a:t>;</a:t>
            </a:r>
            <a:endParaRPr lang="fr-CH" sz="1270" noProof="0" dirty="0"/>
          </a:p>
        </p:txBody>
      </p:sp>
      <p:sp>
        <p:nvSpPr>
          <p:cNvPr id="18" name="Text 14">
            <a:extLst>
              <a:ext uri="{FF2B5EF4-FFF2-40B4-BE49-F238E27FC236}">
                <a16:creationId xmlns:a16="http://schemas.microsoft.com/office/drawing/2014/main" id="{0F0AFEE5-EC87-FA26-3CFA-36AFFBA6186F}"/>
              </a:ext>
            </a:extLst>
          </p:cNvPr>
          <p:cNvSpPr/>
          <p:nvPr/>
        </p:nvSpPr>
        <p:spPr>
          <a:xfrm>
            <a:off x="6245352" y="3410712"/>
            <a:ext cx="5120640" cy="493776"/>
          </a:xfrm>
          <a:prstGeom prst="rect">
            <a:avLst/>
          </a:prstGeom>
          <a:noFill/>
          <a:ln/>
        </p:spPr>
        <p:txBody>
          <a:bodyPr wrap="square" lIns="0" tIns="0" rIns="0" bIns="0" rtlCol="0" anchor="ctr">
            <a:normAutofit/>
          </a:bodyPr>
          <a:lstStyle/>
          <a:p>
            <a:pPr marL="0" indent="0">
              <a:buNone/>
            </a:pPr>
            <a:endParaRPr lang="fr-CH" sz="1270" noProof="0" dirty="0"/>
          </a:p>
        </p:txBody>
      </p:sp>
      <p:sp>
        <p:nvSpPr>
          <p:cNvPr id="20" name="Text 16">
            <a:extLst>
              <a:ext uri="{FF2B5EF4-FFF2-40B4-BE49-F238E27FC236}">
                <a16:creationId xmlns:a16="http://schemas.microsoft.com/office/drawing/2014/main" id="{10EAFF9C-1383-28E5-31A5-C30A5C691005}"/>
              </a:ext>
            </a:extLst>
          </p:cNvPr>
          <p:cNvSpPr/>
          <p:nvPr/>
        </p:nvSpPr>
        <p:spPr>
          <a:xfrm>
            <a:off x="6245352" y="3904488"/>
            <a:ext cx="5120640" cy="493776"/>
          </a:xfrm>
          <a:prstGeom prst="rect">
            <a:avLst/>
          </a:prstGeom>
          <a:noFill/>
          <a:ln/>
        </p:spPr>
        <p:txBody>
          <a:bodyPr wrap="square" lIns="0" tIns="0" rIns="0" bIns="0" rtlCol="0" anchor="ctr">
            <a:normAutofit/>
          </a:bodyPr>
          <a:lstStyle/>
          <a:p>
            <a:pPr marL="0" indent="0">
              <a:buNone/>
            </a:pPr>
            <a:endParaRPr lang="fr-CH" sz="1270" noProof="0" dirty="0"/>
          </a:p>
        </p:txBody>
      </p:sp>
      <p:sp>
        <p:nvSpPr>
          <p:cNvPr id="22" name="Text 18">
            <a:extLst>
              <a:ext uri="{FF2B5EF4-FFF2-40B4-BE49-F238E27FC236}">
                <a16:creationId xmlns:a16="http://schemas.microsoft.com/office/drawing/2014/main" id="{75E9678C-1295-F1B5-AE62-0DB42C74F773}"/>
              </a:ext>
            </a:extLst>
          </p:cNvPr>
          <p:cNvSpPr/>
          <p:nvPr/>
        </p:nvSpPr>
        <p:spPr>
          <a:xfrm>
            <a:off x="6245352" y="4398264"/>
            <a:ext cx="5120640" cy="493776"/>
          </a:xfrm>
          <a:prstGeom prst="rect">
            <a:avLst/>
          </a:prstGeom>
          <a:noFill/>
          <a:ln/>
        </p:spPr>
        <p:txBody>
          <a:bodyPr wrap="square" lIns="0" tIns="0" rIns="0" bIns="0" rtlCol="0" anchor="ctr">
            <a:normAutofit/>
          </a:bodyPr>
          <a:lstStyle/>
          <a:p>
            <a:pPr marL="0" indent="0">
              <a:buNone/>
            </a:pPr>
            <a:endParaRPr lang="fr-CH" sz="1270" noProof="0" dirty="0"/>
          </a:p>
        </p:txBody>
      </p:sp>
      <p:sp>
        <p:nvSpPr>
          <p:cNvPr id="24" name="Text 20">
            <a:extLst>
              <a:ext uri="{FF2B5EF4-FFF2-40B4-BE49-F238E27FC236}">
                <a16:creationId xmlns:a16="http://schemas.microsoft.com/office/drawing/2014/main" id="{14C1CC7A-DF9F-C30D-27B5-DFB2AE9D5C8E}"/>
              </a:ext>
            </a:extLst>
          </p:cNvPr>
          <p:cNvSpPr/>
          <p:nvPr/>
        </p:nvSpPr>
        <p:spPr>
          <a:xfrm>
            <a:off x="6245352" y="4892040"/>
            <a:ext cx="5120640" cy="493776"/>
          </a:xfrm>
          <a:prstGeom prst="rect">
            <a:avLst/>
          </a:prstGeom>
          <a:noFill/>
          <a:ln/>
        </p:spPr>
        <p:txBody>
          <a:bodyPr wrap="square" lIns="0" tIns="0" rIns="0" bIns="0" rtlCol="0" anchor="ctr">
            <a:normAutofit/>
          </a:bodyPr>
          <a:lstStyle/>
          <a:p>
            <a:pPr marL="0" indent="0">
              <a:buNone/>
            </a:pPr>
            <a:endParaRPr lang="fr-CH" sz="1270" noProof="0" dirty="0"/>
          </a:p>
        </p:txBody>
      </p:sp>
      <p:sp>
        <p:nvSpPr>
          <p:cNvPr id="25" name="Shape 21">
            <a:extLst>
              <a:ext uri="{FF2B5EF4-FFF2-40B4-BE49-F238E27FC236}">
                <a16:creationId xmlns:a16="http://schemas.microsoft.com/office/drawing/2014/main" id="{3D186858-5838-2398-5EC4-353B985F84BB}"/>
              </a:ext>
            </a:extLst>
          </p:cNvPr>
          <p:cNvSpPr/>
          <p:nvPr/>
        </p:nvSpPr>
        <p:spPr>
          <a:xfrm>
            <a:off x="6245352" y="5486400"/>
            <a:ext cx="5166360" cy="621792"/>
          </a:xfrm>
          <a:prstGeom prst="roundRect">
            <a:avLst>
              <a:gd name="adj" fmla="val 8824"/>
            </a:avLst>
          </a:prstGeom>
          <a:solidFill>
            <a:srgbClr val="EAF0FF"/>
          </a:solidFill>
          <a:ln w="10160">
            <a:solidFill>
              <a:srgbClr val="DCE7FF"/>
            </a:solidFill>
            <a:prstDash val="solid"/>
          </a:ln>
        </p:spPr>
        <p:txBody>
          <a:bodyPr/>
          <a:lstStyle/>
          <a:p>
            <a:endParaRPr lang="fr-CH" noProof="0" dirty="0"/>
          </a:p>
        </p:txBody>
      </p:sp>
      <p:sp>
        <p:nvSpPr>
          <p:cNvPr id="26" name="Text 22">
            <a:extLst>
              <a:ext uri="{FF2B5EF4-FFF2-40B4-BE49-F238E27FC236}">
                <a16:creationId xmlns:a16="http://schemas.microsoft.com/office/drawing/2014/main" id="{9BC1DA14-0E5D-1834-C1B9-B2A5C62E476F}"/>
              </a:ext>
            </a:extLst>
          </p:cNvPr>
          <p:cNvSpPr/>
          <p:nvPr/>
        </p:nvSpPr>
        <p:spPr>
          <a:xfrm>
            <a:off x="6355080" y="5705856"/>
            <a:ext cx="4754880" cy="182880"/>
          </a:xfrm>
          <a:prstGeom prst="rect">
            <a:avLst/>
          </a:prstGeom>
          <a:noFill/>
          <a:ln/>
        </p:spPr>
        <p:txBody>
          <a:bodyPr wrap="square" lIns="0" tIns="0" rIns="0" bIns="0" rtlCol="0" anchor="ctr">
            <a:normAutofit/>
          </a:bodyPr>
          <a:lstStyle/>
          <a:p>
            <a:pPr marL="0" indent="0">
              <a:buNone/>
            </a:pPr>
            <a:r>
              <a:rPr lang="fr-CH" sz="970" b="1" noProof="0" dirty="0">
                <a:solidFill>
                  <a:srgbClr val="FF0000"/>
                </a:solidFill>
              </a:rPr>
              <a:t>Premier tour de table et échanges institutionnels.</a:t>
            </a:r>
            <a:endParaRPr lang="fr-CH" sz="970" noProof="0" dirty="0">
              <a:solidFill>
                <a:srgbClr val="FF0000"/>
              </a:solidFill>
            </a:endParaRPr>
          </a:p>
        </p:txBody>
      </p:sp>
      <p:pic>
        <p:nvPicPr>
          <p:cNvPr id="13" name="Image 0" descr="/mnt/data/ref_unzip/ppt/media/image1.png">
            <a:extLst>
              <a:ext uri="{FF2B5EF4-FFF2-40B4-BE49-F238E27FC236}">
                <a16:creationId xmlns:a16="http://schemas.microsoft.com/office/drawing/2014/main" id="{794BE24C-B647-EC1C-EA8A-952809E82F76}"/>
              </a:ext>
            </a:extLst>
          </p:cNvPr>
          <p:cNvPicPr>
            <a:picLocks noChangeAspect="1"/>
          </p:cNvPicPr>
          <p:nvPr/>
        </p:nvPicPr>
        <p:blipFill>
          <a:blip r:embed="rId5"/>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3856598348"/>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6EE20-BDEF-480B-8B6D-41EB98141BF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4EA29E3-B144-C89D-30FB-72804786FF6C}"/>
              </a:ext>
            </a:extLst>
          </p:cNvPr>
          <p:cNvSpPr/>
          <p:nvPr/>
        </p:nvSpPr>
        <p:spPr>
          <a:xfrm>
            <a:off x="0" y="0"/>
            <a:ext cx="12191695" cy="6858000"/>
          </a:xfrm>
          <a:prstGeom prst="rect">
            <a:avLst/>
          </a:prstGeom>
          <a:solidFill>
            <a:srgbClr val="FFFFFF"/>
          </a:solidFill>
          <a:ln w="12700">
            <a:solidFill>
              <a:srgbClr val="FFFFFF"/>
            </a:solidFill>
            <a:prstDash val="solid"/>
          </a:ln>
        </p:spPr>
        <p:txBody>
          <a:bodyPr/>
          <a:lstStyle/>
          <a:p>
            <a:endParaRPr lang="fr-CH" noProof="0" dirty="0"/>
          </a:p>
        </p:txBody>
      </p:sp>
      <p:sp>
        <p:nvSpPr>
          <p:cNvPr id="3" name="Shape 1">
            <a:extLst>
              <a:ext uri="{FF2B5EF4-FFF2-40B4-BE49-F238E27FC236}">
                <a16:creationId xmlns:a16="http://schemas.microsoft.com/office/drawing/2014/main" id="{25D4B03B-ECB8-0F7C-C7B8-38E95393759C}"/>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5" name="Shape 2">
            <a:extLst>
              <a:ext uri="{FF2B5EF4-FFF2-40B4-BE49-F238E27FC236}">
                <a16:creationId xmlns:a16="http://schemas.microsoft.com/office/drawing/2014/main" id="{8DE7154B-E01F-AC32-B6E3-7B7633F21FD9}"/>
              </a:ext>
            </a:extLst>
          </p:cNvPr>
          <p:cNvSpPr/>
          <p:nvPr/>
        </p:nvSpPr>
        <p:spPr>
          <a:xfrm flipH="1">
            <a:off x="749807" y="1355650"/>
            <a:ext cx="164593" cy="640080"/>
          </a:xfrm>
          <a:prstGeom prst="rect">
            <a:avLst/>
          </a:prstGeom>
          <a:solidFill>
            <a:srgbClr val="001A8D"/>
          </a:solidFill>
          <a:ln w="12700">
            <a:solidFill>
              <a:srgbClr val="001A8D"/>
            </a:solidFill>
            <a:prstDash val="solid"/>
          </a:ln>
        </p:spPr>
        <p:txBody>
          <a:bodyPr/>
          <a:lstStyle/>
          <a:p>
            <a:endParaRPr lang="fr-CH" noProof="0" dirty="0"/>
          </a:p>
        </p:txBody>
      </p:sp>
      <p:sp>
        <p:nvSpPr>
          <p:cNvPr id="6" name="Text 3">
            <a:extLst>
              <a:ext uri="{FF2B5EF4-FFF2-40B4-BE49-F238E27FC236}">
                <a16:creationId xmlns:a16="http://schemas.microsoft.com/office/drawing/2014/main" id="{06A15F36-53B0-4D77-85CB-3B32F2D53D4D}"/>
              </a:ext>
            </a:extLst>
          </p:cNvPr>
          <p:cNvSpPr/>
          <p:nvPr/>
        </p:nvSpPr>
        <p:spPr>
          <a:xfrm>
            <a:off x="1188720" y="1213101"/>
            <a:ext cx="9966960" cy="640080"/>
          </a:xfrm>
          <a:prstGeom prst="rect">
            <a:avLst/>
          </a:prstGeom>
          <a:noFill/>
          <a:ln/>
        </p:spPr>
        <p:txBody>
          <a:bodyPr wrap="square" lIns="0" tIns="0" rIns="0" bIns="0" rtlCol="0" anchor="ctr">
            <a:normAutofit/>
          </a:bodyPr>
          <a:lstStyle/>
          <a:p>
            <a:pPr marL="0" indent="0">
              <a:buNone/>
            </a:pPr>
            <a:r>
              <a:rPr lang="fr-CH" sz="2500" b="1" noProof="0" dirty="0">
                <a:solidFill>
                  <a:srgbClr val="001A8D"/>
                </a:solidFill>
                <a:latin typeface="Arial" pitchFamily="34" charset="0"/>
                <a:ea typeface="Arial" pitchFamily="34" charset="-122"/>
                <a:cs typeface="Arial" pitchFamily="34" charset="-120"/>
              </a:rPr>
              <a:t>RETOUR SUR LE 1ER BULLETIN</a:t>
            </a:r>
            <a:endParaRPr lang="fr-CH" sz="2500" noProof="0" dirty="0"/>
          </a:p>
        </p:txBody>
      </p:sp>
      <p:sp>
        <p:nvSpPr>
          <p:cNvPr id="7" name="Text 4">
            <a:extLst>
              <a:ext uri="{FF2B5EF4-FFF2-40B4-BE49-F238E27FC236}">
                <a16:creationId xmlns:a16="http://schemas.microsoft.com/office/drawing/2014/main" id="{608C8C59-601B-30C1-3ECF-7C2E2823F26A}"/>
              </a:ext>
            </a:extLst>
          </p:cNvPr>
          <p:cNvSpPr/>
          <p:nvPr/>
        </p:nvSpPr>
        <p:spPr>
          <a:xfrm>
            <a:off x="1116314" y="2043827"/>
            <a:ext cx="9692640" cy="1065933"/>
          </a:xfrm>
          <a:prstGeom prst="rect">
            <a:avLst/>
          </a:prstGeom>
          <a:noFill/>
          <a:ln/>
        </p:spPr>
        <p:txBody>
          <a:bodyPr wrap="square" lIns="0" tIns="0" rIns="0" bIns="0" rtlCol="0" anchor="ctr"/>
          <a:lstStyle/>
          <a:p>
            <a:pPr marL="0" indent="0">
              <a:buNone/>
            </a:pPr>
            <a:r>
              <a:rPr lang="fr-CH" sz="2400" noProof="0" dirty="0">
                <a:solidFill>
                  <a:srgbClr val="FF0000"/>
                </a:solidFill>
                <a:latin typeface="Arial" pitchFamily="34" charset="0"/>
                <a:ea typeface="Arial" pitchFamily="34" charset="-122"/>
                <a:cs typeface="Arial" pitchFamily="34" charset="-120"/>
              </a:rPr>
              <a:t>Mme Josée Feza</a:t>
            </a:r>
            <a:r>
              <a:rPr lang="fr-CH" sz="2400" dirty="0">
                <a:solidFill>
                  <a:srgbClr val="FF0000"/>
                </a:solidFill>
                <a:latin typeface="Arial" pitchFamily="34" charset="0"/>
                <a:ea typeface="Arial" pitchFamily="34" charset="-122"/>
                <a:cs typeface="Arial" pitchFamily="34" charset="-120"/>
              </a:rPr>
              <a:t>, </a:t>
            </a:r>
          </a:p>
          <a:p>
            <a:pPr marL="0" indent="0">
              <a:buNone/>
            </a:pPr>
            <a:endParaRPr lang="fr-CH" sz="2400" dirty="0">
              <a:solidFill>
                <a:srgbClr val="FF0000"/>
              </a:solidFill>
              <a:latin typeface="Arial" pitchFamily="34" charset="0"/>
              <a:ea typeface="Arial" pitchFamily="34" charset="-122"/>
              <a:cs typeface="Arial" pitchFamily="34" charset="-120"/>
            </a:endParaRPr>
          </a:p>
          <a:p>
            <a:pPr marL="0" indent="0">
              <a:buNone/>
            </a:pPr>
            <a:r>
              <a:rPr lang="fr-CH" dirty="0">
                <a:latin typeface="Arial" pitchFamily="34" charset="0"/>
                <a:ea typeface="Arial" pitchFamily="34" charset="-122"/>
                <a:cs typeface="Arial" pitchFamily="34" charset="-120"/>
              </a:rPr>
              <a:t>Directrice étude et planification</a:t>
            </a:r>
          </a:p>
          <a:p>
            <a:pPr marL="0" indent="0">
              <a:buNone/>
            </a:pPr>
            <a:r>
              <a:rPr lang="fr-CH" dirty="0">
                <a:latin typeface="Arial" pitchFamily="34" charset="0"/>
                <a:ea typeface="Arial" pitchFamily="34" charset="-122"/>
                <a:cs typeface="Arial" pitchFamily="34" charset="-120"/>
              </a:rPr>
              <a:t>Ministère de la santé publique hygiène et prévoyance sociale </a:t>
            </a:r>
            <a:r>
              <a:rPr lang="fr-CH" noProof="0" dirty="0">
                <a:latin typeface="Arial" pitchFamily="34" charset="0"/>
                <a:ea typeface="Arial" pitchFamily="34" charset="-122"/>
                <a:cs typeface="Arial" pitchFamily="34" charset="-120"/>
              </a:rPr>
              <a:t> </a:t>
            </a:r>
          </a:p>
          <a:p>
            <a:pPr marL="0" indent="0">
              <a:buNone/>
            </a:pPr>
            <a:endParaRPr lang="fr-CH" sz="1300" dirty="0">
              <a:solidFill>
                <a:srgbClr val="1E1E1E"/>
              </a:solidFill>
              <a:latin typeface="Arial" pitchFamily="34" charset="0"/>
              <a:ea typeface="Arial" pitchFamily="34" charset="-122"/>
              <a:cs typeface="Arial" pitchFamily="34" charset="-120"/>
            </a:endParaRPr>
          </a:p>
        </p:txBody>
      </p:sp>
      <p:sp>
        <p:nvSpPr>
          <p:cNvPr id="8" name="Text 5">
            <a:extLst>
              <a:ext uri="{FF2B5EF4-FFF2-40B4-BE49-F238E27FC236}">
                <a16:creationId xmlns:a16="http://schemas.microsoft.com/office/drawing/2014/main" id="{2187E578-98DF-ECD2-C6CA-008CD387A663}"/>
              </a:ext>
            </a:extLst>
          </p:cNvPr>
          <p:cNvSpPr/>
          <p:nvPr/>
        </p:nvSpPr>
        <p:spPr>
          <a:xfrm>
            <a:off x="621792" y="6199632"/>
            <a:ext cx="6583680" cy="228600"/>
          </a:xfrm>
          <a:prstGeom prst="rect">
            <a:avLst/>
          </a:prstGeom>
          <a:noFill/>
          <a:ln/>
        </p:spPr>
        <p:txBody>
          <a:bodyPr wrap="square" lIns="0" tIns="0" rIns="0" bIns="0" rtlCol="0" anchor="ctr"/>
          <a:lstStyle/>
          <a:p>
            <a:pPr marL="0" indent="0">
              <a:buNone/>
            </a:pPr>
            <a:r>
              <a:rPr lang="fr-CH" sz="95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950" noProof="0" dirty="0"/>
          </a:p>
        </p:txBody>
      </p:sp>
      <p:sp>
        <p:nvSpPr>
          <p:cNvPr id="9" name="Text 6">
            <a:extLst>
              <a:ext uri="{FF2B5EF4-FFF2-40B4-BE49-F238E27FC236}">
                <a16:creationId xmlns:a16="http://schemas.microsoft.com/office/drawing/2014/main" id="{343C4406-AF81-7DCE-D335-F6102A334E8B}"/>
              </a:ext>
            </a:extLst>
          </p:cNvPr>
          <p:cNvSpPr/>
          <p:nvPr/>
        </p:nvSpPr>
        <p:spPr>
          <a:xfrm>
            <a:off x="11155680" y="6172200"/>
            <a:ext cx="457200" cy="228600"/>
          </a:xfrm>
          <a:prstGeom prst="rect">
            <a:avLst/>
          </a:prstGeom>
          <a:noFill/>
          <a:ln/>
        </p:spPr>
        <p:txBody>
          <a:bodyPr wrap="square" lIns="0" tIns="0" rIns="0" bIns="0" rtlCol="0" anchor="ctr"/>
          <a:lstStyle/>
          <a:p>
            <a:pPr marL="0" indent="0" algn="r">
              <a:buNone/>
            </a:pPr>
            <a:r>
              <a:rPr lang="fr-CH" sz="900" noProof="0" dirty="0">
                <a:solidFill>
                  <a:srgbClr val="4B5563"/>
                </a:solidFill>
                <a:latin typeface="Arial" pitchFamily="34" charset="0"/>
                <a:ea typeface="Arial" pitchFamily="34" charset="-122"/>
                <a:cs typeface="Arial" pitchFamily="34" charset="-120"/>
              </a:rPr>
              <a:t>10</a:t>
            </a:r>
            <a:endParaRPr lang="fr-CH" sz="900" noProof="0" dirty="0"/>
          </a:p>
        </p:txBody>
      </p:sp>
      <p:sp>
        <p:nvSpPr>
          <p:cNvPr id="10" name="TextBox 9">
            <a:extLst>
              <a:ext uri="{FF2B5EF4-FFF2-40B4-BE49-F238E27FC236}">
                <a16:creationId xmlns:a16="http://schemas.microsoft.com/office/drawing/2014/main" id="{663BF3B2-DA5B-0202-21F4-0E3EFB860EE1}"/>
              </a:ext>
            </a:extLst>
          </p:cNvPr>
          <p:cNvSpPr txBox="1"/>
          <p:nvPr/>
        </p:nvSpPr>
        <p:spPr>
          <a:xfrm>
            <a:off x="914400" y="3101548"/>
            <a:ext cx="5066522" cy="1592231"/>
          </a:xfrm>
          <a:prstGeom prst="rect">
            <a:avLst/>
          </a:prstGeom>
          <a:noFill/>
        </p:spPr>
        <p:txBody>
          <a:bodyPr wrap="square" rtlCol="0">
            <a:spAutoFit/>
          </a:bodyPr>
          <a:lstStyle/>
          <a:p>
            <a:pPr marL="857250" indent="-857250">
              <a:lnSpc>
                <a:spcPct val="190000"/>
              </a:lnSpc>
              <a:buClr>
                <a:srgbClr val="1E2DBE"/>
              </a:buClr>
              <a:buSzPct val="200000"/>
              <a:buFont typeface="Wingdings" panose="05000000000000000000" pitchFamily="2" charset="2"/>
              <a:buChar char="§"/>
            </a:pPr>
            <a:r>
              <a:rPr lang="fr-CH" dirty="0">
                <a:solidFill>
                  <a:srgbClr val="1E1E1E"/>
                </a:solidFill>
                <a:cs typeface="Arial" pitchFamily="34" charset="-120"/>
              </a:rPr>
              <a:t>Acquis et limites de la première édition</a:t>
            </a:r>
          </a:p>
          <a:p>
            <a:pPr marL="857250" indent="-857250">
              <a:lnSpc>
                <a:spcPct val="190000"/>
              </a:lnSpc>
              <a:buClr>
                <a:srgbClr val="1E2DBE"/>
              </a:buClr>
              <a:buSzPct val="200000"/>
              <a:buFont typeface="Wingdings" panose="05000000000000000000" pitchFamily="2" charset="2"/>
              <a:buChar char="§"/>
            </a:pPr>
            <a:r>
              <a:rPr lang="fr-CH" dirty="0">
                <a:solidFill>
                  <a:srgbClr val="1E1E1E"/>
                </a:solidFill>
                <a:cs typeface="Arial" pitchFamily="34" charset="-120"/>
              </a:rPr>
              <a:t>Taux de couverture </a:t>
            </a:r>
          </a:p>
          <a:p>
            <a:pPr marL="857250" indent="-857250">
              <a:lnSpc>
                <a:spcPct val="190000"/>
              </a:lnSpc>
              <a:buClr>
                <a:srgbClr val="1E2DBE"/>
              </a:buClr>
              <a:buSzPct val="200000"/>
              <a:buFont typeface="Wingdings" panose="05000000000000000000" pitchFamily="2" charset="2"/>
              <a:buChar char="§"/>
            </a:pPr>
            <a:r>
              <a:rPr lang="fr-CH" dirty="0">
                <a:solidFill>
                  <a:srgbClr val="1E1E1E"/>
                </a:solidFill>
                <a:cs typeface="Arial" pitchFamily="34" charset="-120"/>
              </a:rPr>
              <a:t>Enjeux pour la 2e édition</a:t>
            </a:r>
          </a:p>
        </p:txBody>
      </p:sp>
      <p:pic>
        <p:nvPicPr>
          <p:cNvPr id="11" name="Image 0" descr="/mnt/data/ref_unzip/ppt/media/image1.png">
            <a:extLst>
              <a:ext uri="{FF2B5EF4-FFF2-40B4-BE49-F238E27FC236}">
                <a16:creationId xmlns:a16="http://schemas.microsoft.com/office/drawing/2014/main" id="{964ECB54-2CC6-85F1-0A40-ADC96699429E}"/>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909286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56434-85D9-0FD9-F14E-C24EC959565C}"/>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15580976-3EB0-DD07-D6E6-20EB0E6730AF}"/>
              </a:ext>
            </a:extLst>
          </p:cNvPr>
          <p:cNvPicPr>
            <a:picLocks noChangeAspect="1"/>
          </p:cNvPicPr>
          <p:nvPr/>
        </p:nvPicPr>
        <p:blipFill>
          <a:blip r:embed="rId3"/>
          <a:stretch>
            <a:fillRect/>
          </a:stretch>
        </p:blipFill>
        <p:spPr>
          <a:xfrm>
            <a:off x="961054" y="621172"/>
            <a:ext cx="10577182" cy="5615656"/>
          </a:xfrm>
          <a:prstGeom prst="rect">
            <a:avLst/>
          </a:prstGeom>
        </p:spPr>
      </p:pic>
    </p:spTree>
    <p:extLst>
      <p:ext uri="{BB962C8B-B14F-4D97-AF65-F5344CB8AC3E}">
        <p14:creationId xmlns:p14="http://schemas.microsoft.com/office/powerpoint/2010/main" val="8426249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DD6C8-DD79-EC19-5CB6-BCC9EFF3871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1860766-132E-CEE4-A351-D3501EA00359}"/>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B255E707-E0A0-E048-263A-DA069FAC381E}"/>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MESSAGE CENTRAL</a:t>
            </a:r>
            <a:endParaRPr lang="fr-CH" sz="2200" noProof="0" dirty="0"/>
          </a:p>
        </p:txBody>
      </p:sp>
      <p:sp>
        <p:nvSpPr>
          <p:cNvPr id="5" name="Shape 2">
            <a:extLst>
              <a:ext uri="{FF2B5EF4-FFF2-40B4-BE49-F238E27FC236}">
                <a16:creationId xmlns:a16="http://schemas.microsoft.com/office/drawing/2014/main" id="{F34E2611-E9CB-09AD-5ED6-6EC6EC250A66}"/>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6" name="Text 3">
            <a:extLst>
              <a:ext uri="{FF2B5EF4-FFF2-40B4-BE49-F238E27FC236}">
                <a16:creationId xmlns:a16="http://schemas.microsoft.com/office/drawing/2014/main" id="{8036DFE9-E581-2A26-0B00-ED050DB9B3D4}"/>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7" name="Text 4">
            <a:extLst>
              <a:ext uri="{FF2B5EF4-FFF2-40B4-BE49-F238E27FC236}">
                <a16:creationId xmlns:a16="http://schemas.microsoft.com/office/drawing/2014/main" id="{6D183035-2659-E4FB-758A-5EF8E54F9A9F}"/>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8" name="Text 5">
            <a:extLst>
              <a:ext uri="{FF2B5EF4-FFF2-40B4-BE49-F238E27FC236}">
                <a16:creationId xmlns:a16="http://schemas.microsoft.com/office/drawing/2014/main" id="{D532FC0B-1C25-44A9-7F7E-E2B189585AAA}"/>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12</a:t>
            </a:r>
            <a:endParaRPr lang="fr-CH" sz="750" noProof="0" dirty="0"/>
          </a:p>
        </p:txBody>
      </p:sp>
      <p:sp>
        <p:nvSpPr>
          <p:cNvPr id="9" name="Text 6">
            <a:extLst>
              <a:ext uri="{FF2B5EF4-FFF2-40B4-BE49-F238E27FC236}">
                <a16:creationId xmlns:a16="http://schemas.microsoft.com/office/drawing/2014/main" id="{2B1836C1-AADD-9F3C-AE81-E0F5E44C7C0B}"/>
              </a:ext>
            </a:extLst>
          </p:cNvPr>
          <p:cNvSpPr/>
          <p:nvPr/>
        </p:nvSpPr>
        <p:spPr>
          <a:xfrm>
            <a:off x="777240" y="1828800"/>
            <a:ext cx="1371600" cy="219456"/>
          </a:xfrm>
          <a:prstGeom prst="rect">
            <a:avLst/>
          </a:prstGeom>
          <a:noFill/>
          <a:ln/>
        </p:spPr>
        <p:txBody>
          <a:bodyPr wrap="square" lIns="0" tIns="0" rIns="0" bIns="0" rtlCol="0" anchor="ctr"/>
          <a:lstStyle/>
          <a:p>
            <a:pPr marL="0" indent="0">
              <a:buNone/>
            </a:pPr>
            <a:r>
              <a:rPr lang="fr-CH" sz="1050" b="1" noProof="0" dirty="0">
                <a:solidFill>
                  <a:srgbClr val="001A8D"/>
                </a:solidFill>
              </a:rPr>
              <a:t>EN BREF</a:t>
            </a:r>
            <a:endParaRPr lang="fr-CH" sz="1050" noProof="0" dirty="0"/>
          </a:p>
        </p:txBody>
      </p:sp>
      <p:sp>
        <p:nvSpPr>
          <p:cNvPr id="10" name="Shape 7">
            <a:extLst>
              <a:ext uri="{FF2B5EF4-FFF2-40B4-BE49-F238E27FC236}">
                <a16:creationId xmlns:a16="http://schemas.microsoft.com/office/drawing/2014/main" id="{43ACE58C-70E3-FB35-D4E7-9E524AF1F5F1}"/>
              </a:ext>
            </a:extLst>
          </p:cNvPr>
          <p:cNvSpPr/>
          <p:nvPr/>
        </p:nvSpPr>
        <p:spPr>
          <a:xfrm>
            <a:off x="777240" y="2304288"/>
            <a:ext cx="10652760" cy="960120"/>
          </a:xfrm>
          <a:prstGeom prst="roundRect">
            <a:avLst>
              <a:gd name="adj" fmla="val 7619"/>
            </a:avLst>
          </a:prstGeom>
          <a:solidFill>
            <a:srgbClr val="EAF0FF"/>
          </a:solidFill>
          <a:ln w="10160">
            <a:solidFill>
              <a:srgbClr val="DCE7FF"/>
            </a:solidFill>
            <a:prstDash val="solid"/>
          </a:ln>
        </p:spPr>
        <p:txBody>
          <a:bodyPr/>
          <a:lstStyle/>
          <a:p>
            <a:endParaRPr lang="fr-CH" noProof="0" dirty="0"/>
          </a:p>
        </p:txBody>
      </p:sp>
      <p:sp>
        <p:nvSpPr>
          <p:cNvPr id="11" name="Text 8">
            <a:extLst>
              <a:ext uri="{FF2B5EF4-FFF2-40B4-BE49-F238E27FC236}">
                <a16:creationId xmlns:a16="http://schemas.microsoft.com/office/drawing/2014/main" id="{F17A3365-1D13-AD4C-6C1A-D335F832FA98}"/>
              </a:ext>
            </a:extLst>
          </p:cNvPr>
          <p:cNvSpPr/>
          <p:nvPr/>
        </p:nvSpPr>
        <p:spPr>
          <a:xfrm>
            <a:off x="1051560" y="2587752"/>
            <a:ext cx="10058400" cy="320040"/>
          </a:xfrm>
          <a:prstGeom prst="rect">
            <a:avLst/>
          </a:prstGeom>
          <a:noFill/>
          <a:ln/>
        </p:spPr>
        <p:txBody>
          <a:bodyPr wrap="square" lIns="0" tIns="0" rIns="0" bIns="0" rtlCol="0" anchor="ctr">
            <a:noAutofit/>
          </a:bodyPr>
          <a:lstStyle/>
          <a:p>
            <a:pPr marL="0" indent="0" algn="ctr">
              <a:lnSpc>
                <a:spcPct val="220000"/>
              </a:lnSpc>
              <a:buNone/>
            </a:pPr>
            <a:r>
              <a:rPr lang="fr-CH" sz="1400" b="1" noProof="0" dirty="0">
                <a:solidFill>
                  <a:srgbClr val="001A8D"/>
                </a:solidFill>
              </a:rPr>
              <a:t>Le 2e Bulletin statistique de la protection sociale est un produit national de la RDC, appuyé par un cadre méthodologique international.</a:t>
            </a:r>
            <a:endParaRPr lang="fr-CH" sz="1400" noProof="0" dirty="0"/>
          </a:p>
        </p:txBody>
      </p:sp>
      <p:sp>
        <p:nvSpPr>
          <p:cNvPr id="12" name="Shape 9">
            <a:extLst>
              <a:ext uri="{FF2B5EF4-FFF2-40B4-BE49-F238E27FC236}">
                <a16:creationId xmlns:a16="http://schemas.microsoft.com/office/drawing/2014/main" id="{CB4D494E-DA69-B5DD-1721-B0D5DC83B6E2}"/>
              </a:ext>
            </a:extLst>
          </p:cNvPr>
          <p:cNvSpPr/>
          <p:nvPr/>
        </p:nvSpPr>
        <p:spPr>
          <a:xfrm>
            <a:off x="1280160" y="3886200"/>
            <a:ext cx="4389120" cy="1143000"/>
          </a:xfrm>
          <a:prstGeom prst="roundRect">
            <a:avLst>
              <a:gd name="adj" fmla="val 6400"/>
            </a:avLst>
          </a:prstGeom>
          <a:solidFill>
            <a:srgbClr val="F6F8FC"/>
          </a:solidFill>
          <a:ln w="11430">
            <a:solidFill>
              <a:srgbClr val="CBD5E1"/>
            </a:solidFill>
            <a:prstDash val="solid"/>
          </a:ln>
        </p:spPr>
        <p:txBody>
          <a:bodyPr/>
          <a:lstStyle/>
          <a:p>
            <a:endParaRPr lang="fr-CH" noProof="0" dirty="0"/>
          </a:p>
        </p:txBody>
      </p:sp>
      <p:sp>
        <p:nvSpPr>
          <p:cNvPr id="13" name="Shape 10">
            <a:extLst>
              <a:ext uri="{FF2B5EF4-FFF2-40B4-BE49-F238E27FC236}">
                <a16:creationId xmlns:a16="http://schemas.microsoft.com/office/drawing/2014/main" id="{81688772-BF53-2643-40A7-504DD4BD3D5E}"/>
              </a:ext>
            </a:extLst>
          </p:cNvPr>
          <p:cNvSpPr/>
          <p:nvPr/>
        </p:nvSpPr>
        <p:spPr>
          <a:xfrm>
            <a:off x="1280160" y="3886200"/>
            <a:ext cx="109728" cy="1143000"/>
          </a:xfrm>
          <a:prstGeom prst="rect">
            <a:avLst/>
          </a:prstGeom>
          <a:solidFill>
            <a:srgbClr val="001A8D"/>
          </a:solidFill>
          <a:ln w="12700">
            <a:solidFill>
              <a:srgbClr val="001A8D"/>
            </a:solidFill>
            <a:prstDash val="solid"/>
          </a:ln>
        </p:spPr>
        <p:txBody>
          <a:bodyPr/>
          <a:lstStyle/>
          <a:p>
            <a:endParaRPr lang="fr-CH" noProof="0" dirty="0"/>
          </a:p>
        </p:txBody>
      </p:sp>
      <p:sp>
        <p:nvSpPr>
          <p:cNvPr id="14" name="Text 11">
            <a:extLst>
              <a:ext uri="{FF2B5EF4-FFF2-40B4-BE49-F238E27FC236}">
                <a16:creationId xmlns:a16="http://schemas.microsoft.com/office/drawing/2014/main" id="{C1E56435-7700-41E2-E478-00009376D3FD}"/>
              </a:ext>
            </a:extLst>
          </p:cNvPr>
          <p:cNvSpPr/>
          <p:nvPr/>
        </p:nvSpPr>
        <p:spPr>
          <a:xfrm>
            <a:off x="1481328" y="4041648"/>
            <a:ext cx="3986784" cy="228600"/>
          </a:xfrm>
          <a:prstGeom prst="rect">
            <a:avLst/>
          </a:prstGeom>
          <a:noFill/>
          <a:ln/>
        </p:spPr>
        <p:txBody>
          <a:bodyPr wrap="square" lIns="0" tIns="0" rIns="0" bIns="0" rtlCol="0" anchor="ctr">
            <a:normAutofit/>
          </a:bodyPr>
          <a:lstStyle/>
          <a:p>
            <a:pPr marL="0" indent="0">
              <a:buNone/>
            </a:pPr>
            <a:r>
              <a:rPr lang="fr-CH" sz="1300" b="1" noProof="0" dirty="0">
                <a:solidFill>
                  <a:srgbClr val="001A8D"/>
                </a:solidFill>
                <a:latin typeface="Arial" pitchFamily="34" charset="0"/>
                <a:ea typeface="Arial" pitchFamily="34" charset="-122"/>
                <a:cs typeface="Arial" pitchFamily="34" charset="-120"/>
              </a:rPr>
              <a:t>Comparabilité internationale</a:t>
            </a:r>
            <a:endParaRPr lang="fr-CH" sz="1300" noProof="0" dirty="0"/>
          </a:p>
        </p:txBody>
      </p:sp>
      <p:sp>
        <p:nvSpPr>
          <p:cNvPr id="15" name="Text 12">
            <a:extLst>
              <a:ext uri="{FF2B5EF4-FFF2-40B4-BE49-F238E27FC236}">
                <a16:creationId xmlns:a16="http://schemas.microsoft.com/office/drawing/2014/main" id="{2E612E19-61C6-804E-4281-E381ACA1B6EA}"/>
              </a:ext>
            </a:extLst>
          </p:cNvPr>
          <p:cNvSpPr/>
          <p:nvPr/>
        </p:nvSpPr>
        <p:spPr>
          <a:xfrm>
            <a:off x="1481328" y="4370832"/>
            <a:ext cx="3986784" cy="530352"/>
          </a:xfrm>
          <a:prstGeom prst="rect">
            <a:avLst/>
          </a:prstGeom>
          <a:noFill/>
          <a:ln/>
        </p:spPr>
        <p:txBody>
          <a:bodyPr wrap="square" lIns="254" tIns="254" rIns="254" bIns="254" rtlCol="0" anchor="t">
            <a:normAutofit/>
          </a:bodyPr>
          <a:lstStyle/>
          <a:p>
            <a:pPr marL="0" indent="0">
              <a:buNone/>
            </a:pPr>
            <a:r>
              <a:rPr lang="fr-CH" sz="1100" noProof="0" dirty="0">
                <a:solidFill>
                  <a:srgbClr val="1E1E1E"/>
                </a:solidFill>
                <a:latin typeface="Arial" pitchFamily="34" charset="0"/>
                <a:ea typeface="Arial" pitchFamily="34" charset="-122"/>
                <a:cs typeface="Arial" pitchFamily="34" charset="-120"/>
              </a:rPr>
              <a:t>Cadre OIT et indicateurs, notamment ODD 1.3.1</a:t>
            </a:r>
            <a:endParaRPr lang="fr-CH" sz="1100" noProof="0" dirty="0"/>
          </a:p>
        </p:txBody>
      </p:sp>
      <p:sp>
        <p:nvSpPr>
          <p:cNvPr id="16" name="Shape 13">
            <a:extLst>
              <a:ext uri="{FF2B5EF4-FFF2-40B4-BE49-F238E27FC236}">
                <a16:creationId xmlns:a16="http://schemas.microsoft.com/office/drawing/2014/main" id="{E041FD52-9244-547E-AFDD-C38F0EEEC161}"/>
              </a:ext>
            </a:extLst>
          </p:cNvPr>
          <p:cNvSpPr/>
          <p:nvPr/>
        </p:nvSpPr>
        <p:spPr>
          <a:xfrm>
            <a:off x="6537960" y="3886200"/>
            <a:ext cx="4389120" cy="1143000"/>
          </a:xfrm>
          <a:prstGeom prst="roundRect">
            <a:avLst>
              <a:gd name="adj" fmla="val 6400"/>
            </a:avLst>
          </a:prstGeom>
          <a:solidFill>
            <a:srgbClr val="F6F8FC"/>
          </a:solidFill>
          <a:ln w="11430">
            <a:solidFill>
              <a:srgbClr val="CBD5E1"/>
            </a:solidFill>
            <a:prstDash val="solid"/>
          </a:ln>
        </p:spPr>
        <p:txBody>
          <a:bodyPr/>
          <a:lstStyle/>
          <a:p>
            <a:endParaRPr lang="fr-CH" noProof="0" dirty="0"/>
          </a:p>
        </p:txBody>
      </p:sp>
      <p:sp>
        <p:nvSpPr>
          <p:cNvPr id="17" name="Shape 14">
            <a:extLst>
              <a:ext uri="{FF2B5EF4-FFF2-40B4-BE49-F238E27FC236}">
                <a16:creationId xmlns:a16="http://schemas.microsoft.com/office/drawing/2014/main" id="{8C61CF98-8F02-8D46-27B4-4EC30994A730}"/>
              </a:ext>
            </a:extLst>
          </p:cNvPr>
          <p:cNvSpPr/>
          <p:nvPr/>
        </p:nvSpPr>
        <p:spPr>
          <a:xfrm>
            <a:off x="6537960" y="3886200"/>
            <a:ext cx="109728" cy="1143000"/>
          </a:xfrm>
          <a:prstGeom prst="rect">
            <a:avLst/>
          </a:prstGeom>
          <a:solidFill>
            <a:srgbClr val="8BCF6A"/>
          </a:solidFill>
          <a:ln w="12700">
            <a:solidFill>
              <a:srgbClr val="8BCF6A"/>
            </a:solidFill>
            <a:prstDash val="solid"/>
          </a:ln>
        </p:spPr>
        <p:txBody>
          <a:bodyPr/>
          <a:lstStyle/>
          <a:p>
            <a:endParaRPr lang="fr-CH" noProof="0" dirty="0"/>
          </a:p>
        </p:txBody>
      </p:sp>
      <p:sp>
        <p:nvSpPr>
          <p:cNvPr id="18" name="Text 15">
            <a:extLst>
              <a:ext uri="{FF2B5EF4-FFF2-40B4-BE49-F238E27FC236}">
                <a16:creationId xmlns:a16="http://schemas.microsoft.com/office/drawing/2014/main" id="{9B72EA69-250D-0C42-4209-5387ACD089E8}"/>
              </a:ext>
            </a:extLst>
          </p:cNvPr>
          <p:cNvSpPr/>
          <p:nvPr/>
        </p:nvSpPr>
        <p:spPr>
          <a:xfrm>
            <a:off x="6739128" y="4041648"/>
            <a:ext cx="3986784" cy="228600"/>
          </a:xfrm>
          <a:prstGeom prst="rect">
            <a:avLst/>
          </a:prstGeom>
          <a:noFill/>
          <a:ln/>
        </p:spPr>
        <p:txBody>
          <a:bodyPr wrap="square" lIns="0" tIns="0" rIns="0" bIns="0" rtlCol="0" anchor="ctr">
            <a:normAutofit/>
          </a:bodyPr>
          <a:lstStyle/>
          <a:p>
            <a:pPr marL="0" indent="0">
              <a:buNone/>
            </a:pPr>
            <a:r>
              <a:rPr lang="fr-CH" sz="1300" b="1" noProof="0" dirty="0">
                <a:solidFill>
                  <a:srgbClr val="001A8D"/>
                </a:solidFill>
                <a:latin typeface="Arial" pitchFamily="34" charset="0"/>
                <a:ea typeface="Arial" pitchFamily="34" charset="-122"/>
                <a:cs typeface="Arial" pitchFamily="34" charset="-120"/>
              </a:rPr>
              <a:t>Pertinence nationale</a:t>
            </a:r>
            <a:endParaRPr lang="fr-CH" sz="1300" noProof="0" dirty="0"/>
          </a:p>
        </p:txBody>
      </p:sp>
      <p:sp>
        <p:nvSpPr>
          <p:cNvPr id="19" name="Text 16">
            <a:extLst>
              <a:ext uri="{FF2B5EF4-FFF2-40B4-BE49-F238E27FC236}">
                <a16:creationId xmlns:a16="http://schemas.microsoft.com/office/drawing/2014/main" id="{270120CB-0C7F-7D2F-1468-8F1D53109900}"/>
              </a:ext>
            </a:extLst>
          </p:cNvPr>
          <p:cNvSpPr/>
          <p:nvPr/>
        </p:nvSpPr>
        <p:spPr>
          <a:xfrm>
            <a:off x="6739128" y="4370832"/>
            <a:ext cx="3986784" cy="530352"/>
          </a:xfrm>
          <a:prstGeom prst="rect">
            <a:avLst/>
          </a:prstGeom>
          <a:noFill/>
          <a:ln/>
        </p:spPr>
        <p:txBody>
          <a:bodyPr wrap="square" lIns="254" tIns="254" rIns="254" bIns="254" rtlCol="0" anchor="t">
            <a:normAutofit/>
          </a:bodyPr>
          <a:lstStyle/>
          <a:p>
            <a:pPr marL="0" indent="0">
              <a:buNone/>
            </a:pPr>
            <a:r>
              <a:rPr lang="fr-CH" sz="1100" noProof="0" dirty="0">
                <a:solidFill>
                  <a:srgbClr val="1E1E1E"/>
                </a:solidFill>
                <a:latin typeface="Arial" pitchFamily="34" charset="0"/>
                <a:ea typeface="Arial" pitchFamily="34" charset="-122"/>
                <a:cs typeface="Arial" pitchFamily="34" charset="-120"/>
              </a:rPr>
              <a:t>Adaptations possibles si elles sont justifiées, documentées et cohérentes</a:t>
            </a:r>
            <a:endParaRPr lang="fr-CH" sz="1100" noProof="0" dirty="0"/>
          </a:p>
        </p:txBody>
      </p:sp>
    </p:spTree>
    <p:extLst>
      <p:ext uri="{BB962C8B-B14F-4D97-AF65-F5344CB8AC3E}">
        <p14:creationId xmlns:p14="http://schemas.microsoft.com/office/powerpoint/2010/main" val="218089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26A03-B5B1-89CF-67A5-7C6CD010CC3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A4E4FBE-0B06-A07C-FD22-420DA92FB7A1}"/>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CD17B879-550E-370B-7AB6-22DB3A02B540}"/>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TRANSITION VERS LA SUITE DES TRAVAUX</a:t>
            </a:r>
            <a:endParaRPr lang="fr-CH" sz="2200" noProof="0" dirty="0"/>
          </a:p>
        </p:txBody>
      </p:sp>
      <p:sp>
        <p:nvSpPr>
          <p:cNvPr id="5" name="Shape 2">
            <a:extLst>
              <a:ext uri="{FF2B5EF4-FFF2-40B4-BE49-F238E27FC236}">
                <a16:creationId xmlns:a16="http://schemas.microsoft.com/office/drawing/2014/main" id="{0A257997-6CD7-B772-D908-9688007F52B4}"/>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6" name="Text 3">
            <a:extLst>
              <a:ext uri="{FF2B5EF4-FFF2-40B4-BE49-F238E27FC236}">
                <a16:creationId xmlns:a16="http://schemas.microsoft.com/office/drawing/2014/main" id="{4E9661F0-DC2F-B4E6-0D94-BCF39B7B224F}"/>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7" name="Text 4">
            <a:extLst>
              <a:ext uri="{FF2B5EF4-FFF2-40B4-BE49-F238E27FC236}">
                <a16:creationId xmlns:a16="http://schemas.microsoft.com/office/drawing/2014/main" id="{0EBFE46F-6F83-142F-6425-AE1B247345B4}"/>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8" name="Text 5">
            <a:extLst>
              <a:ext uri="{FF2B5EF4-FFF2-40B4-BE49-F238E27FC236}">
                <a16:creationId xmlns:a16="http://schemas.microsoft.com/office/drawing/2014/main" id="{DF7F3557-7536-6977-7B56-6AB85AD7E97B}"/>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13</a:t>
            </a:r>
            <a:endParaRPr lang="fr-CH" sz="750" noProof="0" dirty="0"/>
          </a:p>
        </p:txBody>
      </p:sp>
      <p:sp>
        <p:nvSpPr>
          <p:cNvPr id="9" name="Text 6">
            <a:extLst>
              <a:ext uri="{FF2B5EF4-FFF2-40B4-BE49-F238E27FC236}">
                <a16:creationId xmlns:a16="http://schemas.microsoft.com/office/drawing/2014/main" id="{6C86494A-5840-6BF3-2E28-315AE4F9220B}"/>
              </a:ext>
            </a:extLst>
          </p:cNvPr>
          <p:cNvSpPr/>
          <p:nvPr/>
        </p:nvSpPr>
        <p:spPr>
          <a:xfrm>
            <a:off x="777240" y="1874520"/>
            <a:ext cx="9326880" cy="320040"/>
          </a:xfrm>
          <a:prstGeom prst="rect">
            <a:avLst/>
          </a:prstGeom>
          <a:noFill/>
          <a:ln/>
        </p:spPr>
        <p:txBody>
          <a:bodyPr wrap="square" lIns="0" tIns="0" rIns="0" bIns="0" rtlCol="0" anchor="ctr"/>
          <a:lstStyle/>
          <a:p>
            <a:pPr marL="0" indent="0">
              <a:buNone/>
            </a:pPr>
            <a:r>
              <a:rPr lang="fr-CH" sz="1700" b="1" noProof="0" dirty="0">
                <a:solidFill>
                  <a:srgbClr val="001A8D"/>
                </a:solidFill>
              </a:rPr>
              <a:t>Suite des travaux</a:t>
            </a:r>
            <a:endParaRPr lang="fr-CH" sz="1700" noProof="0" dirty="0"/>
          </a:p>
        </p:txBody>
      </p:sp>
      <p:sp>
        <p:nvSpPr>
          <p:cNvPr id="11" name="Text 8">
            <a:extLst>
              <a:ext uri="{FF2B5EF4-FFF2-40B4-BE49-F238E27FC236}">
                <a16:creationId xmlns:a16="http://schemas.microsoft.com/office/drawing/2014/main" id="{7FAABBCA-815E-088D-8187-FB139D52FFED}"/>
              </a:ext>
            </a:extLst>
          </p:cNvPr>
          <p:cNvSpPr/>
          <p:nvPr/>
        </p:nvSpPr>
        <p:spPr>
          <a:xfrm>
            <a:off x="914400" y="2487168"/>
            <a:ext cx="347472" cy="146304"/>
          </a:xfrm>
          <a:prstGeom prst="rect">
            <a:avLst/>
          </a:prstGeom>
          <a:noFill/>
          <a:ln/>
        </p:spPr>
        <p:txBody>
          <a:bodyPr wrap="square" lIns="0" tIns="0" rIns="0" bIns="0" rtlCol="0" anchor="ctr"/>
          <a:lstStyle/>
          <a:p>
            <a:pPr marL="0" indent="0" algn="ctr">
              <a:buNone/>
            </a:pPr>
            <a:r>
              <a:rPr lang="fr-CH" sz="850" b="1" noProof="0" dirty="0">
                <a:solidFill>
                  <a:srgbClr val="FFFFFF"/>
                </a:solidFill>
              </a:rPr>
              <a:t>1</a:t>
            </a:r>
            <a:endParaRPr lang="fr-CH" sz="850" noProof="0" dirty="0"/>
          </a:p>
        </p:txBody>
      </p:sp>
      <p:sp>
        <p:nvSpPr>
          <p:cNvPr id="17" name="Text 14">
            <a:extLst>
              <a:ext uri="{FF2B5EF4-FFF2-40B4-BE49-F238E27FC236}">
                <a16:creationId xmlns:a16="http://schemas.microsoft.com/office/drawing/2014/main" id="{0A4D1E3A-CB65-DED9-9B4E-83A0588E0080}"/>
              </a:ext>
            </a:extLst>
          </p:cNvPr>
          <p:cNvSpPr/>
          <p:nvPr/>
        </p:nvSpPr>
        <p:spPr>
          <a:xfrm>
            <a:off x="914400" y="3767328"/>
            <a:ext cx="347472" cy="146304"/>
          </a:xfrm>
          <a:prstGeom prst="rect">
            <a:avLst/>
          </a:prstGeom>
          <a:noFill/>
          <a:ln/>
        </p:spPr>
        <p:txBody>
          <a:bodyPr wrap="square" lIns="0" tIns="0" rIns="0" bIns="0" rtlCol="0" anchor="ctr"/>
          <a:lstStyle/>
          <a:p>
            <a:pPr marL="0" indent="0" algn="ctr">
              <a:buNone/>
            </a:pPr>
            <a:endParaRPr lang="fr-CH" sz="850" noProof="0" dirty="0"/>
          </a:p>
        </p:txBody>
      </p:sp>
      <p:sp>
        <p:nvSpPr>
          <p:cNvPr id="20" name="Text 17">
            <a:extLst>
              <a:ext uri="{FF2B5EF4-FFF2-40B4-BE49-F238E27FC236}">
                <a16:creationId xmlns:a16="http://schemas.microsoft.com/office/drawing/2014/main" id="{752F6DBF-0C3B-368F-A328-D6646713A664}"/>
              </a:ext>
            </a:extLst>
          </p:cNvPr>
          <p:cNvSpPr/>
          <p:nvPr/>
        </p:nvSpPr>
        <p:spPr>
          <a:xfrm>
            <a:off x="914400" y="4407408"/>
            <a:ext cx="347472" cy="146304"/>
          </a:xfrm>
          <a:prstGeom prst="rect">
            <a:avLst/>
          </a:prstGeom>
          <a:noFill/>
          <a:ln/>
        </p:spPr>
        <p:txBody>
          <a:bodyPr wrap="square" lIns="0" tIns="0" rIns="0" bIns="0" rtlCol="0" anchor="ctr"/>
          <a:lstStyle/>
          <a:p>
            <a:pPr marL="0" indent="0" algn="ctr">
              <a:buNone/>
            </a:pPr>
            <a:r>
              <a:rPr lang="fr-CH" sz="850" b="1" noProof="0" dirty="0">
                <a:solidFill>
                  <a:srgbClr val="FFFFFF"/>
                </a:solidFill>
              </a:rPr>
              <a:t>4</a:t>
            </a:r>
            <a:endParaRPr lang="fr-CH" sz="850" noProof="0" dirty="0"/>
          </a:p>
        </p:txBody>
      </p:sp>
      <p:sp>
        <p:nvSpPr>
          <p:cNvPr id="23" name="Text 20">
            <a:extLst>
              <a:ext uri="{FF2B5EF4-FFF2-40B4-BE49-F238E27FC236}">
                <a16:creationId xmlns:a16="http://schemas.microsoft.com/office/drawing/2014/main" id="{FFA42FB2-A3E9-5889-3615-1ACD90A9C646}"/>
              </a:ext>
            </a:extLst>
          </p:cNvPr>
          <p:cNvSpPr/>
          <p:nvPr/>
        </p:nvSpPr>
        <p:spPr>
          <a:xfrm>
            <a:off x="914400" y="5047488"/>
            <a:ext cx="347472" cy="146304"/>
          </a:xfrm>
          <a:prstGeom prst="rect">
            <a:avLst/>
          </a:prstGeom>
          <a:noFill/>
          <a:ln/>
        </p:spPr>
        <p:txBody>
          <a:bodyPr wrap="square" lIns="0" tIns="0" rIns="0" bIns="0" rtlCol="0" anchor="ctr"/>
          <a:lstStyle/>
          <a:p>
            <a:pPr marL="0" indent="0" algn="ctr">
              <a:buNone/>
            </a:pPr>
            <a:r>
              <a:rPr lang="fr-CH" sz="850" b="1" noProof="0" dirty="0">
                <a:solidFill>
                  <a:srgbClr val="FFFFFF"/>
                </a:solidFill>
              </a:rPr>
              <a:t>5</a:t>
            </a:r>
            <a:endParaRPr lang="fr-CH" sz="850" noProof="0" dirty="0"/>
          </a:p>
        </p:txBody>
      </p:sp>
      <p:graphicFrame>
        <p:nvGraphicFramePr>
          <p:cNvPr id="13" name="Table 0">
            <a:extLst>
              <a:ext uri="{FF2B5EF4-FFF2-40B4-BE49-F238E27FC236}">
                <a16:creationId xmlns:a16="http://schemas.microsoft.com/office/drawing/2014/main" id="{09D4A4DC-64AD-7D0A-69DB-60673DBA3A36}"/>
              </a:ext>
            </a:extLst>
          </p:cNvPr>
          <p:cNvGraphicFramePr>
            <a:graphicFrameLocks noGrp="1"/>
          </p:cNvGraphicFramePr>
          <p:nvPr>
            <p:extLst>
              <p:ext uri="{D42A27DB-BD31-4B8C-83A1-F6EECF244321}">
                <p14:modId xmlns:p14="http://schemas.microsoft.com/office/powerpoint/2010/main" val="2369334651"/>
              </p:ext>
            </p:extLst>
          </p:nvPr>
        </p:nvGraphicFramePr>
        <p:xfrm>
          <a:off x="700887" y="1604772"/>
          <a:ext cx="10789920" cy="4325112"/>
        </p:xfrm>
        <a:graphic>
          <a:graphicData uri="http://schemas.openxmlformats.org/drawingml/2006/table">
            <a:tbl>
              <a:tblPr/>
              <a:tblGrid>
                <a:gridCol w="8229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8503920">
                  <a:extLst>
                    <a:ext uri="{9D8B030D-6E8A-4147-A177-3AD203B41FA5}">
                      <a16:colId xmlns:a16="http://schemas.microsoft.com/office/drawing/2014/main" val="20002"/>
                    </a:ext>
                  </a:extLst>
                </a:gridCol>
              </a:tblGrid>
              <a:tr h="393192">
                <a:tc>
                  <a:txBody>
                    <a:bodyPr/>
                    <a:lstStyle/>
                    <a:p>
                      <a:pPr marL="0" indent="0" algn="ctr">
                        <a:buNone/>
                      </a:pPr>
                      <a:r>
                        <a:rPr lang="fr-CH" sz="1050" b="1" noProof="0" dirty="0">
                          <a:solidFill>
                            <a:srgbClr val="FFFFFF"/>
                          </a:solidFill>
                          <a:latin typeface="Arial"/>
                        </a:rPr>
                        <a:t>Séquence</a:t>
                      </a:r>
                      <a:endParaRPr lang="fr-CH" sz="95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428A0"/>
                    </a:solidFill>
                  </a:tcPr>
                </a:tc>
                <a:tc>
                  <a:txBody>
                    <a:bodyPr/>
                    <a:lstStyle/>
                    <a:p>
                      <a:pPr marL="0" indent="0" algn="ctr">
                        <a:buNone/>
                      </a:pPr>
                      <a:r>
                        <a:rPr lang="fr-CH" sz="1050" b="1" noProof="0" dirty="0">
                          <a:solidFill>
                            <a:srgbClr val="FFFFFF"/>
                          </a:solidFill>
                          <a:latin typeface="Arial"/>
                        </a:rPr>
                        <a:t>Statut</a:t>
                      </a:r>
                      <a:endParaRPr lang="fr-CH" sz="95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428A0"/>
                    </a:solidFill>
                  </a:tcPr>
                </a:tc>
                <a:tc>
                  <a:txBody>
                    <a:bodyPr/>
                    <a:lstStyle/>
                    <a:p>
                      <a:pPr marL="0" indent="0" algn="ctr">
                        <a:buNone/>
                      </a:pPr>
                      <a:r>
                        <a:rPr lang="fr-CH" sz="1050" b="1" noProof="0" dirty="0">
                          <a:solidFill>
                            <a:srgbClr val="FFFFFF"/>
                          </a:solidFill>
                          <a:latin typeface="Arial"/>
                        </a:rPr>
                        <a:t>Contenu</a:t>
                      </a:r>
                      <a:endParaRPr lang="fr-CH" sz="95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1428A0"/>
                    </a:solidFill>
                  </a:tcPr>
                </a:tc>
                <a:extLst>
                  <a:ext uri="{0D108BD9-81ED-4DB2-BD59-A6C34878D82A}">
                    <a16:rowId xmlns:a16="http://schemas.microsoft.com/office/drawing/2014/main" val="10000"/>
                  </a:ext>
                </a:extLst>
              </a:tr>
              <a:tr h="393192">
                <a:tc>
                  <a:txBody>
                    <a:bodyPr/>
                    <a:lstStyle/>
                    <a:p>
                      <a:pPr marL="0" indent="0" algn="ctr">
                        <a:buNone/>
                      </a:pPr>
                      <a:r>
                        <a:rPr lang="fr-CH" sz="1019" noProof="0" dirty="0">
                          <a:solidFill>
                            <a:srgbClr val="1F2933"/>
                          </a:solidFill>
                          <a:latin typeface="Arial"/>
                        </a:rPr>
                        <a:t>1</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l">
                        <a:buNone/>
                      </a:pPr>
                      <a:r>
                        <a:rPr lang="fr-CH" sz="1019" noProof="0" dirty="0">
                          <a:solidFill>
                            <a:srgbClr val="1F2933"/>
                          </a:solidFill>
                          <a:latin typeface="Arial"/>
                        </a:rPr>
                        <a:t>Ouverture institutionnelle — SNPS</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93192">
                <a:tc>
                  <a:txBody>
                    <a:bodyPr/>
                    <a:lstStyle/>
                    <a:p>
                      <a:pPr marL="0" indent="0" algn="ctr">
                        <a:buNone/>
                      </a:pPr>
                      <a:r>
                        <a:rPr lang="fr-CH" sz="1019" noProof="0" dirty="0">
                          <a:solidFill>
                            <a:srgbClr val="1F2933"/>
                          </a:solidFill>
                          <a:latin typeface="Arial"/>
                        </a:rPr>
                        <a:t>2</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Cadrage de l’atelier</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02"/>
                  </a:ext>
                </a:extLst>
              </a:tr>
              <a:tr h="393192">
                <a:tc>
                  <a:txBody>
                    <a:bodyPr/>
                    <a:lstStyle/>
                    <a:p>
                      <a:pPr marL="0" indent="0" algn="ctr">
                        <a:buNone/>
                      </a:pPr>
                      <a:r>
                        <a:rPr lang="fr-CH" sz="1019" noProof="0" dirty="0">
                          <a:solidFill>
                            <a:srgbClr val="1F2933"/>
                          </a:solidFill>
                          <a:latin typeface="Arial"/>
                        </a:rPr>
                        <a:t>3</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l">
                        <a:buNone/>
                      </a:pPr>
                      <a:r>
                        <a:rPr lang="fr-CH" sz="1019" noProof="0" dirty="0">
                          <a:solidFill>
                            <a:srgbClr val="1F2933"/>
                          </a:solidFill>
                          <a:latin typeface="Arial"/>
                        </a:rPr>
                        <a:t>Premier tour de table des institutions</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93192">
                <a:tc>
                  <a:txBody>
                    <a:bodyPr/>
                    <a:lstStyle/>
                    <a:p>
                      <a:pPr marL="0" indent="0" algn="ctr">
                        <a:buNone/>
                      </a:pPr>
                      <a:r>
                        <a:rPr lang="fr-CH" sz="1019" noProof="0" dirty="0">
                          <a:solidFill>
                            <a:srgbClr val="1F2933"/>
                          </a:solidFill>
                          <a:latin typeface="Arial"/>
                        </a:rPr>
                        <a:t>4</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Protection sociale au sens de l’OIT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04"/>
                  </a:ext>
                </a:extLst>
              </a:tr>
              <a:tr h="393192">
                <a:tc>
                  <a:txBody>
                    <a:bodyPr/>
                    <a:lstStyle/>
                    <a:p>
                      <a:pPr marL="0" indent="0" algn="ctr">
                        <a:buNone/>
                      </a:pPr>
                      <a:r>
                        <a:rPr lang="fr-CH" sz="1019" noProof="0" dirty="0">
                          <a:solidFill>
                            <a:srgbClr val="1F2933"/>
                          </a:solidFill>
                          <a:latin typeface="Arial"/>
                        </a:rPr>
                        <a:t>5</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H" sz="1019" b="1" noProof="0" dirty="0">
                          <a:solidFill>
                            <a:srgbClr val="1428A0"/>
                          </a:solidFill>
                          <a:latin typeface="+mn-lt"/>
                        </a:rPr>
                        <a:t>→ Maintenant</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l" defTabSz="914400" rtl="0" eaLnBrk="1" latinLnBrk="0" hangingPunct="1">
                        <a:buNone/>
                      </a:pPr>
                      <a:r>
                        <a:rPr lang="fr-CH" sz="1019" b="1" kern="1200" noProof="0" dirty="0">
                          <a:solidFill>
                            <a:srgbClr val="1428A0"/>
                          </a:solidFill>
                          <a:latin typeface="Arial"/>
                          <a:ea typeface="+mn-ea"/>
                          <a:cs typeface="+mn-cs"/>
                        </a:rPr>
                        <a:t>Retour sur le 1er Bulletin</a:t>
                      </a:r>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93192">
                <a:tc>
                  <a:txBody>
                    <a:bodyPr/>
                    <a:lstStyle/>
                    <a:p>
                      <a:pPr marL="0" indent="0" algn="ctr">
                        <a:buNone/>
                      </a:pPr>
                      <a:r>
                        <a:rPr lang="fr-CH" sz="1019" noProof="0" dirty="0">
                          <a:solidFill>
                            <a:srgbClr val="1F2933"/>
                          </a:solidFill>
                          <a:latin typeface="Arial"/>
                        </a:rPr>
                        <a:t>6</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mn-lt"/>
                        </a:rPr>
                        <a:t>À suivre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Échanges institutionnels et évolutions récentes</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06"/>
                  </a:ext>
                </a:extLst>
              </a:tr>
              <a:tr h="393192">
                <a:tc>
                  <a:txBody>
                    <a:bodyPr/>
                    <a:lstStyle/>
                    <a:p>
                      <a:pPr marL="0" indent="0" algn="ctr">
                        <a:buNone/>
                      </a:pPr>
                      <a:r>
                        <a:rPr lang="fr-CH" sz="1019" noProof="0" dirty="0">
                          <a:solidFill>
                            <a:srgbClr val="1428A0"/>
                          </a:solidFill>
                          <a:latin typeface="Arial"/>
                        </a:rPr>
                        <a:t>7</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AF0FA"/>
                    </a:solidFill>
                  </a:tcPr>
                </a:tc>
                <a:tc>
                  <a:txBody>
                    <a:bodyPr/>
                    <a:lstStyle/>
                    <a:p>
                      <a:pPr marL="0" indent="0" algn="ctr">
                        <a:buNone/>
                      </a:pPr>
                      <a:r>
                        <a:rPr lang="fr-CH" sz="1019" noProof="0" dirty="0">
                          <a:solidFill>
                            <a:srgbClr val="1F2933"/>
                          </a:solidFill>
                          <a:latin typeface="+mn-lt"/>
                        </a:rPr>
                        <a:t>À suivre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AF0FA"/>
                    </a:solidFill>
                  </a:tcPr>
                </a:tc>
                <a:tc>
                  <a:txBody>
                    <a:bodyPr/>
                    <a:lstStyle/>
                    <a:p>
                      <a:pPr marL="0" indent="0" algn="l" defTabSz="914400" rtl="0" eaLnBrk="1" latinLnBrk="0" hangingPunct="1">
                        <a:buNone/>
                      </a:pPr>
                      <a:r>
                        <a:rPr lang="fr-CH" sz="1019" kern="1200" noProof="0" dirty="0">
                          <a:solidFill>
                            <a:srgbClr val="1F2933"/>
                          </a:solidFill>
                          <a:latin typeface="Arial"/>
                          <a:ea typeface="+mn-ea"/>
                          <a:cs typeface="+mn-cs"/>
                        </a:rPr>
                        <a:t>Méthodologie des indicateurs ODD 1.3.1</a:t>
                      </a:r>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EAF0FA"/>
                    </a:solidFill>
                  </a:tcPr>
                </a:tc>
                <a:extLst>
                  <a:ext uri="{0D108BD9-81ED-4DB2-BD59-A6C34878D82A}">
                    <a16:rowId xmlns:a16="http://schemas.microsoft.com/office/drawing/2014/main" val="10007"/>
                  </a:ext>
                </a:extLst>
              </a:tr>
              <a:tr h="393192">
                <a:tc>
                  <a:txBody>
                    <a:bodyPr/>
                    <a:lstStyle/>
                    <a:p>
                      <a:pPr marL="0" indent="0" algn="ctr">
                        <a:buNone/>
                      </a:pPr>
                      <a:r>
                        <a:rPr lang="fr-CH" sz="1019" noProof="0" dirty="0">
                          <a:solidFill>
                            <a:srgbClr val="1F2933"/>
                          </a:solidFill>
                          <a:latin typeface="Arial"/>
                        </a:rPr>
                        <a:t>8</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À suivre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Présentation des outils : ESS, QPSS, </a:t>
                      </a:r>
                      <a:r>
                        <a:rPr lang="fr-CH" sz="1019" noProof="0" dirty="0" err="1">
                          <a:solidFill>
                            <a:srgbClr val="1F2933"/>
                          </a:solidFill>
                          <a:latin typeface="Arial"/>
                        </a:rPr>
                        <a:t>EC_Calc</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08"/>
                  </a:ext>
                </a:extLst>
              </a:tr>
              <a:tr h="393192">
                <a:tc>
                  <a:txBody>
                    <a:bodyPr/>
                    <a:lstStyle/>
                    <a:p>
                      <a:pPr marL="0" indent="0" algn="ctr">
                        <a:buNone/>
                      </a:pPr>
                      <a:r>
                        <a:rPr lang="fr-CH" sz="1019" noProof="0" dirty="0">
                          <a:solidFill>
                            <a:srgbClr val="1F2933"/>
                          </a:solidFill>
                          <a:latin typeface="Arial"/>
                        </a:rPr>
                        <a:t>9</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ctr">
                        <a:buNone/>
                      </a:pPr>
                      <a:r>
                        <a:rPr lang="fr-CH" sz="1019" noProof="0" dirty="0">
                          <a:solidFill>
                            <a:srgbClr val="1F2933"/>
                          </a:solidFill>
                          <a:latin typeface="Arial"/>
                        </a:rPr>
                        <a:t>À suivre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tc>
                  <a:txBody>
                    <a:bodyPr/>
                    <a:lstStyle/>
                    <a:p>
                      <a:pPr marL="0" indent="0" algn="l">
                        <a:buNone/>
                      </a:pPr>
                      <a:r>
                        <a:rPr lang="fr-CH" sz="1019" noProof="0" dirty="0">
                          <a:solidFill>
                            <a:srgbClr val="1F2933"/>
                          </a:solidFill>
                          <a:latin typeface="Arial"/>
                        </a:rPr>
                        <a:t>Collecte, points focaux, calendrier et validation</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93192">
                <a:tc>
                  <a:txBody>
                    <a:bodyPr/>
                    <a:lstStyle/>
                    <a:p>
                      <a:pPr marL="0" indent="0" algn="ctr">
                        <a:buNone/>
                      </a:pPr>
                      <a:r>
                        <a:rPr lang="fr-CH" sz="1019" noProof="0" dirty="0">
                          <a:solidFill>
                            <a:srgbClr val="1F2933"/>
                          </a:solidFill>
                          <a:latin typeface="Arial"/>
                        </a:rPr>
                        <a:t>10</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ctr">
                        <a:buNone/>
                      </a:pPr>
                      <a:r>
                        <a:rPr lang="fr-CH" sz="1019" noProof="0" dirty="0">
                          <a:solidFill>
                            <a:srgbClr val="1F2933"/>
                          </a:solidFill>
                          <a:latin typeface="Arial"/>
                        </a:rPr>
                        <a:t>À suivre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tc>
                  <a:txBody>
                    <a:bodyPr/>
                    <a:lstStyle/>
                    <a:p>
                      <a:pPr marL="0" indent="0" algn="l">
                        <a:buNone/>
                      </a:pPr>
                      <a:r>
                        <a:rPr lang="fr-CH" sz="1019" noProof="0" dirty="0">
                          <a:solidFill>
                            <a:srgbClr val="1F2933"/>
                          </a:solidFill>
                          <a:latin typeface="Arial"/>
                        </a:rPr>
                        <a:t>Synthèse et clôture</a:t>
                      </a:r>
                      <a:endParaRPr lang="fr-CH" sz="860" noProof="0" dirty="0"/>
                    </a:p>
                  </a:txBody>
                  <a:tcPr marL="36576" marR="36576" marT="18288" marB="18288" anchor="ctr">
                    <a:lnL w="6350" cap="flat" cmpd="sng" algn="ctr">
                      <a:solidFill>
                        <a:srgbClr val="C8D0E0"/>
                      </a:solidFill>
                      <a:prstDash val="solid"/>
                      <a:round/>
                      <a:headEnd type="none" w="med" len="med"/>
                      <a:tailEnd type="none" w="med" len="med"/>
                    </a:lnL>
                    <a:lnR w="6350" cap="flat" cmpd="sng" algn="ctr">
                      <a:solidFill>
                        <a:srgbClr val="C8D0E0"/>
                      </a:solidFill>
                      <a:prstDash val="solid"/>
                      <a:round/>
                      <a:headEnd type="none" w="med" len="med"/>
                      <a:tailEnd type="none" w="med" len="med"/>
                    </a:lnR>
                    <a:lnT w="6350" cap="flat" cmpd="sng" algn="ctr">
                      <a:solidFill>
                        <a:srgbClr val="C8D0E0"/>
                      </a:solidFill>
                      <a:prstDash val="solid"/>
                      <a:round/>
                      <a:headEnd type="none" w="med" len="med"/>
                      <a:tailEnd type="none" w="med" len="med"/>
                    </a:lnT>
                    <a:lnB w="6350" cap="flat" cmpd="sng" algn="ctr">
                      <a:solidFill>
                        <a:srgbClr val="C8D0E0"/>
                      </a:solidFill>
                      <a:prstDash val="solid"/>
                      <a:round/>
                      <a:headEnd type="none" w="med" len="med"/>
                      <a:tailEnd type="none" w="med" len="med"/>
                    </a:lnB>
                    <a:solidFill>
                      <a:srgbClr val="F4F7FB"/>
                    </a:solidFill>
                  </a:tcPr>
                </a:tc>
                <a:extLst>
                  <a:ext uri="{0D108BD9-81ED-4DB2-BD59-A6C34878D82A}">
                    <a16:rowId xmlns:a16="http://schemas.microsoft.com/office/drawing/2014/main" val="10010"/>
                  </a:ext>
                </a:extLst>
              </a:tr>
            </a:tbl>
          </a:graphicData>
        </a:graphic>
      </p:graphicFrame>
      <p:pic>
        <p:nvPicPr>
          <p:cNvPr id="10" name="Image 0" descr="/mnt/data/ref_unzip/ppt/media/image1.png">
            <a:extLst>
              <a:ext uri="{FF2B5EF4-FFF2-40B4-BE49-F238E27FC236}">
                <a16:creationId xmlns:a16="http://schemas.microsoft.com/office/drawing/2014/main" id="{AB289A74-4B35-9B6E-127D-71050E2CA914}"/>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1166508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66C48-EC32-FA5E-7853-8DEDBC6695D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F360B878-838A-767E-C210-3E1E03A365E5}"/>
              </a:ext>
            </a:extLst>
          </p:cNvPr>
          <p:cNvSpPr/>
          <p:nvPr/>
        </p:nvSpPr>
        <p:spPr>
          <a:xfrm>
            <a:off x="0" y="0"/>
            <a:ext cx="12191695" cy="201168"/>
          </a:xfrm>
          <a:prstGeom prst="rect">
            <a:avLst/>
          </a:prstGeom>
          <a:solidFill>
            <a:srgbClr val="001A8D"/>
          </a:solidFill>
          <a:ln w="12700">
            <a:solidFill>
              <a:srgbClr val="001A8D"/>
            </a:solidFill>
            <a:prstDash val="solid"/>
          </a:ln>
        </p:spPr>
        <p:txBody>
          <a:bodyPr/>
          <a:lstStyle/>
          <a:p>
            <a:endParaRPr lang="fr-CH" noProof="0" dirty="0"/>
          </a:p>
        </p:txBody>
      </p:sp>
      <p:sp>
        <p:nvSpPr>
          <p:cNvPr id="4" name="Text 1">
            <a:extLst>
              <a:ext uri="{FF2B5EF4-FFF2-40B4-BE49-F238E27FC236}">
                <a16:creationId xmlns:a16="http://schemas.microsoft.com/office/drawing/2014/main" id="{A10DB4F8-5319-4B4E-15B3-0BC6AF4F673B}"/>
              </a:ext>
            </a:extLst>
          </p:cNvPr>
          <p:cNvSpPr/>
          <p:nvPr/>
        </p:nvSpPr>
        <p:spPr>
          <a:xfrm>
            <a:off x="594360" y="1051560"/>
            <a:ext cx="10789920" cy="457200"/>
          </a:xfrm>
          <a:prstGeom prst="rect">
            <a:avLst/>
          </a:prstGeom>
          <a:noFill/>
          <a:ln/>
        </p:spPr>
        <p:txBody>
          <a:bodyPr wrap="square" lIns="0" tIns="0" rIns="0" bIns="0" rtlCol="0" anchor="ctr"/>
          <a:lstStyle/>
          <a:p>
            <a:pPr marL="0" indent="0">
              <a:buNone/>
            </a:pPr>
            <a:r>
              <a:rPr lang="fr-CH" sz="2200" b="1" noProof="0" dirty="0">
                <a:solidFill>
                  <a:srgbClr val="001A8D"/>
                </a:solidFill>
                <a:latin typeface="Arial" pitchFamily="34" charset="0"/>
                <a:ea typeface="Arial" pitchFamily="34" charset="-122"/>
                <a:cs typeface="Arial" pitchFamily="34" charset="-120"/>
              </a:rPr>
              <a:t>SUITE DU PROCESSUS</a:t>
            </a:r>
            <a:endParaRPr lang="fr-CH" sz="2200" noProof="0" dirty="0"/>
          </a:p>
        </p:txBody>
      </p:sp>
      <p:sp>
        <p:nvSpPr>
          <p:cNvPr id="5" name="Text 2">
            <a:extLst>
              <a:ext uri="{FF2B5EF4-FFF2-40B4-BE49-F238E27FC236}">
                <a16:creationId xmlns:a16="http://schemas.microsoft.com/office/drawing/2014/main" id="{DAC4FBE5-58A6-A286-1382-533250A7580B}"/>
              </a:ext>
            </a:extLst>
          </p:cNvPr>
          <p:cNvSpPr/>
          <p:nvPr/>
        </p:nvSpPr>
        <p:spPr>
          <a:xfrm>
            <a:off x="594360" y="1517904"/>
            <a:ext cx="10515600" cy="320040"/>
          </a:xfrm>
          <a:prstGeom prst="rect">
            <a:avLst/>
          </a:prstGeom>
          <a:noFill/>
          <a:ln/>
        </p:spPr>
        <p:txBody>
          <a:bodyPr wrap="square" lIns="0" tIns="0" rIns="0" bIns="0" rtlCol="0" anchor="ctr"/>
          <a:lstStyle/>
          <a:p>
            <a:pPr marL="0" indent="0">
              <a:buNone/>
            </a:pPr>
            <a:r>
              <a:rPr lang="fr-CH" sz="1050" noProof="0" dirty="0">
                <a:solidFill>
                  <a:srgbClr val="4B5563"/>
                </a:solidFill>
                <a:latin typeface="Arial" pitchFamily="34" charset="0"/>
                <a:ea typeface="Arial" pitchFamily="34" charset="-122"/>
                <a:cs typeface="Arial" pitchFamily="34" charset="-120"/>
              </a:rPr>
              <a:t>Points à clarifier pendant l’atelier et étapes à engager après l’atelier</a:t>
            </a:r>
            <a:endParaRPr lang="fr-CH" sz="1050" noProof="0" dirty="0"/>
          </a:p>
        </p:txBody>
      </p:sp>
      <p:sp>
        <p:nvSpPr>
          <p:cNvPr id="6" name="Shape 3">
            <a:extLst>
              <a:ext uri="{FF2B5EF4-FFF2-40B4-BE49-F238E27FC236}">
                <a16:creationId xmlns:a16="http://schemas.microsoft.com/office/drawing/2014/main" id="{71F6E201-C1EB-1770-519B-D371DF15AC5E}"/>
              </a:ext>
            </a:extLst>
          </p:cNvPr>
          <p:cNvSpPr/>
          <p:nvPr/>
        </p:nvSpPr>
        <p:spPr>
          <a:xfrm>
            <a:off x="566928" y="6419088"/>
            <a:ext cx="10927080" cy="0"/>
          </a:xfrm>
          <a:prstGeom prst="line">
            <a:avLst/>
          </a:prstGeom>
          <a:noFill/>
          <a:ln w="7620">
            <a:solidFill>
              <a:srgbClr val="CBD5E1"/>
            </a:solidFill>
            <a:prstDash val="solid"/>
          </a:ln>
        </p:spPr>
        <p:txBody>
          <a:bodyPr/>
          <a:lstStyle/>
          <a:p>
            <a:endParaRPr lang="fr-CH" noProof="0" dirty="0"/>
          </a:p>
        </p:txBody>
      </p:sp>
      <p:sp>
        <p:nvSpPr>
          <p:cNvPr id="7" name="Text 4">
            <a:extLst>
              <a:ext uri="{FF2B5EF4-FFF2-40B4-BE49-F238E27FC236}">
                <a16:creationId xmlns:a16="http://schemas.microsoft.com/office/drawing/2014/main" id="{2D224FC5-E326-E2C7-6CB7-F3285716BB17}"/>
              </a:ext>
            </a:extLst>
          </p:cNvPr>
          <p:cNvSpPr/>
          <p:nvPr/>
        </p:nvSpPr>
        <p:spPr>
          <a:xfrm>
            <a:off x="594360" y="6492240"/>
            <a:ext cx="3291840" cy="164592"/>
          </a:xfrm>
          <a:prstGeom prst="rect">
            <a:avLst/>
          </a:prstGeom>
          <a:noFill/>
          <a:ln/>
        </p:spPr>
        <p:txBody>
          <a:bodyPr wrap="square" lIns="0" tIns="0" rIns="0" bIns="0" rtlCol="0" anchor="ctr"/>
          <a:lstStyle/>
          <a:p>
            <a:pPr marL="0" indent="0">
              <a:buNone/>
            </a:pPr>
            <a:r>
              <a:rPr lang="fr-CH" sz="650" noProof="0" dirty="0">
                <a:solidFill>
                  <a:srgbClr val="4B5563"/>
                </a:solidFill>
                <a:latin typeface="Arial" pitchFamily="34" charset="0"/>
                <a:ea typeface="Arial" pitchFamily="34" charset="-122"/>
                <a:cs typeface="Arial" pitchFamily="34" charset="-120"/>
              </a:rPr>
              <a:t>Kinshasa, RDC | 14 mai 2026</a:t>
            </a:r>
            <a:endParaRPr lang="fr-CH" sz="650" noProof="0" dirty="0"/>
          </a:p>
        </p:txBody>
      </p:sp>
      <p:sp>
        <p:nvSpPr>
          <p:cNvPr id="8" name="Text 5">
            <a:extLst>
              <a:ext uri="{FF2B5EF4-FFF2-40B4-BE49-F238E27FC236}">
                <a16:creationId xmlns:a16="http://schemas.microsoft.com/office/drawing/2014/main" id="{6DD6DD99-26C9-0BE5-C10C-2D147AD0FAD0}"/>
              </a:ext>
            </a:extLst>
          </p:cNvPr>
          <p:cNvSpPr/>
          <p:nvPr/>
        </p:nvSpPr>
        <p:spPr>
          <a:xfrm>
            <a:off x="3657600" y="6492240"/>
            <a:ext cx="5852160" cy="164592"/>
          </a:xfrm>
          <a:prstGeom prst="rect">
            <a:avLst/>
          </a:prstGeom>
          <a:noFill/>
          <a:ln/>
        </p:spPr>
        <p:txBody>
          <a:bodyPr wrap="square" lIns="0" tIns="0" rIns="0" bIns="0" rtlCol="0" anchor="ctr"/>
          <a:lstStyle/>
          <a:p>
            <a:pPr marL="0" indent="0" algn="ctr">
              <a:buNone/>
            </a:pPr>
            <a:r>
              <a:rPr lang="fr-CH" sz="720" b="1" noProof="0" dirty="0">
                <a:solidFill>
                  <a:srgbClr val="001A8D"/>
                </a:solidFill>
                <a:latin typeface="Arial" pitchFamily="34" charset="0"/>
                <a:ea typeface="Arial" pitchFamily="34" charset="-122"/>
                <a:cs typeface="Arial" pitchFamily="34" charset="-120"/>
              </a:rPr>
              <a:t>Faire avancer la justice sociale, promouvoir le travail décent</a:t>
            </a:r>
            <a:endParaRPr lang="fr-CH" sz="720" noProof="0" dirty="0"/>
          </a:p>
        </p:txBody>
      </p:sp>
      <p:sp>
        <p:nvSpPr>
          <p:cNvPr id="9" name="Text 6">
            <a:extLst>
              <a:ext uri="{FF2B5EF4-FFF2-40B4-BE49-F238E27FC236}">
                <a16:creationId xmlns:a16="http://schemas.microsoft.com/office/drawing/2014/main" id="{5DE974BA-E858-51F2-BE3F-992C00525F52}"/>
              </a:ext>
            </a:extLst>
          </p:cNvPr>
          <p:cNvSpPr/>
          <p:nvPr/>
        </p:nvSpPr>
        <p:spPr>
          <a:xfrm>
            <a:off x="11384280" y="6446520"/>
            <a:ext cx="320040" cy="228600"/>
          </a:xfrm>
          <a:prstGeom prst="rect">
            <a:avLst/>
          </a:prstGeom>
          <a:noFill/>
          <a:ln/>
        </p:spPr>
        <p:txBody>
          <a:bodyPr wrap="square" lIns="0" tIns="0" rIns="0" bIns="0" rtlCol="0" anchor="ctr"/>
          <a:lstStyle/>
          <a:p>
            <a:pPr marL="0" indent="0" algn="r">
              <a:buNone/>
            </a:pPr>
            <a:r>
              <a:rPr lang="fr-CH" sz="750" noProof="0" dirty="0">
                <a:solidFill>
                  <a:srgbClr val="4B5563"/>
                </a:solidFill>
                <a:latin typeface="Arial" pitchFamily="34" charset="0"/>
                <a:ea typeface="Arial" pitchFamily="34" charset="-122"/>
                <a:cs typeface="Arial" pitchFamily="34" charset="-120"/>
              </a:rPr>
              <a:t>11</a:t>
            </a:r>
            <a:endParaRPr lang="fr-CH" sz="750" noProof="0" dirty="0"/>
          </a:p>
        </p:txBody>
      </p:sp>
      <p:sp>
        <p:nvSpPr>
          <p:cNvPr id="10" name="Shape 7">
            <a:extLst>
              <a:ext uri="{FF2B5EF4-FFF2-40B4-BE49-F238E27FC236}">
                <a16:creationId xmlns:a16="http://schemas.microsoft.com/office/drawing/2014/main" id="{55FAF525-BFE0-F9AE-43B4-E3A2AC81C0FC}"/>
              </a:ext>
            </a:extLst>
          </p:cNvPr>
          <p:cNvSpPr/>
          <p:nvPr/>
        </p:nvSpPr>
        <p:spPr>
          <a:xfrm>
            <a:off x="777240" y="1901952"/>
            <a:ext cx="5074920" cy="4069080"/>
          </a:xfrm>
          <a:prstGeom prst="roundRect">
            <a:avLst>
              <a:gd name="adj" fmla="val 1798"/>
            </a:avLst>
          </a:prstGeom>
          <a:solidFill>
            <a:srgbClr val="FFFFFF"/>
          </a:solidFill>
          <a:ln w="10160">
            <a:solidFill>
              <a:srgbClr val="CBD5E1"/>
            </a:solidFill>
            <a:prstDash val="solid"/>
          </a:ln>
        </p:spPr>
        <p:txBody>
          <a:bodyPr/>
          <a:lstStyle/>
          <a:p>
            <a:endParaRPr lang="fr-CH" noProof="0" dirty="0"/>
          </a:p>
        </p:txBody>
      </p:sp>
      <p:sp>
        <p:nvSpPr>
          <p:cNvPr id="11" name="Shape 8">
            <a:extLst>
              <a:ext uri="{FF2B5EF4-FFF2-40B4-BE49-F238E27FC236}">
                <a16:creationId xmlns:a16="http://schemas.microsoft.com/office/drawing/2014/main" id="{971DF4A8-C1E4-6EB4-EBF5-346DC31EF63C}"/>
              </a:ext>
            </a:extLst>
          </p:cNvPr>
          <p:cNvSpPr/>
          <p:nvPr/>
        </p:nvSpPr>
        <p:spPr>
          <a:xfrm>
            <a:off x="777240" y="1901952"/>
            <a:ext cx="5074920" cy="502920"/>
          </a:xfrm>
          <a:prstGeom prst="rect">
            <a:avLst/>
          </a:prstGeom>
          <a:solidFill>
            <a:srgbClr val="001A8D"/>
          </a:solidFill>
          <a:ln w="12700">
            <a:solidFill>
              <a:srgbClr val="001A8D"/>
            </a:solidFill>
            <a:prstDash val="solid"/>
          </a:ln>
        </p:spPr>
        <p:txBody>
          <a:bodyPr/>
          <a:lstStyle/>
          <a:p>
            <a:endParaRPr lang="fr-CH" noProof="0" dirty="0"/>
          </a:p>
        </p:txBody>
      </p:sp>
      <p:sp>
        <p:nvSpPr>
          <p:cNvPr id="12" name="Text 9">
            <a:extLst>
              <a:ext uri="{FF2B5EF4-FFF2-40B4-BE49-F238E27FC236}">
                <a16:creationId xmlns:a16="http://schemas.microsoft.com/office/drawing/2014/main" id="{BB52275C-4BD9-B5D5-4472-9D8743271EE0}"/>
              </a:ext>
            </a:extLst>
          </p:cNvPr>
          <p:cNvSpPr/>
          <p:nvPr/>
        </p:nvSpPr>
        <p:spPr>
          <a:xfrm>
            <a:off x="1005840" y="2057400"/>
            <a:ext cx="4389120" cy="164592"/>
          </a:xfrm>
          <a:prstGeom prst="rect">
            <a:avLst/>
          </a:prstGeom>
          <a:noFill/>
          <a:ln/>
        </p:spPr>
        <p:txBody>
          <a:bodyPr wrap="square" lIns="0" tIns="0" rIns="0" bIns="0" rtlCol="0" anchor="ctr"/>
          <a:lstStyle/>
          <a:p>
            <a:pPr marL="0" indent="0">
              <a:buNone/>
            </a:pPr>
            <a:r>
              <a:rPr lang="fr-CH" sz="1100" b="1" noProof="0" dirty="0">
                <a:solidFill>
                  <a:srgbClr val="FFFFFF"/>
                </a:solidFill>
              </a:rPr>
              <a:t>PENDANT L’ATELIER</a:t>
            </a:r>
            <a:endParaRPr lang="fr-CH" sz="1100" noProof="0" dirty="0"/>
          </a:p>
        </p:txBody>
      </p:sp>
      <p:sp>
        <p:nvSpPr>
          <p:cNvPr id="21" name="Shape 18">
            <a:extLst>
              <a:ext uri="{FF2B5EF4-FFF2-40B4-BE49-F238E27FC236}">
                <a16:creationId xmlns:a16="http://schemas.microsoft.com/office/drawing/2014/main" id="{E211649D-A865-9909-152D-222206022599}"/>
              </a:ext>
            </a:extLst>
          </p:cNvPr>
          <p:cNvSpPr/>
          <p:nvPr/>
        </p:nvSpPr>
        <p:spPr>
          <a:xfrm>
            <a:off x="6355080" y="1901952"/>
            <a:ext cx="5074920" cy="4069080"/>
          </a:xfrm>
          <a:prstGeom prst="roundRect">
            <a:avLst>
              <a:gd name="adj" fmla="val 1798"/>
            </a:avLst>
          </a:prstGeom>
          <a:solidFill>
            <a:srgbClr val="F6F8FC"/>
          </a:solidFill>
          <a:ln w="10160">
            <a:solidFill>
              <a:srgbClr val="CBD5E1"/>
            </a:solidFill>
            <a:prstDash val="solid"/>
          </a:ln>
        </p:spPr>
        <p:txBody>
          <a:bodyPr/>
          <a:lstStyle/>
          <a:p>
            <a:endParaRPr lang="fr-CH" noProof="0" dirty="0"/>
          </a:p>
        </p:txBody>
      </p:sp>
      <p:sp>
        <p:nvSpPr>
          <p:cNvPr id="22" name="Shape 19">
            <a:extLst>
              <a:ext uri="{FF2B5EF4-FFF2-40B4-BE49-F238E27FC236}">
                <a16:creationId xmlns:a16="http://schemas.microsoft.com/office/drawing/2014/main" id="{134300E0-27D6-D668-100C-265E71DCC1D7}"/>
              </a:ext>
            </a:extLst>
          </p:cNvPr>
          <p:cNvSpPr/>
          <p:nvPr/>
        </p:nvSpPr>
        <p:spPr>
          <a:xfrm>
            <a:off x="6355080" y="1901952"/>
            <a:ext cx="5074920" cy="502920"/>
          </a:xfrm>
          <a:prstGeom prst="rect">
            <a:avLst/>
          </a:prstGeom>
          <a:solidFill>
            <a:srgbClr val="FFCC00"/>
          </a:solidFill>
          <a:ln w="12700">
            <a:solidFill>
              <a:srgbClr val="FFCC00"/>
            </a:solidFill>
            <a:prstDash val="solid"/>
          </a:ln>
        </p:spPr>
        <p:txBody>
          <a:bodyPr/>
          <a:lstStyle/>
          <a:p>
            <a:endParaRPr lang="fr-CH" noProof="0" dirty="0"/>
          </a:p>
        </p:txBody>
      </p:sp>
      <p:sp>
        <p:nvSpPr>
          <p:cNvPr id="23" name="Text 20">
            <a:extLst>
              <a:ext uri="{FF2B5EF4-FFF2-40B4-BE49-F238E27FC236}">
                <a16:creationId xmlns:a16="http://schemas.microsoft.com/office/drawing/2014/main" id="{744573DA-DD7D-6F12-1A4C-6341F7F3A6CE}"/>
              </a:ext>
            </a:extLst>
          </p:cNvPr>
          <p:cNvSpPr/>
          <p:nvPr/>
        </p:nvSpPr>
        <p:spPr>
          <a:xfrm>
            <a:off x="6583680" y="2057400"/>
            <a:ext cx="4389120" cy="164592"/>
          </a:xfrm>
          <a:prstGeom prst="rect">
            <a:avLst/>
          </a:prstGeom>
          <a:noFill/>
          <a:ln/>
        </p:spPr>
        <p:txBody>
          <a:bodyPr wrap="square" lIns="0" tIns="0" rIns="0" bIns="0" rtlCol="0" anchor="ctr"/>
          <a:lstStyle/>
          <a:p>
            <a:pPr marL="0" indent="0">
              <a:buNone/>
            </a:pPr>
            <a:r>
              <a:rPr lang="fr-CH" sz="1100" b="1" noProof="0" dirty="0">
                <a:solidFill>
                  <a:srgbClr val="1E1E1E"/>
                </a:solidFill>
              </a:rPr>
              <a:t>APRÈS L’ATELIER</a:t>
            </a:r>
            <a:endParaRPr lang="fr-CH" sz="1100" noProof="0" dirty="0"/>
          </a:p>
        </p:txBody>
      </p:sp>
      <p:sp>
        <p:nvSpPr>
          <p:cNvPr id="24" name="TextBox 23">
            <a:extLst>
              <a:ext uri="{FF2B5EF4-FFF2-40B4-BE49-F238E27FC236}">
                <a16:creationId xmlns:a16="http://schemas.microsoft.com/office/drawing/2014/main" id="{FC513C22-E65D-C690-257F-A0B1319D5F1A}"/>
              </a:ext>
            </a:extLst>
          </p:cNvPr>
          <p:cNvSpPr txBox="1"/>
          <p:nvPr/>
        </p:nvSpPr>
        <p:spPr>
          <a:xfrm>
            <a:off x="1078992" y="2907792"/>
            <a:ext cx="4480560" cy="2194560"/>
          </a:xfrm>
          <a:prstGeom prst="rect">
            <a:avLst/>
          </a:prstGeom>
          <a:noFill/>
        </p:spPr>
        <p:txBody>
          <a:bodyPr wrap="square" lIns="0" tIns="0" rIns="0" bIns="0" anchor="t">
            <a:spAutoFit/>
          </a:bodyPr>
          <a:lstStyle/>
          <a:p>
            <a:pPr algn="l">
              <a:spcBef>
                <a:spcPts val="0"/>
              </a:spcBef>
              <a:spcAft>
                <a:spcPts val="2000"/>
              </a:spcAft>
            </a:pPr>
            <a:r>
              <a:rPr lang="fr-CH" sz="1600" b="1" noProof="0" dirty="0">
                <a:solidFill>
                  <a:srgbClr val="002091"/>
                </a:solidFill>
                <a:latin typeface="Arial"/>
              </a:rPr>
              <a:t>•</a:t>
            </a:r>
            <a:r>
              <a:rPr lang="fr-CH" sz="1300" noProof="0" dirty="0">
                <a:solidFill>
                  <a:srgbClr val="1C1C1C"/>
                </a:solidFill>
                <a:latin typeface="Arial"/>
              </a:rPr>
              <a:t>  Sources et institutions à confirmer ou compléter.</a:t>
            </a:r>
          </a:p>
          <a:p>
            <a:pPr algn="l">
              <a:spcBef>
                <a:spcPts val="0"/>
              </a:spcBef>
              <a:spcAft>
                <a:spcPts val="2000"/>
              </a:spcAft>
            </a:pPr>
            <a:r>
              <a:rPr lang="fr-CH" sz="1600" b="1" noProof="0" dirty="0">
                <a:solidFill>
                  <a:srgbClr val="002091"/>
                </a:solidFill>
                <a:latin typeface="Arial"/>
              </a:rPr>
              <a:t>•</a:t>
            </a:r>
            <a:r>
              <a:rPr lang="fr-CH" sz="1300" noProof="0" dirty="0">
                <a:solidFill>
                  <a:srgbClr val="1C1C1C"/>
                </a:solidFill>
                <a:latin typeface="Arial"/>
              </a:rPr>
              <a:t>  Points focaux pressentis.</a:t>
            </a:r>
          </a:p>
          <a:p>
            <a:pPr algn="l">
              <a:spcBef>
                <a:spcPts val="0"/>
              </a:spcBef>
              <a:spcAft>
                <a:spcPts val="2000"/>
              </a:spcAft>
            </a:pPr>
            <a:r>
              <a:rPr lang="fr-CH" sz="1600" b="1" noProof="0" dirty="0">
                <a:solidFill>
                  <a:srgbClr val="002091"/>
                </a:solidFill>
                <a:latin typeface="Arial"/>
              </a:rPr>
              <a:t>•</a:t>
            </a:r>
            <a:r>
              <a:rPr lang="fr-CH" sz="1300" noProof="0" dirty="0">
                <a:solidFill>
                  <a:srgbClr val="1C1C1C"/>
                </a:solidFill>
                <a:latin typeface="Arial"/>
              </a:rPr>
              <a:t>  Contraintes de collecte à identifier.</a:t>
            </a:r>
          </a:p>
          <a:p>
            <a:pPr algn="l">
              <a:spcBef>
                <a:spcPts val="0"/>
              </a:spcBef>
              <a:spcAft>
                <a:spcPts val="2000"/>
              </a:spcAft>
            </a:pPr>
            <a:r>
              <a:rPr lang="fr-CH" sz="1600" b="1" noProof="0" dirty="0">
                <a:solidFill>
                  <a:srgbClr val="002091"/>
                </a:solidFill>
                <a:latin typeface="Arial"/>
              </a:rPr>
              <a:t>•</a:t>
            </a:r>
            <a:r>
              <a:rPr lang="fr-CH" sz="1300" noProof="0" dirty="0">
                <a:solidFill>
                  <a:srgbClr val="1C1C1C"/>
                </a:solidFill>
                <a:latin typeface="Arial"/>
              </a:rPr>
              <a:t>  Principes de validation à discuter.</a:t>
            </a:r>
          </a:p>
        </p:txBody>
      </p:sp>
      <p:sp>
        <p:nvSpPr>
          <p:cNvPr id="25" name="TextBox 24">
            <a:extLst>
              <a:ext uri="{FF2B5EF4-FFF2-40B4-BE49-F238E27FC236}">
                <a16:creationId xmlns:a16="http://schemas.microsoft.com/office/drawing/2014/main" id="{82B2578A-F3EA-FB56-F264-AA37CDD03BA2}"/>
              </a:ext>
            </a:extLst>
          </p:cNvPr>
          <p:cNvSpPr txBox="1"/>
          <p:nvPr/>
        </p:nvSpPr>
        <p:spPr>
          <a:xfrm>
            <a:off x="6492240" y="2713736"/>
            <a:ext cx="4480560" cy="2626360"/>
          </a:xfrm>
          <a:prstGeom prst="rect">
            <a:avLst/>
          </a:prstGeom>
          <a:noFill/>
        </p:spPr>
        <p:txBody>
          <a:bodyPr wrap="square" lIns="0" tIns="0" rIns="0" bIns="0" anchor="t">
            <a:spAutoFit/>
          </a:bodyPr>
          <a:lstStyle/>
          <a:p>
            <a:pPr marL="285750" indent="-285750" algn="l">
              <a:spcBef>
                <a:spcPts val="0"/>
              </a:spcBef>
              <a:spcAft>
                <a:spcPts val="2000"/>
              </a:spcAft>
              <a:buClr>
                <a:srgbClr val="1E2DBE"/>
              </a:buClr>
              <a:buSzPct val="150000"/>
              <a:buFont typeface="Arial" panose="020B0604020202020204" pitchFamily="34" charset="0"/>
              <a:buChar char="•"/>
            </a:pPr>
            <a:r>
              <a:rPr lang="fr-CH" sz="1300" noProof="0" dirty="0">
                <a:solidFill>
                  <a:srgbClr val="1C1C1C"/>
                </a:solidFill>
              </a:rPr>
              <a:t>Confirmation formelle des points focaux.</a:t>
            </a:r>
          </a:p>
          <a:p>
            <a:pPr marL="285750" indent="-285750">
              <a:spcAft>
                <a:spcPts val="2000"/>
              </a:spcAft>
              <a:buClr>
                <a:srgbClr val="1E2DBE"/>
              </a:buClr>
              <a:buSzPct val="150000"/>
              <a:buFont typeface="Arial" panose="020B0604020202020204" pitchFamily="34" charset="0"/>
              <a:buChar char="•"/>
            </a:pPr>
            <a:r>
              <a:rPr lang="fr-CH" sz="1300" dirty="0">
                <a:solidFill>
                  <a:srgbClr val="1C1C1C"/>
                </a:solidFill>
              </a:rPr>
              <a:t>Transmission des canevas, outils et instructions.</a:t>
            </a:r>
          </a:p>
          <a:p>
            <a:pPr marL="285750" indent="-285750" algn="l">
              <a:spcBef>
                <a:spcPts val="0"/>
              </a:spcBef>
              <a:spcAft>
                <a:spcPts val="2000"/>
              </a:spcAft>
              <a:buClr>
                <a:srgbClr val="1E2DBE"/>
              </a:buClr>
              <a:buSzPct val="150000"/>
              <a:buFont typeface="Arial" panose="020B0604020202020204" pitchFamily="34" charset="0"/>
              <a:buChar char="•"/>
            </a:pPr>
            <a:r>
              <a:rPr lang="fr-CH" sz="1300" noProof="0" dirty="0">
                <a:solidFill>
                  <a:srgbClr val="1C1C1C"/>
                </a:solidFill>
              </a:rPr>
              <a:t>Calendrier détaillé de collecte et de consolidation.</a:t>
            </a:r>
          </a:p>
          <a:p>
            <a:pPr marL="285750" indent="-285750" algn="l">
              <a:spcBef>
                <a:spcPts val="0"/>
              </a:spcBef>
              <a:spcAft>
                <a:spcPts val="2000"/>
              </a:spcAft>
              <a:buClr>
                <a:srgbClr val="1E2DBE"/>
              </a:buClr>
              <a:buSzPct val="150000"/>
              <a:buFont typeface="Arial" panose="020B0604020202020204" pitchFamily="34" charset="0"/>
              <a:buChar char="•"/>
            </a:pPr>
            <a:r>
              <a:rPr lang="fr-CH" sz="1300" noProof="0" dirty="0">
                <a:solidFill>
                  <a:srgbClr val="1C1C1C"/>
                </a:solidFill>
              </a:rPr>
              <a:t>Appui technique et suivi des remontées de données, f</a:t>
            </a:r>
            <a:r>
              <a:rPr lang="fr-CH" sz="1300" dirty="0" err="1"/>
              <a:t>ormations</a:t>
            </a:r>
            <a:r>
              <a:rPr lang="fr-CH" sz="1300" dirty="0"/>
              <a:t> </a:t>
            </a:r>
            <a:r>
              <a:rPr lang="fr-CH" sz="1300" dirty="0">
                <a:cs typeface="Arial" pitchFamily="34" charset="-120"/>
              </a:rPr>
              <a:t>individuelles en ligne </a:t>
            </a:r>
            <a:r>
              <a:rPr lang="fr-CH" sz="1300" dirty="0">
                <a:solidFill>
                  <a:srgbClr val="1E1E1E"/>
                </a:solidFill>
                <a:cs typeface="Arial" pitchFamily="34" charset="-120"/>
              </a:rPr>
              <a:t>sur l’utilisation des outils.</a:t>
            </a:r>
          </a:p>
          <a:p>
            <a:pPr marL="285750" indent="-285750" algn="l">
              <a:spcBef>
                <a:spcPts val="0"/>
              </a:spcBef>
              <a:spcAft>
                <a:spcPts val="2000"/>
              </a:spcAft>
              <a:buClr>
                <a:srgbClr val="1E2DBE"/>
              </a:buClr>
              <a:buSzPct val="150000"/>
              <a:buFont typeface="Arial" panose="020B0604020202020204" pitchFamily="34" charset="0"/>
              <a:buChar char="•"/>
            </a:pPr>
            <a:r>
              <a:rPr lang="fr-CH" sz="1300" dirty="0">
                <a:solidFill>
                  <a:srgbClr val="1C1C1C"/>
                </a:solidFill>
              </a:rPr>
              <a:t>Meeting en ligne des points focaux jusqu’à l’atelier de validation</a:t>
            </a:r>
            <a:endParaRPr lang="fr-CH" sz="1300" noProof="0" dirty="0">
              <a:solidFill>
                <a:srgbClr val="1C1C1C"/>
              </a:solidFill>
            </a:endParaRPr>
          </a:p>
        </p:txBody>
      </p:sp>
      <p:pic>
        <p:nvPicPr>
          <p:cNvPr id="13" name="Image 0" descr="/mnt/data/ref_unzip/ppt/media/image1.png">
            <a:extLst>
              <a:ext uri="{FF2B5EF4-FFF2-40B4-BE49-F238E27FC236}">
                <a16:creationId xmlns:a16="http://schemas.microsoft.com/office/drawing/2014/main" id="{9962A2D3-EC7A-5B93-4CFB-B6575EDF8D79}"/>
              </a:ext>
            </a:extLst>
          </p:cNvPr>
          <p:cNvPicPr>
            <a:picLocks noChangeAspect="1"/>
          </p:cNvPicPr>
          <p:nvPr/>
        </p:nvPicPr>
        <p:blipFill>
          <a:blip r:embed="rId3"/>
          <a:stretch>
            <a:fillRect/>
          </a:stretch>
        </p:blipFill>
        <p:spPr>
          <a:xfrm>
            <a:off x="9966960" y="606006"/>
            <a:ext cx="1417320" cy="493776"/>
          </a:xfrm>
          <a:prstGeom prst="rect">
            <a:avLst/>
          </a:prstGeom>
        </p:spPr>
      </p:pic>
    </p:spTree>
    <p:extLst>
      <p:ext uri="{BB962C8B-B14F-4D97-AF65-F5344CB8AC3E}">
        <p14:creationId xmlns:p14="http://schemas.microsoft.com/office/powerpoint/2010/main" val="1748417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735</TotalTime>
  <Words>1894</Words>
  <Application>Microsoft Office PowerPoint</Application>
  <PresentationFormat>Widescreen</PresentationFormat>
  <Paragraphs>281</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Organisation internationale du Travail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1 — Cadrage de l’atelier</dc:title>
  <dc:subject>2e Bulletin statistique de la protection sociale en RDC</dc:subject>
  <dc:creator>OpenAI</dc:creator>
  <cp:lastModifiedBy>Moustapha Diouf</cp:lastModifiedBy>
  <cp:revision>8</cp:revision>
  <dcterms:created xsi:type="dcterms:W3CDTF">2026-05-12T14:57:45Z</dcterms:created>
  <dcterms:modified xsi:type="dcterms:W3CDTF">2026-05-20T12:24:27Z</dcterms:modified>
</cp:coreProperties>
</file>